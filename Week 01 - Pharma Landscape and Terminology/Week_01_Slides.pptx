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E2761"/>
                </a:solidFill>
              </a:rPr>
              <a:t>Year-one sales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Lovaza (2005)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Sheet1!$A$2:$A$2</c:f>
              <c:strCache>
                <c:ptCount val="1"/>
                <c:pt idx="0">
                  <c:v>Sales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86.9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Vascepa (2013)</c:v>
                </c:pt>
              </c:strCache>
            </c:strRef>
          </c:tx>
          <c:spPr>
            <a:solidFill>
              <a:srgbClr val="FF6B6B"/>
            </a:solidFill>
          </c:spPr>
          <c:cat>
            <c:strRef>
              <c:f>Sheet1!$A$2:$A$2</c:f>
              <c:strCache>
                <c:ptCount val="1"/>
                <c:pt idx="0">
                  <c:v>Sales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32.2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E2761"/>
                </a:solidFill>
              </a:rPr>
              <a:t>Year-one new prescriptions (000s)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Lovaza (2005)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Sheet1!$A$2:$A$2</c:f>
              <c:strCache>
                <c:ptCount val="1"/>
                <c:pt idx="0">
                  <c:v>NRx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402.6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Vascepa (2013)</c:v>
                </c:pt>
              </c:strCache>
            </c:strRef>
          </c:tx>
          <c:spPr>
            <a:solidFill>
              <a:srgbClr val="FF6B6B"/>
            </a:solidFill>
          </c:spPr>
          <c:cat>
            <c:strRef>
              <c:f>Sheet1!$A$2:$A$2</c:f>
              <c:strCache>
                <c:ptCount val="1"/>
                <c:pt idx="0">
                  <c:v>NRx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94.2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/>
              <a:t>Top barriers to scaling AI (% of respondents)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citing barrier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Sheet1!$A$2:$A$6</c:f>
              <c:strCache>
                <c:ptCount val="5"/>
                <c:pt idx="0">
                  <c:v>Privacy &amp; regulatory constraints</c:v>
                </c:pt>
                <c:pt idx="1">
                  <c:v>Integration with legacy systems</c:v>
                </c:pt>
                <c:pt idx="2">
                  <c:v>High implementation costs</c:v>
                </c:pt>
                <c:pt idx="3">
                  <c:v>Limited internal expertise</c:v>
                </c:pt>
                <c:pt idx="4">
                  <c:v>Fragmented data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</c:v>
                </c:pt>
                <c:pt idx="1">
                  <c:v>50</c:v>
                </c:pt>
                <c:pt idx="2">
                  <c:v>47</c:v>
                </c:pt>
                <c:pt idx="3">
                  <c:v>46</c:v>
                </c:pt>
                <c:pt idx="4">
                  <c:v>41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Tonight is the only week with almost no code. The goal is vocabulary and mental models: by the end you should be able to draw the stakeholder map from memory and explain why a $100 list-price drug can net the manufacturer $45.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room: who is the customer of a pharma brand? Let them argue. All three answers are right — that is the point. Then ask: which of the three does the manufacturer have first-party data on?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Spend real time here. Draw it on the whiteboard too. Students should be able to reproduce this from memory next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waterfall left to right. Emphasize: rebates are paid in arrears (quarterly), so at any moment the company carries an accrual — an estimate — for rebates owed. Getting GTN accruals wrong is a classic source of earnings restatements.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411480" cy="23774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9144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latin typeface="Calibri"/>
              </a:rPr>
              <a:t>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515600" cy="2377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Introduction to the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Pharmaceuticals Landscape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&amp; Terminology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343400"/>
            <a:ext cx="10058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Why this industry is structurally different — and who gets paid for what.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Andi Cupallari · Applied Data Science and AI in Pharma Commercial · Fall 2026 · Monday, September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 / 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Where we're going tonight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2.5 hours · discussion-heavy · one short notebook tour · one in-class 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 / 44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057400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029968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Welcome &amp; course logistics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58568"/>
            <a:ext cx="10058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Grading, term project, mentors, AI-use policy — 20 min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532888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505456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Why pharma commercial is structurally different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34056"/>
            <a:ext cx="10058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Chooser ≠ payer ≠ consumer — 15 min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008376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980944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The stakeholder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09544"/>
            <a:ext cx="10058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Manufacturer, wholesaler, pharmacy, HCP/HCO/IDN, payer, PBM, GPO, patient, policymaker — 30 min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483864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45643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Follow the pill, follow the money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685032"/>
            <a:ext cx="10058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Script → fill → claim → revenue; NRx / TRx / NBRx — 20 min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3959352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931920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Gross-to-net and the brand P&amp;L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160520"/>
            <a:ext cx="10058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Why list price is a fiction; reading GLUCOREN's P&amp;L — 20 min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4434840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407407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Codes &amp; acronyms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636007"/>
            <a:ext cx="10058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ICD-10, NDC, NPI, HCPCS — the keys that join every dataset — 10 min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910328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882896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Product lifecycle &amp; launch archetypes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111496"/>
            <a:ext cx="10058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Launch → in-line → LOE; IQVIA's four archetypes — 15 min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5385816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358384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AI and agentic AI in commercial — why now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586984"/>
            <a:ext cx="10058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What leaders say they're deploying, and where it fails — 15 min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" y="5861304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83387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Term project use cases, claims tour, exercise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6062472"/>
            <a:ext cx="10058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Team formation · notebook tour · stakeholder exercise — 30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Welcome &amp; course logistics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this course is for, how you'll be graded, and how the term project 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 / 44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 · THE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Three things you'll leave with in December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From the syllabus — the course has two deliberate goals: fluency and exposure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4 / 44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3611880" cy="35661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40279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31136"/>
            <a:ext cx="292608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Interview-ready fluency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724912"/>
            <a:ext cx="3383280" cy="28529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▸ </a:t>
            </a:r>
            <a:r>
              <a:rPr sz="1300">
                <a:solidFill>
                  <a:srgbClr val="333333"/>
                </a:solidFill>
                <a:latin typeface="Calibri"/>
              </a:rPr>
              <a:t>Speak credibly about claims data, MMM, HCP segmentation, omnichannel orchestration, forecasting, NLP and agentic AI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▸ </a:t>
            </a:r>
            <a:r>
              <a:rPr sz="1300">
                <a:solidFill>
                  <a:srgbClr val="333333"/>
                </a:solidFill>
                <a:latin typeface="Calibri"/>
              </a:rPr>
              <a:t>Know the vocabulary hiring managers at manufacturers, consultancies and analytics vendors actually use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▸ </a:t>
            </a:r>
            <a:r>
              <a:rPr sz="1300">
                <a:solidFill>
                  <a:srgbClr val="333333"/>
                </a:solidFill>
                <a:latin typeface="Calibri"/>
              </a:rPr>
              <a:t>Weeks 1–2 build the domain context; no prior pharma knowledge assumed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103120"/>
            <a:ext cx="3611880" cy="35661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4840" y="2240279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231136"/>
            <a:ext cx="292608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End-to-end projects you can show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724912"/>
            <a:ext cx="3383280" cy="28529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▸ </a:t>
            </a:r>
            <a:r>
              <a:rPr sz="1300">
                <a:solidFill>
                  <a:srgbClr val="333333"/>
                </a:solidFill>
                <a:latin typeface="Calibri"/>
              </a:rPr>
              <a:t>Team term project (3–4 people) on a realistic commercial problem: framing → data → model → recommendation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▸ </a:t>
            </a:r>
            <a:r>
              <a:rPr sz="1300">
                <a:solidFill>
                  <a:srgbClr val="333333"/>
                </a:solidFill>
                <a:latin typeface="Calibri"/>
              </a:rPr>
              <a:t>Two homeworks (MMM; forecasting) built on synthetic pharma datasets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▸ </a:t>
            </a:r>
            <a:r>
              <a:rPr sz="1300">
                <a:solidFill>
                  <a:srgbClr val="333333"/>
                </a:solidFill>
                <a:latin typeface="Calibri"/>
              </a:rPr>
              <a:t>A repo + executive memo a hiring manager can 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103120"/>
            <a:ext cx="3611880" cy="35661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83880" y="2240279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231136"/>
            <a:ext cx="292608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Sustained industry exposure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724912"/>
            <a:ext cx="3383280" cy="28529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▸ </a:t>
            </a:r>
            <a:r>
              <a:rPr sz="1300">
                <a:solidFill>
                  <a:srgbClr val="333333"/>
                </a:solidFill>
                <a:latin typeface="Calibri"/>
              </a:rPr>
              <a:t>Guest lectures from senior practitioners with real case studies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▸ </a:t>
            </a:r>
            <a:r>
              <a:rPr sz="1300">
                <a:solidFill>
                  <a:srgbClr val="333333"/>
                </a:solidFill>
                <a:latin typeface="Calibri"/>
              </a:rPr>
              <a:t>Every team paired with an industry mentor for the whole semester (introduced Sep 21)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▸ </a:t>
            </a:r>
            <a:r>
              <a:rPr sz="1300">
                <a:solidFill>
                  <a:srgbClr val="333333"/>
                </a:solidFill>
                <a:latin typeface="Calibri"/>
              </a:rPr>
              <a:t>Final presentations judged by mentors and an industry panel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Prerequisites: intro stats + ML, Python (pandas, scikit-learn, Jupyter). Everything else we build 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 · GRADING &amp;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How you're graded, and the dates that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Homework is take-home, due two weeks after release. Late submissions are not accepted.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5 / 44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51206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8229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Guest-speaker engagement (3 × 5%): questions in advance + 1-page summary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Homework 1 (MMM) and Homework 2 (forecasting)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Midterm exam (in class, Nov 9)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Term project (mentor-supervised)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35040" y="2103120"/>
          <a:ext cx="55778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2062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Sep 14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Week 1 — tonight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Sep 21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Week 2 — claims analytics · mentors introduced · teams formed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Sep 28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Week 3 — MMM · Homework 1 released (due Oct 12)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Oct 19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Week 6 — Forecasting · Homework 2 released (due Nov 2)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Nov 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Academic holiday — no class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Nov 9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Midterm exam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Nov 16 / Nov 30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Guest speakers 1 &amp; 2 (agentic AI; the journey of MMM)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Nov 23 / Dec 7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Term project progress check-ins #1 and #2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Dec 14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Industry panel + final presentations (20 min + 5 Q&amp;A)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663440"/>
            <a:ext cx="512064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Office hours: Mondays 5:00–6:45 PM, before class.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Readings are free or distributed via the course site; no textbook to buy.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Grade scale: A ≥ 93, A− ≥ 90, B+ ≥ 87, B ≥ 83 … F &lt; 60 (full table in syllabus).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 · TERM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The term project: mentor-supervised, semester-long, 40% of the 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Teams of 3–4 · a realistic pharma commercial problem of your choosing · end-to-end analytical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6 / 44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103120"/>
            <a:ext cx="1789176" cy="731520"/>
          </a:xfrm>
          <a:prstGeom prst="homePlat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Form team
by Sep 21</a:t>
            </a:r>
          </a:p>
        </p:txBody>
      </p:sp>
      <p:sp>
        <p:nvSpPr>
          <p:cNvPr id="9" name="Chevron 8"/>
          <p:cNvSpPr/>
          <p:nvPr/>
        </p:nvSpPr>
        <p:spPr>
          <a:xfrm>
            <a:off x="2392680" y="2103120"/>
            <a:ext cx="1789176" cy="731520"/>
          </a:xfrm>
          <a:prstGeom prst="chevron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Meet mentor
by Sep 28</a:t>
            </a:r>
          </a:p>
        </p:txBody>
      </p:sp>
      <p:sp>
        <p:nvSpPr>
          <p:cNvPr id="10" name="Chevron 9"/>
          <p:cNvSpPr/>
          <p:nvPr/>
        </p:nvSpPr>
        <p:spPr>
          <a:xfrm>
            <a:off x="4236720" y="2103120"/>
            <a:ext cx="1789176" cy="731520"/>
          </a:xfrm>
          <a:prstGeom prst="chevron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Problem statement
+ data plan · Oct</a:t>
            </a:r>
          </a:p>
        </p:txBody>
      </p:sp>
      <p:sp>
        <p:nvSpPr>
          <p:cNvPr id="11" name="Chevron 10"/>
          <p:cNvSpPr/>
          <p:nvPr/>
        </p:nvSpPr>
        <p:spPr>
          <a:xfrm>
            <a:off x="6080759" y="2103120"/>
            <a:ext cx="1789176" cy="731520"/>
          </a:xfrm>
          <a:prstGeom prst="chevron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Check-in #1
Nov 23</a:t>
            </a:r>
          </a:p>
        </p:txBody>
      </p:sp>
      <p:sp>
        <p:nvSpPr>
          <p:cNvPr id="12" name="Chevron 11"/>
          <p:cNvSpPr/>
          <p:nvPr/>
        </p:nvSpPr>
        <p:spPr>
          <a:xfrm>
            <a:off x="7924799" y="2103120"/>
            <a:ext cx="1789176" cy="731520"/>
          </a:xfrm>
          <a:prstGeom prst="chevron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Check-in #2
Dec 7</a:t>
            </a:r>
          </a:p>
        </p:txBody>
      </p:sp>
      <p:sp>
        <p:nvSpPr>
          <p:cNvPr id="13" name="Chevron 12"/>
          <p:cNvSpPr/>
          <p:nvPr/>
        </p:nvSpPr>
        <p:spPr>
          <a:xfrm>
            <a:off x="9768839" y="2103120"/>
            <a:ext cx="1789176" cy="731520"/>
          </a:xfrm>
          <a:prstGeom prst="chevron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Final
Dec 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08960"/>
            <a:ext cx="5394960" cy="27432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1868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Your mentor (a senior practitioner)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602736"/>
            <a:ext cx="5166360" cy="21579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Shapes the problem so it reflects an authentic commercial question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Sanity-checks your data plan, modeling choices, stakeholder framing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Surfaces what textbooks miss: regulatory friction, org politics, market dynamics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Does NOT write code or do the analysis — you own scheduling, agendas, follow-ups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Cadence: 30–45 min every two weeks (~6 touchpoints)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108960"/>
            <a:ext cx="5394960" cy="27432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21868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Deliverables (Dec 14)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3602736"/>
            <a:ext cx="5166360" cy="21579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20-minute in-class presentation + 5 min Q&amp;A, mentor and panel in the room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A code repository (notebooks + README) any teammate could clone and re-run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A 2–4 page executive memo: problem, approach, results, recommendation, limitations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A short mentor-acknowledgment paragraph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1">
                <a:solidFill>
                  <a:srgbClr val="666666"/>
                </a:solidFill>
                <a:latin typeface="Calibri"/>
              </a:rPr>
              <a:t>Use-case catalog handed out tonight (Week_01_Term_Project_Use_Case_Catalog) — 15 starting points beyond the five archetypes in the syllabus.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 · AI-USE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An applied-AI course: use AI tools thoughtfully, with disclosure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Applies to ChatGPT, Claude, Copilot, Gemini and similar. Default answer when unsure: “yes, with disclosure.”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7 / 44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3611880" cy="3383280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12848"/>
            <a:ext cx="3337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B6E3A"/>
                </a:solidFill>
                <a:latin typeface="Calibri"/>
              </a:rPr>
              <a:t>Permitted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96896"/>
            <a:ext cx="3383280" cy="2798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▸ </a:t>
            </a:r>
            <a:r>
              <a:rPr sz="1300">
                <a:solidFill>
                  <a:srgbClr val="333333"/>
                </a:solidFill>
                <a:latin typeface="Calibri"/>
              </a:rPr>
              <a:t>Brainstorming, debugging, code completion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▸ </a:t>
            </a:r>
            <a:r>
              <a:rPr sz="1300">
                <a:solidFill>
                  <a:srgbClr val="333333"/>
                </a:solidFill>
                <a:latin typeface="Calibri"/>
              </a:rPr>
              <a:t>Explaining unfamiliar concepts, summarizing readings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▸ </a:t>
            </a:r>
            <a:r>
              <a:rPr sz="1300">
                <a:solidFill>
                  <a:srgbClr val="333333"/>
                </a:solidFill>
                <a:latin typeface="Calibri"/>
              </a:rPr>
              <a:t>Drafting boilerplate, generating synthetic data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▸ </a:t>
            </a:r>
            <a:r>
              <a:rPr sz="1300">
                <a:solidFill>
                  <a:srgbClr val="333333"/>
                </a:solidFill>
                <a:latin typeface="Calibri"/>
              </a:rPr>
              <a:t>Accelerating exploratory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103120"/>
            <a:ext cx="3611880" cy="33832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212848"/>
            <a:ext cx="3337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9A6200"/>
                </a:solidFill>
                <a:latin typeface="Calibri"/>
              </a:rPr>
              <a:t>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2596896"/>
            <a:ext cx="3383280" cy="2798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▸ </a:t>
            </a:r>
            <a:r>
              <a:rPr sz="1300">
                <a:solidFill>
                  <a:srgbClr val="333333"/>
                </a:solidFill>
                <a:latin typeface="Calibri"/>
              </a:rPr>
              <a:t>A short “AI use” appendix on any non-trivial AI-assisted work: tool, prompts (or a representative sample), what you changed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▸ </a:t>
            </a:r>
            <a:r>
              <a:rPr sz="1300">
                <a:solidFill>
                  <a:srgbClr val="333333"/>
                </a:solidFill>
                <a:latin typeface="Calibri"/>
              </a:rPr>
              <a:t>One paragraph is fine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▸ </a:t>
            </a:r>
            <a:r>
              <a:rPr sz="1300">
                <a:solidFill>
                  <a:srgbClr val="333333"/>
                </a:solidFill>
                <a:latin typeface="Calibri"/>
              </a:rPr>
              <a:t>You are responsible for everything you submit — models hallucinate citations, statistics, regulatory facts and clinical claims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103120"/>
            <a:ext cx="3611880" cy="3383280"/>
          </a:xfrm>
          <a:prstGeom prst="rect">
            <a:avLst/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3337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A11E1E"/>
                </a:solidFill>
                <a:latin typeface="Calibri"/>
              </a:rPr>
              <a:t>Not permitted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2596896"/>
            <a:ext cx="3383280" cy="2798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▸ </a:t>
            </a:r>
            <a:r>
              <a:rPr sz="1300">
                <a:solidFill>
                  <a:srgbClr val="333333"/>
                </a:solidFill>
                <a:latin typeface="Calibri"/>
              </a:rPr>
              <a:t>Submitting AI text/code as your own without review and substantive editing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▸ </a:t>
            </a:r>
            <a:r>
              <a:rPr sz="1300">
                <a:solidFill>
                  <a:srgbClr val="333333"/>
                </a:solidFill>
                <a:latin typeface="Calibri"/>
              </a:rPr>
              <a:t>Using AI to bypass the learning objective of an assignment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▸ </a:t>
            </a:r>
            <a:r>
              <a:rPr sz="1300">
                <a:solidFill>
                  <a:srgbClr val="333333"/>
                </a:solidFill>
                <a:latin typeface="Calibri"/>
              </a:rPr>
              <a:t>Pasting confidential, proprietary or patient-identifiable data into an external tool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▸ </a:t>
            </a:r>
            <a:r>
              <a:rPr sz="1300">
                <a:solidFill>
                  <a:srgbClr val="333333"/>
                </a:solidFill>
                <a:latin typeface="Calibri"/>
              </a:rPr>
              <a:t>AI on the midterm or in-class assessments unless stated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150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1E2761"/>
                </a:solidFill>
                <a:latin typeface="Calibri"/>
              </a:rPr>
              <a:t>Industry reality check: the same rules apply on the job. A 2025 IQVIA survey of 107 commercial leaders found privacy/regulatory constraints (51%) are the #1 barrier to scaling AI in pharma commercial.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Why pharma commercial is structurally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Most analytics intuition comes from B2C. Much of it breaks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8 / 44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 · THE CORE ASYMMETRY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300" b="1" i="0">
                <a:solidFill>
                  <a:srgbClr val="1E2761"/>
                </a:solidFill>
                <a:latin typeface="Calibri"/>
              </a:rPr>
              <a:t>The person who chooses doesn't pay, and the person who pays doesn't consume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9 / 44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3566160" cy="32918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latin typeface="Calibri"/>
              </a:rPr>
              <a:t>Chooses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320040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The physician (or NP/PA) decides what to prescribe. Influenced by evidence, guidelines, habit, peers, samples, reps — and by what the payer will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965960"/>
            <a:ext cx="3566160" cy="3291840"/>
          </a:xfrm>
          <a:prstGeom prst="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Payer / PBM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06040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latin typeface="Calibri"/>
              </a:rPr>
              <a:t>Pays (mostly)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063240"/>
            <a:ext cx="320040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Insurer, employer, Medicare/Medicaid — and the PBM that manages the pharmacy benefit. Decides formulary tier, prior authorization, copay. Wants rebates and low net cost.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965960"/>
            <a:ext cx="356616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103120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Patient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40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latin typeface="Calibri"/>
              </a:rPr>
              <a:t>Consumes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063240"/>
            <a:ext cx="320040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Takes (or doesn't take) the drug. Pays a copay or coinsurance. Rarely sees the list price. Adherence, persistence and affordability are the patient-side levers.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40680"/>
            <a:ext cx="110642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Contrast with B2C: one person browses, decides, pays and uses — and the retailer sees the whole transaction in first-party data.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In pharma the manufacturer sees none of it directly. It buys back a projected view of its own market from data vendors. That single fact explains most of Week 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 · SIX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Six things that break your B2C intuition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Each one shows up again as a modeling problem later in the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10 / 44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760720"/>
                <a:gridCol w="23774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Structural feature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means for analytics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Where it bites (week)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No first-party transaction data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You license syndicated Rx/claims panels and projections; sample bias and patient capture are your problem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Wk 2 datasets · Wk 6 forecasting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Decision maker ≠ payer ≠ consumer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Three targets, three data types, three behavioral models; “conversion” is a chain, not an event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Wk 4 segmentation · Wk 5 NBA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Access gates on every script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Formulary tier, prior auth, step edits and copay determine whether an Rx becomes a fill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Wk 2 claims · Wk 3 MMM covariates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Price is not one number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WAC → wholesaler → rebates → 340B/Medicaid → copay cards → net. Revenue ≠ volume × list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Tonight · Wk 3 ROI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Regulated promotion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FDA-approved label only; Sunshine Act reporting; no direct incentives to HCPs; DTC rules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Wk 5 omnichannel · Wk 7 NLP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A lifecycle with a cliff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Patent expiry / loss of exclusivity (LOE) can erase 80–90% of brand volume in a year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Wk 6 forecasting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 ·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A few numbers to calibrate the 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All figures from IQVIA white papers in this week's reading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11 / 44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2697480" cy="1920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40279"/>
            <a:ext cx="2514600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$3.1B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59252"/>
            <a:ext cx="2423160" cy="8065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estimated cost to bring a new therapy to market; 11% composite success rate from Phase 1 to submission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103120"/>
            <a:ext cx="2697480" cy="1920240"/>
          </a:xfrm>
          <a:prstGeom prst="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240279"/>
            <a:ext cx="2514600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50–70%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159252"/>
            <a:ext cx="2423160" cy="8065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of launch brands underperform their first-year forecast (IQVIA study of ~12,000 launches, 8 countries)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103120"/>
            <a:ext cx="2697480" cy="1920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2240279"/>
            <a:ext cx="2514600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$179.5B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159252"/>
            <a:ext cx="2423160" cy="8065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340B program purchases at list price in 2025, +20.3% YoY — grew 3× faster than the rest of the U.S. drug market since 2018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2103120"/>
            <a:ext cx="2606040" cy="19202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240279"/>
            <a:ext cx="2423160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44%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3159252"/>
            <a:ext cx="2331720" cy="8065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of life-sciences commercial organizations now dedicate &gt;20% of their commercial budget to AI (IQVIA 2025 survey, n=107)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43400"/>
            <a:ext cx="11064240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250">
                <a:solidFill>
                  <a:srgbClr val="1E2761"/>
                </a:solidFill>
                <a:latin typeface="Calibri"/>
              </a:rPr>
              <a:t>Why these matter tonight: </a:t>
            </a:r>
            <a:r>
              <a:rPr sz="1250">
                <a:solidFill>
                  <a:srgbClr val="333333"/>
                </a:solidFill>
                <a:latin typeface="Calibri"/>
              </a:rPr>
              <a:t>development cost + failure rate explain why commercial teams obsess over every launch; the forecast-miss statistic is the single best argument for the analytics you'll build in this course.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250">
                <a:solidFill>
                  <a:srgbClr val="1E2761"/>
                </a:solidFill>
                <a:latin typeface="Calibri"/>
              </a:rPr>
              <a:t>340B </a:t>
            </a:r>
            <a:r>
              <a:rPr sz="1250">
                <a:solidFill>
                  <a:srgbClr val="333333"/>
                </a:solidFill>
                <a:latin typeface="Calibri"/>
              </a:rPr>
              <a:t>is a federal program giving Medicaid-like discounts to qualifying hospitals and clinics. It is one of the largest wedges between list and net price — and a live policy fight (a rebate-model pilot began with 10 drugs in 2026).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250">
                <a:solidFill>
                  <a:srgbClr val="1E2761"/>
                </a:solidFill>
                <a:latin typeface="Calibri"/>
              </a:rPr>
              <a:t>AI spend </a:t>
            </a:r>
            <a:r>
              <a:rPr sz="1250">
                <a:solidFill>
                  <a:srgbClr val="333333"/>
                </a:solidFill>
                <a:latin typeface="Calibri"/>
              </a:rPr>
              <a:t>tells you where the jobs are: 58% of leaders report ≥2× one-year ROI on AI initiatives, yet only 11% say their data is “fully sufficient” to support AI. Data readiness is the bottleneck — and the opportunity.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The stakeholder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Nine players. Two flows — product and money — that run in opposite directions.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12 / 44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· THE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The U.S. pharmaceutical ecosystem on one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Top row = product moves · bottom row = money and influence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13 / 44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2514600" cy="11887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Manufacturer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Makes and markets the drug
Sets WAC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90672" y="2514600"/>
            <a:ext cx="274320" cy="274320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2103120"/>
            <a:ext cx="2514600" cy="11887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Wholesaler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McKesson, Cencora, Cardinal
Buys at WAC minus fee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25312" y="2514600"/>
            <a:ext cx="274320" cy="274320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103120"/>
            <a:ext cx="2514600" cy="11887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Pharmacy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Retail / mail / specialty /
hospital; dispenses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59952" y="2514600"/>
            <a:ext cx="274320" cy="274320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52560" y="2103120"/>
            <a:ext cx="2514600" cy="11887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Patient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Fills (or abandons)
Pays copay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77639"/>
            <a:ext cx="2103120" cy="1325880"/>
          </a:xfrm>
          <a:prstGeom prst="rect">
            <a:avLst/>
          </a:prstGeom>
          <a:solidFill>
            <a:srgbClr val="F3F6FC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</a:rPr>
              <a:t>Payer</a:t>
            </a:r>
          </a:p>
          <a:p>
            <a:pPr algn="ctr"/>
            <a:r>
              <a:rPr sz="1150" b="0">
                <a:solidFill>
                  <a:srgbClr val="1E2761"/>
                </a:solidFill>
                <a:latin typeface="Calibri"/>
              </a:rPr>
              <a:t>Insurer / employer /
Medicare / Medicaid
Bears the cost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3977639"/>
            <a:ext cx="2103120" cy="1325880"/>
          </a:xfrm>
          <a:prstGeom prst="rect">
            <a:avLst/>
          </a:prstGeom>
          <a:solidFill>
            <a:srgbClr val="F3F6FC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</a:rPr>
              <a:t>PBM</a:t>
            </a:r>
          </a:p>
          <a:p>
            <a:pPr algn="ctr"/>
            <a:r>
              <a:rPr sz="1150" b="0">
                <a:solidFill>
                  <a:srgbClr val="1E2761"/>
                </a:solidFill>
                <a:latin typeface="Calibri"/>
              </a:rPr>
              <a:t>Manages pharmacy benefit
Formulary, rebates, PA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3977639"/>
            <a:ext cx="2103120" cy="1325880"/>
          </a:xfrm>
          <a:prstGeom prst="rect">
            <a:avLst/>
          </a:prstGeom>
          <a:solidFill>
            <a:srgbClr val="F3F6FC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</a:rPr>
              <a:t>HCP / HCO / IDN</a:t>
            </a:r>
          </a:p>
          <a:p>
            <a:pPr algn="ctr"/>
            <a:r>
              <a:rPr sz="1150" b="0">
                <a:solidFill>
                  <a:srgbClr val="1E2761"/>
                </a:solidFill>
                <a:latin typeface="Calibri"/>
              </a:rPr>
              <a:t>Prescriber and the
system they work 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3977639"/>
            <a:ext cx="2103120" cy="1325880"/>
          </a:xfrm>
          <a:prstGeom prst="rect">
            <a:avLst/>
          </a:prstGeom>
          <a:solidFill>
            <a:srgbClr val="F3F6FC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</a:rPr>
              <a:t>GPO</a:t>
            </a:r>
          </a:p>
          <a:p>
            <a:pPr algn="ctr"/>
            <a:r>
              <a:rPr sz="1150" b="0">
                <a:solidFill>
                  <a:srgbClr val="1E2761"/>
                </a:solidFill>
                <a:latin typeface="Calibri"/>
              </a:rPr>
              <a:t>Pools purchasing for
hospitals &amp; clinics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3977639"/>
            <a:ext cx="2103120" cy="1325880"/>
          </a:xfrm>
          <a:prstGeom prst="rect">
            <a:avLst/>
          </a:prstGeom>
          <a:solidFill>
            <a:srgbClr val="F3F6FC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</a:rPr>
              <a:t>Policymaker</a:t>
            </a:r>
          </a:p>
          <a:p>
            <a:pPr algn="ctr"/>
            <a:r>
              <a:rPr sz="1150" b="0">
                <a:solidFill>
                  <a:srgbClr val="1E2761"/>
                </a:solidFill>
                <a:latin typeface="Calibri"/>
              </a:rPr>
              <a:t>FDA, CMS, HRSA, states
Rules of the game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40156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▲  Product flow (left → right) — tracked by shipment data (DDD-style)                    ▼  Money &amp; influence — tracked by claims, rebates, contracts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200">
                <a:solidFill>
                  <a:srgbClr val="1E2761"/>
                </a:solidFill>
                <a:latin typeface="Calibri"/>
              </a:rPr>
              <a:t>Follow the money: </a:t>
            </a:r>
            <a:r>
              <a:rPr sz="1200">
                <a:solidFill>
                  <a:srgbClr val="333333"/>
                </a:solidFill>
                <a:latin typeface="Calibri"/>
              </a:rPr>
              <a:t>Payer pays PBM/pharmacy → pharmacy paid per fill → wholesaler pays manufacturer WAC minus fees → manufacturer pays rebates back to PBM/payer, chargebacks to wholesalers, and 340B/Medicaid discounts.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200">
                <a:solidFill>
                  <a:srgbClr val="1E2761"/>
                </a:solidFill>
                <a:latin typeface="Calibri"/>
              </a:rPr>
              <a:t>Follow the data: </a:t>
            </a:r>
            <a:r>
              <a:rPr sz="1200">
                <a:solidFill>
                  <a:srgbClr val="333333"/>
                </a:solidFill>
                <a:latin typeface="Calibri"/>
              </a:rPr>
              <a:t>every hand-off leaves a record with a code on it (NDC, NPI, ICD-10, plan ID). Those codes are how Week 2's datasets join together.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·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Manufacturer and wholesaler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14 / 44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94960" cy="44805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029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Calibri"/>
              </a:rPr>
              <a:t>Manufacturer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50292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Calibri"/>
              </a:rPr>
              <a:t>Pfizer, Novo Nordisk, an emerging biotech — or our fictional Aspen Therapeutics (maker of GLUCOREN). Functions: R&amp;D, medical affairs, commercial (brand, sales, market access, insights/analytics).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WHAT THEY WANT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01568"/>
            <a:ext cx="50292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Maximize net revenue over the exclusivity window; get on formulary at a good tier; grow share of new-to-brand patients; defend against LOE. Constrained by label, compliance, and a 12–15-year patent clock.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DATA THEY GENERATE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53127"/>
            <a:ext cx="50292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Shipments (ex-factory sales), CRM/field activity (calls, samples), promotional spend, rebate contracts, patient-support-program enrollments, MSL insights.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WHERE ANALYTICS TOUCHES THEM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04688"/>
            <a:ext cx="50292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Almost everything in this course: MMM (Wk 3), segmentation (Wk 4), NBA (Wk 5), forecasting (Wk 6), NLP on field notes (Wk 7), agentic workflows.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5394960" cy="44805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20240"/>
            <a:ext cx="5029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Calibri"/>
              </a:rPr>
              <a:t>Wholesaler / distributor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77440"/>
            <a:ext cx="50292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Calibri"/>
              </a:rPr>
              <a:t>Three firms (McKesson, Cencora, Cardinal Health) move &gt;90% of U.S. drug volume from manufacturer to pharmacy and hospital.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5468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WHAT THEY WANT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01568"/>
            <a:ext cx="50292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Thin margins on huge volume: fee-for-service from manufacturers, prompt-pay discounts, spread on generics. Wants inventory efficiency and predictable demand.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0624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DATA THEY GENERATE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53127"/>
            <a:ext cx="50292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Sales-to-outlet data (the source of DDD-style datasets), chargeback claims when a GPO/340B contract price applies, inventory levels.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25780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WHERE ANALYTICS TOUCHES THEM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504688"/>
            <a:ext cx="50292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Demand/supply forecasting; channel inventory “pipeline” effects that distort launch curves; chargeback reconciliation in gross-to-net.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·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Payer and PBM — the access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15 / 44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94960" cy="44805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029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Calibri"/>
              </a:rPr>
              <a:t>Payer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50292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Calibri"/>
              </a:rPr>
              <a:t>Whoever bears the cost: commercial insurers (UnitedHealthcare, Elevance, Aetna…), employers who self-insure, Medicare (Parts B and D), Medicaid, the VA.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WHAT THEY WANT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01568"/>
            <a:ext cx="50292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Lowest net cost for acceptable outcomes; predictable budgets; avoid paying for drugs used off-guideline. Increasingly demands real-world evidence of value.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DATA THEY GENERATE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53127"/>
            <a:ext cx="50292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Adjudicated medical and pharmacy claims, enrollment/eligibility, prior-authorization decisions, formulary documents, HEOR value dossiers submitted to them.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WHERE ANALYTICS TOUCHES THEM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04688"/>
            <a:ext cx="50292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Payer/market-access analytics: formulary status impact, contract simulation, evidence generation; payer covariates in MMM and forecasting.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5394960" cy="44805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20240"/>
            <a:ext cx="5029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Calibri"/>
              </a:rPr>
              <a:t>PBM (Pharmacy Benefit Manager)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77440"/>
            <a:ext cx="50292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Calibri"/>
              </a:rPr>
              <a:t>CVS Caremark, Express Scripts (Cigna), Optum Rx (UnitedHealth) manage ~80% of U.S. prescriptions on behalf of payers.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5468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WHAT THEY WANT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01568"/>
            <a:ext cx="50292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Rebates from manufacturers in exchange for formulary position; spread and fees; steer volume to owned mail/specialty pharmacies. Their incentive is not simply “lowest price.”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0624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DATA THEY GENERATE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53127"/>
            <a:ext cx="50292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The pharmacy claim itself (adjudicated in real time: covered? tier? copay? PA?), rebate invoices, formulary and utilization-management rules.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25780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WHERE ANALYTICS TOUCHES THEM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504688"/>
            <a:ext cx="50292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Gross-to-net modeling; formulary-change event studies; the “access” covariates that separate promotion effects from coverage effects.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·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Providers and GPOs — where the prescribing happens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16 / 44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94960" cy="44805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029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Calibri"/>
              </a:rPr>
              <a:t>HCP · HCO · IDN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50292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Calibri"/>
              </a:rPr>
              <a:t>HCP: the individual prescriber (MD, DO, NP, PA), identified by NPI. HCO: the organization (practice, hospital). IDN: an integrated delivery network — a system that owns hospitals, clinics, often a health plan (Kaiser, Intermountain).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WHAT THEY WANT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01568"/>
            <a:ext cx="50292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Best outcome for the patient in the time available; minimal admin friction (prior auth is hated); professional reputation; for IDNs, system-wide cost and protocol adherence — decisions move from individual to committee.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DATA THEY GENERATE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53127"/>
            <a:ext cx="50292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Every claim carries the prescriber's NPI; EHR records (diagnosis, labs, notes); field-call feedback; conference attendance; publications (for KOLs).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WHERE ANALYTICS TOUCHES THEM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04688"/>
            <a:ext cx="50292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HCP segmentation and targeting (Wk 4), NBA and channel fatigue (Wk 5), KOL identification, account-based analytics for IDNs, NLP on field notes (Wk 7).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5394960" cy="44805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20240"/>
            <a:ext cx="5029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Calibri"/>
              </a:rPr>
              <a:t>GPO (Group Purchasing Organization)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77440"/>
            <a:ext cx="50292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Calibri"/>
              </a:rPr>
              <a:t>Vizient, Premier, HealthTrust negotiate purchasing contracts for member hospitals and clinics; relevant mainly for physician-administered and hospital drugs.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5468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WHAT THEY WANT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01568"/>
            <a:ext cx="50292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Volume-based discounts and administrative fees; member hospitals want lower acquisition cost for drugs they buy and bill (the “buy-and-bill” model).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0624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DATA THEY GENERATE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53127"/>
            <a:ext cx="50292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Contract prices that trigger wholesaler chargebacks; membership rosters; hospital purchasing data.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25780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WHERE ANALYTICS TOUCHES THEM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504688"/>
            <a:ext cx="50292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Channel and contract analytics for infused/injected products (oncology, immunology); a driver of gross-to-net for hospital-administered brands.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·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Patients and policymakers — the fourth “P”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17 / 44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94960" cy="44805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029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Calibri"/>
              </a:rPr>
              <a:t>Patient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50292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Calibri"/>
              </a:rPr>
              <a:t>The consumer, and increasingly a decision-maker: DTC advertising, copay cards, patient-support programs, online communities. Identity is protected (HIPAA) — you work with de-identified tokens.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WHAT THEY WANT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01568"/>
            <a:ext cx="50292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Feel better, afford the drug, avoid hassle. Out-of-pocket cost is the #1 driver of prescription abandonment; complexity of dosing drives non-adherence.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DATA THEY GENERATE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53127"/>
            <a:ext cx="50292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The claims trail (dx, procedures, fills, refills), patient-support-program data, social listening, adherence/persistence measures (PDC, MPR), surveys.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WHERE ANALYTICS TOUCHES THEM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04688"/>
            <a:ext cx="50292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Patient-finding and journey models, adherence prediction, DTC in MMM, social-listening NLP (Wk 7), and privacy/re-identification risk (Wk 2).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5394960" cy="44805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20240"/>
            <a:ext cx="5029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Calibri"/>
              </a:rPr>
              <a:t>Policymaker / regulator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77440"/>
            <a:ext cx="50292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Calibri"/>
              </a:rPr>
              <a:t>FDA (approval, label, promotion rules), CMS (Medicare/Medicaid; now negotiating Part D prices under the IRA), HRSA (340B), FTC, state legislatures (PBM transparency, contract-pharmacy mandates).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5468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WHAT THEY WANT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01568"/>
            <a:ext cx="50292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Safety and efficacy; affordability and budget control; program integrity; political accountability. Policy changes reprice entire markets overnight.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0624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DATA THEY GENERATE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53127"/>
            <a:ext cx="50292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Approval and label documents, Sunshine Act (Open Payments) disclosures, negotiated “maximum fair price” lists, 340B covered-entity registries.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25780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WHERE ANALYTICS TOUCHES THEM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504688"/>
            <a:ext cx="50292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Scenario analysis in forecasting (Wk 6); compliance constraints on promotion models; policy shocks as structural breaks in time series.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· INCENTIVE CONFLICTS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Four tensions you will end up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Every one of these is an analytics project inside a real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18 / 44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394960" cy="201168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148840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139696"/>
            <a:ext cx="47091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Rebates vs. list 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33472"/>
            <a:ext cx="5120640" cy="1298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PBMs earn from rebates, which are a percentage of list price — so a higher list price with a bigger rebate can be preferred over a lower list price. Patients on coinsurance pay on the list price. Result: rising list, flat-to-falling net, and a “gross-to-net bubble.”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11680"/>
            <a:ext cx="5394960" cy="201168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80" y="2148840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139696"/>
            <a:ext cx="47091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Formulary tier vs. patient copay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33472"/>
            <a:ext cx="5120640" cy="1298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The payer wants to steer to the preferred brand; the manufacturer of the non-preferred brand counters with copay cards that neutralize the copay difference. Payers respond with accumulator/maximizer programs. An arms race visible in claims 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06240"/>
            <a:ext cx="5394960" cy="201168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4343400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334255"/>
            <a:ext cx="47091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340B discounts vs. manufacturer 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28031"/>
            <a:ext cx="5120640" cy="1298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Hospitals and clinics buy at deep discounts and often bill payers at full reimbursement. 340B purchases grew 233% (2018–2025) vs 71% for the rest of the market. Manufacturers push a rebate model instead of upfront discounts; hospitals push back on cash-flow grounds.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206240"/>
            <a:ext cx="5394960" cy="201168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80" y="4343400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334255"/>
            <a:ext cx="47091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HCP attention vs. promotional pressure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828031"/>
            <a:ext cx="5120640" cy="1298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Reps, emails, ads and MSLs all want the same 8 minutes of a physician's day. Over-contact produces fatigue and channel opt-outs — and mis-attributed “response” in naive models. This is the core of Week 5 (Next Best Action).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Follow the pill, follow the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From a diagnosis to a line on the manufacturer's income statement — and the data each step leaves behind.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19 / 44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· THE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The life of a prescription: script → fill → claim →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 / 44</a:t>
            </a:r>
          </a:p>
        </p:txBody>
      </p:sp>
      <p:sp>
        <p:nvSpPr>
          <p:cNvPr id="7" name="Pentagon 6"/>
          <p:cNvSpPr/>
          <p:nvPr/>
        </p:nvSpPr>
        <p:spPr>
          <a:xfrm>
            <a:off x="548640" y="1965960"/>
            <a:ext cx="1789176" cy="685800"/>
          </a:xfrm>
          <a:prstGeom prst="homePlat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  Diagnosis</a:t>
            </a:r>
          </a:p>
        </p:txBody>
      </p:sp>
      <p:sp>
        <p:nvSpPr>
          <p:cNvPr id="8" name="Chevron 7"/>
          <p:cNvSpPr/>
          <p:nvPr/>
        </p:nvSpPr>
        <p:spPr>
          <a:xfrm>
            <a:off x="2392680" y="1965960"/>
            <a:ext cx="1789176" cy="685800"/>
          </a:xfrm>
          <a:prstGeom prst="chevron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  Rx written</a:t>
            </a:r>
          </a:p>
        </p:txBody>
      </p:sp>
      <p:sp>
        <p:nvSpPr>
          <p:cNvPr id="9" name="Chevron 8"/>
          <p:cNvSpPr/>
          <p:nvPr/>
        </p:nvSpPr>
        <p:spPr>
          <a:xfrm>
            <a:off x="4236720" y="1965960"/>
            <a:ext cx="1789176" cy="685800"/>
          </a:xfrm>
          <a:prstGeom prst="chevron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  Adjudication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6080759" y="1965960"/>
            <a:ext cx="1789176" cy="685800"/>
          </a:xfrm>
          <a:prstGeom prst="chevron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  Dispense</a:t>
            </a:r>
          </a:p>
        </p:txBody>
      </p:sp>
      <p:sp>
        <p:nvSpPr>
          <p:cNvPr id="11" name="Chevron 10"/>
          <p:cNvSpPr/>
          <p:nvPr/>
        </p:nvSpPr>
        <p:spPr>
          <a:xfrm>
            <a:off x="7924799" y="1965960"/>
            <a:ext cx="1789176" cy="685800"/>
          </a:xfrm>
          <a:prstGeom prst="chevron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  Claim paid</a:t>
            </a:r>
          </a:p>
        </p:txBody>
      </p:sp>
      <p:sp>
        <p:nvSpPr>
          <p:cNvPr id="12" name="Chevron 11"/>
          <p:cNvSpPr/>
          <p:nvPr/>
        </p:nvSpPr>
        <p:spPr>
          <a:xfrm>
            <a:off x="9768839" y="1965960"/>
            <a:ext cx="1789176" cy="685800"/>
          </a:xfrm>
          <a:prstGeom prst="chevron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 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788920"/>
            <a:ext cx="1734311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Visit; ICD-10 code on the medical claim; NPI identifies the physician.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663440"/>
            <a:ext cx="1734311" cy="64008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690872"/>
            <a:ext cx="1679448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Medical claims · EHR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10968" y="2788920"/>
            <a:ext cx="1734311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E-prescribed to a pharmacy. Counted as an NRx (new) — or a refill. Not yet a sale.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0968" y="4663440"/>
            <a:ext cx="1734311" cy="64008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38400" y="4690872"/>
            <a:ext cx="1679448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E-Rx feeds · Rx panels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5007" y="2788920"/>
            <a:ext cx="1734311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Pharmacy pings the PBM in real time: covered? tier? prior auth? copay? Rejections and reversals happen here.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5007" y="4663440"/>
            <a:ext cx="1734311" cy="64008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82439" y="4690872"/>
            <a:ext cx="1679448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Pharmacy claims (incl. rejected)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7" y="2788920"/>
            <a:ext cx="1734311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Patient picks up → TRx. Or abandons (≈ one in four new scripts for high-copay brands). NDC identifies exactly what was dispensed.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9047" y="4663440"/>
            <a:ext cx="1734311" cy="64008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79" y="4690872"/>
            <a:ext cx="1679448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Pharmacy claims · retail Rx audits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43087" y="2788920"/>
            <a:ext cx="1734311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Payer/PBM reimburses the pharmacy; patient copay collected. Later: PBM invoices the manufacturer for the rebate.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43087" y="4663440"/>
            <a:ext cx="1734311" cy="64008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70520" y="4690872"/>
            <a:ext cx="1679448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Adjudicated claims · rebate systems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7127" y="2788920"/>
            <a:ext cx="1734311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Wholesaler already paid the manufacturer at WAC minus fees when it bought inventory. Net revenue = gross − rebates − discounts − chargebacks − fees − returns.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7127" y="4663440"/>
            <a:ext cx="1734311" cy="64008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14560" y="4690872"/>
            <a:ext cx="1679448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Ex-factory sales · finance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1E2761"/>
                </a:solidFill>
                <a:latin typeface="Calibri"/>
              </a:rPr>
              <a:t>Key insight: the manufacturer's revenue is recognized at step 6 when the wholesaler buys — before the patient exists. Demand (steps 1–5) and revenue (step 6) are measured in different systems, at different times, by different companies. Reconciling them is a full-time job.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· TWO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Product goes one way, money the other — plus a loop of rebates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Simplified U.S. retail brand; hospital “buy-and-bill” drugs add GPOs and chargebacks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21 / 44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2560320" cy="7315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Manufacturer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194560"/>
            <a:ext cx="2560320" cy="7315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Wholesaler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94560"/>
            <a:ext cx="2560320" cy="7315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Pharmacy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2194560"/>
            <a:ext cx="2560320" cy="7315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Patient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27248" y="2423160"/>
            <a:ext cx="256032" cy="274320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5961888" y="2423160"/>
            <a:ext cx="256032" cy="274320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8796528" y="2423160"/>
            <a:ext cx="256032" cy="274320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71800"/>
            <a:ext cx="110642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Product: ex-factory → distribution center → dispensed. Manufacturer sells at WAC minus a distribution-service fee (~2–4%).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383280"/>
            <a:ext cx="5394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666666"/>
                </a:solidFill>
                <a:latin typeface="Calibri"/>
              </a:rPr>
              <a:t>Rebate loop: manufacturer → PBM → payer (paid quarterly, in arrears)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749039"/>
            <a:ext cx="2560320" cy="731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PBM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3749039"/>
            <a:ext cx="2560320" cy="731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Payer / plan sponsor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429000"/>
            <a:ext cx="548640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00">
                <a:solidFill>
                  <a:srgbClr val="1E2761"/>
                </a:solidFill>
                <a:latin typeface="Calibri"/>
              </a:rPr>
              <a:t>Patient → Pharmacy — </a:t>
            </a:r>
            <a:r>
              <a:rPr sz="1100">
                <a:solidFill>
                  <a:srgbClr val="333333"/>
                </a:solidFill>
                <a:latin typeface="Calibri"/>
              </a:rPr>
              <a:t>copay / coinsurance at the counter (often offset by a manufacturer copay card)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00">
                <a:solidFill>
                  <a:srgbClr val="1E2761"/>
                </a:solidFill>
                <a:latin typeface="Calibri"/>
              </a:rPr>
              <a:t>Payer → PBM → Pharmacy — </a:t>
            </a:r>
            <a:r>
              <a:rPr sz="1100">
                <a:solidFill>
                  <a:srgbClr val="333333"/>
                </a:solidFill>
                <a:latin typeface="Calibri"/>
              </a:rPr>
              <a:t>reimbursement for the dispensed claim (ingredient cost + dispensing fee), minus PBM spread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00">
                <a:solidFill>
                  <a:srgbClr val="1E2761"/>
                </a:solidFill>
                <a:latin typeface="Calibri"/>
              </a:rPr>
              <a:t>Manufacturer → PBM / Payer — </a:t>
            </a:r>
            <a:r>
              <a:rPr sz="1100">
                <a:solidFill>
                  <a:srgbClr val="333333"/>
                </a:solidFill>
                <a:latin typeface="Calibri"/>
              </a:rPr>
              <a:t>rebates, paid quarterly in arrears, in return for formulary position — the biggest gross-to-net item for many brands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00">
                <a:solidFill>
                  <a:srgbClr val="1E2761"/>
                </a:solidFill>
                <a:latin typeface="Calibri"/>
              </a:rPr>
              <a:t>Manufacturer → Wholesaler — </a:t>
            </a:r>
            <a:r>
              <a:rPr sz="1100">
                <a:solidFill>
                  <a:srgbClr val="333333"/>
                </a:solidFill>
                <a:latin typeface="Calibri"/>
              </a:rPr>
              <a:t>chargebacks when a contract price (GPO, 340B, VA) is lower than WAC; also fees, prompt-pay discounts, returns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00">
                <a:solidFill>
                  <a:srgbClr val="1E2761"/>
                </a:solidFill>
                <a:latin typeface="Calibri"/>
              </a:rPr>
              <a:t>Manufacturer → Government — </a:t>
            </a:r>
            <a:r>
              <a:rPr sz="1100">
                <a:solidFill>
                  <a:srgbClr val="333333"/>
                </a:solidFill>
                <a:latin typeface="Calibri"/>
              </a:rPr>
              <a:t>statutory Medicaid rebates (basic + inflation penalty); Medicare Part D coverage-gap/manufacturer discount; 340B ceiling prices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617720"/>
            <a:ext cx="5394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WHY ANALYSTS CARE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892040"/>
            <a:ext cx="539496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1E2761"/>
                </a:solidFill>
                <a:latin typeface="Calibri"/>
              </a:rPr>
              <a:t>Volume (TRx) lives in pharmacy claims. Revenue lives in finance. The bridge — gross-to-net — is negotiated brand by brand, payer by payer, and is confidential. When you compute “ROI” in Week 3 you will be handed a net contribution per TRx by finance. Never invent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·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The prescription metrics you'll hear in every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Definitions matter: two analysts reporting “share” can mean four different things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22 / 44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120640"/>
                <a:gridCol w="384048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Used for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NRx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New prescriptions: a script that is not a refill (patient may have used the brand before)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Leading indicator of prescribing behavior; response variable for promotion models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TRx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Total prescriptions = NRx + refills, in a period; often converted to “normalized” 30-day equivalents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Volume, revenue proxy; MMM response variable (Wk 3)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NBRx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New-to-brand: patient had no claim for this brand in the prior 12 months (from longitudinal patient data)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The cleanest measure of share gain at launch; harder to get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Share (TRx / NRx / NBRx)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Brand ÷ market. Market definition (which molecules? which line of therapy?) changes the answer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Competitive tracking; forecast anchoring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Persistence · adherence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Persistence: time on therapy before a gap; adherence: PDC or MPR — proportion of days covered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Patient-journey analytics; forecasting the “refill tail”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Writers · reach · frequency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Prescribers with ≥1 Rx; % of targets contacted; contacts per target per period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Field-force sizing, NBA, fatigue management (Wk 5)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Source-dependent: an “NRx” from a retail panel (projected from ~90% of retail pharmacies) is not the same number as one from a longitudinal claims database with partial payer coverage.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Gross-to-net and the brand P&amp;L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List price is a fiction. Net price is a negotiation. The P&amp;L is where both meet.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23 / 44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 · GROSS-TO-NET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From $100 of list price to ~$52 of net: the gross-to-net 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Illustrative for GLUCOREN, a branded oral type-2 diabetes agent with heavy PBM rebating. Real GTN ranges from ~15% (rare disease) to &gt;70% (insulins).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24 / 44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19"/>
            <a:ext cx="1188720" cy="30175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67711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$100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23559"/>
            <a:ext cx="13716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  <a:latin typeface="Calibri"/>
              </a:rPr>
              <a:t>WAC gross sales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2560319"/>
            <a:ext cx="1188720" cy="90525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2267711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623559"/>
            <a:ext cx="13716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  <a:latin typeface="Calibri"/>
              </a:rPr>
              <a:t>Wholesaler fees &amp; prompt-pay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650845"/>
            <a:ext cx="1188720" cy="844905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358237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-28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623559"/>
            <a:ext cx="13716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  <a:latin typeface="Calibri"/>
              </a:rPr>
              <a:t>Commercial / Part D rebates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3495751"/>
            <a:ext cx="1188720" cy="181051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203143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-6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5623559"/>
            <a:ext cx="13716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  <a:latin typeface="Calibri"/>
              </a:rPr>
              <a:t>Medicaid statutory rebates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676802"/>
            <a:ext cx="1188720" cy="150876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384194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-5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5623559"/>
            <a:ext cx="13716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  <a:latin typeface="Calibri"/>
              </a:rPr>
              <a:t>340B &amp; other contract discounts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3827678"/>
            <a:ext cx="1188720" cy="1207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3535070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-4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5623559"/>
            <a:ext cx="13716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  <a:latin typeface="Calibri"/>
              </a:rPr>
              <a:t>Copay assistance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3948379"/>
            <a:ext cx="1188720" cy="6035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0" y="3655771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-2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5623559"/>
            <a:ext cx="13716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  <a:latin typeface="Calibri"/>
              </a:rPr>
              <a:t>Returns &amp; other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41280" y="4008729"/>
            <a:ext cx="1188720" cy="156911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0" y="3716121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$52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5623559"/>
            <a:ext cx="13716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  <a:latin typeface="Calibri"/>
              </a:rPr>
              <a:t>Net sales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577840"/>
            <a:ext cx="11064240" cy="0"/>
          </a:xfrm>
          <a:prstGeom prst="line">
            <a:avLst/>
          </a:prstGeom>
          <a:ln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 · BRAND P&amp;L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Reading GLUCOREN's brand P&amp;L (illustrative, $M, year 3 post-launch)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This is what a brand lead looks at monthly. Learn the lines; the exercise tonight asks you to compute the missing 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25 / 44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11680"/>
          <a:ext cx="11064240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822960"/>
                <a:gridCol w="914400"/>
                <a:gridCol w="539496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Line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$M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% of net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What an analyst asks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Gross sales (WAC × units)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1,250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Volume × list. Reconciles to wholesaler purchases, not to TRx.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Gross-to-net deductions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(600)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48% GTN. Trend? Mix shift toward Medicaid/340B? Rebate rate creep?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Net sales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650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The number the street sees. Net price per TRx = 650 / TRx.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Cost of goods sold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(52)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8%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Small for small molecules; 15–30% for biologics/cell therapy.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Gross margin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598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92%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Promotion: field force (detailing, samples)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(95)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Reps × cost per rep. Is reach/frequency worth it? → MMM, NBA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Promotion: non-personal (digital, email, conferences)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(30)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Cheapest reach; measured by MMM and experiments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Promotion: DTC (TV, digital consumer)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(45)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Big, lumpy, contested ROI; drives patient requests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Medical affairs (MSLs, publications, HEOR)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(25)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Non-promotional by law; value is evidence and KOL trust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Market access &amp; patient services (copay program ops, hubs)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(20)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Grows with access friction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Brand contribution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383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59%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What the brand hands to the company before overhead and R&amp;D.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 · P&amp;L LITERACY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Five questions an analyst asks of any brand P&amp;L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You will be asked at least one of these in an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26 / 44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10312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39112"/>
            <a:ext cx="103327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Where is GTN going?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13432"/>
            <a:ext cx="103327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A 48% GTN today that was 40% three years ago says payers are winning. Decompose by channel (commercial, Part D, Medicaid, 340B) and by rebate rate vs. mix.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926079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862072"/>
            <a:ext cx="103327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What is promotional intensity?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136391"/>
            <a:ext cx="103327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Total promotion ÷ net sales. 25–30% is typical for a growing primary-care brand; &lt;10% for a mature or specialty brand. Compare with the launch curve.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749039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685032"/>
            <a:ext cx="103327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What is a TRx worth?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959352"/>
            <a:ext cx="103327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Net sales ÷ TRx (normalized) gives net revenue per script; subtract COGS for contribution per script — the number every ROI calculation in Week 3 needs.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7200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507992"/>
            <a:ext cx="103327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What happens at LOE?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782312"/>
            <a:ext cx="103327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Model the cliff: generic entry at year X takes 80–90% of volume in 12 months for a small molecule; biosimilar erosion is slower. Promotion should stop before then.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394959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330952"/>
            <a:ext cx="103327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Which stakeholder moves each line?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605272"/>
            <a:ext cx="103327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Payers/PBMs → GTN. HCPs → volume. Patients → abandonment, adherence, copay spend. Policymakers → Medicaid rebates, IRA negotiation, 340B. Map the P&amp;L to the stakeholder slide.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 · A LIVE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Discounts vs. rebates: the same net price, very different plumbing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Excerpt-based: IQVIA, “How Will a Rebate Model Impact Cash Flow in the 340B Drug Pricing Program?” (2025)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27 / 44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5394960" cy="22860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6712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Upfront discount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51176"/>
            <a:ext cx="5120640" cy="17007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“With an upfront discount, the 340B hospital or clinic pays a reduced price at the time of purchase, lowering its initial acquisition cost.” The manufacturer gives up margin immediately and cannot verify patient eligibility before discounting — the source of “duplicate discount” disputes with Medicaid.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057400"/>
            <a:ext cx="5394960" cy="22860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6712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Rebate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551176"/>
            <a:ext cx="5120640" cy="17007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“Under a rebate model, the covered entity initially pays a non-340B price at the time of purchase … a rebate is then used to reduce the 340B purchase price to the 340B price.” The manufacturer sees claim-level data before paying — better integrity, but the provider carries the float.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26280"/>
            <a:ext cx="1106424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50">
                <a:solidFill>
                  <a:srgbClr val="1E2761"/>
                </a:solidFill>
                <a:latin typeface="Calibri"/>
              </a:rPr>
              <a:t>The empirical question: </a:t>
            </a:r>
            <a:r>
              <a:rPr sz="1150">
                <a:solidFill>
                  <a:srgbClr val="333333"/>
                </a:solidFill>
                <a:latin typeface="Calibri"/>
              </a:rPr>
              <a:t>does the float matter? IQVIA's cash-flow models found financing costs under a rebate model “less than half of one percent” of the program's value — 0.19% for entity-owned pharmacies, 0.03% for contract pharmacies; even under unfavorable assumptions, under 1.2%.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50">
                <a:solidFill>
                  <a:srgbClr val="1E2761"/>
                </a:solidFill>
                <a:latin typeface="Calibri"/>
              </a:rPr>
              <a:t>The policy stakes: </a:t>
            </a:r>
            <a:r>
              <a:rPr sz="1150">
                <a:solidFill>
                  <a:srgbClr val="333333"/>
                </a:solidFill>
                <a:latin typeface="Calibri"/>
              </a:rPr>
              <a:t>HRSA approved a rebate-model pilot for eight manufacturers on Oct 30, 2025, focused on the first 10 drugs selected for Medicare price negotiation. The program reached ~$180–200B at list in 2025 — “approaching the size of Medicare Part D.”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50">
                <a:solidFill>
                  <a:srgbClr val="1E2761"/>
                </a:solidFill>
                <a:latin typeface="Calibri"/>
              </a:rPr>
              <a:t>Why it's on a Week 1 slide: </a:t>
            </a:r>
            <a:r>
              <a:rPr sz="1150">
                <a:solidFill>
                  <a:srgbClr val="333333"/>
                </a:solidFill>
                <a:latin typeface="Calibri"/>
              </a:rPr>
              <a:t>the same decision (discount now vs. rebate later) shows up in every commercial contract, and the analyst who can model cash flow, timing and data integrity together is rare.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Codes and acronyms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The identifiers that let a claims analyst join a diagnosis to a drug to a doctor to a 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28 / 44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· CODE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Four identifiers you must recognize on 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Full course glossary handed out tonight (≈100 terms)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29 / 44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5394960" cy="19659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1828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ICD-10-CM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194560"/>
            <a:ext cx="31089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E11.65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24328"/>
            <a:ext cx="51206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Diagnosis code. E11 = type 2 diabetes; .65 = with hyperglycemia. ~70,000 codes; letter + 2 digits, then up to 4 more characters after the decimal. Appears on medical claims and EHR problem lists.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3016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FF6B6B"/>
                </a:solidFill>
                <a:latin typeface="Calibri"/>
              </a:rPr>
              <a:t>Analytics use: Cohort definition: “patients with ≥2 claims for E11.x”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057400"/>
            <a:ext cx="5394960" cy="19659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148840"/>
            <a:ext cx="1828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NDC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194560"/>
            <a:ext cx="31089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0002-1434-80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24328"/>
            <a:ext cx="51206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National Drug Code, 10 or 11 digits in 3 segments: labeler – product – package. Identifies the exact drug, strength, form and package size. On every pharmacy claim; hospital drugs may be billed by HCPCS instead.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63016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FF6B6B"/>
                </a:solidFill>
                <a:latin typeface="Calibri"/>
              </a:rPr>
              <a:t>Analytics use: Map NDC → molecule → brand → market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60520"/>
            <a:ext cx="5394960" cy="19659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51959"/>
            <a:ext cx="1828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NPI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51760" y="4297680"/>
            <a:ext cx="31089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1234567893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27448"/>
            <a:ext cx="51206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National Provider Identifier, 10 digits (Luhn check). Type 1 = individual (HCP); Type 2 = organization (HCO). Public registry (NPPES) gives specialty, address. On every claim as prescriber / rendering / billing provider.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73328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FF6B6B"/>
                </a:solidFill>
                <a:latin typeface="Calibri"/>
              </a:rPr>
              <a:t>Analytics use: Join claims to CRM targets; HCP segmentation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160520"/>
            <a:ext cx="5394960" cy="19659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251959"/>
            <a:ext cx="1828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HCPCS / CPT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4297680"/>
            <a:ext cx="31089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J1817 · 99214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727448"/>
            <a:ext cx="51206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Procedure and product codes on medical claims. CPT (Level I): services, e.g. 99214 office visit. HCPCS Level II J-codes: physician-administered drugs, e.g. J1817 insulin infusion pump supply. Q-codes, S-codes; G-codes for Medicare.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73328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FF6B6B"/>
                </a:solidFill>
                <a:latin typeface="Calibri"/>
              </a:rPr>
              <a:t>Analytics use: Buy-and-bill drug volume; infusion vs. oral markets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· ACRONYM DECODER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Twenty acronyms you'll hear in your first week on 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30 / 44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486400" cy="384048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47088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HCP / HCO / IDN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847088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Health-care professional / organization / integrated delivery network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486400" cy="384048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1847088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KOL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847088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Key opinion leader — influential physician-researcher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58568"/>
            <a:ext cx="5486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76856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MSL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276856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Medical science liaison — field medical, non-promotional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258568"/>
            <a:ext cx="5486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2276856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PBM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276856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Pharmacy benefit manager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88336"/>
            <a:ext cx="5486400" cy="384048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706624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GPO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2706624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Group purchasing organization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688336"/>
            <a:ext cx="5486400" cy="384048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2706624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WAC / AWP / ASP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706624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Wholesale acquisition cost / average wholesale price / average sales price (Medicare Part B)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18104"/>
            <a:ext cx="5486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136392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GTN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3136392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Gross-to-net (deductions from list to net revenue)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118104"/>
            <a:ext cx="5486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59" y="3136392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PA / step edit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136392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Prior authorization / step therapy — utilization management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547872"/>
            <a:ext cx="5486400" cy="384048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566160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Tier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3566160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Formulary tier — determines patient copay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547872"/>
            <a:ext cx="5486400" cy="384048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3566160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LOE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3566160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Loss of exclusivity — patent/regulatory expiry; generic entry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977639"/>
            <a:ext cx="5486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995927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DTC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3995927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Direct-to-consumer promotion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977639"/>
            <a:ext cx="5486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59" y="3995927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NRx / TRx / NBRx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3995927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New / total / new-to-brand prescriptions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407408"/>
            <a:ext cx="5486400" cy="384048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425696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RWD / RWE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77440" y="4425696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Real-world data / real-world evidence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407408"/>
            <a:ext cx="5486400" cy="384048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59" y="4425696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HEOR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4425696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Health economics &amp; outcomes research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837176"/>
            <a:ext cx="5486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4855464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MLR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77440" y="4855464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Medical-legal-regulatory review of promotional content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4837176"/>
            <a:ext cx="5486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59" y="4855464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CRM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0" y="4855464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Customer relationship management (Veeva CRM is the standard)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266944"/>
            <a:ext cx="5486400" cy="384048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5285231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SFE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40" y="5285231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Sales-force effectiveness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5266944"/>
            <a:ext cx="5486400" cy="384048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9359" y="5285231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NBA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46720" y="5285231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Next best action — orchestration of HCP touchpoints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696712"/>
            <a:ext cx="5486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5714999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IRA / MFP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77440" y="5714999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Inflation Reduction Act / maximum fair price (Medicare negotiation)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17920" y="5696712"/>
            <a:ext cx="5486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09359" y="5714999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340B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46720" y="5714999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Federal drug-discount program for safety-net providers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Product lifecycle and launch archetypes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The questions a commercial analyst answers change completely every few years of a brand's life.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31 / 44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 ·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Launch → in-line → LOE: the questions change, and so does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Concept from the PMSA webinar “Patient Data Applications Across Product Lifecycle” (course PMSA reading list)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32 / 44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2651760" cy="6400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Pre-launch (–3 to 0 yrs)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265176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FF6B6B"/>
                </a:solidFill>
                <a:latin typeface="Calibri"/>
              </a:rPr>
              <a:t>▸ </a:t>
            </a:r>
            <a:r>
              <a:rPr sz="1250">
                <a:solidFill>
                  <a:srgbClr val="333333"/>
                </a:solidFill>
                <a:latin typeface="Calibri"/>
              </a:rPr>
              <a:t>Market sizing: epidemiology → diagnosed → treated → addressable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F6B6B"/>
                </a:solidFill>
                <a:latin typeface="Calibri"/>
              </a:rPr>
              <a:t>▸ </a:t>
            </a:r>
            <a:r>
              <a:rPr sz="1250">
                <a:solidFill>
                  <a:srgbClr val="333333"/>
                </a:solidFill>
                <a:latin typeface="Calibri"/>
              </a:rPr>
              <a:t>Analog selection; forecast the launch curve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F6B6B"/>
                </a:solidFill>
                <a:latin typeface="Calibri"/>
              </a:rPr>
              <a:t>▸ </a:t>
            </a:r>
            <a:r>
              <a:rPr sz="1250">
                <a:solidFill>
                  <a:srgbClr val="333333"/>
                </a:solidFill>
                <a:latin typeface="Calibri"/>
              </a:rPr>
              <a:t>Payer landscape &amp; pricing research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F6B6B"/>
                </a:solidFill>
                <a:latin typeface="Calibri"/>
              </a:rPr>
              <a:t>▸ </a:t>
            </a:r>
            <a:r>
              <a:rPr sz="1250">
                <a:solidFill>
                  <a:srgbClr val="333333"/>
                </a:solidFill>
                <a:latin typeface="Calibri"/>
              </a:rPr>
              <a:t>Disease awareness (Incivek's 7-year runway)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103120"/>
            <a:ext cx="2651760" cy="640080"/>
          </a:xfrm>
          <a:prstGeom prst="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Launch (0–2 yrs)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880360"/>
            <a:ext cx="265176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FF6B6B"/>
                </a:solidFill>
                <a:latin typeface="Calibri"/>
              </a:rPr>
              <a:t>▸ </a:t>
            </a:r>
            <a:r>
              <a:rPr sz="1250">
                <a:solidFill>
                  <a:srgbClr val="333333"/>
                </a:solidFill>
                <a:latin typeface="Calibri"/>
              </a:rPr>
              <a:t>Weekly NBRx and writer tracking vs. forecast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F6B6B"/>
                </a:solidFill>
                <a:latin typeface="Calibri"/>
              </a:rPr>
              <a:t>▸ </a:t>
            </a:r>
            <a:r>
              <a:rPr sz="1250">
                <a:solidFill>
                  <a:srgbClr val="333333"/>
                </a:solidFill>
                <a:latin typeface="Calibri"/>
              </a:rPr>
              <a:t>Early-adopter HCP targeting; sample and rep deployment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F6B6B"/>
                </a:solidFill>
                <a:latin typeface="Calibri"/>
              </a:rPr>
              <a:t>▸ </a:t>
            </a:r>
            <a:r>
              <a:rPr sz="1250">
                <a:solidFill>
                  <a:srgbClr val="333333"/>
                </a:solidFill>
                <a:latin typeface="Calibri"/>
              </a:rPr>
              <a:t>Access wins/losses by payer; abandonment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F6B6B"/>
                </a:solidFill>
                <a:latin typeface="Calibri"/>
              </a:rPr>
              <a:t>▸ </a:t>
            </a:r>
            <a:r>
              <a:rPr sz="1250">
                <a:solidFill>
                  <a:srgbClr val="333333"/>
                </a:solidFill>
                <a:latin typeface="Calibri"/>
              </a:rPr>
              <a:t>Rapid MMM recalibration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79" y="2103120"/>
            <a:ext cx="26517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In-line / growth (2–8 yrs)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2880360"/>
            <a:ext cx="265176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FF6B6B"/>
                </a:solidFill>
                <a:latin typeface="Calibri"/>
              </a:rPr>
              <a:t>▸ </a:t>
            </a:r>
            <a:r>
              <a:rPr sz="1250">
                <a:solidFill>
                  <a:srgbClr val="333333"/>
                </a:solidFill>
                <a:latin typeface="Calibri"/>
              </a:rPr>
              <a:t>Segmentation &amp; NBA at scale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F6B6B"/>
                </a:solidFill>
                <a:latin typeface="Calibri"/>
              </a:rPr>
              <a:t>▸ </a:t>
            </a:r>
            <a:r>
              <a:rPr sz="1250">
                <a:solidFill>
                  <a:srgbClr val="333333"/>
                </a:solidFill>
                <a:latin typeface="Calibri"/>
              </a:rPr>
              <a:t>MMM / ROI and budget reallocation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F6B6B"/>
                </a:solidFill>
                <a:latin typeface="Calibri"/>
              </a:rPr>
              <a:t>▸ </a:t>
            </a:r>
            <a:r>
              <a:rPr sz="1250">
                <a:solidFill>
                  <a:srgbClr val="333333"/>
                </a:solidFill>
                <a:latin typeface="Calibri"/>
              </a:rPr>
              <a:t>Adherence, persistence, patient support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F6B6B"/>
                </a:solidFill>
                <a:latin typeface="Calibri"/>
              </a:rPr>
              <a:t>▸ </a:t>
            </a:r>
            <a:r>
              <a:rPr sz="1250">
                <a:solidFill>
                  <a:srgbClr val="333333"/>
                </a:solidFill>
                <a:latin typeface="Calibri"/>
              </a:rPr>
              <a:t>Lifecycle: new indications, formulations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399" y="2103120"/>
            <a:ext cx="2651760" cy="6400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LOE &amp; beyond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399" y="2880360"/>
            <a:ext cx="265176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FF6B6B"/>
                </a:solidFill>
                <a:latin typeface="Calibri"/>
              </a:rPr>
              <a:t>▸ </a:t>
            </a:r>
            <a:r>
              <a:rPr sz="1250">
                <a:solidFill>
                  <a:srgbClr val="333333"/>
                </a:solidFill>
                <a:latin typeface="Calibri"/>
              </a:rPr>
              <a:t>Erosion forecast; generic/biosimilar entry timing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F6B6B"/>
                </a:solidFill>
                <a:latin typeface="Calibri"/>
              </a:rPr>
              <a:t>▸ </a:t>
            </a:r>
            <a:r>
              <a:rPr sz="1250">
                <a:solidFill>
                  <a:srgbClr val="333333"/>
                </a:solidFill>
                <a:latin typeface="Calibri"/>
              </a:rPr>
              <a:t>Promotion wind-down; authorized generic strategy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F6B6B"/>
                </a:solidFill>
                <a:latin typeface="Calibri"/>
              </a:rPr>
              <a:t>▸ </a:t>
            </a:r>
            <a:r>
              <a:rPr sz="1250">
                <a:solidFill>
                  <a:srgbClr val="333333"/>
                </a:solidFill>
                <a:latin typeface="Calibri"/>
              </a:rPr>
              <a:t>Contracting to defend covered lives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F6B6B"/>
                </a:solidFill>
                <a:latin typeface="Calibri"/>
              </a:rPr>
              <a:t>▸ </a:t>
            </a:r>
            <a:r>
              <a:rPr sz="1250">
                <a:solidFill>
                  <a:srgbClr val="333333"/>
                </a:solidFill>
                <a:latin typeface="Calibri"/>
              </a:rPr>
              <a:t>Portfolio reallocation to the next launch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1">
                <a:solidFill>
                  <a:srgbClr val="666666"/>
                </a:solidFill>
                <a:latin typeface="Calibri"/>
              </a:rPr>
              <a:t>Where the course lives: Weeks 3–5 are mostly in-line questions; Week 6 (forecasting) spans all four phases; Week 2 (claims) is the raw material for everything.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 · LAUNCH ARCHETYPES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300" b="1" i="0">
                <a:solidFill>
                  <a:srgbClr val="1E2761"/>
                </a:solidFill>
                <a:latin typeface="Calibri"/>
              </a:rPr>
              <a:t>Four launch archetypes: unmet need × differentiation predicts year-one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Source: IQVIA, “A Framework for Successful Biopharma Launches” — 602 launches, 2007–2016; emerging-biopharma first-year sales shown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33 / 44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2057400"/>
            <a:ext cx="4023360" cy="1828800"/>
          </a:xfrm>
          <a:prstGeom prst="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2130552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MARKET SHAPING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103120"/>
            <a:ext cx="11887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Calibri"/>
              </a:rPr>
              <a:t>$65M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496312"/>
            <a:ext cx="3749039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alibri"/>
              </a:rPr>
              <a:t>Low unmet need · high differentiation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788920"/>
            <a:ext cx="3749039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Iclusig (CML, T315I mutation): Ariad “shaped the market by amplifying the need for testing.”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2057400"/>
            <a:ext cx="4023360" cy="1828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2130552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SCIENCE SELLS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103120"/>
            <a:ext cx="11887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Calibri"/>
              </a:rPr>
              <a:t>$94M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496312"/>
            <a:ext cx="3749039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alibri"/>
              </a:rPr>
              <a:t>High unmet need · high differentiation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788920"/>
            <a:ext cx="3749039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Incivek (hepatitis C): disease-awareness campaign began seven years before launch; captured the majority of patients early.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4023360"/>
            <a:ext cx="4023360" cy="18288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4096512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WHO BENEFITS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069080"/>
            <a:ext cx="11887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Calibri"/>
              </a:rPr>
              <a:t>$19M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462272"/>
            <a:ext cx="3749039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alibri"/>
              </a:rPr>
              <a:t>Low unmet need · low differentiation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754880"/>
            <a:ext cx="3749039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Vascepa (triglycerides): “From the physician perspective, a statin was all that most patients needed.” $32M year one vs. $1.9B peak-sales estimate.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4023360"/>
            <a:ext cx="4023360" cy="1828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4096512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EMPHASIZE THE DIFFERENCE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69080"/>
            <a:ext cx="11887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Calibri"/>
              </a:rPr>
              <a:t>$53M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62272"/>
            <a:ext cx="3749039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alibri"/>
              </a:rPr>
              <a:t>High unmet need · low differentiation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4754880"/>
            <a:ext cx="3749039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Contrave (obesity): partnered with Takeda's 900-rep field force; out-promoted every branded competitor in share of contacts.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2103120"/>
            <a:ext cx="9144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0" i="0">
                <a:solidFill>
                  <a:srgbClr val="666666"/>
                </a:solidFill>
                <a:latin typeface="Calibri"/>
              </a:rPr>
              <a:t>Product</a:t>
            </a:r>
          </a:p>
          <a:p>
            <a:pPr algn="ctr"/>
            <a:r>
              <a:rPr sz="950" b="0" i="0">
                <a:solidFill>
                  <a:srgbClr val="666666"/>
                </a:solidFill>
                <a:latin typeface="Calibri"/>
              </a:rPr>
              <a:t>differentiation</a:t>
            </a:r>
          </a:p>
          <a:p>
            <a:pPr algn="ctr"/>
            <a:r>
              <a:rPr sz="950" b="0" i="0">
                <a:solidFill>
                  <a:srgbClr val="666666"/>
                </a:solidFill>
                <a:latin typeface="Calibri"/>
              </a:rPr>
              <a:t>HIGH 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029200"/>
            <a:ext cx="9144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0" i="0">
                <a:solidFill>
                  <a:srgbClr val="666666"/>
                </a:solidFill>
                <a:latin typeface="Calibri"/>
              </a:rPr>
              <a:t>Product</a:t>
            </a:r>
          </a:p>
          <a:p>
            <a:pPr algn="ctr"/>
            <a:r>
              <a:rPr sz="950" b="0" i="0">
                <a:solidFill>
                  <a:srgbClr val="666666"/>
                </a:solidFill>
                <a:latin typeface="Calibri"/>
              </a:rPr>
              <a:t>differentiation</a:t>
            </a:r>
          </a:p>
          <a:p>
            <a:pPr algn="ctr"/>
            <a:r>
              <a:rPr sz="950" b="0" i="0">
                <a:solidFill>
                  <a:srgbClr val="666666"/>
                </a:solidFill>
                <a:latin typeface="Calibri"/>
              </a:rPr>
              <a:t>LOW 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943600"/>
            <a:ext cx="40233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◄ LOW unmet medical need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5943600"/>
            <a:ext cx="40233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HIGH unmet medical need 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2103120"/>
            <a:ext cx="192024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1E2761"/>
                </a:solidFill>
                <a:latin typeface="Calibri"/>
              </a:rPr>
              <a:t>Same lesson in every quadrant: set expectations, and tailor the launch to the archetype. 50–70% of launches miss their year-one forecast.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 ·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Two fish-oil launches, same market, 3× different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IQVIA NSP / NPA, year-one performance. Lovaza launched Sep 2005; Vascepa Jan 2013 into a market where a statin “was all most patients needed.”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34 / 44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2057400"/>
          <a:ext cx="3200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840480" y="2057400"/>
          <a:ext cx="32004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0" y="2103120"/>
            <a:ext cx="438912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50">
                <a:solidFill>
                  <a:srgbClr val="1E2761"/>
                </a:solidFill>
                <a:latin typeface="Calibri"/>
              </a:rPr>
              <a:t>Same molecule class, </a:t>
            </a:r>
            <a:r>
              <a:rPr sz="1150">
                <a:solidFill>
                  <a:srgbClr val="333333"/>
                </a:solidFill>
                <a:latin typeface="Calibri"/>
              </a:rPr>
              <a:t>same indication (severely high triglycerides), same prescriber base.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50">
                <a:solidFill>
                  <a:srgbClr val="1E2761"/>
                </a:solidFill>
                <a:latin typeface="Calibri"/>
              </a:rPr>
              <a:t>Analyst forecasts: </a:t>
            </a:r>
            <a:r>
              <a:rPr sz="1150">
                <a:solidFill>
                  <a:srgbClr val="333333"/>
                </a:solidFill>
                <a:latin typeface="Calibri"/>
              </a:rPr>
              <a:t>$59M in 2013 revenue and $1.9B peak sales by 2022 — “inspired by the mechanism of action.”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50">
                <a:solidFill>
                  <a:srgbClr val="1E2761"/>
                </a:solidFill>
                <a:latin typeface="Calibri"/>
              </a:rPr>
              <a:t>Actual: </a:t>
            </a:r>
            <a:r>
              <a:rPr sz="1150">
                <a:solidFill>
                  <a:srgbClr val="333333"/>
                </a:solidFill>
                <a:latin typeface="Calibri"/>
              </a:rPr>
              <a:t>$32.2M and 94.2k NRx vs Lovaza's $86.9M and 402.6k.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50">
                <a:solidFill>
                  <a:srgbClr val="1E2761"/>
                </a:solidFill>
                <a:latin typeface="Calibri"/>
              </a:rPr>
              <a:t>Diagnosis (IQVIA): </a:t>
            </a:r>
            <a:r>
              <a:rPr sz="1150">
                <a:solidFill>
                  <a:srgbClr val="333333"/>
                </a:solidFill>
                <a:latin typeface="Calibri"/>
              </a:rPr>
              <a:t>“If marketers can't identify the distinct patient population or stakeholder who would benefit, the launch will likely fail.”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50">
                <a:solidFill>
                  <a:srgbClr val="1E2761"/>
                </a:solidFill>
                <a:latin typeface="Calibri"/>
              </a:rPr>
              <a:t>Your job in Week 6: </a:t>
            </a:r>
            <a:r>
              <a:rPr sz="1150">
                <a:solidFill>
                  <a:srgbClr val="333333"/>
                </a:solidFill>
                <a:latin typeface="Calibri"/>
              </a:rPr>
              <a:t>build forecasts that encode the stakeholder reality — payer coverage and HCP conviction — not just the mechanism.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AI and agentic AI in commercial —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107 senior commercial leaders told IQVIA in 2025, and where GenAI projects actually fail.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35 / 44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 ·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AI has moved from pilots to budget line — but data readiness lags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Source: IQVIA, “AI in Life Sciences Commercialization” (May 2025 survey, n=107 senior commercial leaders)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36 / 44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2103120" cy="1554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920239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44%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12364"/>
            <a:ext cx="1828799" cy="65288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dedicate &gt;20% of commercial budget to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2057400"/>
            <a:ext cx="2103120" cy="1554480"/>
          </a:xfrm>
          <a:prstGeom prst="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194560"/>
            <a:ext cx="1920239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36%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2912364"/>
            <a:ext cx="1828799" cy="65288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self-describe as “AI Advanced”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057400"/>
            <a:ext cx="2103120" cy="15544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2194560"/>
            <a:ext cx="1920239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58%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912364"/>
            <a:ext cx="1828799" cy="65288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report ≥2× one-year ROI (7% report 3×+)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2057400"/>
            <a:ext cx="2103120" cy="15544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2194560"/>
            <a:ext cx="1920239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11%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912364"/>
            <a:ext cx="1828799" cy="65288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say their data is “fully sufficient” for 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09760" y="2057400"/>
            <a:ext cx="2103120" cy="155448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2194560"/>
            <a:ext cx="1920239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89%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2912364"/>
            <a:ext cx="1828799" cy="65288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co-develop AI solutions with external vendors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548640" y="3794760"/>
          <a:ext cx="603504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858000" y="3840480"/>
            <a:ext cx="4754880" cy="2468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1E2761"/>
                </a:solidFill>
                <a:latin typeface="Calibri"/>
              </a:rPr>
              <a:t>“We're not short on data — we're short on usable, connected data.”</a:t>
            </a:r>
          </a:p>
          <a:p>
            <a:pPr algn="l"/>
            <a:r>
              <a:rPr sz="1200" b="0" i="1">
                <a:solidFill>
                  <a:srgbClr val="1E2761"/>
                </a:solidFill>
                <a:latin typeface="Calibri"/>
              </a:rPr>
              <a:t/>
            </a:r>
          </a:p>
          <a:p>
            <a:pPr algn="l"/>
            <a:r>
              <a:rPr sz="1200" b="0" i="1">
                <a:solidFill>
                  <a:srgbClr val="1E2761"/>
                </a:solidFill>
                <a:latin typeface="Calibri"/>
              </a:rPr>
              <a:t>“The ambition is there, but the infrastructure isn't.”</a:t>
            </a:r>
          </a:p>
          <a:p>
            <a:pPr algn="l"/>
            <a:r>
              <a:rPr sz="1200" b="0" i="1">
                <a:solidFill>
                  <a:srgbClr val="1E2761"/>
                </a:solidFill>
                <a:latin typeface="Calibri"/>
              </a:rPr>
              <a:t/>
            </a:r>
          </a:p>
          <a:p>
            <a:pPr algn="l"/>
            <a:r>
              <a:rPr sz="1200" b="0" i="1">
                <a:solidFill>
                  <a:srgbClr val="1E2761"/>
                </a:solidFill>
                <a:latin typeface="Calibri"/>
              </a:rPr>
              <a:t>— survey respondents, IQVIA 2025. Translation for this course: the scarce skill is not fitting the model; it is building the cohort, joining the codes and knowing which stakeholder the number describes.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 · WHERE IT'S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AI priority vs. adoption by function — and where this course 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Adapted from IQVIA 2025 survey (Figure 5) and its priority use-case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37 / 44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206240"/>
                <a:gridCol w="3657600"/>
                <a:gridCol w="13716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Survey finding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Typical AI use cases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Course weeks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Sales &amp; marketing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Highest strategic priority, low adoption — “barriers are about scaling enablement across decentralized teams”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Omnichannel targeting, NBA, content personalization, field productivity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Wk 3, 4, 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Value &amp; access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Overlooked opportunity — priority but even lower adoption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Payer analytics, pricing simulation, contract scenario modeling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Wk 2, 6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Compliance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Overlooked opportunity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Audit automation, MLR review assistance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Wk 7 (NLP)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Medical affairs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Moderate priority; human judgement remains the differentiator (“MSLs deliver scientific judgement; AI delivers information”)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Insight extraction from field notes, KOL identification, literature synthesis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Wk 7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IT &amp; data operations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Leading in adoption — data infrastructure and integration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Data integration, master data (HCP/NDC), model deployment &amp; monitoring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Wk 2, term project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Forecasting &amp; supply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Top-cited current use case; moving to real-time adjustment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Demand forecasting, foundation models for time series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Wk 6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 · WHERE GENAI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Where GenAI and agents pay off — and the four reasons projects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Source: IQVIA, “Where to Deploy Generative AI Solutions in Life Sciences” (2025). &gt;70% of GenAI experiments never reach production.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38 / 44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5394960" cy="3749039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6712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Four reasons GenAI applications fail (IQVIA)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51176"/>
            <a:ext cx="5166360" cy="316382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50">
                <a:solidFill>
                  <a:srgbClr val="1E2761"/>
                </a:solidFill>
                <a:latin typeface="Calibri"/>
              </a:rPr>
              <a:t>Unrealistic expectations: </a:t>
            </a:r>
            <a:r>
              <a:rPr sz="1150">
                <a:solidFill>
                  <a:srgbClr val="333333"/>
                </a:solidFill>
                <a:latin typeface="Calibri"/>
              </a:rPr>
              <a:t>“LLMs are unable to create insights if the information necessary for those insights isn't somewhere in the data sources.”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50">
                <a:solidFill>
                  <a:srgbClr val="1E2761"/>
                </a:solidFill>
                <a:latin typeface="Calibri"/>
              </a:rPr>
              <a:t>Doesn't fit the workflow: </a:t>
            </a:r>
            <a:r>
              <a:rPr sz="1150">
                <a:solidFill>
                  <a:srgbClr val="333333"/>
                </a:solidFill>
                <a:latin typeface="Calibri"/>
              </a:rPr>
              <a:t>“Inconvenience kills value.” Switching apps and slow responses hammer adoption.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50">
                <a:solidFill>
                  <a:srgbClr val="1E2761"/>
                </a:solidFill>
                <a:latin typeface="Calibri"/>
              </a:rPr>
              <a:t>Can't prove accuracy: </a:t>
            </a:r>
            <a:r>
              <a:rPr sz="1150">
                <a:solidFill>
                  <a:srgbClr val="333333"/>
                </a:solidFill>
                <a:latin typeface="Calibri"/>
              </a:rPr>
              <a:t>errors are less predictable than in deterministic software; measurement itself is subjective.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50">
                <a:solidFill>
                  <a:srgbClr val="1E2761"/>
                </a:solidFill>
                <a:latin typeface="Calibri"/>
              </a:rPr>
              <a:t>Not useful to expert users: </a:t>
            </a:r>
            <a:r>
              <a:rPr sz="1150">
                <a:solidFill>
                  <a:srgbClr val="333333"/>
                </a:solidFill>
                <a:latin typeface="Calibri"/>
              </a:rPr>
              <a:t>experts are already fast; the bar for improvement is high.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057400"/>
            <a:ext cx="5394960" cy="3749039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6712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Rules of thumb for high-value use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551176"/>
            <a:ext cx="5166360" cy="316382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50">
                <a:solidFill>
                  <a:srgbClr val="1E2761"/>
                </a:solidFill>
                <a:latin typeface="Calibri"/>
              </a:rPr>
              <a:t>Repetitive manual tasks: </a:t>
            </a:r>
            <a:r>
              <a:rPr sz="1150">
                <a:solidFill>
                  <a:srgbClr val="333333"/>
                </a:solidFill>
                <a:latin typeface="Calibri"/>
              </a:rPr>
              <a:t>“LLMs can rarely do things a person can't do if given enough time” — most wins automate human-like tasks.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50">
                <a:solidFill>
                  <a:srgbClr val="1E2761"/>
                </a:solidFill>
                <a:latin typeface="Calibri"/>
              </a:rPr>
              <a:t>Large volumes of text or code: </a:t>
            </a:r>
            <a:r>
              <a:rPr sz="1150">
                <a:solidFill>
                  <a:srgbClr val="333333"/>
                </a:solidFill>
                <a:latin typeface="Calibri"/>
              </a:rPr>
              <a:t>field notes, call transcripts, medical literature, MLR review, analytics code.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50">
                <a:solidFill>
                  <a:srgbClr val="1E2761"/>
                </a:solidFill>
                <a:latin typeface="Calibri"/>
              </a:rPr>
              <a:t>Intrinsic P&amp;L impact: </a:t>
            </a:r>
            <a:r>
              <a:rPr sz="1150">
                <a:solidFill>
                  <a:srgbClr val="333333"/>
                </a:solidFill>
                <a:latin typeface="Calibri"/>
              </a:rPr>
              <a:t>an M&amp;A screening tool used rarely can beat a slide-template generator used daily.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50">
                <a:solidFill>
                  <a:srgbClr val="1E2761"/>
                </a:solidFill>
                <a:latin typeface="Calibri"/>
              </a:rPr>
              <a:t>Human review + existing workflow + non-expert users: </a:t>
            </a:r>
            <a:r>
              <a:rPr sz="1150">
                <a:solidFill>
                  <a:srgbClr val="333333"/>
                </a:solidFill>
                <a:latin typeface="Calibri"/>
              </a:rPr>
              <a:t>lower risk of failure.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50">
                <a:solidFill>
                  <a:srgbClr val="1E2761"/>
                </a:solidFill>
                <a:latin typeface="Calibri"/>
              </a:rPr>
              <a:t>Agentic AI: </a:t>
            </a:r>
            <a:r>
              <a:rPr sz="1150">
                <a:solidFill>
                  <a:srgbClr val="333333"/>
                </a:solidFill>
                <a:latin typeface="Calibri"/>
              </a:rPr>
              <a:t>“empowered to perform dedicated tasks autonomously” — an orchestrator routes requests to specialist agents and synthesizes the answer (IQVIA's own design).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1">
                <a:solidFill>
                  <a:srgbClr val="666666"/>
                </a:solidFill>
                <a:latin typeface="Calibri"/>
              </a:rPr>
              <a:t>Course thread: every technique from Week 3 on ends with “what would the agentic version of this look like?” Guest Speaker 1 (Nov 16) covers agentic use cases in commercial.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Use cases, claims tour, and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Fifteen starting points, one dataset to look at, and one exercise to do before you leave.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39 / 44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8 ·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Term-project use cases — data science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Five archetypes from the syllabus plus extensions. Full one-page briefs in the catalog handout.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40 / 44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11680"/>
          <a:ext cx="110642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468880"/>
                <a:gridCol w="3383280"/>
                <a:gridCol w="2743200"/>
                <a:gridCol w="210312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Use case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Core question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Data (synthetic, provided or generated)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Methods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HCP segmentation + NBA engine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Which HCPs, which channel, which message, how often?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Rx panel + CRM activity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Clustering, uplift, bandits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MMM calibrated to a launch curve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What did each channel contribute, and how should we reallocate?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Weekly TRx + channel spend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Bayesian MMM, adstock/Hill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Patient-finding / journey model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Which undiagnosed or untreated patients look like our treated cohort?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Medical + pharmacy claims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Sequence models, survival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Adherence &amp; persistence prediction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Who drops off therapy at 90 days, and what intervention helps?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Pharmacy claims + support-program data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Classification, survival, causal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Payer access impact analysis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What did a formulary change do to NBRx, abandonment and net price?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Claims with plan IDs + formulary events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Event study, diff-in-diff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Launch forecast with analogs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Epi funnel → patient flow → TRx; range forecast for year 1–3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Epi tables + analog launch curves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Bass diffusion, hierarchical TS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LOE erosion model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How fast does volume and net price erode after generic entry?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Historical analog brands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Time series, scenario analysis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KOL / influence network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Which physicians shape prescribing in a specialty and region?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Publications, referrals, claims co-management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Graph analytics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8 ·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Term-project use cases — NLP and agentic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Aim for a working prototype plus an honest evaluation, not a demo. Mentors will push on “would a brand team trust this?”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41 / 44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11680"/>
          <a:ext cx="1106424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468880"/>
                <a:gridCol w="3657600"/>
                <a:gridCol w="2377440"/>
                <a:gridCol w="219456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Use case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Core question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Methods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Field-note insight extraction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What are reps and MSLs hearing about access, efficacy, competitors — by region and segment?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Synthetic CRM call notes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Embeddings, topic models, LLM extraction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Social-listening &amp; adverse-event triage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Which posts describe a possible adverse event vs. a complaint vs. noise?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Synthetic social posts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Classification, domain models (BioBERT)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MLR pre-review assistant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Does this promotional claim match the label and the reference deck?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Label text + claim library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RAG, claim-matching, evaluation harness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Weekly brand-performance briefing agent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Automate the Monday brand report: pull data, detect anomalies, draft narrative, flag actions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Weekly TRx/share/access tables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Agent orchestration, tool use, evals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Payer-policy monitoring agent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Track formulary and policy documents; summarize changes and quantify exposure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Public formulary PDFs, policy pages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Document parsing, RAG, change detection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Synthetic advisory board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Can LLM personas grounded in real interview transcripts predict what an ad board would say?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Synthetic transcripts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Persona modeling, evaluation vs. holdout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Forecast-explanation agent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Explain forecast variance to a brand lead in plain language, with drivers and confidence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Forecast + actuals + drivers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Time-series decomposition + LLM narrative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1">
                <a:solidFill>
                  <a:srgbClr val="1E2761"/>
                </a:solidFill>
                <a:latin typeface="Calibri"/>
              </a:rPr>
              <a:t>Pick a problem a real brand team has. Then ask which stakeholder's behavior you are modeling — that decides your data and your evaluation metric.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8 · CLAIMS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Tour of an anonymized claims sample: what a row actually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Notebook: Week_01_Claims_Sample_Tour.ipynb · 60 synthetic patients on GLUCOREN and competitors · 10 minutes, no coding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42 / 44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108960"/>
                <a:gridCol w="5029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Column (pharmacy claim)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Which stakeholder / concept it encodes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patient_id (tokenized)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P00017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Patient — de-identified; HIPAA; longitudinal linkage across claims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service_date · days_supply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2026-03-04 · 30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Patient behavior: refills, gaps, persistence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ndc · drug_name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0002-1434-80 · GLUCOREN 10 mg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Manufacturer / product; NDC → molecule → market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prescriber_npi · specialty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1234567893 · Endocrinology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HCP — the chooser; join to CRM targets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plan_id · payer_type · pbm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PL-COM-04 · Commercial · PBM-A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Payer / PBM — the access gate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claim_status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PAID · REJECTED · REVERSED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Adjudication: rejections often = prior auth; reversals = abandonment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reject_code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75 (prior authorization required)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Utilization management in action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patient_pay · plan_pay · copay_card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$45 · $410 · $30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Money flow: who paid what at the counter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pharmacy_type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Retail · Mail · Specialty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Channel; PBM-owned mail/specialty steering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Next week we build a real cohort (DLBCL, 500 patients, medical + pharmacy claims) and assign lines of therapy. Tonight is only about recognizing the fields.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8 · IN-CLASS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Exercise: map the stakeholders for GLUCOREN (25 min, groups of 3–4)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Handout: Week_01_InClass_Exercise. Debrief in the last 15 minutes; one group presents each part.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43 / 44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3611880" cy="384048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194560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185416"/>
            <a:ext cx="292608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Part A · Incentive map (10 min)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79192"/>
            <a:ext cx="3383280" cy="31272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GLUCOREN: branded once-daily oral for type 2 diabetes, year 3, $650M net sales, facing a new competitor with a cardiovascular-outcomes label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For each of 8 stakeholders: what do they want from GLUCOREN, and what would make them act against it?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Identify the two most important conflicts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057400"/>
            <a:ext cx="3611880" cy="384048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4840" y="2194560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185416"/>
            <a:ext cx="292608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Part B · Gross-to-net (8 min)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679192"/>
            <a:ext cx="3383280" cy="31272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From the worksheet's WAC, units, rebate rates and channel mix, compute gross sales, each deduction, net sales, GTN %, and net revenue per TRx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Then: the PBM asks for 5 more points of rebate for preferred status. Volume rises 12%. Is it worth it?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057400"/>
            <a:ext cx="3611880" cy="384048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83880" y="2194560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185416"/>
            <a:ext cx="292608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Part C · Follow the prescription (7 min)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679192"/>
            <a:ext cx="3383280" cy="31272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A 58-year-old patient on a high-deductible plan gets a GLUCOREN script at an endocrinology visit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Trace the 6 steps: which code appears where, which dataset captures it, what could stop the fill at each step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Bonus: which of the term-project use cases would help at each failure point?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The answer key is in the instructor package; students get the worked solution after the debrief.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NEXT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Before Week 2 (Sep 21): readings, teams, and one question to bring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Week 2: Pharma Datasets &amp; Introduction to Claims Analytics — medical vs. pharmacy claims, EHR, syndicated panels; building a cohort with codes; RWD quality and re-identification 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1 — Pharma Landscape &amp; Terminology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44 / 44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5394960" cy="36576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0428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688336"/>
            <a:ext cx="5166360" cy="30723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50">
                <a:solidFill>
                  <a:srgbClr val="1E2761"/>
                </a:solidFill>
                <a:latin typeface="Calibri"/>
              </a:rPr>
              <a:t>Read: </a:t>
            </a:r>
            <a:r>
              <a:rPr sz="1150">
                <a:solidFill>
                  <a:srgbClr val="333333"/>
                </a:solidFill>
                <a:latin typeface="Calibri"/>
              </a:rPr>
              <a:t>IQVIA Institute, “The Use of Medicines in the U.S.” — latest annual report, executive summary (free at iqvia.com/institute).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50">
                <a:solidFill>
                  <a:srgbClr val="1E2761"/>
                </a:solidFill>
                <a:latin typeface="Calibri"/>
              </a:rPr>
              <a:t>Read: </a:t>
            </a:r>
            <a:r>
              <a:rPr sz="1150">
                <a:solidFill>
                  <a:srgbClr val="333333"/>
                </a:solidFill>
                <a:latin typeface="Calibri"/>
              </a:rPr>
              <a:t>Week 1 reading pack (curated white-paper excerpts, ~30 min) and skim the glossary — the acronyms on tonight's slides will be assumed from now on.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50">
                <a:solidFill>
                  <a:srgbClr val="1E2761"/>
                </a:solidFill>
                <a:latin typeface="Calibri"/>
              </a:rPr>
              <a:t>Optional: </a:t>
            </a:r>
            <a:r>
              <a:rPr sz="1150">
                <a:solidFill>
                  <a:srgbClr val="333333"/>
                </a:solidFill>
                <a:latin typeface="Calibri"/>
              </a:rPr>
              <a:t>FDA, “Framework for FDA's Real-World Evidence Program” — executive summary and Section II (fda.gov/media/120060/download).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50">
                <a:solidFill>
                  <a:srgbClr val="1E2761"/>
                </a:solidFill>
                <a:latin typeface="Calibri"/>
              </a:rPr>
              <a:t>Form your team: </a:t>
            </a:r>
            <a:r>
              <a:rPr sz="1150">
                <a:solidFill>
                  <a:srgbClr val="333333"/>
                </a:solidFill>
                <a:latin typeface="Calibri"/>
              </a:rPr>
              <a:t>3–4 people; post team name and members on the course site by Friday. Mentors are introduced next Monday.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50">
                <a:solidFill>
                  <a:srgbClr val="1E2761"/>
                </a:solidFill>
                <a:latin typeface="Calibri"/>
              </a:rPr>
              <a:t>Set up: </a:t>
            </a:r>
            <a:r>
              <a:rPr sz="1150">
                <a:solidFill>
                  <a:srgbClr val="333333"/>
                </a:solidFill>
                <a:latin typeface="Calibri"/>
              </a:rPr>
              <a:t>Python 3.11+, pandas, DuckDB, Jupyter. Clone the Week 2 data folder when posted.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94560"/>
            <a:ext cx="5394960" cy="36576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30428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Bring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688336"/>
            <a:ext cx="5166360" cy="30723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50">
                <a:solidFill>
                  <a:srgbClr val="1E2761"/>
                </a:solidFill>
                <a:latin typeface="Calibri"/>
              </a:rPr>
              <a:t>One question </a:t>
            </a:r>
            <a:r>
              <a:rPr sz="1150">
                <a:solidFill>
                  <a:srgbClr val="333333"/>
                </a:solidFill>
                <a:latin typeface="Calibri"/>
              </a:rPr>
              <a:t>about a stakeholder incentive you found surprising tonight — we start Week 2 with five of them.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50">
                <a:solidFill>
                  <a:srgbClr val="1E2761"/>
                </a:solidFill>
                <a:latin typeface="Calibri"/>
              </a:rPr>
              <a:t>A one-sentence draft </a:t>
            </a:r>
            <a:r>
              <a:rPr sz="1150">
                <a:solidFill>
                  <a:srgbClr val="333333"/>
                </a:solidFill>
                <a:latin typeface="Calibri"/>
              </a:rPr>
              <a:t>of a commercial problem your team might want to work on (it will change; that's fine).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150">
                <a:solidFill>
                  <a:srgbClr val="1E2761"/>
                </a:solidFill>
                <a:latin typeface="Calibri"/>
              </a:rPr>
              <a:t>For guest speakers later in the term: </a:t>
            </a:r>
            <a:r>
              <a:rPr sz="1150">
                <a:solidFill>
                  <a:srgbClr val="333333"/>
                </a:solidFill>
                <a:latin typeface="Calibri"/>
              </a:rPr>
              <a:t>questions are submitted in advance and graded — start noticing what you'd want to ask a practitioner.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Office hours Mondays 5:00–6:45 PM · ac5562@columbia.edu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