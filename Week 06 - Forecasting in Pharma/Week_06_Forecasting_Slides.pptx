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Case: LYMBREXA, a fictional third-in-class bispecific in DLBCL; GLUCOREN for the prevalence model and LOE. All data synthetic. The model lives in Week_06_LYMBREXA_Forecast_Model.xlsx and in the notebook — same numbers. Homework 2 released tonight (due Mon Nov 2, 11:59 PM 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11480" cy="2377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Calibri"/>
              </a:rPr>
              <a:t>WEEK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78992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Forecasting in Pharma: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Patient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A simple model, well-documented assumptions, and an honest range.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Andi Cupallari · Applied Data Science and AI in Pharma Commercial · Fall 2026 · Monday, October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 /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Tonight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 / 40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10512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What a forecast is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847088"/>
            <a:ext cx="6217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Budget vs long-range plan; who uses each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331720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13432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Patient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350008"/>
            <a:ext cx="6217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Incidence vs prevalence; flow vs stock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834640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16352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assumption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852928"/>
            <a:ext cx="6217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A forecast is a list of assumptions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337560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19272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From data to 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355848"/>
            <a:ext cx="6217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Progression, persistence, uptake, share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840480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22192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forecast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858768"/>
            <a:ext cx="6217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Funnel → brand → budget and long-range plan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343400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25112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361688"/>
            <a:ext cx="6217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Scenarios, tornado, the plan of record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846320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28032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864608"/>
            <a:ext cx="6217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Market trend, regional split, LOE, prevalence model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349240"/>
            <a:ext cx="347472" cy="3474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330952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Close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5367528"/>
            <a:ext cx="6217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Governance · exercise · Homework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What a forecast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Two horizons, one model, many readers.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TWO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Two questions, one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LYMBREXA: fictional 3rd-in-class bispecific · 3L+ DLBCL Jan 2027 · 2L label mid-2028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 / 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394960" cy="1554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493776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Brand lead — budget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“Monthly patients and revenue for 2027–28. Supply needs vials by month.”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394960" cy="155448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93776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Portfolio strategy — long-range plan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“Annual revenue to 2041. The plan says $250M in 2029, $400M at peak.”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593592"/>
            <a:ext cx="1645920" cy="384047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315200" y="3593592"/>
            <a:ext cx="1645920" cy="384047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94760" y="3977639"/>
            <a:ext cx="4572000" cy="91440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One patient funnel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driven by one assumption 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5780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27608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A launch has no sales history. Its forecast is built from patients and assumptions.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TWO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Budget forecast vs long-range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5 / 40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480560"/>
                <a:gridCol w="47548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Long-range plan (LRP)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2–3 years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5–15 years, through loss of exclusivity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Grain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monthly; by region and account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Refresh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quarterly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annually, and after major events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Costly error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a miss in the next 12 months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the size and timing of the peak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brand + finance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portfolio strategy + finance + R&amp;D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12064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138927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The budget is the first two or three years of the LRP, by month. Build one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Cook, Forecasting for the Pharmaceutical Industry, 2nd ed. (Gower/Routledge, 2015).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· WHO USES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Who reads the forecast, and for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6 /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651760" cy="13716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Finance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budget, guidance to investors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20240"/>
            <a:ext cx="2651760" cy="137160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Supply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vials by month; plant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920240"/>
            <a:ext cx="2651760" cy="137160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Sales operations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targets and incentive 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399" y="1920240"/>
            <a:ext cx="2651760" cy="13716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Marketing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how much to spend, where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2651760" cy="13716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Market access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rebates and contracts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474720"/>
            <a:ext cx="2651760" cy="137160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Medical affairs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team size, evidence plans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3474720"/>
            <a:ext cx="2651760" cy="137160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R&amp;D / business development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which indication next; deal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399" y="3474720"/>
            <a:ext cx="2651760" cy="137160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Executive team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the plan of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5780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27608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Most readers are not analysts. Every number must trace to an assumption they can question.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Cook (2015).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Patient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the funnel starts from, and whether it moves through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INCIDENCE vs PREVALENCE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Incidence and prevalence models start from different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8 / 40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210312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0116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02536"/>
            <a:ext cx="47091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Incidence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96312"/>
            <a:ext cx="5166360" cy="1389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50">
                <a:solidFill>
                  <a:srgbClr val="1E2761"/>
                </a:solidFill>
                <a:latin typeface="Calibri"/>
              </a:rPr>
              <a:t>Starts from </a:t>
            </a:r>
            <a:r>
              <a:rPr sz="1250">
                <a:solidFill>
                  <a:srgbClr val="333333"/>
                </a:solidFill>
                <a:latin typeface="Calibri"/>
              </a:rPr>
              <a:t>new cases per year.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50">
                <a:solidFill>
                  <a:srgbClr val="1E2761"/>
                </a:solidFill>
                <a:latin typeface="Calibri"/>
              </a:rPr>
              <a:t>Fits </a:t>
            </a:r>
            <a:r>
              <a:rPr sz="1250">
                <a:solidFill>
                  <a:srgbClr val="333333"/>
                </a:solidFill>
                <a:latin typeface="Calibri"/>
              </a:rPr>
              <a:t>oncology lines of therapy, acute care, vaccines.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50">
                <a:solidFill>
                  <a:srgbClr val="1E2761"/>
                </a:solidFill>
                <a:latin typeface="Calibri"/>
              </a:rPr>
              <a:t>Tonight: </a:t>
            </a:r>
            <a:r>
              <a:rPr sz="1250">
                <a:solidFill>
                  <a:srgbClr val="333333"/>
                </a:solidFill>
                <a:latin typeface="Calibri"/>
              </a:rPr>
              <a:t>DLBCL.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5394960" cy="21031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5080" y="2011679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002536"/>
            <a:ext cx="47091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Prevalence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496312"/>
            <a:ext cx="5166360" cy="1389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50">
                <a:solidFill>
                  <a:srgbClr val="1E2761"/>
                </a:solidFill>
                <a:latin typeface="Calibri"/>
              </a:rPr>
              <a:t>Starts from </a:t>
            </a:r>
            <a:r>
              <a:rPr sz="1250">
                <a:solidFill>
                  <a:srgbClr val="333333"/>
                </a:solidFill>
                <a:latin typeface="Calibri"/>
              </a:rPr>
              <a:t>people living with the disease.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50">
                <a:solidFill>
                  <a:srgbClr val="1E2761"/>
                </a:solidFill>
                <a:latin typeface="Calibri"/>
              </a:rPr>
              <a:t>Fits </a:t>
            </a:r>
            <a:r>
              <a:rPr sz="1250">
                <a:solidFill>
                  <a:srgbClr val="333333"/>
                </a:solidFill>
                <a:latin typeface="Calibri"/>
              </a:rPr>
              <a:t>chronic therapy: diabetes, psoriasis, HIV.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50">
                <a:solidFill>
                  <a:srgbClr val="1E2761"/>
                </a:solidFill>
                <a:latin typeface="Calibri"/>
              </a:rPr>
              <a:t>Tonight: </a:t>
            </a:r>
            <a:r>
              <a:rPr sz="1250">
                <a:solidFill>
                  <a:srgbClr val="333333"/>
                </a:solidFill>
                <a:latin typeface="Calibri"/>
              </a:rPr>
              <a:t>GLUCOREN in type 2 diabetes.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24527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Linked by duration: prevalence ≈ incidence × how long the disease lasts.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CDC, Principles of Epidemiology, 3rd ed., Lesson 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FLOW vs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Flow models move patients through time; stock models take a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9 / 40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146304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Flow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68296"/>
            <a:ext cx="5166360" cy="877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Patients move from line to line, with a delay. Needed when timing matters: launches, new labels, patent expiry.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74519"/>
            <a:ext cx="5394960" cy="14630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8424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Stock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368296"/>
            <a:ext cx="5166360" cy="877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Patients this year × rates × shares. Each year stands alone. Fine for stable markets.</a:t>
            </a:r>
          </a:p>
        </p:txBody>
      </p:sp>
      <p:pic>
        <p:nvPicPr>
          <p:cNvPr id="13" name="Picture 12" descr="flow_vs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0"/>
            <a:ext cx="4597610" cy="21031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0" y="3474720"/>
            <a:ext cx="5029200" cy="21031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584448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Same assumption, two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3968496"/>
            <a:ext cx="4800600" cy="151790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A treated rate rises from 20% to 35%. The stock model jumps; the flow model fills slowly through new starts.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1500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73328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Tonight's DLBCL funnel is a simple flow model: each line feeds the next one a year later.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Briggs &amp; Sculpher, PharmacoEconomics (1998). Chart: illustrative.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· THREE FUNNELS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Three funnels, three different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64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E2761"/>
                </a:solidFill>
                <a:latin typeface="Calibri"/>
              </a:rPr>
              <a:t>DLBCL — incidence, 2027 (tonight)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691639" cy="7772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New cases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22,910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67711" y="2446020"/>
            <a:ext cx="12801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2057400"/>
            <a:ext cx="1691639" cy="7772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Treated 1L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19,112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42232" y="2446020"/>
            <a:ext cx="128015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97679" y="2057400"/>
            <a:ext cx="1691639" cy="7772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2L starts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5,794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6752" y="2446020"/>
            <a:ext cx="128015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199" y="2057400"/>
            <a:ext cx="1691639" cy="7772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3L+ starts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3,513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91271" y="2446020"/>
            <a:ext cx="12801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46719" y="2057400"/>
            <a:ext cx="1691639" cy="7772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× brand share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111 new patients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65792" y="2446020"/>
            <a:ext cx="128016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21240" y="2057400"/>
            <a:ext cx="1691639" cy="7772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× months × price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$8.9M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17520"/>
            <a:ext cx="11064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E2761"/>
                </a:solidFill>
                <a:latin typeface="Calibri"/>
              </a:rPr>
              <a:t>Type 2 diabetes — prevalence, 2025 (tonight)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91840"/>
            <a:ext cx="1691639" cy="77724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Living with T2D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30.3M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67711" y="3680460"/>
            <a:ext cx="12801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423160" y="3291840"/>
            <a:ext cx="1691639" cy="77724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Diagnosed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23.6M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42232" y="3680460"/>
            <a:ext cx="128015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97679" y="3291840"/>
            <a:ext cx="1691639" cy="77724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Treated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16.9M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16752" y="3680460"/>
            <a:ext cx="128015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72199" y="3291840"/>
            <a:ext cx="1691639" cy="77724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On add-on therapy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7.9M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91271" y="3680460"/>
            <a:ext cx="12801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046719" y="3291840"/>
            <a:ext cx="1691639" cy="7772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On GLUCOREN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35.6k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765792" y="3680460"/>
            <a:ext cx="128016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921240" y="3291840"/>
            <a:ext cx="1691639" cy="7772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× fills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313k Rx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51960"/>
            <a:ext cx="11064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1E2761"/>
                </a:solidFill>
                <a:latin typeface="Calibri"/>
              </a:rPr>
              <a:t>Rare disease — patient finding (for contrast)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26280"/>
            <a:ext cx="1691639" cy="77724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Living with it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mostly undiagnosed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267711" y="4914900"/>
            <a:ext cx="12801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423160" y="4526280"/>
            <a:ext cx="1691639" cy="77724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Diagnosed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rises with testing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142232" y="4914900"/>
            <a:ext cx="128015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297679" y="4526280"/>
            <a:ext cx="1691639" cy="77724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Referred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the bottleneck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16752" y="4914900"/>
            <a:ext cx="128015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172199" y="4526280"/>
            <a:ext cx="1691639" cy="77724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Eligible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genotype, age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91271" y="4914900"/>
            <a:ext cx="12801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046719" y="4526280"/>
            <a:ext cx="1691639" cy="77724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Treated</a:t>
            </a:r>
          </a:p>
          <a:p>
            <a:pPr algn="ctr"/>
            <a:r>
              <a:rPr sz="950">
                <a:solidFill>
                  <a:srgbClr val="CADCFC"/>
                </a:solidFill>
                <a:latin typeface="Calibri"/>
              </a:rPr>
              <a:t>center capacity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765792" y="4914900"/>
            <a:ext cx="128016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921240" y="4526280"/>
            <a:ext cx="1691639" cy="77724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× price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53212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550407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Oncology: progression rates. Chronic: treated rate and share. Rare: diagnosis.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IQVIA, From Orphan to Opportunity (2025). Numbers: synthetic.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assumption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A forecast is a list of assumptions multiplied together. Write each one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A forecast is a chain of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12 /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676400" cy="10058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New cases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epidemiology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52471" y="2423160"/>
            <a:ext cx="146305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26208" y="1920240"/>
            <a:ext cx="1676400" cy="10058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× treated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treatment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30040" y="2423160"/>
            <a:ext cx="146303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03775" y="1920240"/>
            <a:ext cx="1676400" cy="10058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× progress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treatment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07608" y="2423160"/>
            <a:ext cx="146304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81344" y="1920240"/>
            <a:ext cx="1676400" cy="10058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× brand share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share, uptake, access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85175" y="2423160"/>
            <a:ext cx="146305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58911" y="1920240"/>
            <a:ext cx="1676400" cy="10058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× months on therapy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persistence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62744" y="2423160"/>
            <a:ext cx="146304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36479" y="1920240"/>
            <a:ext cx="1676400" cy="10058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× net price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price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2004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For every assumption, write down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Example (T2)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Value: low / base / high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26% / 31% / 36%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Week 2 claims cohort, Kaplan–Meier; NEJM review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trimmed for frail patients who are not re-treated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</a:rPr>
                        <a:t>Owner and date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forecast lead · Oct 2026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548640" y="566928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68756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The forecast review is a review of the assumption book, not of the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LYMBREXA'S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Twenty-seven assumptions, each with a range and 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lymbrexa_assumptions.csv · also the 'Assumptions' sheet of the Excel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13 / 40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120640"/>
                <a:gridCol w="1005840"/>
                <a:gridCol w="1005840"/>
                <a:gridCol w="1005840"/>
                <a:gridCol w="2286000"/>
              </a:tblGrid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Source type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E2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Diagnosed and presenting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97%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98%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Data (synthetic)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Treated in 1L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Data (synthetic)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Progress to 2L (lifetime), one year later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36%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Data + literature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Progress to 3L (lifetime), one year later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43%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57%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Data + judgment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Later-lines multiplier (3L+ starts per 3L patient)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1.14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1.24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1.34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Data (synthetic)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B3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Peak share of 3L+ starts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Literature + analog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B4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Peak share of 2L starts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Judgment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U1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Uptake: year 1 (% of peak share)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Analog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U2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Uptake: year 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Analog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Coverage in launch year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Data + judgment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D1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Average months on therapy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Label + data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Gross-to-net (share of WAC kept)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Judgment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Share retained after the LOE year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Literature + judgment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Full book (27 rows, with sources and reasons) in the CSV and the Excel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· WHERE THEY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Five sources of an assumption — say which one you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14 /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103120" cy="23774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claims, market data, analog launches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/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e.g. progression rates, uptake, persistence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920240"/>
            <a:ext cx="2103120" cy="237744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Literature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peer-reviewed studies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/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e.g. order of entry; LOE erosion; cure rates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920240"/>
            <a:ext cx="2103120" cy="237744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Analogs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similar past launches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/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e.g. how fast share builds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20240"/>
            <a:ext cx="2103120" cy="23774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Plans and labels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regulatory dates, label, price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/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e.g. launch year, months of therapy, price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920240"/>
            <a:ext cx="2103120" cy="237744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Judgment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expert view, written down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/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e.g. 2L peak share, gross-to-net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59028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Judgment is allowed. Undocumented judgment is not.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From data to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Use data to justify an assumption, not to fit a complicated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Progression rates: count the patients who have not relapsed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Week 2 cohort · 482 DLBCL patients · Kaplan–Meier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16 / 40</a:t>
            </a:r>
          </a:p>
        </p:txBody>
      </p:sp>
      <p:pic>
        <p:nvPicPr>
          <p:cNvPr id="8" name="Picture 7" descr="km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315200" cy="29250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46720" y="1874519"/>
            <a:ext cx="3566160" cy="14630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984248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Naive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368296"/>
            <a:ext cx="3337560" cy="877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28% reached 2L. Too low: recent patients have not had time to relapse.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429000"/>
            <a:ext cx="3566160" cy="146304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3538728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Kaplan–Meier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3922776"/>
            <a:ext cx="3337560" cy="877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36% reach 2L over time. Book: 31% (T2), lag one year.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5780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27608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Censored means ‘not yet’, not ‘never’.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Kaplan &amp; Meier, JASA (1958); Sehn &amp; Salles, NEJM (2021): more than 60% cured with first-line therapy. Cohort: synthetic.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Persistence: how many months a patient stays on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Persistence = time from starting to stopping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17 / 40</a:t>
            </a:r>
          </a:p>
        </p:txBody>
      </p:sp>
      <p:pic>
        <p:nvPicPr>
          <p:cNvPr id="8" name="Picture 7" descr="km_persis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5362832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06640" y="1874519"/>
            <a:ext cx="4206240" cy="15544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984248"/>
            <a:ext cx="3931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What the data say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7" y="2368296"/>
            <a:ext cx="3977639" cy="9692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Analog regimens: 5.9 to 9.4 months on average. Naive averages are lower — they ignore patients still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3520440"/>
            <a:ext cx="4206240" cy="15544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3630168"/>
            <a:ext cx="3931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Assumption D1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7" y="4014216"/>
            <a:ext cx="3977639" cy="96926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6 months: the label caps therapy at 8 cycles; some stop early. Range 5–7.5.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5780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27608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Patients on therapy = new patients × months on therapy ÷ 12.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Cramer et al., Value in Health (2008) — definitions; Little, Operations Research (1961). Data: synthetic.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UPTAKE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Uptake: read it from analog launches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Share of eventual peak reached in years 1, 2,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18 / 40</a:t>
            </a:r>
          </a:p>
        </p:txBody>
      </p:sp>
      <p:pic>
        <p:nvPicPr>
          <p:cNvPr id="8" name="Picture 7" descr="uptake_ana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5552574" cy="32004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1920240"/>
          <a:ext cx="4206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22960"/>
                <a:gridCol w="82296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 3+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Outpatient analogs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24–37%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89–99%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~100%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CAR-T (cell therapy)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8–12%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49–63%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~95%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LYMBREXA base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LYMBREXA low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3931920"/>
            <a:ext cx="4206240" cy="11887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4041648"/>
            <a:ext cx="3931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Why CAR-T is slower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7" y="4425696"/>
            <a:ext cx="3977639" cy="6035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▸ </a:t>
            </a:r>
            <a:r>
              <a:rPr sz="1100">
                <a:solidFill>
                  <a:srgbClr val="333333"/>
                </a:solidFill>
                <a:latin typeface="Calibri"/>
              </a:rPr>
              <a:t>63% of eligible patients are never referred to a treatment center.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27608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No curve-fitting needed: a ramp table from analogs is the assumption.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IQVIA, The Path to CAR T-cell Therapy (2025); Bass, Management Science (1969) for the formal S-curve. Analogs: synthetic.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· PEAK SHARE AND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Peak share: later entrants get 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Entrant share ≈ pioneer share ÷ √(order of entry)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19 / 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56616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383279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24328"/>
            <a:ext cx="3291840" cy="53766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1st (pioneer)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920240"/>
            <a:ext cx="356616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2057400"/>
            <a:ext cx="3383279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0.26 ÷ √2 = 0.18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24328"/>
            <a:ext cx="3291840" cy="53766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2nd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1920240"/>
            <a:ext cx="3566160" cy="12801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2057400"/>
            <a:ext cx="3383279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0.26 ÷ √3 = 0.15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624328"/>
            <a:ext cx="3291840" cy="53766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3rd — LYMBREXA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5394960" cy="18288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53872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Peak share (B3)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922776"/>
            <a:ext cx="5166360" cy="12435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Base 0.15 = the rule. High 0.20 needs evidence the others lack; low 0.10 = a weak follower.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5394960" cy="18288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53872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Coverage (C1)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922776"/>
            <a:ext cx="5166360" cy="12435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53% of 3L+ starts come from the top 10% of prescribers. Formulary at the largest centers → 70% reachable in year 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50468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Start from the rule; argue away from it only with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Kalyanaram, Robinson &amp; Urban, Marketing Science (1995) — packaged goods and prescription anti-ulcer drugs. Prescriber data: synthetic.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Funnel → brand → budget and long-range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THE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funnel reproduces today's market, then projects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21 /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051913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New cases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data, +2%/yr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27985" y="2263140"/>
            <a:ext cx="146304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01721" y="1828800"/>
            <a:ext cx="2051913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× diagnosed 97%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81067" y="2263140"/>
            <a:ext cx="146304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54803" y="1828800"/>
            <a:ext cx="2051913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× treated 86%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= 1L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4148" y="2263140"/>
            <a:ext cx="146304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07884" y="1828800"/>
            <a:ext cx="2051913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× 31% a year later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= 2L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87230" y="2263140"/>
            <a:ext cx="146304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60966" y="1828800"/>
            <a:ext cx="2051913" cy="868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× 50% × 1.24 a year later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= 3L+</a:t>
            </a:r>
          </a:p>
        </p:txBody>
      </p:sp>
      <p:pic>
        <p:nvPicPr>
          <p:cNvPr id="16" name="Picture 15" descr="funnel_vs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0"/>
            <a:ext cx="5827238" cy="274320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63840" y="2926080"/>
          <a:ext cx="37490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371600"/>
                <a:gridCol w="13716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Observed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Funnel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761"/>
                          </a:solidFill>
                          <a:latin typeface="Calibri"/>
                        </a:rPr>
                        <a:t>1L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17,930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18,280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761"/>
                          </a:solidFill>
                          <a:latin typeface="Calibri"/>
                        </a:rPr>
                        <a:t>2L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5,468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5,544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761"/>
                          </a:solidFill>
                          <a:latin typeface="Calibri"/>
                        </a:rPr>
                        <a:t>3L+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3,471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3,363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48640" y="566928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68756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Within 3% of the observed market. Good enough to forecast 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dlbcl_market_monthly.csv (synthetic).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THE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From the funnel to LYMBREXA's patients and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2032, base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22 /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691639" cy="11887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3L+ starts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3,931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67711" y="2514600"/>
            <a:ext cx="12801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920240"/>
            <a:ext cx="1691639" cy="11887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× 15% × 95% coverage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560 new 3L+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42232" y="2514600"/>
            <a:ext cx="128015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97679" y="1920240"/>
            <a:ext cx="1691639" cy="11887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+ 2L: 10% × 95%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616 new 2L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6752" y="2514600"/>
            <a:ext cx="128015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199" y="1920240"/>
            <a:ext cx="1691639" cy="11887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= new patients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1,176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91271" y="2514600"/>
            <a:ext cx="12801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46719" y="1920240"/>
            <a:ext cx="1691639" cy="11887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× 6 months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588 on therapy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65792" y="2514600"/>
            <a:ext cx="128016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21240" y="1920240"/>
            <a:ext cx="1691639" cy="118872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× $13,357 / month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$94M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5394960" cy="2011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49300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New patients vs patients on therapy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877056"/>
            <a:ext cx="5166360" cy="14264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New patients is a flow; patients on therapy is a stock.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On therapy = new × months ÷ 12 (Little's law).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The field is paid on new patients; supply plans on patients on therapy.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383280"/>
            <a:ext cx="5394960" cy="20116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49300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Net price per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877056"/>
            <a:ext cx="5166360" cy="14264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$18,500 list × 76% kept after rebates × 95% of doses given = $13,357.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Little, Operations Research (1961). Assumptions: lymbrexa_assumptions.csv.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Budget: the first two years, by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23 / 40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828800"/>
                <a:gridCol w="1828800"/>
                <a:gridCol w="1828800"/>
                <a:gridCol w="27432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Jan 27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Jun 27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 27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each month of 2028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New patients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8.5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38.4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Patients on therapy (≈ new × 6)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8.5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51.1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102.2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230.3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Vials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8.1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48.5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97.1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218.8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Net revenue, $M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75488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7316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2027: $8.9M. 2028: $36.9M. Launch-year phasing is a straight-line ramp — written down as assumption F1.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· LONG-RANGE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Long-range plan: $52M in 2029 and $108M at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Plan of record: $250M in 2029, $400M at peak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24 / 40</a:t>
            </a:r>
          </a:p>
        </p:txBody>
      </p:sp>
      <p:pic>
        <p:nvPicPr>
          <p:cNvPr id="8" name="Picture 7" descr="budget_l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7827264" cy="292608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846320"/>
          <a:ext cx="110642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2029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2030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2032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2035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2038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2040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New patients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651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1,065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1,176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1,259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1,348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564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Net revenue, $M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Model output, base case. 2L label adds patients from 2029; patent expiry in 2039.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Never one number. Show the range and what drives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·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Scenarios: every assumption low, base or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Deliberately extreme — the outer edges, not likely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26 / 40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Net revenue, $M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2029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2032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2035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Peak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274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20624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224527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Even the all-high case misses the plan's $400M peak.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· TORNADO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The tornado shows which assumptions to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One assumption at a time, low and high · 2032 net revenue, base $94M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27 / 40</a:t>
            </a:r>
          </a:p>
        </p:txBody>
      </p:sp>
      <p:pic>
        <p:nvPicPr>
          <p:cNvPr id="8" name="Picture 7" descr="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7132320" cy="31363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63840" y="1874519"/>
            <a:ext cx="3749039" cy="35661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984248"/>
            <a:ext cx="3474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Top four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7" y="2368296"/>
            <a:ext cx="3520439" cy="29809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B4 Peak share of 2L starts: ±$20M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D1 Average months on therapy: ±$20M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T2 Progress to 2L: ±$15M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B3 Peak share of 3L+ starts: ±$15M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66928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68756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Spend the research budget on the top bars: 2L share, months on therapy, progression rates.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· THE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What would have to be true for $250M in 2029?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28 / 40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642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377440"/>
                <a:gridCol w="3749039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 reach $250M in 2029 you need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 case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Plausible?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3,119 new patients a year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651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No — 4.8× the base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…which is this share of all 3L+ starts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15% peak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No — 85%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…or 29 months on therapy per patient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6 months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No — label caps at 8 cycles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38912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407407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Honest revision: about $52M in 2029, $108M at peak. $250M needs a different drug.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IQVIA, A Framework for Successful Biopharma Launches (2017): 50–70% of launches miss their first-year forecast.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Simple cross-checks before the forecast leaves your desk.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MARKET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Check the funnel against a simple trend of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3L+ starts · exponential smoothing (ETS) vs ‘same as last year’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30 / 40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51206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Error on the last 12 months (hidden from the model)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ETS 4.6% · same-as-last-year 6.7%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3L+ starts in 2027: trend vs funnel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3,574 vs 3,513 — gap +2%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3749039"/>
            <a:ext cx="5394960" cy="1737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What time series is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42816"/>
            <a:ext cx="5166360" cy="11521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Projecting a market or an in-line brand for 1–2 years. Not a launch: there is no history.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749039"/>
            <a:ext cx="5394960" cy="173736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85876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Foundation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4242816"/>
            <a:ext cx="5166360" cy="11521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Chronos, TimesFM: pre-trained, no fitting. Useful for many series at once. Same limit: no history, no forecast.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Hyndman &amp; Athanasopoulos, FPP3 (2021) ch. 8; Ansari et al., TMLR (2024); Das et al., ICML (2024).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Split the national forecast by region and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Top-down: last year's shares × the national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31 / 40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7315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645920"/>
                <a:gridCol w="14630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2028 new patients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Academic centers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Northeast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176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Midwest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National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461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38160" y="1920240"/>
            <a:ext cx="3474720" cy="246888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29968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Why top-down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414016"/>
            <a:ext cx="3246120" cy="1883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F6B6B"/>
                </a:solidFill>
                <a:latin typeface="Calibri"/>
              </a:rPr>
              <a:t>▸ </a:t>
            </a:r>
            <a:r>
              <a:rPr sz="1150">
                <a:solidFill>
                  <a:srgbClr val="333333"/>
                </a:solidFill>
                <a:latin typeface="Calibri"/>
              </a:rPr>
              <a:t>Simple, and every piece adds back to the national number — finance, supply and the field see one forecast.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FPP3 ch. 11 for methods that reconcile forecasts made at every level. Data: synthetic.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LOSS OF EXCLUSIVITY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Patent expiry: borrow other drugs'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32 / 40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480560"/>
                <a:gridCol w="34747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Small molecule (GLUCOREN)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brand keeps ~23% of units after one year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Grabowski et al. 2021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2761"/>
                          </a:solidFill>
                          <a:latin typeface="Calibri"/>
                        </a:rPr>
                        <a:t>Biologic (LYMBREXA)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keeps 75% in the expiry year, 40% after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judgment: biosimilars erode slower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840480"/>
          <a:ext cx="1106423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GLUCOREN Rx (thousands)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2028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2029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Trend, no expiry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304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With expiry (Jul 2027)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309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189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Grabowski, Long, Mortimer &amp; Bilginsoy, J Med Econ (2021). GLUCOREN: synthetic.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 · PREVALENCE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GLUCOREN: a prevalence model in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Type 2 diabetes · 2025 · each year stands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33 /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263014" cy="109728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Adults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266M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39086" y="2468880"/>
            <a:ext cx="82296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48814" y="1920240"/>
            <a:ext cx="1263014" cy="109728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× 11.4% have T2D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30.3M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39261" y="2468880"/>
            <a:ext cx="8229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48989" y="1920240"/>
            <a:ext cx="1263014" cy="109728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× 78% diagnosed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23.6M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39437" y="2468880"/>
            <a:ext cx="82295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49164" y="1920240"/>
            <a:ext cx="1263014" cy="109728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× 72% treated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16.9M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9612" y="2468880"/>
            <a:ext cx="82295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49339" y="1920240"/>
            <a:ext cx="1263014" cy="109728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× 47% add-on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7.9M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39786" y="2468880"/>
            <a:ext cx="82297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9515" y="1920240"/>
            <a:ext cx="1263014" cy="1097280"/>
          </a:xfrm>
          <a:prstGeom prst="roundRect">
            <a:avLst/>
          </a:prstGeom>
          <a:solidFill>
            <a:srgbClr val="1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× 9.5% class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755k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39961" y="2468880"/>
            <a:ext cx="82296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49689" y="1920240"/>
            <a:ext cx="1263014" cy="109728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× 4.7% brand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35.6k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240136" y="2468880"/>
            <a:ext cx="82296" cy="0"/>
          </a:xfrm>
          <a:prstGeom prst="line">
            <a:avLst/>
          </a:prstGeom>
          <a:ln w="22225">
            <a:solidFill>
              <a:srgbClr val="6666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349864" y="1920240"/>
            <a:ext cx="1263014" cy="1097280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× 8.8 fills</a:t>
            </a:r>
          </a:p>
          <a:p>
            <a:pPr algn="ctr"/>
            <a:r>
              <a:rPr sz="1000">
                <a:solidFill>
                  <a:srgbClr val="CADCFC"/>
                </a:solidFill>
                <a:latin typeface="Calibri"/>
              </a:rPr>
              <a:t>313k Rx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91840"/>
            <a:ext cx="5394960" cy="18288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40156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Calibrate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785616"/>
            <a:ext cx="5166360" cy="1243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Brand share of class (4.7%) is set so the model matches 2025 prescriptions.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91840"/>
            <a:ext cx="5394960" cy="18288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40156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Then forecast the rates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785616"/>
            <a:ext cx="5166360" cy="124358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Prevalence, treated rate and class share change slowly; write down how much per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Rates: synthetic, stylized. CDC, Principles of Epidemiology (prevalence).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27432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FF6B6B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the forecaster owns besides the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·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50–70% of launches miss their first-year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35 /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66160" cy="12801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Assumption book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every input: range, source, reason, owner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920240"/>
            <a:ext cx="3566160" cy="128016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One model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budget = first years of the LRP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920240"/>
            <a:ext cx="3566160" cy="12801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Ranges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scenarios and a tornado, every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3566160" cy="128016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Forecast vs actual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track your own misses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3383280"/>
            <a:ext cx="3566160" cy="12801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Simple checks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funnel vs market; pieces add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3383280"/>
            <a:ext cx="3566160" cy="1280160"/>
          </a:xfrm>
          <a:prstGeom prst="roundRect">
            <a:avLst/>
          </a:prstGeom>
          <a:solidFill>
            <a:srgbClr val="2E3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Versions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what changed since last time, and 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8348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00176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The usual miss is too high, not random. A written assumption book is how you catch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99632"/>
            <a:ext cx="110642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850" b="0" i="1">
                <a:solidFill>
                  <a:srgbClr val="666666"/>
                </a:solidFill>
                <a:latin typeface="Calibri"/>
              </a:rPr>
              <a:t>Source: IQVIA, A Framework for Successful Biopharma Launches (2017), based on ~12,000 launches.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·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Five 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36 /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66160" cy="146304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A11E1E"/>
                </a:solidFill>
                <a:latin typeface="Calibri"/>
              </a:rPr>
              <a:t>Undocumented assumptions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nobody can challenge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920240"/>
            <a:ext cx="3566160" cy="146304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A11E1E"/>
                </a:solidFill>
                <a:latin typeface="Calibri"/>
              </a:rPr>
              <a:t>Naive counts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censored patients treated as ‘never’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920240"/>
            <a:ext cx="3566160" cy="146304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A11E1E"/>
                </a:solidFill>
                <a:latin typeface="Calibri"/>
              </a:rPr>
              <a:t>New patients read as treated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persistence ignored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11880"/>
            <a:ext cx="3566160" cy="146304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A11E1E"/>
                </a:solidFill>
                <a:latin typeface="Calibri"/>
              </a:rPr>
              <a:t>One number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no range, no tornado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3611880"/>
            <a:ext cx="3566160" cy="1463040"/>
          </a:xfrm>
          <a:prstGeom prst="roundRect">
            <a:avLst/>
          </a:prstGeom>
          <a:solidFill>
            <a:srgbClr val="FDE8E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A11E1E"/>
                </a:solidFill>
                <a:latin typeface="Calibri"/>
              </a:rPr>
              <a:t>A complicated model</a:t>
            </a:r>
          </a:p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nobody can follow it, so nobody trusts 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·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In-class exercise — 20 minutes, groups of 3–4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Week_06_InClass_Exercise.docx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37 / 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611880" cy="21031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05740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48256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A · Funnel by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42032"/>
            <a:ext cx="3383280" cy="1389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2027 inputs → 3L+ starts → new patients → patients on therapy → revenue.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611880" cy="21031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205740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048256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 · Write three assumptions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542032"/>
            <a:ext cx="3383280" cy="1389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Peak share, uptake, months on therapy: low/base/high, source, reason.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920240"/>
            <a:ext cx="3611880" cy="210312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83880" y="2057400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048256"/>
            <a:ext cx="292608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 · Which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542032"/>
            <a:ext cx="3383280" cy="138988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Six situations: incidence or prevalence; budget or LRP.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11064240" cy="438912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70248"/>
            <a:ext cx="1078992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Short on time: Part A only.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· HOMEWORK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Homework 2: a forecast for VELTRAXA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Due Monday, November 2, 11:59 PM ET · 10% of grade · data/homework2/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38 / 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394960" cy="18288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The 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14016"/>
            <a:ext cx="5166360" cy="12435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Fictional oral drug for relapsed mantle cell lymphoma, launch July 2027. Same model, different disease.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18288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02996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414016"/>
            <a:ext cx="5166360" cy="12435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sz="1200">
                <a:solidFill>
                  <a:srgbClr val="333333"/>
                </a:solidFill>
                <a:latin typeface="Calibri"/>
              </a:rPr>
              <a:t>The Excel model (or notebook) adapted to VELTRAXA · an assumption book of 20+ rows · a two-page memo.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977639"/>
          <a:ext cx="1106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Assumption book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Funnel + brand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Ranges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Checks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Memo</a:t>
                      </a:r>
                    </a:p>
                  </a:txBody>
                  <a:tcPr marL="54864" marR="54864" marT="27432" marB="27432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2918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7 · 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Week 7 — NLP in Pharma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Monday, October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39 / 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394960" cy="18288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Before Week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14016"/>
            <a:ext cx="5166360" cy="12435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00">
                <a:solidFill>
                  <a:srgbClr val="1E2761"/>
                </a:solidFill>
                <a:latin typeface="Calibri"/>
              </a:rPr>
              <a:t>Read: </a:t>
            </a:r>
            <a:r>
              <a:rPr sz="1200">
                <a:solidFill>
                  <a:srgbClr val="333333"/>
                </a:solidFill>
                <a:latin typeface="Calibri"/>
              </a:rPr>
              <a:t>Reading Pack B–D; Cook, new-product chapters.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00">
                <a:solidFill>
                  <a:srgbClr val="1E2761"/>
                </a:solidFill>
                <a:latin typeface="Calibri"/>
              </a:rPr>
              <a:t>Install: </a:t>
            </a:r>
            <a:r>
              <a:rPr sz="1200">
                <a:solidFill>
                  <a:srgbClr val="333333"/>
                </a:solidFill>
                <a:latin typeface="Calibri"/>
              </a:rPr>
              <a:t>transformers, sentence-transformers.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00">
                <a:solidFill>
                  <a:srgbClr val="1E2761"/>
                </a:solidFill>
                <a:latin typeface="Calibri"/>
              </a:rPr>
              <a:t>Start: </a:t>
            </a:r>
            <a:r>
              <a:rPr sz="1200">
                <a:solidFill>
                  <a:srgbClr val="333333"/>
                </a:solidFill>
                <a:latin typeface="Calibri"/>
              </a:rPr>
              <a:t>Homework 2 — the assumption book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1828800"/>
          </a:xfrm>
          <a:prstGeom prst="rect">
            <a:avLst/>
          </a:prstGeom>
          <a:solidFill>
            <a:srgbClr val="F3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029968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414016"/>
            <a:ext cx="5166360" cy="12435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00">
                <a:solidFill>
                  <a:srgbClr val="1E2761"/>
                </a:solidFill>
                <a:latin typeface="Calibri"/>
              </a:rPr>
              <a:t>Your Part B assumptions.</a:t>
            </a:r>
            <a:r>
              <a:rPr sz="120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F6B6B"/>
                </a:solidFill>
                <a:latin typeface="Calibri"/>
              </a:rPr>
              <a:t>▸ </a:t>
            </a:r>
            <a:r>
              <a:rPr b="1" sz="1200">
                <a:solidFill>
                  <a:srgbClr val="1E2761"/>
                </a:solidFill>
                <a:latin typeface="Calibri"/>
              </a:rPr>
              <a:t>Term project: </a:t>
            </a:r>
            <a:r>
              <a:rPr sz="1200">
                <a:solidFill>
                  <a:srgbClr val="333333"/>
                </a:solidFill>
                <a:latin typeface="Calibri"/>
              </a:rPr>
              <a:t>your funnel and first ten assumptions.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Office hours Mondays 5:00–6:45 PM · ac5562@columbia.edu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411480" cy="2377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10515600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1 · A forecast is a chain of assumptions. Write every one down.</a:t>
            </a:r>
          </a:p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2 · Pick the model shape first: incidence or prevalence.</a:t>
            </a:r>
          </a:p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3 · Use data to justify assumptions — handle censoring.</a:t>
            </a:r>
          </a:p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4 · Patients on therapy = new patients × months on therapy.</a:t>
            </a:r>
          </a:p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5 · One model, two horizons, always a range.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Next week — NLP in Pharma · Homework 2 due November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Week 6 — Forecasting in Pharma: the Patient Funnel  ·  Pharma DS&amp;AI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40 /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6: Forecasting in Pharma</dc:title>
  <dc:subject/>
  <dc:creator>Andi Cupallari</dc:creator>
  <cp:keywords/>
  <dc:description>generated using python-pptx</dc:description>
  <cp:lastModifiedBy>Andi Cupallari</cp:lastModifiedBy>
  <cp:revision>1</cp:revision>
  <dcterms:created xsi:type="dcterms:W3CDTF">2026-10-18T20:01:51Z</dcterms:created>
  <dcterms:modified xsi:type="dcterms:W3CDTF">2026-10-18T20:01:51Z</dcterms:modified>
  <cp:category/>
</cp:coreProperties>
</file>