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coding night. One notebook (GLUCOREN, 156 weeks, five channels) run in two halves around the break. The thread from Weeks 1-2: the manufacturer sees a projected TRx series and its own spend; tonight it asks what the spend did. Homework 1 is released at the end and uses the same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for a show of hands on mentor meetings. Then bridge: Week 2 ended with 'does a rep visit change prescribing?' — tonight is that question, at brand level, for five channels.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Interview question: 'why not just use last-click attribution?' Because nothing a rep does has a click. And because the payer sits between the touch and the fill.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panel is from tonight's notebook. Ask: why would a rep visit have a longer half-life than an email? Because the physician has to wait for the next eligible patient.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the hinge of the night. If students remember one thing, it is this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formulary row is the pharma-specific lesson: access data is usually NOT in the MMM dataset the agency hands you. You have to go and get it (Week 2's category 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dip at week 90 (competitor) and the step at week 118 (formulary) inside the base band. Leadership will ask 'what is base?' — the answer is 'what you would have sold with zero promotion this week, given access and the competitor'.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 columns exist only because the data is synthetic. In a real engagement you never see them — which is why the next three slides exist.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what could make the DiD wrong? Spillover (TV signal leaks across DMA borders), non-parallel trends (the holdout DMAs were growing differently anyway), too few units. Ten dark DMAs is thin; real tests use matched pairs and a power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the optimizer did NOT do: it did not pour money into email (cap) and it did not touch digital in the conservative case because detailing's fitted marginal is higher — and we know from the grading slide that detailing's marginal is the least reliable number in the table. Say that out loud: the optimizer is only as good as the curve it is optimizing.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58% ROI claim is self-reported; ask the room how they would verify it. Answer: the same way as a channel — a holdout.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411480" cy="2377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914400"/>
            <a:ext cx="10972800" cy="548640"/>
          </a:xfrm>
          <a:prstGeom prst="rect">
            <a:avLst/>
          </a:prstGeom>
          <a:noFill/>
        </p:spPr>
        <p:txBody>
          <a:bodyPr wrap="square" lIns="45720" rIns="45720" tIns="27432" bIns="27432" anchor="t">
            <a:spAutoFit/>
          </a:bodyPr>
          <a:lstStyle/>
          <a:p>
            <a:pPr algn="l"/>
            <a:r>
              <a:rPr sz="1400" b="1" i="0">
                <a:solidFill>
                  <a:srgbClr val="CADCFC"/>
                </a:solidFill>
                <a:latin typeface="Calibri"/>
              </a:rPr>
              <a:t>WEEK 3</a:t>
            </a:r>
          </a:p>
        </p:txBody>
      </p:sp>
      <p:sp>
        <p:nvSpPr>
          <p:cNvPr id="5" name="TextBox 4"/>
          <p:cNvSpPr txBox="1"/>
          <p:nvPr/>
        </p:nvSpPr>
        <p:spPr>
          <a:xfrm>
            <a:off x="868680" y="1828800"/>
            <a:ext cx="10515600" cy="2377440"/>
          </a:xfrm>
          <a:prstGeom prst="rect">
            <a:avLst/>
          </a:prstGeom>
          <a:noFill/>
        </p:spPr>
        <p:txBody>
          <a:bodyPr wrap="square" lIns="45720" rIns="45720" tIns="27432" bIns="27432" anchor="t">
            <a:spAutoFit/>
          </a:bodyPr>
          <a:lstStyle/>
          <a:p>
            <a:pPr algn="l"/>
            <a:r>
              <a:rPr sz="4400" b="1" i="0">
                <a:solidFill>
                  <a:srgbClr val="FFFFFF"/>
                </a:solidFill>
                <a:latin typeface="Calibri"/>
              </a:rPr>
              <a:t>Marketing &amp; Media Mix Modeling</a:t>
            </a:r>
          </a:p>
          <a:p>
            <a:pPr algn="l"/>
            <a:r>
              <a:rPr sz="4400" b="1" i="0">
                <a:solidFill>
                  <a:srgbClr val="FFFFFF"/>
                </a:solidFill>
                <a:latin typeface="Calibri"/>
              </a:rPr>
              <a:t>and ROI Optimization</a:t>
            </a:r>
          </a:p>
        </p:txBody>
      </p:sp>
      <p:sp>
        <p:nvSpPr>
          <p:cNvPr id="6" name="TextBox 5"/>
          <p:cNvSpPr txBox="1"/>
          <p:nvPr/>
        </p:nvSpPr>
        <p:spPr>
          <a:xfrm>
            <a:off x="868680" y="4343400"/>
            <a:ext cx="10058400" cy="731520"/>
          </a:xfrm>
          <a:prstGeom prst="rect">
            <a:avLst/>
          </a:prstGeom>
          <a:noFill/>
        </p:spPr>
        <p:txBody>
          <a:bodyPr wrap="square" lIns="45720" rIns="45720" tIns="27432" bIns="27432" anchor="t">
            <a:spAutoFit/>
          </a:bodyPr>
          <a:lstStyle/>
          <a:p>
            <a:pPr algn="l"/>
            <a:r>
              <a:rPr sz="1800" b="0" i="0">
                <a:solidFill>
                  <a:srgbClr val="CADCFC"/>
                </a:solidFill>
                <a:latin typeface="Calibri"/>
              </a:rPr>
              <a:t>From $78M of spend to a reallocation you can defend in front of a CFO — with the uncertainty on the slide.</a:t>
            </a:r>
          </a:p>
        </p:txBody>
      </p:sp>
      <p:sp>
        <p:nvSpPr>
          <p:cNvPr id="7" name="TextBox 6"/>
          <p:cNvSpPr txBox="1"/>
          <p:nvPr/>
        </p:nvSpPr>
        <p:spPr>
          <a:xfrm>
            <a:off x="868680" y="5943600"/>
            <a:ext cx="10972800" cy="365760"/>
          </a:xfrm>
          <a:prstGeom prst="rect">
            <a:avLst/>
          </a:prstGeom>
          <a:noFill/>
        </p:spPr>
        <p:txBody>
          <a:bodyPr wrap="square" lIns="45720" rIns="45720" tIns="27432" bIns="27432" anchor="t">
            <a:spAutoFit/>
          </a:bodyPr>
          <a:lstStyle/>
          <a:p>
            <a:pPr algn="l"/>
            <a:r>
              <a:rPr sz="1100" b="0" i="0">
                <a:solidFill>
                  <a:srgbClr val="CADCFC"/>
                </a:solidFill>
                <a:latin typeface="Calibri"/>
              </a:rPr>
              <a:t>Andi Cupallari · Applied Data Science and AI in Pharma Commercial · Fall 2026 · Monday, September 28</a:t>
            </a:r>
          </a:p>
        </p:txBody>
      </p:sp>
      <p:sp>
        <p:nvSpPr>
          <p:cNvPr id="8" name="TextBox 7"/>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9" name="TextBox 8"/>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 /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AGENDA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Where we're going tonight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2.5 hours · one live notebook in two halves · one in-class exercise · Homework 1 released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 / 40</a:t>
            </a:r>
          </a:p>
        </p:txBody>
      </p:sp>
      <p:sp>
        <p:nvSpPr>
          <p:cNvPr id="8" name="Oval 7"/>
          <p:cNvSpPr/>
          <p:nvPr/>
        </p:nvSpPr>
        <p:spPr>
          <a:xfrm>
            <a:off x="640080" y="2057400"/>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0</a:t>
            </a:r>
          </a:p>
        </p:txBody>
      </p:sp>
      <p:sp>
        <p:nvSpPr>
          <p:cNvPr id="9" name="TextBox 8"/>
          <p:cNvSpPr txBox="1"/>
          <p:nvPr/>
        </p:nvSpPr>
        <p:spPr>
          <a:xfrm>
            <a:off x="1188720" y="2029968"/>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Recap, mentors, and the Brand Lead's question</a:t>
            </a:r>
          </a:p>
        </p:txBody>
      </p:sp>
      <p:sp>
        <p:nvSpPr>
          <p:cNvPr id="10" name="TextBox 9"/>
          <p:cNvSpPr txBox="1"/>
          <p:nvPr/>
        </p:nvSpPr>
        <p:spPr>
          <a:xfrm>
            <a:off x="1188720" y="2276856"/>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Which $10M would you cut? · three families of attribution — 15 min</a:t>
            </a:r>
          </a:p>
        </p:txBody>
      </p:sp>
      <p:sp>
        <p:nvSpPr>
          <p:cNvPr id="11" name="Oval 10"/>
          <p:cNvSpPr/>
          <p:nvPr/>
        </p:nvSpPr>
        <p:spPr>
          <a:xfrm>
            <a:off x="640080" y="262432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2" name="TextBox 11"/>
          <p:cNvSpPr txBox="1"/>
          <p:nvPr/>
        </p:nvSpPr>
        <p:spPr>
          <a:xfrm>
            <a:off x="1188720" y="2596896"/>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The MMM equation</a:t>
            </a:r>
          </a:p>
        </p:txBody>
      </p:sp>
      <p:sp>
        <p:nvSpPr>
          <p:cNvPr id="13" name="TextBox 12"/>
          <p:cNvSpPr txBox="1"/>
          <p:nvPr/>
        </p:nvSpPr>
        <p:spPr>
          <a:xfrm>
            <a:off x="1188720" y="2843784"/>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Adstock, Hill saturation, the response curve; average vs. marginal — 25 min</a:t>
            </a:r>
          </a:p>
        </p:txBody>
      </p:sp>
      <p:sp>
        <p:nvSpPr>
          <p:cNvPr id="14" name="Oval 13"/>
          <p:cNvSpPr/>
          <p:nvPr/>
        </p:nvSpPr>
        <p:spPr>
          <a:xfrm>
            <a:off x="640080" y="3191256"/>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5" name="TextBox 14"/>
          <p:cNvSpPr txBox="1"/>
          <p:nvPr/>
        </p:nvSpPr>
        <p:spPr>
          <a:xfrm>
            <a:off x="1188720" y="3163824"/>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Fitting an OLS MMM — live, part 1</a:t>
            </a:r>
          </a:p>
        </p:txBody>
      </p:sp>
      <p:sp>
        <p:nvSpPr>
          <p:cNvPr id="16" name="TextBox 15"/>
          <p:cNvSpPr txBox="1"/>
          <p:nvPr/>
        </p:nvSpPr>
        <p:spPr>
          <a:xfrm>
            <a:off x="1188720" y="3410712"/>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Controls (ramp, season, competitor, access) · grid search · diagnostics — 35 min</a:t>
            </a:r>
          </a:p>
        </p:txBody>
      </p:sp>
      <p:sp>
        <p:nvSpPr>
          <p:cNvPr id="17" name="Oval 16"/>
          <p:cNvSpPr/>
          <p:nvPr/>
        </p:nvSpPr>
        <p:spPr>
          <a:xfrm>
            <a:off x="640080" y="3758183"/>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1188720" y="3730751"/>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Decomposition, ROI and uncertainty — live, part 2</a:t>
            </a:r>
          </a:p>
        </p:txBody>
      </p:sp>
      <p:sp>
        <p:nvSpPr>
          <p:cNvPr id="19" name="TextBox 18"/>
          <p:cNvSpPr txBox="1"/>
          <p:nvPr/>
        </p:nvSpPr>
        <p:spPr>
          <a:xfrm>
            <a:off x="1188720" y="3977639"/>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Base vs. incremental · ROI table · bootstrap and grid sensitivity · grading against the truth — 30 min</a:t>
            </a:r>
          </a:p>
        </p:txBody>
      </p:sp>
      <p:sp>
        <p:nvSpPr>
          <p:cNvPr id="20" name="Oval 19"/>
          <p:cNvSpPr/>
          <p:nvPr/>
        </p:nvSpPr>
        <p:spPr>
          <a:xfrm>
            <a:off x="640080" y="4325112"/>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4</a:t>
            </a:r>
          </a:p>
        </p:txBody>
      </p:sp>
      <p:sp>
        <p:nvSpPr>
          <p:cNvPr id="21" name="TextBox 20"/>
          <p:cNvSpPr txBox="1"/>
          <p:nvPr/>
        </p:nvSpPr>
        <p:spPr>
          <a:xfrm>
            <a:off x="1188720" y="4297680"/>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Calibration and Bayesian MMM</a:t>
            </a:r>
          </a:p>
        </p:txBody>
      </p:sp>
      <p:sp>
        <p:nvSpPr>
          <p:cNvPr id="22" name="TextBox 21"/>
          <p:cNvSpPr txBox="1"/>
          <p:nvPr/>
        </p:nvSpPr>
        <p:spPr>
          <a:xfrm>
            <a:off x="1188720" y="4544568"/>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A DTC-TV geo holdout · priors · PyMC-Marketing in 12 lines — 15 min</a:t>
            </a:r>
          </a:p>
        </p:txBody>
      </p:sp>
      <p:sp>
        <p:nvSpPr>
          <p:cNvPr id="23" name="Oval 22"/>
          <p:cNvSpPr/>
          <p:nvPr/>
        </p:nvSpPr>
        <p:spPr>
          <a:xfrm>
            <a:off x="640080" y="4892040"/>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5</a:t>
            </a:r>
          </a:p>
        </p:txBody>
      </p:sp>
      <p:sp>
        <p:nvSpPr>
          <p:cNvPr id="24" name="TextBox 23"/>
          <p:cNvSpPr txBox="1"/>
          <p:nvPr/>
        </p:nvSpPr>
        <p:spPr>
          <a:xfrm>
            <a:off x="1188720" y="4864607"/>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Pitfalls and pharma realities</a:t>
            </a:r>
          </a:p>
        </p:txBody>
      </p:sp>
      <p:sp>
        <p:nvSpPr>
          <p:cNvPr id="25" name="TextBox 24"/>
          <p:cNvSpPr txBox="1"/>
          <p:nvPr/>
        </p:nvSpPr>
        <p:spPr>
          <a:xfrm>
            <a:off x="1188720" y="5111496"/>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Five ways MMM lies · six pharma quirks · when MMM is the wrong tool — 10 min</a:t>
            </a:r>
          </a:p>
        </p:txBody>
      </p:sp>
      <p:sp>
        <p:nvSpPr>
          <p:cNvPr id="26" name="Oval 25"/>
          <p:cNvSpPr/>
          <p:nvPr/>
        </p:nvSpPr>
        <p:spPr>
          <a:xfrm>
            <a:off x="640080" y="5458968"/>
            <a:ext cx="365760" cy="365760"/>
          </a:xfrm>
          <a:prstGeom prst="ellipse">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6</a:t>
            </a:r>
          </a:p>
        </p:txBody>
      </p:sp>
      <p:sp>
        <p:nvSpPr>
          <p:cNvPr id="27" name="TextBox 26"/>
          <p:cNvSpPr txBox="1"/>
          <p:nvPr/>
        </p:nvSpPr>
        <p:spPr>
          <a:xfrm>
            <a:off x="1188720" y="5431536"/>
            <a:ext cx="10058400" cy="274320"/>
          </a:xfrm>
          <a:prstGeom prst="rect">
            <a:avLst/>
          </a:prstGeom>
          <a:noFill/>
        </p:spPr>
        <p:txBody>
          <a:bodyPr wrap="square" lIns="45720" rIns="45720" tIns="27432" bIns="27432" anchor="t">
            <a:spAutoFit/>
          </a:bodyPr>
          <a:lstStyle/>
          <a:p>
            <a:pPr algn="l"/>
            <a:r>
              <a:rPr sz="1400" b="1" i="0">
                <a:solidFill>
                  <a:srgbClr val="1E2761"/>
                </a:solidFill>
                <a:latin typeface="Calibri"/>
              </a:rPr>
              <a:t>In-class exercise, Homework 1, next week</a:t>
            </a:r>
          </a:p>
        </p:txBody>
      </p:sp>
      <p:sp>
        <p:nvSpPr>
          <p:cNvPr id="28" name="TextBox 27"/>
          <p:cNvSpPr txBox="1"/>
          <p:nvPr/>
        </p:nvSpPr>
        <p:spPr>
          <a:xfrm>
            <a:off x="1188720" y="5678424"/>
            <a:ext cx="10058400" cy="274320"/>
          </a:xfrm>
          <a:prstGeom prst="rect">
            <a:avLst/>
          </a:prstGeom>
          <a:noFill/>
        </p:spPr>
        <p:txBody>
          <a:bodyPr wrap="square" lIns="45720" rIns="45720" tIns="27432" bIns="27432" anchor="t">
            <a:spAutoFit/>
          </a:bodyPr>
          <a:lstStyle/>
          <a:p>
            <a:pPr algn="l"/>
            <a:r>
              <a:rPr sz="1050" b="0" i="0">
                <a:solidFill>
                  <a:srgbClr val="666666"/>
                </a:solidFill>
                <a:latin typeface="Calibri"/>
              </a:rPr>
              <a:t>Adstock by hand · reallocation by hand · pick the tool — 20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00</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Recap and the Brand Lead's question</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Two weeks of 'what the manufacturer can see'. Tonight: what did its own spend do?</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 / 40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0 · RECAP</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Three things from Weeks 1–2 that tonight depends on</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If any of these is fuzzy, say so now — the model inherits all three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4 / 40</a:t>
            </a:r>
          </a:p>
        </p:txBody>
      </p:sp>
      <p:sp>
        <p:nvSpPr>
          <p:cNvPr id="8" name="Rectangle 7"/>
          <p:cNvSpPr/>
          <p:nvPr/>
        </p:nvSpPr>
        <p:spPr>
          <a:xfrm>
            <a:off x="548640" y="2103120"/>
            <a:ext cx="361188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0" name="TextBox 9"/>
          <p:cNvSpPr txBox="1"/>
          <p:nvPr/>
        </p:nvSpPr>
        <p:spPr>
          <a:xfrm>
            <a:off x="114300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The payer decides whether a script fills</a:t>
            </a:r>
          </a:p>
        </p:txBody>
      </p:sp>
      <p:sp>
        <p:nvSpPr>
          <p:cNvPr id="11" name="TextBox 10"/>
          <p:cNvSpPr txBox="1"/>
          <p:nvPr/>
        </p:nvSpPr>
        <p:spPr>
          <a:xfrm>
            <a:off x="658368" y="2724912"/>
            <a:ext cx="3383280" cy="2852927"/>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Week 1: chooser ≠ payer ≠ consumer. Formulary status moves TRx with zero spend change.</a:t>
            </a:r>
          </a:p>
          <a:p>
            <a:pPr>
              <a:spcAft>
                <a:spcPts val="500"/>
              </a:spcAft>
            </a:pPr>
            <a:r>
              <a:rPr sz="1150" b="1">
                <a:solidFill>
                  <a:srgbClr val="FF6B6B"/>
                </a:solidFill>
                <a:latin typeface="Calibri"/>
              </a:rPr>
              <a:t>▸ </a:t>
            </a:r>
            <a:r>
              <a:rPr sz="1150">
                <a:solidFill>
                  <a:srgbClr val="333333"/>
                </a:solidFill>
                <a:latin typeface="Calibri"/>
              </a:rPr>
              <a:t>Tonight it is a control variable — and the one most MMMs leave out.</a:t>
            </a:r>
          </a:p>
        </p:txBody>
      </p:sp>
      <p:sp>
        <p:nvSpPr>
          <p:cNvPr id="12" name="Rectangle 11"/>
          <p:cNvSpPr/>
          <p:nvPr/>
        </p:nvSpPr>
        <p:spPr>
          <a:xfrm>
            <a:off x="4297680" y="2103120"/>
            <a:ext cx="361188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4" name="TextBox 13"/>
          <p:cNvSpPr txBox="1"/>
          <p:nvPr/>
        </p:nvSpPr>
        <p:spPr>
          <a:xfrm>
            <a:off x="489204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TRx is projected, not counted</a:t>
            </a:r>
          </a:p>
        </p:txBody>
      </p:sp>
      <p:sp>
        <p:nvSpPr>
          <p:cNvPr id="15" name="TextBox 14"/>
          <p:cNvSpPr txBox="1"/>
          <p:nvPr/>
        </p:nvSpPr>
        <p:spPr>
          <a:xfrm>
            <a:off x="4407408" y="2724912"/>
            <a:ext cx="3383280" cy="2852927"/>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Week 2: the response variable is a stratified projection from a pharmacy panel, restated as the panel changes.</a:t>
            </a:r>
          </a:p>
          <a:p>
            <a:pPr>
              <a:spcAft>
                <a:spcPts val="500"/>
              </a:spcAft>
            </a:pPr>
            <a:r>
              <a:rPr sz="1150" b="1">
                <a:solidFill>
                  <a:srgbClr val="FF6B6B"/>
                </a:solidFill>
                <a:latin typeface="Calibri"/>
              </a:rPr>
              <a:t>▸ </a:t>
            </a:r>
            <a:r>
              <a:rPr sz="1150">
                <a:solidFill>
                  <a:srgbClr val="333333"/>
                </a:solidFill>
                <a:latin typeface="Calibri"/>
              </a:rPr>
              <a:t>Noise in y is fine for OLS; a restatement mid-series is not.</a:t>
            </a:r>
          </a:p>
        </p:txBody>
      </p:sp>
      <p:sp>
        <p:nvSpPr>
          <p:cNvPr id="16" name="Rectangle 15"/>
          <p:cNvSpPr/>
          <p:nvPr/>
        </p:nvSpPr>
        <p:spPr>
          <a:xfrm>
            <a:off x="8046720" y="2103120"/>
            <a:ext cx="3611880" cy="35661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8641080" y="223113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Contribution per TRx ≈ $250</a:t>
            </a:r>
          </a:p>
        </p:txBody>
      </p:sp>
      <p:sp>
        <p:nvSpPr>
          <p:cNvPr id="19" name="TextBox 18"/>
          <p:cNvSpPr txBox="1"/>
          <p:nvPr/>
        </p:nvSpPr>
        <p:spPr>
          <a:xfrm>
            <a:off x="8156448" y="2724912"/>
            <a:ext cx="3383280" cy="2852927"/>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Week 1's GLUCOREN P&amp;L: net $274 per TRx, contribution $252.</a:t>
            </a:r>
          </a:p>
          <a:p>
            <a:pPr>
              <a:spcAft>
                <a:spcPts val="500"/>
              </a:spcAft>
            </a:pPr>
            <a:r>
              <a:rPr sz="1150" b="1">
                <a:solidFill>
                  <a:srgbClr val="FF6B6B"/>
                </a:solidFill>
                <a:latin typeface="Calibri"/>
              </a:rPr>
              <a:t>▸ </a:t>
            </a:r>
            <a:r>
              <a:rPr sz="1150">
                <a:solidFill>
                  <a:srgbClr val="333333"/>
                </a:solidFill>
                <a:latin typeface="Calibri"/>
              </a:rPr>
              <a:t>Tonight's ROI uses a $250 placeholder. Finance owns this number; never invent it in a real engagement.</a:t>
            </a:r>
          </a:p>
        </p:txBody>
      </p:sp>
      <p:sp>
        <p:nvSpPr>
          <p:cNvPr id="20" name="TextBox 19"/>
          <p:cNvSpPr txBox="1"/>
          <p:nvPr/>
        </p:nvSpPr>
        <p:spPr>
          <a:xfrm>
            <a:off x="548640" y="5852160"/>
            <a:ext cx="11064240" cy="457200"/>
          </a:xfrm>
          <a:prstGeom prst="rect">
            <a:avLst/>
          </a:prstGeom>
          <a:noFill/>
        </p:spPr>
        <p:txBody>
          <a:bodyPr wrap="square" lIns="45720" rIns="45720" tIns="27432" bIns="27432" anchor="t">
            <a:spAutoFit/>
          </a:bodyPr>
          <a:lstStyle/>
          <a:p>
            <a:pPr algn="l"/>
            <a:r>
              <a:rPr sz="1150" b="1" i="0">
                <a:solidFill>
                  <a:srgbClr val="1E2761"/>
                </a:solidFill>
                <a:latin typeface="Calibri"/>
              </a:rPr>
              <a:t>Mentor check: every team should have met its mentor by tonight. Problem statement + data plan due Monday, October 5 (one page, Week 2 template).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0 · THE QUESTION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The Brand Lead's question — asked at every quarterly business review</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GLUCOREN, three years after launch</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5 / 40</a:t>
            </a:r>
          </a:p>
        </p:txBody>
      </p:sp>
      <p:sp>
        <p:nvSpPr>
          <p:cNvPr id="8" name="Rectangle 7"/>
          <p:cNvSpPr/>
          <p:nvPr/>
        </p:nvSpPr>
        <p:spPr>
          <a:xfrm>
            <a:off x="548640" y="2057400"/>
            <a:ext cx="11064240" cy="13716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48840"/>
            <a:ext cx="10515600" cy="1188720"/>
          </a:xfrm>
          <a:prstGeom prst="rect">
            <a:avLst/>
          </a:prstGeom>
          <a:noFill/>
        </p:spPr>
        <p:txBody>
          <a:bodyPr wrap="square" lIns="45720" rIns="45720" tIns="27432" bIns="27432" anchor="ctr">
            <a:spAutoFit/>
          </a:bodyPr>
          <a:lstStyle/>
          <a:p>
            <a:pPr algn="l"/>
            <a:r>
              <a:rPr sz="1700" b="1" i="0">
                <a:solidFill>
                  <a:srgbClr val="FFFFFF"/>
                </a:solidFill>
                <a:latin typeface="Calibri"/>
              </a:rPr>
              <a:t>“We have spent $78M promoting GLUCOREN since launch — about $26M a year across reps, conferences, digital, email and TV.</a:t>
            </a:r>
          </a:p>
          <a:p>
            <a:pPr algn="l"/>
            <a:r>
              <a:rPr sz="1700" b="1" i="0">
                <a:solidFill>
                  <a:srgbClr val="FFFFFF"/>
                </a:solidFill>
                <a:latin typeface="Calibri"/>
              </a:rPr>
              <a:t>Which $10M would you cut? And how sure are you?”</a:t>
            </a:r>
          </a:p>
        </p:txBody>
      </p:sp>
      <p:sp>
        <p:nvSpPr>
          <p:cNvPr id="10" name="Rectangle 9"/>
          <p:cNvSpPr/>
          <p:nvPr/>
        </p:nvSpPr>
        <p:spPr>
          <a:xfrm>
            <a:off x="548640" y="3657600"/>
            <a:ext cx="5394960" cy="26517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7673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we owe back</a:t>
            </a:r>
          </a:p>
        </p:txBody>
      </p:sp>
      <p:sp>
        <p:nvSpPr>
          <p:cNvPr id="12" name="TextBox 11"/>
          <p:cNvSpPr txBox="1"/>
          <p:nvPr/>
        </p:nvSpPr>
        <p:spPr>
          <a:xfrm>
            <a:off x="658368" y="4151376"/>
            <a:ext cx="5166360" cy="206654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 decomposition: how much TRx the brand generated on its own vs. from each channel</a:t>
            </a:r>
          </a:p>
          <a:p>
            <a:pPr>
              <a:spcAft>
                <a:spcPts val="500"/>
              </a:spcAft>
            </a:pPr>
            <a:r>
              <a:rPr sz="1150" b="1">
                <a:solidFill>
                  <a:srgbClr val="FF6B6B"/>
                </a:solidFill>
                <a:latin typeface="Calibri"/>
              </a:rPr>
              <a:t>▸ </a:t>
            </a:r>
            <a:r>
              <a:rPr sz="1150">
                <a:solidFill>
                  <a:srgbClr val="333333"/>
                </a:solidFill>
                <a:latin typeface="Calibri"/>
              </a:rPr>
              <a:t>ROI per channel — average (what we got) and marginal (what the next dollar gets)</a:t>
            </a:r>
          </a:p>
          <a:p>
            <a:pPr>
              <a:spcAft>
                <a:spcPts val="500"/>
              </a:spcAft>
            </a:pPr>
            <a:r>
              <a:rPr sz="1150" b="1">
                <a:solidFill>
                  <a:srgbClr val="FF6B6B"/>
                </a:solidFill>
                <a:latin typeface="Calibri"/>
              </a:rPr>
              <a:t>▸ </a:t>
            </a:r>
            <a:r>
              <a:rPr sz="1150">
                <a:solidFill>
                  <a:srgbClr val="333333"/>
                </a:solidFill>
                <a:latin typeface="Calibri"/>
              </a:rPr>
              <a:t>A reallocation with a stated risk posture, and the range around every number</a:t>
            </a:r>
          </a:p>
          <a:p>
            <a:pPr>
              <a:spcAft>
                <a:spcPts val="500"/>
              </a:spcAft>
            </a:pPr>
            <a:r>
              <a:rPr sz="1150" b="1">
                <a:solidFill>
                  <a:srgbClr val="FF6B6B"/>
                </a:solidFill>
                <a:latin typeface="Calibri"/>
              </a:rPr>
              <a:t>▸ </a:t>
            </a:r>
            <a:r>
              <a:rPr sz="1150">
                <a:solidFill>
                  <a:srgbClr val="333333"/>
                </a:solidFill>
                <a:latin typeface="Calibri"/>
              </a:rPr>
              <a:t>The list of what the model is not capturing, and the experiment that would settle it</a:t>
            </a:r>
          </a:p>
        </p:txBody>
      </p:sp>
      <p:sp>
        <p:nvSpPr>
          <p:cNvPr id="13" name="Rectangle 12"/>
          <p:cNvSpPr/>
          <p:nvPr/>
        </p:nvSpPr>
        <p:spPr>
          <a:xfrm>
            <a:off x="6217920" y="3657600"/>
            <a:ext cx="5394960" cy="265176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76732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we will not pretend</a:t>
            </a:r>
          </a:p>
        </p:txBody>
      </p:sp>
      <p:sp>
        <p:nvSpPr>
          <p:cNvPr id="15" name="TextBox 14"/>
          <p:cNvSpPr txBox="1"/>
          <p:nvPr/>
        </p:nvSpPr>
        <p:spPr>
          <a:xfrm>
            <a:off x="6327648" y="4151376"/>
            <a:ext cx="5166360" cy="206654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That a regression on 156 weekly rows is a causal experiment</a:t>
            </a:r>
          </a:p>
          <a:p>
            <a:pPr>
              <a:spcAft>
                <a:spcPts val="500"/>
              </a:spcAft>
            </a:pPr>
            <a:r>
              <a:rPr sz="1150" b="1">
                <a:solidFill>
                  <a:srgbClr val="FF6B6B"/>
                </a:solidFill>
                <a:latin typeface="Calibri"/>
              </a:rPr>
              <a:t>▸ </a:t>
            </a:r>
            <a:r>
              <a:rPr sz="1150">
                <a:solidFill>
                  <a:srgbClr val="333333"/>
                </a:solidFill>
                <a:latin typeface="Calibri"/>
              </a:rPr>
              <a:t>That an ROI to two decimal places means anything</a:t>
            </a:r>
          </a:p>
          <a:p>
            <a:pPr>
              <a:spcAft>
                <a:spcPts val="500"/>
              </a:spcAft>
            </a:pPr>
            <a:r>
              <a:rPr sz="1150" b="1">
                <a:solidFill>
                  <a:srgbClr val="FF6B6B"/>
                </a:solidFill>
                <a:latin typeface="Calibri"/>
              </a:rPr>
              <a:t>▸ </a:t>
            </a:r>
            <a:r>
              <a:rPr sz="1150">
                <a:solidFill>
                  <a:srgbClr val="333333"/>
                </a:solidFill>
                <a:latin typeface="Calibri"/>
              </a:rPr>
              <a:t>That the model can forecast a formulary change it has never seen</a:t>
            </a:r>
          </a:p>
          <a:p>
            <a:pPr>
              <a:spcAft>
                <a:spcPts val="500"/>
              </a:spcAft>
            </a:pPr>
            <a:r>
              <a:rPr sz="1150" b="1">
                <a:solidFill>
                  <a:srgbClr val="FF6B6B"/>
                </a:solidFill>
                <a:latin typeface="Calibri"/>
              </a:rPr>
              <a:t>▸ </a:t>
            </a:r>
            <a:r>
              <a:rPr sz="1150">
                <a:solidFill>
                  <a:srgbClr val="333333"/>
                </a:solidFill>
                <a:latin typeface="Calibri"/>
              </a:rPr>
              <a:t>That the highest-ROI channel is the one to grow (it usually is not)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0 · THREE FAMILIES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Three ways to attribute sales to marketing — pick on purpose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Tonight is MMM. The right answer in industry is 'all three, calibrating each other'.</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6 / 40</a:t>
            </a:r>
          </a:p>
        </p:txBody>
      </p:sp>
      <p:graphicFrame>
        <p:nvGraphicFramePr>
          <p:cNvPr id="8" name="Table 7"/>
          <p:cNvGraphicFramePr>
            <a:graphicFrameLocks noGrp="1"/>
          </p:cNvGraphicFramePr>
          <p:nvPr/>
        </p:nvGraphicFramePr>
        <p:xfrm>
          <a:off x="548640" y="2057400"/>
          <a:ext cx="11064240" cy="3950208"/>
        </p:xfrm>
        <a:graphic>
          <a:graphicData uri="http://schemas.openxmlformats.org/drawingml/2006/table">
            <a:tbl>
              <a:tblPr firstRow="1" bandRow="1">
                <a:tableStyleId>{5C22544A-7EE6-4342-B048-85BDC9FD1C3A}</a:tableStyleId>
              </a:tblPr>
              <a:tblGrid>
                <a:gridCol w="1371600"/>
                <a:gridCol w="3383280"/>
                <a:gridCol w="3108960"/>
                <a:gridCol w="3200400"/>
              </a:tblGrid>
              <a:tr h="658368">
                <a:tc>
                  <a:txBody>
                    <a:bodyPr wrap="square"/>
                    <a:lstStyle/>
                    <a:p>
                      <a:r>
                        <a:rPr sz="1000" b="1">
                          <a:solidFill>
                            <a:srgbClr val="FFFFFF"/>
                          </a:solidFill>
                          <a:latin typeface="Calibri"/>
                        </a:rPr>
                        <a:t/>
                      </a:r>
                    </a:p>
                  </a:txBody>
                  <a:tcPr marL="54864" marR="54864" marT="27432" marB="27432">
                    <a:solidFill>
                      <a:srgbClr val="1E2761"/>
                    </a:solidFill>
                  </a:tcPr>
                </a:tc>
                <a:tc>
                  <a:txBody>
                    <a:bodyPr wrap="square"/>
                    <a:lstStyle/>
                    <a:p>
                      <a:r>
                        <a:rPr sz="1000" b="1">
                          <a:solidFill>
                            <a:srgbClr val="FFFFFF"/>
                          </a:solidFill>
                          <a:latin typeface="Calibri"/>
                        </a:rPr>
                        <a:t>Marketing Mix Modeling (MMM)</a:t>
                      </a:r>
                    </a:p>
                  </a:txBody>
                  <a:tcPr marL="54864" marR="54864" marT="27432" marB="27432">
                    <a:solidFill>
                      <a:srgbClr val="1E2761"/>
                    </a:solidFill>
                  </a:tcPr>
                </a:tc>
                <a:tc>
                  <a:txBody>
                    <a:bodyPr wrap="square"/>
                    <a:lstStyle/>
                    <a:p>
                      <a:r>
                        <a:rPr sz="1000" b="1">
                          <a:solidFill>
                            <a:srgbClr val="FFFFFF"/>
                          </a:solidFill>
                          <a:latin typeface="Calibri"/>
                        </a:rPr>
                        <a:t>Multi-touch attribution (MTA)</a:t>
                      </a:r>
                    </a:p>
                  </a:txBody>
                  <a:tcPr marL="54864" marR="54864" marT="27432" marB="27432">
                    <a:solidFill>
                      <a:srgbClr val="1E2761"/>
                    </a:solidFill>
                  </a:tcPr>
                </a:tc>
                <a:tc>
                  <a:txBody>
                    <a:bodyPr wrap="square"/>
                    <a:lstStyle/>
                    <a:p>
                      <a:r>
                        <a:rPr sz="1000" b="1">
                          <a:solidFill>
                            <a:srgbClr val="FFFFFF"/>
                          </a:solidFill>
                          <a:latin typeface="Calibri"/>
                        </a:rPr>
                        <a:t>Incrementality experiments</a:t>
                      </a:r>
                    </a:p>
                  </a:txBody>
                  <a:tcPr marL="54864" marR="54864" marT="27432" marB="27432">
                    <a:solidFill>
                      <a:srgbClr val="1E2761"/>
                    </a:solidFill>
                  </a:tcPr>
                </a:tc>
              </a:tr>
              <a:tr h="658368">
                <a:tc>
                  <a:txBody>
                    <a:bodyPr wrap="square"/>
                    <a:lstStyle/>
                    <a:p>
                      <a:r>
                        <a:rPr sz="1000" b="1">
                          <a:solidFill>
                            <a:srgbClr val="1E2761"/>
                          </a:solidFill>
                          <a:latin typeface="Calibri"/>
                        </a:rPr>
                        <a:t>What it is</a:t>
                      </a:r>
                    </a:p>
                  </a:txBody>
                  <a:tcPr marL="54864" marR="54864" marT="27432" marB="27432">
                    <a:solidFill>
                      <a:srgbClr val="FFFFFF"/>
                    </a:solidFill>
                  </a:tcPr>
                </a:tc>
                <a:tc>
                  <a:txBody>
                    <a:bodyPr wrap="square"/>
                    <a:lstStyle/>
                    <a:p>
                      <a:r>
                        <a:rPr sz="1000" b="0">
                          <a:solidFill>
                            <a:srgbClr val="333333"/>
                          </a:solidFill>
                          <a:latin typeface="Calibri"/>
                        </a:rPr>
                        <a:t>Top-down regression of weekly (or geo-weekly) outcomes on transformed spend + controls</a:t>
                      </a:r>
                    </a:p>
                  </a:txBody>
                  <a:tcPr marL="54864" marR="54864" marT="27432" marB="27432">
                    <a:solidFill>
                      <a:srgbClr val="FFFFFF"/>
                    </a:solidFill>
                  </a:tcPr>
                </a:tc>
                <a:tc>
                  <a:txBody>
                    <a:bodyPr wrap="square"/>
                    <a:lstStyle/>
                    <a:p>
                      <a:r>
                        <a:rPr sz="1000" b="0">
                          <a:solidFill>
                            <a:srgbClr val="333333"/>
                          </a:solidFill>
                          <a:latin typeface="Calibri"/>
                        </a:rPr>
                        <a:t>Person-level, journey-based credit for digital touchpoints</a:t>
                      </a:r>
                    </a:p>
                  </a:txBody>
                  <a:tcPr marL="54864" marR="54864" marT="27432" marB="27432">
                    <a:solidFill>
                      <a:srgbClr val="FFFFFF"/>
                    </a:solidFill>
                  </a:tcPr>
                </a:tc>
                <a:tc>
                  <a:txBody>
                    <a:bodyPr wrap="square"/>
                    <a:lstStyle/>
                    <a:p>
                      <a:r>
                        <a:rPr sz="1000" b="0">
                          <a:solidFill>
                            <a:srgbClr val="333333"/>
                          </a:solidFill>
                          <a:latin typeface="Calibri"/>
                        </a:rPr>
                        <a:t>Geo holdouts, matched DMAs, switchbacks, conversion-lift tests</a:t>
                      </a:r>
                    </a:p>
                  </a:txBody>
                  <a:tcPr marL="54864" marR="54864" marT="27432" marB="27432">
                    <a:solidFill>
                      <a:srgbClr val="FFFFFF"/>
                    </a:solidFill>
                  </a:tcPr>
                </a:tc>
              </a:tr>
              <a:tr h="658368">
                <a:tc>
                  <a:txBody>
                    <a:bodyPr wrap="square"/>
                    <a:lstStyle/>
                    <a:p>
                      <a:r>
                        <a:rPr sz="1000" b="1">
                          <a:solidFill>
                            <a:srgbClr val="1E2761"/>
                          </a:solidFill>
                          <a:latin typeface="Calibri"/>
                        </a:rPr>
                        <a:t>Sees</a:t>
                      </a:r>
                    </a:p>
                  </a:txBody>
                  <a:tcPr marL="54864" marR="54864" marT="27432" marB="27432">
                    <a:solidFill>
                      <a:srgbClr val="F3F6FC"/>
                    </a:solidFill>
                  </a:tcPr>
                </a:tc>
                <a:tc>
                  <a:txBody>
                    <a:bodyPr wrap="square"/>
                    <a:lstStyle/>
                    <a:p>
                      <a:r>
                        <a:rPr sz="1000" b="0">
                          <a:solidFill>
                            <a:srgbClr val="333333"/>
                          </a:solidFill>
                          <a:latin typeface="Calibri"/>
                        </a:rPr>
                        <a:t>Every channel incl. offline: reps, conferences, TV, samples; the system (base, season, competitor)</a:t>
                      </a:r>
                    </a:p>
                  </a:txBody>
                  <a:tcPr marL="54864" marR="54864" marT="27432" marB="27432">
                    <a:solidFill>
                      <a:srgbClr val="F3F6FC"/>
                    </a:solidFill>
                  </a:tcPr>
                </a:tc>
                <a:tc>
                  <a:txBody>
                    <a:bodyPr wrap="square"/>
                    <a:lstStyle/>
                    <a:p>
                      <a:r>
                        <a:rPr sz="1000" b="0">
                          <a:solidFill>
                            <a:srgbClr val="333333"/>
                          </a:solidFill>
                          <a:latin typeface="Calibri"/>
                        </a:rPr>
                        <a:t>Only what is tracked: web, email, banners, search — one identity graph</a:t>
                      </a:r>
                    </a:p>
                  </a:txBody>
                  <a:tcPr marL="54864" marR="54864" marT="27432" marB="27432">
                    <a:solidFill>
                      <a:srgbClr val="F3F6FC"/>
                    </a:solidFill>
                  </a:tcPr>
                </a:tc>
                <a:tc>
                  <a:txBody>
                    <a:bodyPr wrap="square"/>
                    <a:lstStyle/>
                    <a:p>
                      <a:r>
                        <a:rPr sz="1000" b="0">
                          <a:solidFill>
                            <a:srgbClr val="333333"/>
                          </a:solidFill>
                          <a:latin typeface="Calibri"/>
                        </a:rPr>
                        <a:t>One channel (or one change) at a time, cleanly</a:t>
                      </a:r>
                    </a:p>
                  </a:txBody>
                  <a:tcPr marL="54864" marR="54864" marT="27432" marB="27432">
                    <a:solidFill>
                      <a:srgbClr val="F3F6FC"/>
                    </a:solidFill>
                  </a:tcPr>
                </a:tc>
              </a:tr>
              <a:tr h="658368">
                <a:tc>
                  <a:txBody>
                    <a:bodyPr wrap="square"/>
                    <a:lstStyle/>
                    <a:p>
                      <a:r>
                        <a:rPr sz="1000" b="1">
                          <a:solidFill>
                            <a:srgbClr val="1E2761"/>
                          </a:solidFill>
                          <a:latin typeface="Calibri"/>
                        </a:rPr>
                        <a:t>Blind to</a:t>
                      </a:r>
                    </a:p>
                  </a:txBody>
                  <a:tcPr marL="54864" marR="54864" marT="27432" marB="27432">
                    <a:solidFill>
                      <a:srgbClr val="FFFFFF"/>
                    </a:solidFill>
                  </a:tcPr>
                </a:tc>
                <a:tc>
                  <a:txBody>
                    <a:bodyPr wrap="square"/>
                    <a:lstStyle/>
                    <a:p>
                      <a:r>
                        <a:rPr sz="1000" b="0">
                          <a:solidFill>
                            <a:srgbClr val="333333"/>
                          </a:solidFill>
                          <a:latin typeface="Calibri"/>
                        </a:rPr>
                        <a:t>Day-level tactics; person-level; anything that never varied in the data</a:t>
                      </a:r>
                    </a:p>
                  </a:txBody>
                  <a:tcPr marL="54864" marR="54864" marT="27432" marB="27432">
                    <a:solidFill>
                      <a:srgbClr val="FFFFFF"/>
                    </a:solidFill>
                  </a:tcPr>
                </a:tc>
                <a:tc>
                  <a:txBody>
                    <a:bodyPr wrap="square"/>
                    <a:lstStyle/>
                    <a:p>
                      <a:r>
                        <a:rPr sz="1000" b="0">
                          <a:solidFill>
                            <a:srgbClr val="333333"/>
                          </a:solidFill>
                          <a:latin typeface="Calibri"/>
                        </a:rPr>
                        <a:t>Offline entirely; increasingly broken by privacy and cookie deprecation; no HCP-level consent in pharma</a:t>
                      </a:r>
                    </a:p>
                  </a:txBody>
                  <a:tcPr marL="54864" marR="54864" marT="27432" marB="27432">
                    <a:solidFill>
                      <a:srgbClr val="FFFFFF"/>
                    </a:solidFill>
                  </a:tcPr>
                </a:tc>
                <a:tc>
                  <a:txBody>
                    <a:bodyPr wrap="square"/>
                    <a:lstStyle/>
                    <a:p>
                      <a:r>
                        <a:rPr sz="1000" b="0">
                          <a:solidFill>
                            <a:srgbClr val="333333"/>
                          </a:solidFill>
                          <a:latin typeface="Calibri"/>
                        </a:rPr>
                        <a:t>Everything not tested; slow; costs real revenue in dark cells</a:t>
                      </a:r>
                    </a:p>
                  </a:txBody>
                  <a:tcPr marL="54864" marR="54864" marT="27432" marB="27432">
                    <a:solidFill>
                      <a:srgbClr val="FFFFFF"/>
                    </a:solidFill>
                  </a:tcPr>
                </a:tc>
              </a:tr>
              <a:tr h="658368">
                <a:tc>
                  <a:txBody>
                    <a:bodyPr wrap="square"/>
                    <a:lstStyle/>
                    <a:p>
                      <a:r>
                        <a:rPr sz="1000" b="1">
                          <a:solidFill>
                            <a:srgbClr val="1E2761"/>
                          </a:solidFill>
                          <a:latin typeface="Calibri"/>
                        </a:rPr>
                        <a:t>Data needed</a:t>
                      </a:r>
                    </a:p>
                  </a:txBody>
                  <a:tcPr marL="54864" marR="54864" marT="27432" marB="27432">
                    <a:solidFill>
                      <a:srgbClr val="F3F6FC"/>
                    </a:solidFill>
                  </a:tcPr>
                </a:tc>
                <a:tc>
                  <a:txBody>
                    <a:bodyPr wrap="square"/>
                    <a:lstStyle/>
                    <a:p>
                      <a:r>
                        <a:rPr sz="1000" b="0">
                          <a:solidFill>
                            <a:srgbClr val="333333"/>
                          </a:solidFill>
                          <a:latin typeface="Calibri"/>
                        </a:rPr>
                        <a:t>2+ years weekly; spend by channel; controls (access, competitor)</a:t>
                      </a:r>
                    </a:p>
                  </a:txBody>
                  <a:tcPr marL="54864" marR="54864" marT="27432" marB="27432">
                    <a:solidFill>
                      <a:srgbClr val="F3F6FC"/>
                    </a:solidFill>
                  </a:tcPr>
                </a:tc>
                <a:tc>
                  <a:txBody>
                    <a:bodyPr wrap="square"/>
                    <a:lstStyle/>
                    <a:p>
                      <a:r>
                        <a:rPr sz="1000" b="0">
                          <a:solidFill>
                            <a:srgbClr val="333333"/>
                          </a:solidFill>
                          <a:latin typeface="Calibri"/>
                        </a:rPr>
                        <a:t>Person-level event logs with a stable ID</a:t>
                      </a:r>
                    </a:p>
                  </a:txBody>
                  <a:tcPr marL="54864" marR="54864" marT="27432" marB="27432">
                    <a:solidFill>
                      <a:srgbClr val="F3F6FC"/>
                    </a:solidFill>
                  </a:tcPr>
                </a:tc>
                <a:tc>
                  <a:txBody>
                    <a:bodyPr wrap="square"/>
                    <a:lstStyle/>
                    <a:p>
                      <a:r>
                        <a:rPr sz="1000" b="0">
                          <a:solidFill>
                            <a:srgbClr val="333333"/>
                          </a:solidFill>
                          <a:latin typeface="Calibri"/>
                        </a:rPr>
                        <a:t>Randomizable units (DMAs, territories, HCP lists) and patience</a:t>
                      </a:r>
                    </a:p>
                  </a:txBody>
                  <a:tcPr marL="54864" marR="54864" marT="27432" marB="27432">
                    <a:solidFill>
                      <a:srgbClr val="F3F6FC"/>
                    </a:solidFill>
                  </a:tcPr>
                </a:tc>
              </a:tr>
              <a:tr h="658368">
                <a:tc>
                  <a:txBody>
                    <a:bodyPr wrap="square"/>
                    <a:lstStyle/>
                    <a:p>
                      <a:r>
                        <a:rPr sz="1000" b="1">
                          <a:solidFill>
                            <a:srgbClr val="1E2761"/>
                          </a:solidFill>
                          <a:latin typeface="Calibri"/>
                        </a:rPr>
                        <a:t>Pharma fit</a:t>
                      </a:r>
                    </a:p>
                  </a:txBody>
                  <a:tcPr marL="54864" marR="54864" marT="27432" marB="27432">
                    <a:solidFill>
                      <a:srgbClr val="FFFFFF"/>
                    </a:solidFill>
                  </a:tcPr>
                </a:tc>
                <a:tc>
                  <a:txBody>
                    <a:bodyPr wrap="square"/>
                    <a:lstStyle/>
                    <a:p>
                      <a:r>
                        <a:rPr sz="1000" b="0">
                          <a:solidFill>
                            <a:srgbClr val="333333"/>
                          </a:solidFill>
                          <a:latin typeface="Calibri"/>
                        </a:rPr>
                        <a:t>The standard tool for annual planning and the QBR</a:t>
                      </a:r>
                    </a:p>
                  </a:txBody>
                  <a:tcPr marL="54864" marR="54864" marT="27432" marB="27432">
                    <a:solidFill>
                      <a:srgbClr val="FFFFFF"/>
                    </a:solidFill>
                  </a:tcPr>
                </a:tc>
                <a:tc>
                  <a:txBody>
                    <a:bodyPr wrap="square"/>
                    <a:lstStyle/>
                    <a:p>
                      <a:r>
                        <a:rPr sz="1000" b="0">
                          <a:solidFill>
                            <a:srgbClr val="333333"/>
                          </a:solidFill>
                          <a:latin typeface="Calibri"/>
                        </a:rPr>
                        <a:t>Limited: HCP digital only; patient-level MTA is off-limits</a:t>
                      </a:r>
                    </a:p>
                  </a:txBody>
                  <a:tcPr marL="54864" marR="54864" marT="27432" marB="27432">
                    <a:solidFill>
                      <a:srgbClr val="FFFFFF"/>
                    </a:solidFill>
                  </a:tcPr>
                </a:tc>
                <a:tc>
                  <a:txBody>
                    <a:bodyPr wrap="square"/>
                    <a:lstStyle/>
                    <a:p>
                      <a:r>
                        <a:rPr sz="1000" b="0">
                          <a:solidFill>
                            <a:srgbClr val="333333"/>
                          </a:solidFill>
                          <a:latin typeface="Calibri"/>
                        </a:rPr>
                        <a:t>Field-force experiments are old (territory holdouts); DTC geo tests are common</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01</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The MMM equation</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Two transforms — carryover and saturation — turn spend into something a regression can see.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7 / 40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THE EQUATION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What we are actually fitting</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Read it left to right; every term is a decision you will have to defend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8 / 40</a:t>
            </a:r>
          </a:p>
        </p:txBody>
      </p:sp>
      <p:sp>
        <p:nvSpPr>
          <p:cNvPr id="8" name="Rectangle 7"/>
          <p:cNvSpPr/>
          <p:nvPr/>
        </p:nvSpPr>
        <p:spPr>
          <a:xfrm>
            <a:off x="548640" y="2057400"/>
            <a:ext cx="11064240" cy="9144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03120"/>
            <a:ext cx="10698480" cy="822960"/>
          </a:xfrm>
          <a:prstGeom prst="rect">
            <a:avLst/>
          </a:prstGeom>
          <a:noFill/>
        </p:spPr>
        <p:txBody>
          <a:bodyPr wrap="square" lIns="45720" rIns="45720" tIns="27432" bIns="27432" anchor="ctr">
            <a:spAutoFit/>
          </a:bodyPr>
          <a:lstStyle/>
          <a:p>
            <a:pPr algn="l"/>
            <a:r>
              <a:rPr sz="1500" b="1" i="0">
                <a:solidFill>
                  <a:srgbClr val="1E2761"/>
                </a:solidFill>
                <a:latin typeface="Consolas"/>
              </a:rPr>
              <a:t>TRx_t  =  β₀  +  Σ_c  β_c · Hill( Adstock( x_c,t ; δ_c ) ; K_c , s_c )  +  γ · ramp_t  +  η₁ sin_t + η₂ cos_t  +  λ · competitor_t  +  φ · access_t  +  ε_t</a:t>
            </a:r>
          </a:p>
        </p:txBody>
      </p:sp>
      <p:graphicFrame>
        <p:nvGraphicFramePr>
          <p:cNvPr id="10" name="Table 9"/>
          <p:cNvGraphicFramePr>
            <a:graphicFrameLocks noGrp="1"/>
          </p:cNvGraphicFramePr>
          <p:nvPr/>
        </p:nvGraphicFramePr>
        <p:xfrm>
          <a:off x="548640" y="3154680"/>
          <a:ext cx="11064240" cy="3200400"/>
        </p:xfrm>
        <a:graphic>
          <a:graphicData uri="http://schemas.openxmlformats.org/drawingml/2006/table">
            <a:tbl>
              <a:tblPr firstRow="1" bandRow="1">
                <a:tableStyleId>{5C22544A-7EE6-4342-B048-85BDC9FD1C3A}</a:tableStyleId>
              </a:tblPr>
              <a:tblGrid>
                <a:gridCol w="1737360"/>
                <a:gridCol w="3840480"/>
                <a:gridCol w="2377440"/>
                <a:gridCol w="3108960"/>
              </a:tblGrid>
              <a:tr h="457200">
                <a:tc>
                  <a:txBody>
                    <a:bodyPr wrap="square"/>
                    <a:lstStyle/>
                    <a:p>
                      <a:r>
                        <a:rPr sz="1000" b="1">
                          <a:solidFill>
                            <a:srgbClr val="FFFFFF"/>
                          </a:solidFill>
                          <a:latin typeface="Calibri"/>
                        </a:rPr>
                        <a:t>Term</a:t>
                      </a:r>
                    </a:p>
                  </a:txBody>
                  <a:tcPr marL="54864" marR="54864" marT="27432" marB="27432">
                    <a:solidFill>
                      <a:srgbClr val="1E2761"/>
                    </a:solidFill>
                  </a:tcPr>
                </a:tc>
                <a:tc>
                  <a:txBody>
                    <a:bodyPr wrap="square"/>
                    <a:lstStyle/>
                    <a:p>
                      <a:r>
                        <a:rPr sz="1000" b="1">
                          <a:solidFill>
                            <a:srgbClr val="FFFFFF"/>
                          </a:solidFill>
                          <a:latin typeface="Calibri"/>
                        </a:rPr>
                        <a:t>Meaning</a:t>
                      </a:r>
                    </a:p>
                  </a:txBody>
                  <a:tcPr marL="54864" marR="54864" marT="27432" marB="27432">
                    <a:solidFill>
                      <a:srgbClr val="1E2761"/>
                    </a:solidFill>
                  </a:tcPr>
                </a:tc>
                <a:tc>
                  <a:txBody>
                    <a:bodyPr wrap="square"/>
                    <a:lstStyle/>
                    <a:p>
                      <a:r>
                        <a:rPr sz="1000" b="1">
                          <a:solidFill>
                            <a:srgbClr val="FFFFFF"/>
                          </a:solidFill>
                          <a:latin typeface="Calibri"/>
                        </a:rPr>
                        <a:t>Estimated how</a:t>
                      </a:r>
                    </a:p>
                  </a:txBody>
                  <a:tcPr marL="54864" marR="54864" marT="27432" marB="27432">
                    <a:solidFill>
                      <a:srgbClr val="1E2761"/>
                    </a:solidFill>
                  </a:tcPr>
                </a:tc>
                <a:tc>
                  <a:txBody>
                    <a:bodyPr wrap="square"/>
                    <a:lstStyle/>
                    <a:p>
                      <a:r>
                        <a:rPr sz="1000" b="1">
                          <a:solidFill>
                            <a:srgbClr val="FFFFFF"/>
                          </a:solidFill>
                          <a:latin typeface="Calibri"/>
                        </a:rPr>
                        <a:t>If you leave it out</a:t>
                      </a:r>
                    </a:p>
                  </a:txBody>
                  <a:tcPr marL="54864" marR="54864" marT="27432" marB="27432">
                    <a:solidFill>
                      <a:srgbClr val="1E2761"/>
                    </a:solidFill>
                  </a:tcPr>
                </a:tc>
              </a:tr>
              <a:tr h="457200">
                <a:tc>
                  <a:txBody>
                    <a:bodyPr wrap="square"/>
                    <a:lstStyle/>
                    <a:p>
                      <a:r>
                        <a:rPr sz="1000" b="1">
                          <a:solidFill>
                            <a:srgbClr val="1E2761"/>
                          </a:solidFill>
                          <a:latin typeface="Calibri"/>
                        </a:rPr>
                        <a:t>β₀ + γ·ramp</a:t>
                      </a:r>
                    </a:p>
                  </a:txBody>
                  <a:tcPr marL="54864" marR="54864" marT="27432" marB="27432">
                    <a:solidFill>
                      <a:srgbClr val="FFFFFF"/>
                    </a:solidFill>
                  </a:tcPr>
                </a:tc>
                <a:tc>
                  <a:txBody>
                    <a:bodyPr wrap="square"/>
                    <a:lstStyle/>
                    <a:p>
                      <a:r>
                        <a:rPr sz="1000" b="0">
                          <a:solidFill>
                            <a:srgbClr val="333333"/>
                          </a:solidFill>
                          <a:latin typeface="Calibri"/>
                        </a:rPr>
                        <a:t>The base: what the brand does on its own (launch ramp, awareness, refills accumulating)</a:t>
                      </a:r>
                    </a:p>
                  </a:txBody>
                  <a:tcPr marL="54864" marR="54864" marT="27432" marB="27432">
                    <a:solidFill>
                      <a:srgbClr val="FFFFFF"/>
                    </a:solidFill>
                  </a:tcPr>
                </a:tc>
                <a:tc>
                  <a:txBody>
                    <a:bodyPr wrap="square"/>
                    <a:lstStyle/>
                    <a:p>
                      <a:r>
                        <a:rPr sz="1000" b="0">
                          <a:solidFill>
                            <a:srgbClr val="333333"/>
                          </a:solidFill>
                          <a:latin typeface="Calibri"/>
                        </a:rPr>
                        <a:t>OLS (ramp midpoint and scale on a grid)</a:t>
                      </a:r>
                    </a:p>
                  </a:txBody>
                  <a:tcPr marL="54864" marR="54864" marT="27432" marB="27432">
                    <a:solidFill>
                      <a:srgbClr val="FFFFFF"/>
                    </a:solidFill>
                  </a:tcPr>
                </a:tc>
                <a:tc>
                  <a:txBody>
                    <a:bodyPr wrap="square"/>
                    <a:lstStyle/>
                    <a:p>
                      <a:r>
                        <a:rPr sz="1000" b="0">
                          <a:solidFill>
                            <a:srgbClr val="333333"/>
                          </a:solidFill>
                          <a:latin typeface="Calibri"/>
                        </a:rPr>
                        <a:t>Channels that grew with the brand steal the ramp</a:t>
                      </a:r>
                    </a:p>
                  </a:txBody>
                  <a:tcPr marL="54864" marR="54864" marT="27432" marB="27432">
                    <a:solidFill>
                      <a:srgbClr val="FFFFFF"/>
                    </a:solidFill>
                  </a:tcPr>
                </a:tc>
              </a:tr>
              <a:tr h="457200">
                <a:tc>
                  <a:txBody>
                    <a:bodyPr wrap="square"/>
                    <a:lstStyle/>
                    <a:p>
                      <a:r>
                        <a:rPr sz="1000" b="1">
                          <a:solidFill>
                            <a:srgbClr val="1E2761"/>
                          </a:solidFill>
                          <a:latin typeface="Calibri"/>
                        </a:rPr>
                        <a:t>Adstock(x; δ)</a:t>
                      </a:r>
                    </a:p>
                  </a:txBody>
                  <a:tcPr marL="54864" marR="54864" marT="27432" marB="27432">
                    <a:solidFill>
                      <a:srgbClr val="F3F6FC"/>
                    </a:solidFill>
                  </a:tcPr>
                </a:tc>
                <a:tc>
                  <a:txBody>
                    <a:bodyPr wrap="square"/>
                    <a:lstStyle/>
                    <a:p>
                      <a:r>
                        <a:rPr sz="1000" b="0">
                          <a:solidFill>
                            <a:srgbClr val="333333"/>
                          </a:solidFill>
                          <a:latin typeface="Calibri"/>
                        </a:rPr>
                        <a:t>Carryover: this week's spend works for weeks. δ = share carried to next week</a:t>
                      </a:r>
                    </a:p>
                  </a:txBody>
                  <a:tcPr marL="54864" marR="54864" marT="27432" marB="27432">
                    <a:solidFill>
                      <a:srgbClr val="F3F6FC"/>
                    </a:solidFill>
                  </a:tcPr>
                </a:tc>
                <a:tc>
                  <a:txBody>
                    <a:bodyPr wrap="square"/>
                    <a:lstStyle/>
                    <a:p>
                      <a:r>
                        <a:rPr sz="1000" b="0">
                          <a:solidFill>
                            <a:srgbClr val="333333"/>
                          </a:solidFill>
                          <a:latin typeface="Calibri"/>
                        </a:rPr>
                        <a:t>Grid or prior — non-linear</a:t>
                      </a:r>
                    </a:p>
                  </a:txBody>
                  <a:tcPr marL="54864" marR="54864" marT="27432" marB="27432">
                    <a:solidFill>
                      <a:srgbClr val="F3F6FC"/>
                    </a:solidFill>
                  </a:tcPr>
                </a:tc>
                <a:tc>
                  <a:txBody>
                    <a:bodyPr wrap="square"/>
                    <a:lstStyle/>
                    <a:p>
                      <a:r>
                        <a:rPr sz="1000" b="0">
                          <a:solidFill>
                            <a:srgbClr val="333333"/>
                          </a:solidFill>
                          <a:latin typeface="Calibri"/>
                        </a:rPr>
                        <a:t>Everything looks like same-week response; ROI understated for slow channels</a:t>
                      </a:r>
                    </a:p>
                  </a:txBody>
                  <a:tcPr marL="54864" marR="54864" marT="27432" marB="27432">
                    <a:solidFill>
                      <a:srgbClr val="F3F6FC"/>
                    </a:solidFill>
                  </a:tcPr>
                </a:tc>
              </a:tr>
              <a:tr h="457200">
                <a:tc>
                  <a:txBody>
                    <a:bodyPr wrap="square"/>
                    <a:lstStyle/>
                    <a:p>
                      <a:r>
                        <a:rPr sz="1000" b="1">
                          <a:solidFill>
                            <a:srgbClr val="1E2761"/>
                          </a:solidFill>
                          <a:latin typeface="Calibri"/>
                        </a:rPr>
                        <a:t>Hill(a; K, s)</a:t>
                      </a:r>
                    </a:p>
                  </a:txBody>
                  <a:tcPr marL="54864" marR="54864" marT="27432" marB="27432">
                    <a:solidFill>
                      <a:srgbClr val="FFFFFF"/>
                    </a:solidFill>
                  </a:tcPr>
                </a:tc>
                <a:tc>
                  <a:txBody>
                    <a:bodyPr wrap="square"/>
                    <a:lstStyle/>
                    <a:p>
                      <a:r>
                        <a:rPr sz="1000" b="0">
                          <a:solidFill>
                            <a:srgbClr val="333333"/>
                          </a:solidFill>
                          <a:latin typeface="Calibri"/>
                        </a:rPr>
                        <a:t>Saturation: K = half-saturation point, s = shape (S-curve if s &gt; 1)</a:t>
                      </a:r>
                    </a:p>
                  </a:txBody>
                  <a:tcPr marL="54864" marR="54864" marT="27432" marB="27432">
                    <a:solidFill>
                      <a:srgbClr val="FFFFFF"/>
                    </a:solidFill>
                  </a:tcPr>
                </a:tc>
                <a:tc>
                  <a:txBody>
                    <a:bodyPr wrap="square"/>
                    <a:lstStyle/>
                    <a:p>
                      <a:r>
                        <a:rPr sz="1000" b="0">
                          <a:solidFill>
                            <a:srgbClr val="333333"/>
                          </a:solidFill>
                          <a:latin typeface="Calibri"/>
                        </a:rPr>
                        <a:t>Grid or prior — non-linear</a:t>
                      </a:r>
                    </a:p>
                  </a:txBody>
                  <a:tcPr marL="54864" marR="54864" marT="27432" marB="27432">
                    <a:solidFill>
                      <a:srgbClr val="FFFFFF"/>
                    </a:solidFill>
                  </a:tcPr>
                </a:tc>
                <a:tc>
                  <a:txBody>
                    <a:bodyPr wrap="square"/>
                    <a:lstStyle/>
                    <a:p>
                      <a:r>
                        <a:rPr sz="1000" b="0">
                          <a:solidFill>
                            <a:srgbClr val="333333"/>
                          </a:solidFill>
                          <a:latin typeface="Calibri"/>
                        </a:rPr>
                        <a:t>Linear response → marginal = average → the optimizer pours money into one channel</a:t>
                      </a:r>
                    </a:p>
                  </a:txBody>
                  <a:tcPr marL="54864" marR="54864" marT="27432" marB="27432">
                    <a:solidFill>
                      <a:srgbClr val="FFFFFF"/>
                    </a:solidFill>
                  </a:tcPr>
                </a:tc>
              </a:tr>
              <a:tr h="457200">
                <a:tc>
                  <a:txBody>
                    <a:bodyPr wrap="square"/>
                    <a:lstStyle/>
                    <a:p>
                      <a:r>
                        <a:rPr sz="1000" b="1">
                          <a:solidFill>
                            <a:srgbClr val="1E2761"/>
                          </a:solidFill>
                          <a:latin typeface="Calibri"/>
                        </a:rPr>
                        <a:t>β_c</a:t>
                      </a:r>
                    </a:p>
                  </a:txBody>
                  <a:tcPr marL="54864" marR="54864" marT="27432" marB="27432">
                    <a:solidFill>
                      <a:srgbClr val="F3F6FC"/>
                    </a:solidFill>
                  </a:tcPr>
                </a:tc>
                <a:tc>
                  <a:txBody>
                    <a:bodyPr wrap="square"/>
                    <a:lstStyle/>
                    <a:p>
                      <a:r>
                        <a:rPr sz="1000" b="0">
                          <a:solidFill>
                            <a:srgbClr val="333333"/>
                          </a:solidFill>
                          <a:latin typeface="Calibri"/>
                        </a:rPr>
                        <a:t>Maximum weekly TRx the channel can deliver (Hill tops out at 1)</a:t>
                      </a:r>
                    </a:p>
                  </a:txBody>
                  <a:tcPr marL="54864" marR="54864" marT="27432" marB="27432">
                    <a:solidFill>
                      <a:srgbClr val="F3F6FC"/>
                    </a:solidFill>
                  </a:tcPr>
                </a:tc>
                <a:tc>
                  <a:txBody>
                    <a:bodyPr wrap="square"/>
                    <a:lstStyle/>
                    <a:p>
                      <a:r>
                        <a:rPr sz="1000" b="0">
                          <a:solidFill>
                            <a:srgbClr val="333333"/>
                          </a:solidFill>
                          <a:latin typeface="Calibri"/>
                        </a:rPr>
                        <a:t>OLS, given the transforms</a:t>
                      </a:r>
                    </a:p>
                  </a:txBody>
                  <a:tcPr marL="54864" marR="54864" marT="27432" marB="27432">
                    <a:solidFill>
                      <a:srgbClr val="F3F6FC"/>
                    </a:solidFill>
                  </a:tcPr>
                </a:tc>
                <a:tc>
                  <a:txBody>
                    <a:bodyPr wrap="square"/>
                    <a:lstStyle/>
                    <a:p>
                      <a:r>
                        <a:rPr sz="1000" b="0">
                          <a:solidFill>
                            <a:srgbClr val="333333"/>
                          </a:solidFill>
                          <a:latin typeface="Calibri"/>
                        </a:rPr>
                        <a:t>—</a:t>
                      </a:r>
                    </a:p>
                  </a:txBody>
                  <a:tcPr marL="54864" marR="54864" marT="27432" marB="27432">
                    <a:solidFill>
                      <a:srgbClr val="F3F6FC"/>
                    </a:solidFill>
                  </a:tcPr>
                </a:tc>
              </a:tr>
              <a:tr h="457200">
                <a:tc>
                  <a:txBody>
                    <a:bodyPr wrap="square"/>
                    <a:lstStyle/>
                    <a:p>
                      <a:r>
                        <a:rPr sz="1000" b="1">
                          <a:solidFill>
                            <a:srgbClr val="1E2761"/>
                          </a:solidFill>
                          <a:latin typeface="Calibri"/>
                        </a:rPr>
                        <a:t>season, competitor, access</a:t>
                      </a:r>
                    </a:p>
                  </a:txBody>
                  <a:tcPr marL="54864" marR="54864" marT="27432" marB="27432">
                    <a:solidFill>
                      <a:srgbClr val="FFFFFF"/>
                    </a:solidFill>
                  </a:tcPr>
                </a:tc>
                <a:tc>
                  <a:txBody>
                    <a:bodyPr wrap="square"/>
                    <a:lstStyle/>
                    <a:p>
                      <a:r>
                        <a:rPr sz="1000" b="0">
                          <a:solidFill>
                            <a:srgbClr val="333333"/>
                          </a:solidFill>
                          <a:latin typeface="Calibri"/>
                        </a:rPr>
                        <a:t>What moves TRx and is not promotion</a:t>
                      </a:r>
                    </a:p>
                  </a:txBody>
                  <a:tcPr marL="54864" marR="54864" marT="27432" marB="27432">
                    <a:solidFill>
                      <a:srgbClr val="FFFFFF"/>
                    </a:solidFill>
                  </a:tcPr>
                </a:tc>
                <a:tc>
                  <a:txBody>
                    <a:bodyPr wrap="square"/>
                    <a:lstStyle/>
                    <a:p>
                      <a:r>
                        <a:rPr sz="1000" b="0">
                          <a:solidFill>
                            <a:srgbClr val="333333"/>
                          </a:solidFill>
                          <a:latin typeface="Calibri"/>
                        </a:rPr>
                        <a:t>OLS</a:t>
                      </a:r>
                    </a:p>
                  </a:txBody>
                  <a:tcPr marL="54864" marR="54864" marT="27432" marB="27432">
                    <a:solidFill>
                      <a:srgbClr val="FFFFFF"/>
                    </a:solidFill>
                  </a:tcPr>
                </a:tc>
                <a:tc>
                  <a:txBody>
                    <a:bodyPr wrap="square"/>
                    <a:lstStyle/>
                    <a:p>
                      <a:r>
                        <a:rPr sz="1000" b="0">
                          <a:solidFill>
                            <a:srgbClr val="333333"/>
                          </a:solidFill>
                          <a:latin typeface="Calibri"/>
                        </a:rPr>
                        <a:t>A channel absorbs the effect (tonight: the formulary win)</a:t>
                      </a:r>
                    </a:p>
                  </a:txBody>
                  <a:tcPr marL="54864" marR="54864" marT="27432" marB="27432">
                    <a:solidFill>
                      <a:srgbClr val="FFFFFF"/>
                    </a:solidFill>
                  </a:tcPr>
                </a:tc>
              </a:tr>
              <a:tr h="457200">
                <a:tc>
                  <a:txBody>
                    <a:bodyPr wrap="square"/>
                    <a:lstStyle/>
                    <a:p>
                      <a:r>
                        <a:rPr sz="1000" b="1">
                          <a:solidFill>
                            <a:srgbClr val="1E2761"/>
                          </a:solidFill>
                          <a:latin typeface="Calibri"/>
                        </a:rPr>
                        <a:t>ε</a:t>
                      </a:r>
                    </a:p>
                  </a:txBody>
                  <a:tcPr marL="54864" marR="54864" marT="27432" marB="27432">
                    <a:solidFill>
                      <a:srgbClr val="F3F6FC"/>
                    </a:solidFill>
                  </a:tcPr>
                </a:tc>
                <a:tc>
                  <a:txBody>
                    <a:bodyPr wrap="square"/>
                    <a:lstStyle/>
                    <a:p>
                      <a:r>
                        <a:rPr sz="1000" b="0">
                          <a:solidFill>
                            <a:srgbClr val="333333"/>
                          </a:solidFill>
                          <a:latin typeface="Calibri"/>
                        </a:rPr>
                        <a:t>Everything else. Structure in here = something missing</a:t>
                      </a:r>
                    </a:p>
                  </a:txBody>
                  <a:tcPr marL="54864" marR="54864" marT="27432" marB="27432">
                    <a:solidFill>
                      <a:srgbClr val="F3F6FC"/>
                    </a:solidFill>
                  </a:tcPr>
                </a:tc>
                <a:tc>
                  <a:txBody>
                    <a:bodyPr wrap="square"/>
                    <a:lstStyle/>
                    <a:p>
                      <a:r>
                        <a:rPr sz="1000" b="0">
                          <a:solidFill>
                            <a:srgbClr val="333333"/>
                          </a:solidFill>
                          <a:latin typeface="Calibri"/>
                        </a:rPr>
                        <a:t>Residual diagnostics</a:t>
                      </a:r>
                    </a:p>
                  </a:txBody>
                  <a:tcPr marL="54864" marR="54864" marT="27432" marB="27432">
                    <a:solidFill>
                      <a:srgbClr val="F3F6FC"/>
                    </a:solidFill>
                  </a:tcPr>
                </a:tc>
                <a:tc>
                  <a:txBody>
                    <a:bodyPr wrap="square"/>
                    <a:lstStyle/>
                    <a:p>
                      <a:r>
                        <a:rPr sz="1000" b="0">
                          <a:solidFill>
                            <a:srgbClr val="333333"/>
                          </a:solidFill>
                          <a:latin typeface="Calibri"/>
                        </a:rPr>
                        <a:t>You ship a wrong model</a:t>
                      </a:r>
                    </a:p>
                  </a:txBody>
                  <a:tcPr marL="54864" marR="54864" marT="27432" marB="27432">
                    <a:solidFill>
                      <a:srgbClr val="F3F6F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ADSTOCK</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Adstock — spend echoes through time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Geometric form: a_t = x_t + δ · a_{t−1}.  Half-life = ln 0.5 / ln δ.</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9 / 40</a:t>
            </a:r>
          </a:p>
        </p:txBody>
      </p:sp>
      <p:pic>
        <p:nvPicPr>
          <p:cNvPr id="8" name="Picture 7" descr="adstock_hill.png"/>
          <p:cNvPicPr>
            <a:picLocks noChangeAspect="1"/>
          </p:cNvPicPr>
          <p:nvPr/>
        </p:nvPicPr>
        <p:blipFill>
          <a:blip r:embed="rId2"/>
          <a:stretch>
            <a:fillRect/>
          </a:stretch>
        </p:blipFill>
        <p:spPr>
          <a:xfrm>
            <a:off x="548640" y="2011680"/>
            <a:ext cx="6766560" cy="1872328"/>
          </a:xfrm>
          <a:prstGeom prst="rect">
            <a:avLst/>
          </a:prstGeom>
        </p:spPr>
      </p:pic>
      <p:sp>
        <p:nvSpPr>
          <p:cNvPr id="9" name="Rectangle 8"/>
          <p:cNvSpPr/>
          <p:nvPr/>
        </p:nvSpPr>
        <p:spPr>
          <a:xfrm>
            <a:off x="7589520" y="2011680"/>
            <a:ext cx="4023360" cy="21031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26680" y="2121408"/>
            <a:ext cx="3749040" cy="365760"/>
          </a:xfrm>
          <a:prstGeom prst="rect">
            <a:avLst/>
          </a:prstGeom>
          <a:noFill/>
        </p:spPr>
        <p:txBody>
          <a:bodyPr wrap="square" lIns="45720" rIns="45720" tIns="27432" bIns="27432" anchor="t">
            <a:spAutoFit/>
          </a:bodyPr>
          <a:lstStyle/>
          <a:p>
            <a:pPr algn="l"/>
            <a:r>
              <a:rPr sz="1400" b="1" i="0">
                <a:solidFill>
                  <a:srgbClr val="1E2761"/>
                </a:solidFill>
                <a:latin typeface="Calibri"/>
              </a:rPr>
              <a:t>Typical δ by channel (weekly data)</a:t>
            </a:r>
          </a:p>
        </p:txBody>
      </p:sp>
      <p:sp>
        <p:nvSpPr>
          <p:cNvPr id="11" name="TextBox 10"/>
          <p:cNvSpPr txBox="1"/>
          <p:nvPr/>
        </p:nvSpPr>
        <p:spPr>
          <a:xfrm>
            <a:off x="7699248" y="2505456"/>
            <a:ext cx="3794760" cy="1517903"/>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0.6–0.8: </a:t>
            </a:r>
            <a:r>
              <a:rPr sz="1100">
                <a:solidFill>
                  <a:srgbClr val="333333"/>
                </a:solidFill>
                <a:latin typeface="Calibri"/>
              </a:rPr>
              <a:t>TV, sponsorships, KOL programs — slow build, long tail</a:t>
            </a:r>
          </a:p>
          <a:p>
            <a:pPr>
              <a:spcAft>
                <a:spcPts val="500"/>
              </a:spcAft>
            </a:pPr>
            <a:r>
              <a:rPr sz="1100" b="1">
                <a:solidFill>
                  <a:srgbClr val="FF6B6B"/>
                </a:solidFill>
                <a:latin typeface="Calibri"/>
              </a:rPr>
              <a:t>▸ </a:t>
            </a:r>
            <a:r>
              <a:rPr b="1" sz="1100">
                <a:solidFill>
                  <a:srgbClr val="1E2761"/>
                </a:solidFill>
                <a:latin typeface="Calibri"/>
              </a:rPr>
              <a:t>0.3–0.6: </a:t>
            </a:r>
            <a:r>
              <a:rPr sz="1100">
                <a:solidFill>
                  <a:srgbClr val="333333"/>
                </a:solidFill>
                <a:latin typeface="Calibri"/>
              </a:rPr>
              <a:t>HCP detailing, conferences — a rep visit works for a month or two</a:t>
            </a:r>
          </a:p>
          <a:p>
            <a:pPr>
              <a:spcAft>
                <a:spcPts val="500"/>
              </a:spcAft>
            </a:pPr>
            <a:r>
              <a:rPr sz="1100" b="1">
                <a:solidFill>
                  <a:srgbClr val="FF6B6B"/>
                </a:solidFill>
                <a:latin typeface="Calibri"/>
              </a:rPr>
              <a:t>▸ </a:t>
            </a:r>
            <a:r>
              <a:rPr b="1" sz="1100">
                <a:solidFill>
                  <a:srgbClr val="1E2761"/>
                </a:solidFill>
                <a:latin typeface="Calibri"/>
              </a:rPr>
              <a:t>0.0–0.25: </a:t>
            </a:r>
            <a:r>
              <a:rPr sz="1100">
                <a:solidFill>
                  <a:srgbClr val="333333"/>
                </a:solidFill>
                <a:latin typeface="Calibri"/>
              </a:rPr>
              <a:t>email, paid search, banners — gone by next week</a:t>
            </a:r>
          </a:p>
        </p:txBody>
      </p:sp>
      <p:sp>
        <p:nvSpPr>
          <p:cNvPr id="12" name="Rectangle 11"/>
          <p:cNvSpPr/>
          <p:nvPr/>
        </p:nvSpPr>
        <p:spPr>
          <a:xfrm>
            <a:off x="7589520" y="4251960"/>
            <a:ext cx="40233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26680" y="4361688"/>
            <a:ext cx="3749040" cy="365760"/>
          </a:xfrm>
          <a:prstGeom prst="rect">
            <a:avLst/>
          </a:prstGeom>
          <a:noFill/>
        </p:spPr>
        <p:txBody>
          <a:bodyPr wrap="square" lIns="45720" rIns="45720" tIns="27432" bIns="27432" anchor="t">
            <a:spAutoFit/>
          </a:bodyPr>
          <a:lstStyle/>
          <a:p>
            <a:pPr algn="l"/>
            <a:r>
              <a:rPr sz="1400" b="1" i="0">
                <a:solidFill>
                  <a:srgbClr val="1E2761"/>
                </a:solidFill>
                <a:latin typeface="Calibri"/>
              </a:rPr>
              <a:t>Two variants you will meet</a:t>
            </a:r>
          </a:p>
        </p:txBody>
      </p:sp>
      <p:sp>
        <p:nvSpPr>
          <p:cNvPr id="14" name="TextBox 13"/>
          <p:cNvSpPr txBox="1"/>
          <p:nvPr/>
        </p:nvSpPr>
        <p:spPr>
          <a:xfrm>
            <a:off x="7699248" y="4745736"/>
            <a:ext cx="3794760" cy="142646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Weibull adstock: </a:t>
            </a:r>
            <a:r>
              <a:rPr sz="1100">
                <a:solidFill>
                  <a:srgbClr val="333333"/>
                </a:solidFill>
                <a:latin typeface="Calibri"/>
              </a:rPr>
              <a:t>lets the peak land after week 0 (a detail → next eligible patient → script → fill lag of 4–8 weeks)</a:t>
            </a:r>
          </a:p>
          <a:p>
            <a:pPr>
              <a:spcAft>
                <a:spcPts val="500"/>
              </a:spcAft>
            </a:pPr>
            <a:r>
              <a:rPr sz="1100" b="1">
                <a:solidFill>
                  <a:srgbClr val="FF6B6B"/>
                </a:solidFill>
                <a:latin typeface="Calibri"/>
              </a:rPr>
              <a:t>▸ </a:t>
            </a:r>
            <a:r>
              <a:rPr b="1" sz="1100">
                <a:solidFill>
                  <a:srgbClr val="1E2761"/>
                </a:solidFill>
                <a:latin typeface="Calibri"/>
              </a:rPr>
              <a:t>l_max: </a:t>
            </a:r>
            <a:r>
              <a:rPr sz="1100">
                <a:solidFill>
                  <a:srgbClr val="333333"/>
                </a:solidFill>
                <a:latin typeface="Calibri"/>
              </a:rPr>
              <a:t>PyMC-Marketing truncates the tail at l_max weeks; 8–12 is typical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SATURATION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Hill saturation — the second dollar is worth less than the first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h(a) = aˢ / (aˢ + Kˢ).  K is where the channel is at half its maximum; s &gt; 1 gives a threshold before it works.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10 / 40</a:t>
            </a:r>
          </a:p>
        </p:txBody>
      </p:sp>
      <p:sp>
        <p:nvSpPr>
          <p:cNvPr id="8" name="Rectangle 7"/>
          <p:cNvSpPr/>
          <p:nvPr/>
        </p:nvSpPr>
        <p:spPr>
          <a:xfrm>
            <a:off x="548640" y="2103120"/>
            <a:ext cx="53949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K — half-saturation point</a:t>
            </a:r>
          </a:p>
        </p:txBody>
      </p:sp>
      <p:sp>
        <p:nvSpPr>
          <p:cNvPr id="10" name="TextBox 9"/>
          <p:cNvSpPr txBox="1"/>
          <p:nvPr/>
        </p:nvSpPr>
        <p:spPr>
          <a:xfrm>
            <a:off x="658368" y="2596896"/>
            <a:ext cx="5166360" cy="14264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Spend (adstocked) at which the channel delivers 50% of its maximum</a:t>
            </a:r>
          </a:p>
          <a:p>
            <a:pPr>
              <a:spcAft>
                <a:spcPts val="500"/>
              </a:spcAft>
            </a:pPr>
            <a:r>
              <a:rPr sz="1150" b="1">
                <a:solidFill>
                  <a:srgbClr val="FF6B6B"/>
                </a:solidFill>
                <a:latin typeface="Calibri"/>
              </a:rPr>
              <a:t>▸ </a:t>
            </a:r>
            <a:r>
              <a:rPr sz="1150">
                <a:solidFill>
                  <a:srgbClr val="333333"/>
                </a:solidFill>
                <a:latin typeface="Calibri"/>
              </a:rPr>
              <a:t>Small K relative to spend = the channel is saturated: more money does little</a:t>
            </a:r>
          </a:p>
          <a:p>
            <a:pPr>
              <a:spcAft>
                <a:spcPts val="500"/>
              </a:spcAft>
            </a:pPr>
            <a:r>
              <a:rPr sz="1150" b="1">
                <a:solidFill>
                  <a:srgbClr val="FF6B6B"/>
                </a:solidFill>
                <a:latin typeface="Calibri"/>
              </a:rPr>
              <a:t>▸ </a:t>
            </a:r>
            <a:r>
              <a:rPr sz="1150">
                <a:solidFill>
                  <a:srgbClr val="333333"/>
                </a:solidFill>
                <a:latin typeface="Calibri"/>
              </a:rPr>
              <a:t>Tonight K is searched as a multiple of the channel's median adstocked spend</a:t>
            </a:r>
          </a:p>
        </p:txBody>
      </p:sp>
      <p:sp>
        <p:nvSpPr>
          <p:cNvPr id="11" name="Rectangle 10"/>
          <p:cNvSpPr/>
          <p:nvPr/>
        </p:nvSpPr>
        <p:spPr>
          <a:xfrm>
            <a:off x="6217920" y="2103120"/>
            <a:ext cx="539496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s — shape</a:t>
            </a:r>
          </a:p>
        </p:txBody>
      </p:sp>
      <p:sp>
        <p:nvSpPr>
          <p:cNvPr id="13" name="TextBox 12"/>
          <p:cNvSpPr txBox="1"/>
          <p:nvPr/>
        </p:nvSpPr>
        <p:spPr>
          <a:xfrm>
            <a:off x="6327648" y="2596896"/>
            <a:ext cx="5166360" cy="142646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 = 1: concave from the first dollar (diminishing returns immediately)</a:t>
            </a:r>
          </a:p>
          <a:p>
            <a:pPr>
              <a:spcAft>
                <a:spcPts val="500"/>
              </a:spcAft>
            </a:pPr>
            <a:r>
              <a:rPr sz="1150" b="1">
                <a:solidFill>
                  <a:srgbClr val="FF6B6B"/>
                </a:solidFill>
                <a:latin typeface="Calibri"/>
              </a:rPr>
              <a:t>▸ </a:t>
            </a:r>
            <a:r>
              <a:rPr sz="1150">
                <a:solidFill>
                  <a:srgbClr val="333333"/>
                </a:solidFill>
                <a:latin typeface="Calibri"/>
              </a:rPr>
              <a:t>s &gt; 1: S-shaped — a frequency floor before the channel converts (one TV impression does nothing; ten might)</a:t>
            </a:r>
          </a:p>
          <a:p>
            <a:pPr>
              <a:spcAft>
                <a:spcPts val="500"/>
              </a:spcAft>
            </a:pPr>
            <a:r>
              <a:rPr sz="1150" b="1">
                <a:solidFill>
                  <a:srgbClr val="FF6B6B"/>
                </a:solidFill>
                <a:latin typeface="Calibri"/>
              </a:rPr>
              <a:t>▸ </a:t>
            </a:r>
            <a:r>
              <a:rPr sz="1150">
                <a:solidFill>
                  <a:srgbClr val="333333"/>
                </a:solidFill>
                <a:latin typeface="Calibri"/>
              </a:rPr>
              <a:t>s also decides how sharp the marginal ROI falls beyond K</a:t>
            </a:r>
          </a:p>
        </p:txBody>
      </p:sp>
      <p:sp>
        <p:nvSpPr>
          <p:cNvPr id="14" name="Rectangle 13"/>
          <p:cNvSpPr/>
          <p:nvPr/>
        </p:nvSpPr>
        <p:spPr>
          <a:xfrm>
            <a:off x="548640" y="4297680"/>
            <a:ext cx="11064240" cy="20116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370832"/>
            <a:ext cx="10698480" cy="365760"/>
          </a:xfrm>
          <a:prstGeom prst="rect">
            <a:avLst/>
          </a:prstGeom>
          <a:noFill/>
        </p:spPr>
        <p:txBody>
          <a:bodyPr wrap="square" lIns="45720" rIns="45720" tIns="27432" bIns="27432" anchor="t">
            <a:spAutoFit/>
          </a:bodyPr>
          <a:lstStyle/>
          <a:p>
            <a:pPr algn="l"/>
            <a:r>
              <a:rPr sz="1300" b="1" i="0">
                <a:solidFill>
                  <a:srgbClr val="1E2761"/>
                </a:solidFill>
                <a:latin typeface="Calibri"/>
              </a:rPr>
              <a:t>The response curve — adstock decides when, saturation decides how much</a:t>
            </a:r>
          </a:p>
        </p:txBody>
      </p:sp>
      <p:sp>
        <p:nvSpPr>
          <p:cNvPr id="16" name="TextBox 15"/>
          <p:cNvSpPr txBox="1"/>
          <p:nvPr/>
        </p:nvSpPr>
        <p:spPr>
          <a:xfrm>
            <a:off x="731520" y="4754880"/>
            <a:ext cx="10698480" cy="1463040"/>
          </a:xfrm>
          <a:prstGeom prst="rect">
            <a:avLst/>
          </a:prstGeom>
          <a:noFill/>
        </p:spPr>
        <p:txBody>
          <a:bodyPr wrap="square" lIns="45720" rIns="45720">
            <a:spAutoFit/>
          </a:bodyPr>
          <a:lstStyle/>
          <a:p>
            <a:pPr>
              <a:spcAft>
                <a:spcPts val="600"/>
              </a:spcAft>
            </a:pPr>
            <a:r>
              <a:rPr sz="1150" b="1">
                <a:solidFill>
                  <a:srgbClr val="FF6B6B"/>
                </a:solidFill>
                <a:latin typeface="Calibri"/>
              </a:rPr>
              <a:t>▸ </a:t>
            </a:r>
            <a:r>
              <a:rPr b="1" sz="1150">
                <a:solidFill>
                  <a:srgbClr val="1E2761"/>
                </a:solidFill>
                <a:latin typeface="Calibri"/>
              </a:rPr>
              <a:t>Average ROI </a:t>
            </a:r>
            <a:r>
              <a:rPr sz="1150">
                <a:solidFill>
                  <a:srgbClr val="333333"/>
                </a:solidFill>
                <a:latin typeface="Calibri"/>
              </a:rPr>
              <a:t>= total response ÷ total spend — the area under the curve so far. A reporting number.</a:t>
            </a:r>
          </a:p>
          <a:p>
            <a:pPr>
              <a:spcAft>
                <a:spcPts val="600"/>
              </a:spcAft>
            </a:pPr>
            <a:r>
              <a:rPr sz="1150" b="1">
                <a:solidFill>
                  <a:srgbClr val="FF6B6B"/>
                </a:solidFill>
                <a:latin typeface="Calibri"/>
              </a:rPr>
              <a:t>▸ </a:t>
            </a:r>
            <a:r>
              <a:rPr b="1" sz="1150">
                <a:solidFill>
                  <a:srgbClr val="1E2761"/>
                </a:solidFill>
                <a:latin typeface="Calibri"/>
              </a:rPr>
              <a:t>Marginal ROI </a:t>
            </a:r>
            <a:r>
              <a:rPr sz="1150">
                <a:solidFill>
                  <a:srgbClr val="333333"/>
                </a:solidFill>
                <a:latin typeface="Calibri"/>
              </a:rPr>
              <a:t>= the slope of the curve at current spend — what the next dollar returns. A decision number.</a:t>
            </a:r>
          </a:p>
          <a:p>
            <a:pPr>
              <a:spcAft>
                <a:spcPts val="600"/>
              </a:spcAft>
            </a:pPr>
            <a:r>
              <a:rPr sz="1150" b="1">
                <a:solidFill>
                  <a:srgbClr val="FF6B6B"/>
                </a:solidFill>
                <a:latin typeface="Calibri"/>
              </a:rPr>
              <a:t>▸ </a:t>
            </a:r>
            <a:r>
              <a:rPr b="1" sz="1150">
                <a:solidFill>
                  <a:srgbClr val="1E2761"/>
                </a:solidFill>
                <a:latin typeface="Calibri"/>
              </a:rPr>
              <a:t>Saturation guarantees they rank channels differently. </a:t>
            </a:r>
            <a:r>
              <a:rPr sz="1150">
                <a:solidFill>
                  <a:srgbClr val="333333"/>
                </a:solidFill>
                <a:latin typeface="Calibri"/>
              </a:rPr>
              <a:t>A saturated channel can have the best average and the worst marginal.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1 · AVERAGE VS. MARGINAL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The one distinction that decides whether your recommendation is right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Tonight's fitted curves — dotted line = mean weekly adstocked spend when the channel is active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11 / 40</a:t>
            </a:r>
          </a:p>
        </p:txBody>
      </p:sp>
      <p:pic>
        <p:nvPicPr>
          <p:cNvPr id="8" name="Picture 7" descr="curves.png"/>
          <p:cNvPicPr>
            <a:picLocks noChangeAspect="1"/>
          </p:cNvPicPr>
          <p:nvPr/>
        </p:nvPicPr>
        <p:blipFill>
          <a:blip r:embed="rId2"/>
          <a:stretch>
            <a:fillRect/>
          </a:stretch>
        </p:blipFill>
        <p:spPr>
          <a:xfrm>
            <a:off x="548640" y="2011680"/>
            <a:ext cx="11064240" cy="2273779"/>
          </a:xfrm>
          <a:prstGeom prst="rect">
            <a:avLst/>
          </a:prstGeom>
        </p:spPr>
      </p:pic>
      <p:sp>
        <p:nvSpPr>
          <p:cNvPr id="9" name="TextBox 8"/>
          <p:cNvSpPr txBox="1"/>
          <p:nvPr/>
        </p:nvSpPr>
        <p:spPr>
          <a:xfrm>
            <a:off x="548640" y="4343400"/>
            <a:ext cx="11064240" cy="1920240"/>
          </a:xfrm>
          <a:prstGeom prst="rect">
            <a:avLst/>
          </a:prstGeom>
          <a:noFill/>
        </p:spPr>
        <p:txBody>
          <a:bodyPr wrap="square" lIns="45720" rIns="45720" tIns="27432" bIns="27432" anchor="t">
            <a:spAutoFit/>
          </a:bodyPr>
          <a:lstStyle/>
          <a:p>
            <a:pPr algn="l"/>
            <a:r>
              <a:rPr sz="1250" b="0" i="0">
                <a:solidFill>
                  <a:srgbClr val="333333"/>
                </a:solidFill>
                <a:latin typeface="Calibri"/>
              </a:rPr>
              <a:t>Email sits far to the right of its K: the best average ROI in the brand and almost nothing left to gain. Digital and detailing sit on the steep part. DTC TV is on the flat top of an S-curve with the biggest budget.</a:t>
            </a:r>
          </a:p>
          <a:p>
            <a:pPr algn="l"/>
            <a:r>
              <a:rPr sz="1250" b="0" i="0">
                <a:solidFill>
                  <a:srgbClr val="333333"/>
                </a:solidFill>
                <a:latin typeface="Calibri"/>
              </a:rPr>
              <a:t>Reporting → average. Decisions → marginal. Confusing them in front of leadership produces confidently wrong reallocations — and it is the most common MMM error we see in QBR decks.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02</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Fitting an OLS MMM — live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Part 1 of the notebook: controls, the grid, diagnostics. The fastest defensible model — if you respect the diagnostics.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12 / 40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THE DATA</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GLUCOREN: 156 weeks, five channels, two events, one placeholder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glucoren_weekly_mmm.csv — projected national TRx and weekly spend; synthetic, from a known response model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13 / 40</a:t>
            </a:r>
          </a:p>
        </p:txBody>
      </p:sp>
      <p:pic>
        <p:nvPicPr>
          <p:cNvPr id="8" name="Picture 7" descr="trx.png"/>
          <p:cNvPicPr>
            <a:picLocks noChangeAspect="1"/>
          </p:cNvPicPr>
          <p:nvPr/>
        </p:nvPicPr>
        <p:blipFill>
          <a:blip r:embed="rId2"/>
          <a:stretch>
            <a:fillRect/>
          </a:stretch>
        </p:blipFill>
        <p:spPr>
          <a:xfrm>
            <a:off x="548640" y="2011680"/>
            <a:ext cx="6675120" cy="2267947"/>
          </a:xfrm>
          <a:prstGeom prst="rect">
            <a:avLst/>
          </a:prstGeom>
        </p:spPr>
      </p:pic>
      <p:graphicFrame>
        <p:nvGraphicFramePr>
          <p:cNvPr id="9" name="Table 8"/>
          <p:cNvGraphicFramePr>
            <a:graphicFrameLocks noGrp="1"/>
          </p:cNvGraphicFramePr>
          <p:nvPr/>
        </p:nvGraphicFramePr>
        <p:xfrm>
          <a:off x="7406640" y="2011680"/>
          <a:ext cx="4206240" cy="3291840"/>
        </p:xfrm>
        <a:graphic>
          <a:graphicData uri="http://schemas.openxmlformats.org/drawingml/2006/table">
            <a:tbl>
              <a:tblPr firstRow="1" bandRow="1">
                <a:tableStyleId>{5C22544A-7EE6-4342-B048-85BDC9FD1C3A}</a:tableStyleId>
              </a:tblPr>
              <a:tblGrid>
                <a:gridCol w="1371600"/>
                <a:gridCol w="2834640"/>
              </a:tblGrid>
              <a:tr h="548640">
                <a:tc>
                  <a:txBody>
                    <a:bodyPr wrap="square"/>
                    <a:lstStyle/>
                    <a:p>
                      <a:r>
                        <a:rPr sz="950" b="1">
                          <a:solidFill>
                            <a:srgbClr val="FFFFFF"/>
                          </a:solidFill>
                          <a:latin typeface="Calibri"/>
                        </a:rPr>
                        <a:t>Column</a:t>
                      </a:r>
                    </a:p>
                  </a:txBody>
                  <a:tcPr marL="54864" marR="54864" marT="27432" marB="27432">
                    <a:solidFill>
                      <a:srgbClr val="1E2761"/>
                    </a:solidFill>
                  </a:tcPr>
                </a:tc>
                <a:tc>
                  <a:txBody>
                    <a:bodyPr wrap="square"/>
                    <a:lstStyle/>
                    <a:p>
                      <a:r>
                        <a:rPr sz="950" b="1">
                          <a:solidFill>
                            <a:srgbClr val="FFFFFF"/>
                          </a:solidFill>
                          <a:latin typeface="Calibri"/>
                        </a:rPr>
                        <a:t>What it is</a:t>
                      </a:r>
                    </a:p>
                  </a:txBody>
                  <a:tcPr marL="54864" marR="54864" marT="27432" marB="27432">
                    <a:solidFill>
                      <a:srgbClr val="1E2761"/>
                    </a:solidFill>
                  </a:tcPr>
                </a:tc>
              </a:tr>
              <a:tr h="548640">
                <a:tc>
                  <a:txBody>
                    <a:bodyPr wrap="square"/>
                    <a:lstStyle/>
                    <a:p>
                      <a:r>
                        <a:rPr sz="950" b="1">
                          <a:solidFill>
                            <a:srgbClr val="1E2761"/>
                          </a:solidFill>
                          <a:latin typeface="Calibri"/>
                        </a:rPr>
                        <a:t>trx</a:t>
                      </a:r>
                    </a:p>
                  </a:txBody>
                  <a:tcPr marL="54864" marR="54864" marT="27432" marB="27432">
                    <a:solidFill>
                      <a:srgbClr val="FFFFFF"/>
                    </a:solidFill>
                  </a:tcPr>
                </a:tc>
                <a:tc>
                  <a:txBody>
                    <a:bodyPr wrap="square"/>
                    <a:lstStyle/>
                    <a:p>
                      <a:r>
                        <a:rPr sz="950" b="0">
                          <a:solidFill>
                            <a:srgbClr val="333333"/>
                          </a:solidFill>
                          <a:latin typeface="Calibri"/>
                        </a:rPr>
                        <a:t>Weekly projected national TRx (Week 2's panel projection)</a:t>
                      </a:r>
                    </a:p>
                  </a:txBody>
                  <a:tcPr marL="54864" marR="54864" marT="27432" marB="27432">
                    <a:solidFill>
                      <a:srgbClr val="FFFFFF"/>
                    </a:solidFill>
                  </a:tcPr>
                </a:tc>
              </a:tr>
              <a:tr h="548640">
                <a:tc>
                  <a:txBody>
                    <a:bodyPr wrap="square"/>
                    <a:lstStyle/>
                    <a:p>
                      <a:r>
                        <a:rPr sz="950" b="1">
                          <a:solidFill>
                            <a:srgbClr val="1E2761"/>
                          </a:solidFill>
                          <a:latin typeface="Calibri"/>
                        </a:rPr>
                        <a:t>*_spend (5)</a:t>
                      </a:r>
                    </a:p>
                  </a:txBody>
                  <a:tcPr marL="54864" marR="54864" marT="27432" marB="27432">
                    <a:solidFill>
                      <a:srgbClr val="F3F6FC"/>
                    </a:solidFill>
                  </a:tcPr>
                </a:tc>
                <a:tc>
                  <a:txBody>
                    <a:bodyPr wrap="square"/>
                    <a:lstStyle/>
                    <a:p>
                      <a:r>
                        <a:rPr sz="950" b="0">
                          <a:solidFill>
                            <a:srgbClr val="333333"/>
                          </a:solidFill>
                          <a:latin typeface="Calibri"/>
                        </a:rPr>
                        <a:t>Weekly $ by channel: detailing, conferences, digital, email, DTC TV</a:t>
                      </a:r>
                    </a:p>
                  </a:txBody>
                  <a:tcPr marL="54864" marR="54864" marT="27432" marB="27432">
                    <a:solidFill>
                      <a:srgbClr val="F3F6FC"/>
                    </a:solidFill>
                  </a:tcPr>
                </a:tc>
              </a:tr>
              <a:tr h="548640">
                <a:tc>
                  <a:txBody>
                    <a:bodyPr wrap="square"/>
                    <a:lstStyle/>
                    <a:p>
                      <a:r>
                        <a:rPr sz="950" b="1">
                          <a:solidFill>
                            <a:srgbClr val="1E2761"/>
                          </a:solidFill>
                          <a:latin typeface="Calibri"/>
                        </a:rPr>
                        <a:t>hcp_calls</a:t>
                      </a:r>
                    </a:p>
                  </a:txBody>
                  <a:tcPr marL="54864" marR="54864" marT="27432" marB="27432">
                    <a:solidFill>
                      <a:srgbClr val="FFFFFF"/>
                    </a:solidFill>
                  </a:tcPr>
                </a:tc>
                <a:tc>
                  <a:txBody>
                    <a:bodyPr wrap="square"/>
                    <a:lstStyle/>
                    <a:p>
                      <a:r>
                        <a:rPr sz="950" b="0">
                          <a:solidFill>
                            <a:srgbClr val="333333"/>
                          </a:solidFill>
                          <a:latin typeface="Calibri"/>
                        </a:rPr>
                        <a:t>Rep calls delivered — an alternative 'dose' for detailing</a:t>
                      </a:r>
                    </a:p>
                  </a:txBody>
                  <a:tcPr marL="54864" marR="54864" marT="27432" marB="27432">
                    <a:solidFill>
                      <a:srgbClr val="FFFFFF"/>
                    </a:solidFill>
                  </a:tcPr>
                </a:tc>
              </a:tr>
              <a:tr h="548640">
                <a:tc>
                  <a:txBody>
                    <a:bodyPr wrap="square"/>
                    <a:lstStyle/>
                    <a:p>
                      <a:r>
                        <a:rPr sz="950" b="1">
                          <a:solidFill>
                            <a:srgbClr val="1E2761"/>
                          </a:solidFill>
                          <a:latin typeface="Calibri"/>
                        </a:rPr>
                        <a:t>competitor_active</a:t>
                      </a:r>
                    </a:p>
                  </a:txBody>
                  <a:tcPr marL="54864" marR="54864" marT="27432" marB="27432">
                    <a:solidFill>
                      <a:srgbClr val="F3F6FC"/>
                    </a:solidFill>
                  </a:tcPr>
                </a:tc>
                <a:tc>
                  <a:txBody>
                    <a:bodyPr wrap="square"/>
                    <a:lstStyle/>
                    <a:p>
                      <a:r>
                        <a:rPr sz="950" b="0">
                          <a:solidFill>
                            <a:srgbClr val="333333"/>
                          </a:solidFill>
                          <a:latin typeface="Calibri"/>
                        </a:rPr>
                        <a:t>0/1 from week 90 (a competitor launched)</a:t>
                      </a:r>
                    </a:p>
                  </a:txBody>
                  <a:tcPr marL="54864" marR="54864" marT="27432" marB="27432">
                    <a:solidFill>
                      <a:srgbClr val="F3F6FC"/>
                    </a:solidFill>
                  </a:tcPr>
                </a:tc>
              </a:tr>
              <a:tr h="548640">
                <a:tc>
                  <a:txBody>
                    <a:bodyPr wrap="square"/>
                    <a:lstStyle/>
                    <a:p>
                      <a:r>
                        <a:rPr sz="950" b="1">
                          <a:solidFill>
                            <a:srgbClr val="1E2761"/>
                          </a:solidFill>
                          <a:latin typeface="Calibri"/>
                        </a:rPr>
                        <a:t>pbm_preferred_share</a:t>
                      </a:r>
                    </a:p>
                  </a:txBody>
                  <a:tcPr marL="54864" marR="54864" marT="27432" marB="27432">
                    <a:solidFill>
                      <a:srgbClr val="FFFFFF"/>
                    </a:solidFill>
                  </a:tcPr>
                </a:tc>
                <a:tc>
                  <a:txBody>
                    <a:bodyPr wrap="square"/>
                    <a:lstStyle/>
                    <a:p>
                      <a:r>
                        <a:rPr sz="950" b="0">
                          <a:solidFill>
                            <a:srgbClr val="333333"/>
                          </a:solidFill>
                          <a:latin typeface="Calibri"/>
                        </a:rPr>
                        <a:t>Share of commercial lives with preferred status; steps 0.38 → 0.61 at week 118</a:t>
                      </a:r>
                    </a:p>
                  </a:txBody>
                  <a:tcPr marL="54864" marR="54864" marT="27432" marB="27432">
                    <a:solidFill>
                      <a:srgbClr val="FFFFFF"/>
                    </a:solidFill>
                  </a:tcPr>
                </a:tc>
              </a:tr>
            </a:tbl>
          </a:graphicData>
        </a:graphic>
      </p:graphicFrame>
      <p:sp>
        <p:nvSpPr>
          <p:cNvPr id="10" name="Rectangle 9"/>
          <p:cNvSpPr/>
          <p:nvPr/>
        </p:nvSpPr>
        <p:spPr>
          <a:xfrm>
            <a:off x="548640" y="4434840"/>
            <a:ext cx="210312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572000"/>
            <a:ext cx="1920239" cy="777240"/>
          </a:xfrm>
          <a:prstGeom prst="rect">
            <a:avLst/>
          </a:prstGeom>
          <a:noFill/>
        </p:spPr>
        <p:txBody>
          <a:bodyPr wrap="square" lIns="45720" rIns="45720" tIns="27432" bIns="27432" anchor="ctr">
            <a:spAutoFit/>
          </a:bodyPr>
          <a:lstStyle/>
          <a:p>
            <a:pPr algn="ctr"/>
            <a:r>
              <a:rPr sz="3000" b="1" i="0">
                <a:solidFill>
                  <a:srgbClr val="FFFFFF"/>
                </a:solidFill>
                <a:latin typeface="Calibri"/>
              </a:rPr>
              <a:t>$78M</a:t>
            </a:r>
          </a:p>
        </p:txBody>
      </p:sp>
      <p:sp>
        <p:nvSpPr>
          <p:cNvPr id="12" name="TextBox 11"/>
          <p:cNvSpPr txBox="1"/>
          <p:nvPr/>
        </p:nvSpPr>
        <p:spPr>
          <a:xfrm>
            <a:off x="685800" y="5289804"/>
            <a:ext cx="1828799" cy="652881"/>
          </a:xfrm>
          <a:prstGeom prst="rect">
            <a:avLst/>
          </a:prstGeom>
          <a:noFill/>
        </p:spPr>
        <p:txBody>
          <a:bodyPr wrap="square" lIns="45720" rIns="45720" tIns="27432" bIns="27432" anchor="t">
            <a:spAutoFit/>
          </a:bodyPr>
          <a:lstStyle/>
          <a:p>
            <a:pPr algn="ctr"/>
            <a:r>
              <a:rPr sz="1100" b="0" i="0">
                <a:solidFill>
                  <a:srgbClr val="CADCFC"/>
                </a:solidFill>
                <a:latin typeface="Calibri"/>
              </a:rPr>
              <a:t>spend over the launch period</a:t>
            </a:r>
          </a:p>
        </p:txBody>
      </p:sp>
      <p:sp>
        <p:nvSpPr>
          <p:cNvPr id="13" name="Rectangle 12"/>
          <p:cNvSpPr/>
          <p:nvPr/>
        </p:nvSpPr>
        <p:spPr>
          <a:xfrm>
            <a:off x="2788920" y="4434840"/>
            <a:ext cx="210312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0360" y="4572000"/>
            <a:ext cx="1920239" cy="777240"/>
          </a:xfrm>
          <a:prstGeom prst="rect">
            <a:avLst/>
          </a:prstGeom>
          <a:noFill/>
        </p:spPr>
        <p:txBody>
          <a:bodyPr wrap="square" lIns="45720" rIns="45720" tIns="27432" bIns="27432" anchor="ctr">
            <a:spAutoFit/>
          </a:bodyPr>
          <a:lstStyle/>
          <a:p>
            <a:pPr algn="ctr"/>
            <a:r>
              <a:rPr sz="2200" b="1" i="0">
                <a:solidFill>
                  <a:srgbClr val="FFFFFF"/>
                </a:solidFill>
                <a:latin typeface="Calibri"/>
              </a:rPr>
              <a:t>$26M / yr</a:t>
            </a:r>
          </a:p>
        </p:txBody>
      </p:sp>
      <p:sp>
        <p:nvSpPr>
          <p:cNvPr id="15" name="TextBox 14"/>
          <p:cNvSpPr txBox="1"/>
          <p:nvPr/>
        </p:nvSpPr>
        <p:spPr>
          <a:xfrm>
            <a:off x="2926079" y="5289804"/>
            <a:ext cx="1828799" cy="652881"/>
          </a:xfrm>
          <a:prstGeom prst="rect">
            <a:avLst/>
          </a:prstGeom>
          <a:noFill/>
        </p:spPr>
        <p:txBody>
          <a:bodyPr wrap="square" lIns="45720" rIns="45720" tIns="27432" bIns="27432" anchor="t">
            <a:spAutoFit/>
          </a:bodyPr>
          <a:lstStyle/>
          <a:p>
            <a:pPr algn="ctr"/>
            <a:r>
              <a:rPr sz="1100" b="0" i="0">
                <a:solidFill>
                  <a:srgbClr val="CADCFC"/>
                </a:solidFill>
                <a:latin typeface="Calibri"/>
              </a:rPr>
              <a:t>35% TV · 34% detailing · 18% digital · 12% conferences · 1% email</a:t>
            </a:r>
          </a:p>
        </p:txBody>
      </p:sp>
      <p:sp>
        <p:nvSpPr>
          <p:cNvPr id="16" name="Rectangle 15"/>
          <p:cNvSpPr/>
          <p:nvPr/>
        </p:nvSpPr>
        <p:spPr>
          <a:xfrm>
            <a:off x="5029200" y="4434840"/>
            <a:ext cx="2103120" cy="15544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4572000"/>
            <a:ext cx="1920239" cy="777240"/>
          </a:xfrm>
          <a:prstGeom prst="rect">
            <a:avLst/>
          </a:prstGeom>
          <a:noFill/>
        </p:spPr>
        <p:txBody>
          <a:bodyPr wrap="square" lIns="45720" rIns="45720" tIns="27432" bIns="27432" anchor="ctr">
            <a:spAutoFit/>
          </a:bodyPr>
          <a:lstStyle/>
          <a:p>
            <a:pPr algn="ctr"/>
            <a:r>
              <a:rPr sz="3000" b="1" i="0">
                <a:solidFill>
                  <a:srgbClr val="FFFFFF"/>
                </a:solidFill>
                <a:latin typeface="Calibri"/>
              </a:rPr>
              <a:t>1.62M</a:t>
            </a:r>
          </a:p>
        </p:txBody>
      </p:sp>
      <p:sp>
        <p:nvSpPr>
          <p:cNvPr id="18" name="TextBox 17"/>
          <p:cNvSpPr txBox="1"/>
          <p:nvPr/>
        </p:nvSpPr>
        <p:spPr>
          <a:xfrm>
            <a:off x="5166360" y="5289804"/>
            <a:ext cx="1828799" cy="652881"/>
          </a:xfrm>
          <a:prstGeom prst="rect">
            <a:avLst/>
          </a:prstGeom>
          <a:noFill/>
        </p:spPr>
        <p:txBody>
          <a:bodyPr wrap="square" lIns="45720" rIns="45720" tIns="27432" bIns="27432" anchor="t">
            <a:spAutoFit/>
          </a:bodyPr>
          <a:lstStyle/>
          <a:p>
            <a:pPr algn="ctr"/>
            <a:r>
              <a:rPr sz="1100" b="0" i="0">
                <a:solidFill>
                  <a:srgbClr val="CADCFC"/>
                </a:solidFill>
                <a:latin typeface="Calibri"/>
              </a:rPr>
              <a:t>TRx over 156 weeks</a:t>
            </a:r>
          </a:p>
        </p:txBody>
      </p:sp>
      <p:sp>
        <p:nvSpPr>
          <p:cNvPr id="19" name="TextBox 18"/>
          <p:cNvSpPr txBox="1"/>
          <p:nvPr/>
        </p:nvSpPr>
        <p:spPr>
          <a:xfrm>
            <a:off x="7406640" y="5486400"/>
            <a:ext cx="4206240" cy="822960"/>
          </a:xfrm>
          <a:prstGeom prst="rect">
            <a:avLst/>
          </a:prstGeom>
          <a:noFill/>
        </p:spPr>
        <p:txBody>
          <a:bodyPr wrap="square" lIns="45720" rIns="45720" tIns="27432" bIns="27432" anchor="t">
            <a:spAutoFit/>
          </a:bodyPr>
          <a:lstStyle/>
          <a:p>
            <a:pPr algn="l"/>
            <a:r>
              <a:rPr sz="1050" b="0" i="1">
                <a:solidFill>
                  <a:srgbClr val="666666"/>
                </a:solidFill>
                <a:latin typeface="Calibri"/>
              </a:rPr>
              <a:t>Detailing is steady, conferences are spikes, TV runs in 8-week flights, digital pulses and co-moves with TV, email is tiny. Each pattern is a different identification problem.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WHY NAIVE FAILS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Same-week spend vs. TRx: weak, and for detailing negative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Marketing does not 'not work'. The plot is wrong: carryover, saturation and the launch ramp are all missing.</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14 / 40</a:t>
            </a:r>
          </a:p>
        </p:txBody>
      </p:sp>
      <p:pic>
        <p:nvPicPr>
          <p:cNvPr id="8" name="Picture 7" descr="naive.png"/>
          <p:cNvPicPr>
            <a:picLocks noChangeAspect="1"/>
          </p:cNvPicPr>
          <p:nvPr/>
        </p:nvPicPr>
        <p:blipFill>
          <a:blip r:embed="rId2"/>
          <a:stretch>
            <a:fillRect/>
          </a:stretch>
        </p:blipFill>
        <p:spPr>
          <a:xfrm>
            <a:off x="548640" y="2011680"/>
            <a:ext cx="11064240" cy="2353936"/>
          </a:xfrm>
          <a:prstGeom prst="rect">
            <a:avLst/>
          </a:prstGeom>
        </p:spPr>
      </p:pic>
      <p:sp>
        <p:nvSpPr>
          <p:cNvPr id="9" name="TextBox 8"/>
          <p:cNvSpPr txBox="1"/>
          <p:nvPr/>
        </p:nvSpPr>
        <p:spPr>
          <a:xfrm>
            <a:off x="548640" y="4480560"/>
            <a:ext cx="11064240" cy="1737360"/>
          </a:xfrm>
          <a:prstGeom prst="rect">
            <a:avLst/>
          </a:prstGeom>
          <a:noFill/>
        </p:spPr>
        <p:txBody>
          <a:bodyPr wrap="square" lIns="45720" rIns="45720" tIns="27432" bIns="27432" anchor="t">
            <a:spAutoFit/>
          </a:bodyPr>
          <a:lstStyle/>
          <a:p>
            <a:pPr algn="l"/>
            <a:r>
              <a:rPr sz="1250" b="0" i="0">
                <a:solidFill>
                  <a:srgbClr val="333333"/>
                </a:solidFill>
                <a:latin typeface="Calibri"/>
              </a:rPr>
              <a:t>Detailing was trimmed in year 3 while TRx kept rising on its base and on the formulary win — so a same-week scatter says reps hurt sales. Every brand team has seen a slide like this presented as evidence.</a:t>
            </a:r>
          </a:p>
          <a:p>
            <a:pPr algn="l"/>
            <a:r>
              <a:rPr sz="1250" b="0" i="0">
                <a:solidFill>
                  <a:srgbClr val="333333"/>
                </a:solidFill>
                <a:latin typeface="Calibri"/>
              </a:rPr>
              <a:t>The fix is not a smarter scatter. It is the model on slide 8: transform the spend, control for what is not promotion, then read the coefficients.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CONTROLS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In pharma, the controls are the model</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Everything that moves TRx and is not promotion must be in the regression — or a channel will take the credit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15 / 40</a:t>
            </a:r>
          </a:p>
        </p:txBody>
      </p:sp>
      <p:graphicFrame>
        <p:nvGraphicFramePr>
          <p:cNvPr id="8" name="Table 7"/>
          <p:cNvGraphicFramePr>
            <a:graphicFrameLocks noGrp="1"/>
          </p:cNvGraphicFramePr>
          <p:nvPr/>
        </p:nvGraphicFramePr>
        <p:xfrm>
          <a:off x="548640" y="2057400"/>
          <a:ext cx="11064240" cy="3621024"/>
        </p:xfrm>
        <a:graphic>
          <a:graphicData uri="http://schemas.openxmlformats.org/drawingml/2006/table">
            <a:tbl>
              <a:tblPr firstRow="1" bandRow="1">
                <a:tableStyleId>{5C22544A-7EE6-4342-B048-85BDC9FD1C3A}</a:tableStyleId>
              </a:tblPr>
              <a:tblGrid>
                <a:gridCol w="1463040"/>
                <a:gridCol w="3291840"/>
                <a:gridCol w="2926080"/>
                <a:gridCol w="3383280"/>
              </a:tblGrid>
              <a:tr h="603504">
                <a:tc>
                  <a:txBody>
                    <a:bodyPr wrap="square"/>
                    <a:lstStyle/>
                    <a:p>
                      <a:r>
                        <a:rPr sz="1000" b="1">
                          <a:solidFill>
                            <a:srgbClr val="FFFFFF"/>
                          </a:solidFill>
                          <a:latin typeface="Calibri"/>
                        </a:rPr>
                        <a:t>Control</a:t>
                      </a:r>
                    </a:p>
                  </a:txBody>
                  <a:tcPr marL="54864" marR="54864" marT="27432" marB="27432">
                    <a:solidFill>
                      <a:srgbClr val="1E2761"/>
                    </a:solidFill>
                  </a:tcPr>
                </a:tc>
                <a:tc>
                  <a:txBody>
                    <a:bodyPr wrap="square"/>
                    <a:lstStyle/>
                    <a:p>
                      <a:r>
                        <a:rPr sz="1000" b="1">
                          <a:solidFill>
                            <a:srgbClr val="FFFFFF"/>
                          </a:solidFill>
                          <a:latin typeface="Calibri"/>
                        </a:rPr>
                        <a:t>Tonight's feature</a:t>
                      </a:r>
                    </a:p>
                  </a:txBody>
                  <a:tcPr marL="54864" marR="54864" marT="27432" marB="27432">
                    <a:solidFill>
                      <a:srgbClr val="1E2761"/>
                    </a:solidFill>
                  </a:tcPr>
                </a:tc>
                <a:tc>
                  <a:txBody>
                    <a:bodyPr wrap="square"/>
                    <a:lstStyle/>
                    <a:p>
                      <a:r>
                        <a:rPr sz="1000" b="1">
                          <a:solidFill>
                            <a:srgbClr val="FFFFFF"/>
                          </a:solidFill>
                          <a:latin typeface="Calibri"/>
                        </a:rPr>
                        <a:t>Why it is there</a:t>
                      </a:r>
                    </a:p>
                  </a:txBody>
                  <a:tcPr marL="54864" marR="54864" marT="27432" marB="27432">
                    <a:solidFill>
                      <a:srgbClr val="1E2761"/>
                    </a:solidFill>
                  </a:tcPr>
                </a:tc>
                <a:tc>
                  <a:txBody>
                    <a:bodyPr wrap="square"/>
                    <a:lstStyle/>
                    <a:p>
                      <a:r>
                        <a:rPr sz="1000" b="1">
                          <a:solidFill>
                            <a:srgbClr val="FFFFFF"/>
                          </a:solidFill>
                          <a:latin typeface="Calibri"/>
                        </a:rPr>
                        <a:t>What happens if you leave it out (from the notebook)</a:t>
                      </a:r>
                    </a:p>
                  </a:txBody>
                  <a:tcPr marL="54864" marR="54864" marT="27432" marB="27432">
                    <a:solidFill>
                      <a:srgbClr val="1E2761"/>
                    </a:solidFill>
                  </a:tcPr>
                </a:tc>
              </a:tr>
              <a:tr h="603504">
                <a:tc>
                  <a:txBody>
                    <a:bodyPr wrap="square"/>
                    <a:lstStyle/>
                    <a:p>
                      <a:r>
                        <a:rPr sz="1000" b="1">
                          <a:solidFill>
                            <a:srgbClr val="1E2761"/>
                          </a:solidFill>
                          <a:latin typeface="Calibri"/>
                        </a:rPr>
                        <a:t>Launch ramp</a:t>
                      </a:r>
                    </a:p>
                  </a:txBody>
                  <a:tcPr marL="54864" marR="54864" marT="27432" marB="27432">
                    <a:solidFill>
                      <a:srgbClr val="FFFFFF"/>
                    </a:solidFill>
                  </a:tcPr>
                </a:tc>
                <a:tc>
                  <a:txBody>
                    <a:bodyPr wrap="square"/>
                    <a:lstStyle/>
                    <a:p>
                      <a:r>
                        <a:rPr sz="1000" b="0">
                          <a:solidFill>
                            <a:srgbClr val="333333"/>
                          </a:solidFill>
                          <a:latin typeface="Calibri"/>
                        </a:rPr>
                        <a:t>Logistic in t; midpoint and scale searched by AIC (media-blind fit is biased upward by early marketing)</a:t>
                      </a:r>
                    </a:p>
                  </a:txBody>
                  <a:tcPr marL="54864" marR="54864" marT="27432" marB="27432">
                    <a:solidFill>
                      <a:srgbClr val="FFFFFF"/>
                    </a:solidFill>
                  </a:tcPr>
                </a:tc>
                <a:tc>
                  <a:txBody>
                    <a:bodyPr wrap="square"/>
                    <a:lstStyle/>
                    <a:p>
                      <a:r>
                        <a:rPr sz="1000" b="0">
                          <a:solidFill>
                            <a:srgbClr val="333333"/>
                          </a:solidFill>
                          <a:latin typeface="Calibri"/>
                        </a:rPr>
                        <a:t>New brands grow on their own: awareness, formulary wins, refills accumulating</a:t>
                      </a:r>
                    </a:p>
                  </a:txBody>
                  <a:tcPr marL="54864" marR="54864" marT="27432" marB="27432">
                    <a:solidFill>
                      <a:srgbClr val="FFFFFF"/>
                    </a:solidFill>
                  </a:tcPr>
                </a:tc>
                <a:tc>
                  <a:txBody>
                    <a:bodyPr wrap="square"/>
                    <a:lstStyle/>
                    <a:p>
                      <a:r>
                        <a:rPr sz="1000" b="0">
                          <a:solidFill>
                            <a:srgbClr val="333333"/>
                          </a:solidFill>
                          <a:latin typeface="Calibri"/>
                        </a:rPr>
                        <a:t>Channels that grew with the brand (digital) become the ramp</a:t>
                      </a:r>
                    </a:p>
                  </a:txBody>
                  <a:tcPr marL="54864" marR="54864" marT="27432" marB="27432">
                    <a:solidFill>
                      <a:srgbClr val="FFFFFF"/>
                    </a:solidFill>
                  </a:tcPr>
                </a:tc>
              </a:tr>
              <a:tr h="603504">
                <a:tc>
                  <a:txBody>
                    <a:bodyPr wrap="square"/>
                    <a:lstStyle/>
                    <a:p>
                      <a:r>
                        <a:rPr sz="1000" b="1">
                          <a:solidFill>
                            <a:srgbClr val="1E2761"/>
                          </a:solidFill>
                          <a:latin typeface="Calibri"/>
                        </a:rPr>
                        <a:t>Seasonality</a:t>
                      </a:r>
                    </a:p>
                  </a:txBody>
                  <a:tcPr marL="54864" marR="54864" marT="27432" marB="27432">
                    <a:solidFill>
                      <a:srgbClr val="F3F6FC"/>
                    </a:solidFill>
                  </a:tcPr>
                </a:tc>
                <a:tc>
                  <a:txBody>
                    <a:bodyPr wrap="square"/>
                    <a:lstStyle/>
                    <a:p>
                      <a:r>
                        <a:rPr sz="1000" b="0">
                          <a:solidFill>
                            <a:srgbClr val="333333"/>
                          </a:solidFill>
                          <a:latin typeface="Calibri"/>
                        </a:rPr>
                        <a:t>Annual sine + cosine</a:t>
                      </a:r>
                    </a:p>
                  </a:txBody>
                  <a:tcPr marL="54864" marR="54864" marT="27432" marB="27432">
                    <a:solidFill>
                      <a:srgbClr val="F3F6FC"/>
                    </a:solidFill>
                  </a:tcPr>
                </a:tc>
                <a:tc>
                  <a:txBody>
                    <a:bodyPr wrap="square"/>
                    <a:lstStyle/>
                    <a:p>
                      <a:r>
                        <a:rPr sz="1000" b="0">
                          <a:solidFill>
                            <a:srgbClr val="333333"/>
                          </a:solidFill>
                          <a:latin typeface="Calibri"/>
                        </a:rPr>
                        <a:t>Deductible resets, refill timing, flu season in some categories</a:t>
                      </a:r>
                    </a:p>
                  </a:txBody>
                  <a:tcPr marL="54864" marR="54864" marT="27432" marB="27432">
                    <a:solidFill>
                      <a:srgbClr val="F3F6FC"/>
                    </a:solidFill>
                  </a:tcPr>
                </a:tc>
                <a:tc>
                  <a:txBody>
                    <a:bodyPr wrap="square"/>
                    <a:lstStyle/>
                    <a:p>
                      <a:r>
                        <a:rPr sz="1000" b="0">
                          <a:solidFill>
                            <a:srgbClr val="333333"/>
                          </a:solidFill>
                          <a:latin typeface="Calibri"/>
                        </a:rPr>
                        <a:t>A channel that spends in Q1 gets the January bump</a:t>
                      </a:r>
                    </a:p>
                  </a:txBody>
                  <a:tcPr marL="54864" marR="54864" marT="27432" marB="27432">
                    <a:solidFill>
                      <a:srgbClr val="F3F6FC"/>
                    </a:solidFill>
                  </a:tcPr>
                </a:tc>
              </a:tr>
              <a:tr h="603504">
                <a:tc>
                  <a:txBody>
                    <a:bodyPr wrap="square"/>
                    <a:lstStyle/>
                    <a:p>
                      <a:r>
                        <a:rPr sz="1000" b="1">
                          <a:solidFill>
                            <a:srgbClr val="1E2761"/>
                          </a:solidFill>
                          <a:latin typeface="Calibri"/>
                        </a:rPr>
                        <a:t>Competitor launch</a:t>
                      </a:r>
                    </a:p>
                  </a:txBody>
                  <a:tcPr marL="54864" marR="54864" marT="27432" marB="27432">
                    <a:solidFill>
                      <a:srgbClr val="FFFFFF"/>
                    </a:solidFill>
                  </a:tcPr>
                </a:tc>
                <a:tc>
                  <a:txBody>
                    <a:bodyPr wrap="square"/>
                    <a:lstStyle/>
                    <a:p>
                      <a:r>
                        <a:rPr sz="1000" b="0">
                          <a:solidFill>
                            <a:srgbClr val="333333"/>
                          </a:solidFill>
                          <a:latin typeface="Calibri"/>
                        </a:rPr>
                        <a:t>0/1 from week 90</a:t>
                      </a:r>
                    </a:p>
                  </a:txBody>
                  <a:tcPr marL="54864" marR="54864" marT="27432" marB="27432">
                    <a:solidFill>
                      <a:srgbClr val="FFFFFF"/>
                    </a:solidFill>
                  </a:tcPr>
                </a:tc>
                <a:tc>
                  <a:txBody>
                    <a:bodyPr wrap="square"/>
                    <a:lstStyle/>
                    <a:p>
                      <a:r>
                        <a:rPr sz="1000" b="0">
                          <a:solidFill>
                            <a:srgbClr val="333333"/>
                          </a:solidFill>
                          <a:latin typeface="Calibri"/>
                        </a:rPr>
                        <a:t>Share loss that has nothing to do with our spend</a:t>
                      </a:r>
                    </a:p>
                  </a:txBody>
                  <a:tcPr marL="54864" marR="54864" marT="27432" marB="27432">
                    <a:solidFill>
                      <a:srgbClr val="FFFFFF"/>
                    </a:solidFill>
                  </a:tcPr>
                </a:tc>
                <a:tc>
                  <a:txBody>
                    <a:bodyPr wrap="square"/>
                    <a:lstStyle/>
                    <a:p>
                      <a:r>
                        <a:rPr sz="1000" b="0">
                          <a:solidFill>
                            <a:srgbClr val="333333"/>
                          </a:solidFill>
                          <a:latin typeface="Calibri"/>
                        </a:rPr>
                        <a:t>The channels cut after the launch look ineffective</a:t>
                      </a:r>
                    </a:p>
                  </a:txBody>
                  <a:tcPr marL="54864" marR="54864" marT="27432" marB="27432">
                    <a:solidFill>
                      <a:srgbClr val="FFFFFF"/>
                    </a:solidFill>
                  </a:tcPr>
                </a:tc>
              </a:tr>
              <a:tr h="603504">
                <a:tc>
                  <a:txBody>
                    <a:bodyPr wrap="square"/>
                    <a:lstStyle/>
                    <a:p>
                      <a:r>
                        <a:rPr sz="1000" b="1">
                          <a:solidFill>
                            <a:srgbClr val="1E2761"/>
                          </a:solidFill>
                          <a:latin typeface="Calibri"/>
                        </a:rPr>
                        <a:t>Formulary access</a:t>
                      </a:r>
                    </a:p>
                  </a:txBody>
                  <a:tcPr marL="54864" marR="54864" marT="27432" marB="27432">
                    <a:solidFill>
                      <a:srgbClr val="F3F6FC"/>
                    </a:solidFill>
                  </a:tcPr>
                </a:tc>
                <a:tc>
                  <a:txBody>
                    <a:bodyPr wrap="square"/>
                    <a:lstStyle/>
                    <a:p>
                      <a:r>
                        <a:rPr sz="1000" b="0">
                          <a:solidFill>
                            <a:srgbClr val="333333"/>
                          </a:solidFill>
                          <a:latin typeface="Calibri"/>
                        </a:rPr>
                        <a:t>Share of lives with preferred status (0.38 → 0.61 at week 118)</a:t>
                      </a:r>
                    </a:p>
                  </a:txBody>
                  <a:tcPr marL="54864" marR="54864" marT="27432" marB="27432">
                    <a:solidFill>
                      <a:srgbClr val="F3F6FC"/>
                    </a:solidFill>
                  </a:tcPr>
                </a:tc>
                <a:tc>
                  <a:txBody>
                    <a:bodyPr wrap="square"/>
                    <a:lstStyle/>
                    <a:p>
                      <a:r>
                        <a:rPr sz="1000" b="0">
                          <a:solidFill>
                            <a:srgbClr val="333333"/>
                          </a:solidFill>
                          <a:latin typeface="Calibri"/>
                        </a:rPr>
                        <a:t>Week 1: the payer decides whether the script fills</a:t>
                      </a:r>
                    </a:p>
                  </a:txBody>
                  <a:tcPr marL="54864" marR="54864" marT="27432" marB="27432">
                    <a:solidFill>
                      <a:srgbClr val="F3F6FC"/>
                    </a:solidFill>
                  </a:tcPr>
                </a:tc>
                <a:tc>
                  <a:txBody>
                    <a:bodyPr wrap="square"/>
                    <a:lstStyle/>
                    <a:p>
                      <a:r>
                        <a:rPr sz="1000" b="0">
                          <a:solidFill>
                            <a:srgbClr val="333333"/>
                          </a:solidFill>
                          <a:latin typeface="Calibri"/>
                        </a:rPr>
                        <a:t>Competitor coefficient halves; detailing loses 18% of its credit; AIC worse by 79</a:t>
                      </a:r>
                    </a:p>
                  </a:txBody>
                  <a:tcPr marL="54864" marR="54864" marT="27432" marB="27432">
                    <a:solidFill>
                      <a:srgbClr val="F3F6FC"/>
                    </a:solidFill>
                  </a:tcPr>
                </a:tc>
              </a:tr>
              <a:tr h="603504">
                <a:tc>
                  <a:txBody>
                    <a:bodyPr wrap="square"/>
                    <a:lstStyle/>
                    <a:p>
                      <a:r>
                        <a:rPr sz="1000" b="1">
                          <a:solidFill>
                            <a:srgbClr val="1E2761"/>
                          </a:solidFill>
                          <a:latin typeface="Calibri"/>
                        </a:rPr>
                        <a:t>Not modeled tonight</a:t>
                      </a:r>
                    </a:p>
                  </a:txBody>
                  <a:tcPr marL="54864" marR="54864" marT="27432" marB="27432">
                    <a:solidFill>
                      <a:srgbClr val="FFFFFF"/>
                    </a:solidFill>
                  </a:tcPr>
                </a:tc>
                <a:tc>
                  <a:txBody>
                    <a:bodyPr wrap="square"/>
                    <a:lstStyle/>
                    <a:p>
                      <a:r>
                        <a:rPr sz="1000" b="0">
                          <a:solidFill>
                            <a:srgbClr val="333333"/>
                          </a:solidFill>
                          <a:latin typeface="Calibri"/>
                        </a:rPr>
                        <a:t>Copay program, samples, price changes, MLR content cycles, panel restatements</a:t>
                      </a:r>
                    </a:p>
                  </a:txBody>
                  <a:tcPr marL="54864" marR="54864" marT="27432" marB="27432">
                    <a:solidFill>
                      <a:srgbClr val="FFFFFF"/>
                    </a:solidFill>
                  </a:tcPr>
                </a:tc>
                <a:tc>
                  <a:txBody>
                    <a:bodyPr wrap="square"/>
                    <a:lstStyle/>
                    <a:p>
                      <a:r>
                        <a:rPr sz="1000" b="0">
                          <a:solidFill>
                            <a:srgbClr val="333333"/>
                          </a:solidFill>
                          <a:latin typeface="Calibri"/>
                        </a:rPr>
                        <a:t>Each is a real driver; name them in the memo</a:t>
                      </a:r>
                    </a:p>
                  </a:txBody>
                  <a:tcPr marL="54864" marR="54864" marT="27432" marB="27432">
                    <a:solidFill>
                      <a:srgbClr val="FFFFFF"/>
                    </a:solidFill>
                  </a:tcPr>
                </a:tc>
                <a:tc>
                  <a:txBody>
                    <a:bodyPr wrap="square"/>
                    <a:lstStyle/>
                    <a:p>
                      <a:r>
                        <a:rPr sz="1000" b="0">
                          <a:solidFill>
                            <a:srgbClr val="333333"/>
                          </a:solidFill>
                          <a:latin typeface="Calibri"/>
                        </a:rPr>
                        <a:t>They land in the residual — inspect it</a:t>
                      </a:r>
                    </a:p>
                  </a:txBody>
                  <a:tcPr marL="54864" marR="54864" marT="27432" marB="2743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THE RECIPE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OLS recipe — six steps, in order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order matters: controls before channels, diagnostics before decomposition, decomposition before ROI</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16 / 40</a:t>
            </a:r>
          </a:p>
        </p:txBody>
      </p:sp>
      <p:sp>
        <p:nvSpPr>
          <p:cNvPr id="8" name="Rectangle 7"/>
          <p:cNvSpPr/>
          <p:nvPr/>
        </p:nvSpPr>
        <p:spPr>
          <a:xfrm>
            <a:off x="548640"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0" name="TextBox 9"/>
          <p:cNvSpPr txBox="1"/>
          <p:nvPr/>
        </p:nvSpPr>
        <p:spPr>
          <a:xfrm>
            <a:off x="1143000" y="2231136"/>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Engineer the controls</a:t>
            </a:r>
          </a:p>
        </p:txBody>
      </p:sp>
      <p:sp>
        <p:nvSpPr>
          <p:cNvPr id="11" name="TextBox 10"/>
          <p:cNvSpPr txBox="1"/>
          <p:nvPr/>
        </p:nvSpPr>
        <p:spPr>
          <a:xfrm>
            <a:off x="685800" y="2724912"/>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Ramp, season, competitor, access. Fit the ramp media-blind first, then let AIC refine it.</a:t>
            </a:r>
          </a:p>
        </p:txBody>
      </p:sp>
      <p:sp>
        <p:nvSpPr>
          <p:cNvPr id="12" name="Rectangle 11"/>
          <p:cNvSpPr/>
          <p:nvPr/>
        </p:nvSpPr>
        <p:spPr>
          <a:xfrm>
            <a:off x="4297679"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4" name="TextBox 13"/>
          <p:cNvSpPr txBox="1"/>
          <p:nvPr/>
        </p:nvSpPr>
        <p:spPr>
          <a:xfrm>
            <a:off x="4892040" y="2231136"/>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Bound the grid with knowledge</a:t>
            </a:r>
          </a:p>
        </p:txBody>
      </p:sp>
      <p:sp>
        <p:nvSpPr>
          <p:cNvPr id="15" name="TextBox 14"/>
          <p:cNvSpPr txBox="1"/>
          <p:nvPr/>
        </p:nvSpPr>
        <p:spPr>
          <a:xfrm>
            <a:off x="4434840" y="2724912"/>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δ ranges per channel (TV 0.4–0.7, email ≤ 0.25) — the OLS analogue of a prior. K as a multiple of median adstocked spend; s ∈ {1 … 2.5}.</a:t>
            </a:r>
          </a:p>
        </p:txBody>
      </p:sp>
      <p:sp>
        <p:nvSpPr>
          <p:cNvPr id="16" name="Rectangle 15"/>
          <p:cNvSpPr/>
          <p:nvPr/>
        </p:nvSpPr>
        <p:spPr>
          <a:xfrm>
            <a:off x="8046719"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79" y="2240279"/>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18" name="TextBox 17"/>
          <p:cNvSpPr txBox="1"/>
          <p:nvPr/>
        </p:nvSpPr>
        <p:spPr>
          <a:xfrm>
            <a:off x="8641080" y="2231136"/>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Search, one channel at a time</a:t>
            </a:r>
          </a:p>
        </p:txBody>
      </p:sp>
      <p:sp>
        <p:nvSpPr>
          <p:cNvPr id="19" name="TextBox 18"/>
          <p:cNvSpPr txBox="1"/>
          <p:nvPr/>
        </p:nvSpPr>
        <p:spPr>
          <a:xfrm>
            <a:off x="8183879" y="2724912"/>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Coordinate descent on AIC, two or three sweeps; ramp parameters in between. ~1,000 OLS fits, seconds.</a:t>
            </a:r>
          </a:p>
        </p:txBody>
      </p:sp>
      <p:sp>
        <p:nvSpPr>
          <p:cNvPr id="20" name="Rectangle 19"/>
          <p:cNvSpPr/>
          <p:nvPr/>
        </p:nvSpPr>
        <p:spPr>
          <a:xfrm>
            <a:off x="548640"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85800" y="43434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4</a:t>
            </a:r>
          </a:p>
        </p:txBody>
      </p:sp>
      <p:sp>
        <p:nvSpPr>
          <p:cNvPr id="22" name="TextBox 21"/>
          <p:cNvSpPr txBox="1"/>
          <p:nvPr/>
        </p:nvSpPr>
        <p:spPr>
          <a:xfrm>
            <a:off x="1143000" y="4334255"/>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Diagnose</a:t>
            </a:r>
          </a:p>
        </p:txBody>
      </p:sp>
      <p:sp>
        <p:nvSpPr>
          <p:cNvPr id="23" name="TextBox 22"/>
          <p:cNvSpPr txBox="1"/>
          <p:nvPr/>
        </p:nvSpPr>
        <p:spPr>
          <a:xfrm>
            <a:off x="685800" y="4828031"/>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Residuals (Durbin–Watson), VIF, signs, hold-out MAPE. Fix the data or the controls; never keep a negative media coefficient.</a:t>
            </a:r>
          </a:p>
        </p:txBody>
      </p:sp>
      <p:sp>
        <p:nvSpPr>
          <p:cNvPr id="24" name="Rectangle 23"/>
          <p:cNvSpPr/>
          <p:nvPr/>
        </p:nvSpPr>
        <p:spPr>
          <a:xfrm>
            <a:off x="4297679"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434840" y="43434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5</a:t>
            </a:r>
          </a:p>
        </p:txBody>
      </p:sp>
      <p:sp>
        <p:nvSpPr>
          <p:cNvPr id="26" name="TextBox 25"/>
          <p:cNvSpPr txBox="1"/>
          <p:nvPr/>
        </p:nvSpPr>
        <p:spPr>
          <a:xfrm>
            <a:off x="4892040" y="4334255"/>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Decompose</a:t>
            </a:r>
          </a:p>
        </p:txBody>
      </p:sp>
      <p:sp>
        <p:nvSpPr>
          <p:cNvPr id="27" name="TextBox 26"/>
          <p:cNvSpPr txBox="1"/>
          <p:nvPr/>
        </p:nvSpPr>
        <p:spPr>
          <a:xfrm>
            <a:off x="4434840" y="4828031"/>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β_c × Hill(Adstock) per week, stacked on the base. This is the chart leadership wants.</a:t>
            </a:r>
          </a:p>
        </p:txBody>
      </p:sp>
      <p:sp>
        <p:nvSpPr>
          <p:cNvPr id="28" name="Rectangle 27"/>
          <p:cNvSpPr/>
          <p:nvPr/>
        </p:nvSpPr>
        <p:spPr>
          <a:xfrm>
            <a:off x="8046719"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83879" y="43434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6</a:t>
            </a:r>
          </a:p>
        </p:txBody>
      </p:sp>
      <p:sp>
        <p:nvSpPr>
          <p:cNvPr id="30" name="TextBox 29"/>
          <p:cNvSpPr txBox="1"/>
          <p:nvPr/>
        </p:nvSpPr>
        <p:spPr>
          <a:xfrm>
            <a:off x="8641080" y="4334255"/>
            <a:ext cx="2834640" cy="411480"/>
          </a:xfrm>
          <a:prstGeom prst="rect">
            <a:avLst/>
          </a:prstGeom>
          <a:noFill/>
        </p:spPr>
        <p:txBody>
          <a:bodyPr wrap="square" lIns="45720" rIns="45720" tIns="27432" bIns="27432" anchor="ctr">
            <a:spAutoFit/>
          </a:bodyPr>
          <a:lstStyle/>
          <a:p>
            <a:pPr algn="l"/>
            <a:r>
              <a:rPr sz="1300" b="1" i="0">
                <a:solidFill>
                  <a:srgbClr val="1E2761"/>
                </a:solidFill>
                <a:latin typeface="Calibri"/>
              </a:rPr>
              <a:t>ROI with ranges</a:t>
            </a:r>
          </a:p>
        </p:txBody>
      </p:sp>
      <p:sp>
        <p:nvSpPr>
          <p:cNvPr id="31" name="TextBox 30"/>
          <p:cNvSpPr txBox="1"/>
          <p:nvPr/>
        </p:nvSpPr>
        <p:spPr>
          <a:xfrm>
            <a:off x="8183879" y="4828031"/>
            <a:ext cx="3291840" cy="1280160"/>
          </a:xfrm>
          <a:prstGeom prst="rect">
            <a:avLst/>
          </a:prstGeom>
          <a:noFill/>
        </p:spPr>
        <p:txBody>
          <a:bodyPr wrap="square" lIns="45720" rIns="45720" tIns="27432" bIns="27432" anchor="t">
            <a:spAutoFit/>
          </a:bodyPr>
          <a:lstStyle/>
          <a:p>
            <a:pPr algn="l"/>
            <a:r>
              <a:rPr sz="1050" b="0" i="0">
                <a:solidFill>
                  <a:srgbClr val="333333"/>
                </a:solidFill>
                <a:latin typeface="Calibri"/>
              </a:rPr>
              <a:t>Average and marginal per channel; block-bootstrap the coefficients; re-run the runner-up grid cells; then reallocate.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HYPERPARAMETERS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Where δ, K and s come from — grid search now, priors later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They are non-linear in the loss; OLS cannot solve them. Two honest ways to get them.</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17 / 40</a:t>
            </a:r>
          </a:p>
        </p:txBody>
      </p:sp>
      <p:sp>
        <p:nvSpPr>
          <p:cNvPr id="8" name="Rectangle 7"/>
          <p:cNvSpPr/>
          <p:nvPr/>
        </p:nvSpPr>
        <p:spPr>
          <a:xfrm>
            <a:off x="548640" y="2103120"/>
            <a:ext cx="5394960" cy="32918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Grid search (tonight)</a:t>
            </a:r>
          </a:p>
        </p:txBody>
      </p:sp>
      <p:sp>
        <p:nvSpPr>
          <p:cNvPr id="10" name="TextBox 9"/>
          <p:cNvSpPr txBox="1"/>
          <p:nvPr/>
        </p:nvSpPr>
        <p:spPr>
          <a:xfrm>
            <a:off x="658368" y="2596896"/>
            <a:ext cx="5166360" cy="270662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How: </a:t>
            </a:r>
            <a:r>
              <a:rPr sz="1100">
                <a:solidFill>
                  <a:srgbClr val="333333"/>
                </a:solidFill>
                <a:latin typeface="Calibri"/>
              </a:rPr>
              <a:t>for each channel, try every (δ, K, s) on a coarse grid with the other channels fixed; keep the AIC-minimizing cell; sweep again.</a:t>
            </a:r>
          </a:p>
          <a:p>
            <a:pPr>
              <a:spcAft>
                <a:spcPts val="500"/>
              </a:spcAft>
            </a:pPr>
            <a:r>
              <a:rPr sz="1100" b="1">
                <a:solidFill>
                  <a:srgbClr val="FF6B6B"/>
                </a:solidFill>
                <a:latin typeface="Calibri"/>
              </a:rPr>
              <a:t>▸ </a:t>
            </a:r>
            <a:r>
              <a:rPr b="1" sz="1100">
                <a:solidFill>
                  <a:srgbClr val="1E2761"/>
                </a:solidFill>
                <a:latin typeface="Calibri"/>
              </a:rPr>
              <a:t>Pros: </a:t>
            </a:r>
            <a:r>
              <a:rPr sz="1100">
                <a:solidFill>
                  <a:srgbClr val="333333"/>
                </a:solidFill>
                <a:latin typeface="Calibri"/>
              </a:rPr>
              <a:t>fast, transparent, easy to explain to a brand team; no sampler to debug.</a:t>
            </a:r>
          </a:p>
          <a:p>
            <a:pPr>
              <a:spcAft>
                <a:spcPts val="500"/>
              </a:spcAft>
            </a:pPr>
            <a:r>
              <a:rPr sz="1100" b="1">
                <a:solidFill>
                  <a:srgbClr val="FF6B6B"/>
                </a:solidFill>
                <a:latin typeface="Calibri"/>
              </a:rPr>
              <a:t>▸ </a:t>
            </a:r>
            <a:r>
              <a:rPr b="1" sz="1100">
                <a:solidFill>
                  <a:srgbClr val="1E2761"/>
                </a:solidFill>
                <a:latin typeface="Calibri"/>
              </a:rPr>
              <a:t>Cons: </a:t>
            </a:r>
            <a:r>
              <a:rPr sz="1100">
                <a:solidFill>
                  <a:srgbClr val="333333"/>
                </a:solidFill>
                <a:latin typeface="Calibri"/>
              </a:rPr>
              <a:t>no uncertainty on the winner; neighbouring cells within 2 AIC are indistinguishable and can imply different ROI (notebook §5c: detailing δ 0.40 vs 0.25, ROI 1.88 vs 1.76).</a:t>
            </a:r>
          </a:p>
          <a:p>
            <a:pPr>
              <a:spcAft>
                <a:spcPts val="500"/>
              </a:spcAft>
            </a:pPr>
            <a:r>
              <a:rPr sz="1100" b="1">
                <a:solidFill>
                  <a:srgbClr val="FF6B6B"/>
                </a:solidFill>
                <a:latin typeface="Calibri"/>
              </a:rPr>
              <a:t>▸ </a:t>
            </a:r>
            <a:r>
              <a:rPr b="1" sz="1100">
                <a:solidFill>
                  <a:srgbClr val="1E2761"/>
                </a:solidFill>
                <a:latin typeface="Calibri"/>
              </a:rPr>
              <a:t>Rule: </a:t>
            </a:r>
            <a:r>
              <a:rPr sz="1100">
                <a:solidFill>
                  <a:srgbClr val="333333"/>
                </a:solidFill>
                <a:latin typeface="Calibri"/>
              </a:rPr>
              <a:t>bound the grid with channel knowledge; report the runner-up cells.</a:t>
            </a:r>
          </a:p>
        </p:txBody>
      </p:sp>
      <p:sp>
        <p:nvSpPr>
          <p:cNvPr id="11" name="Rectangle 10"/>
          <p:cNvSpPr/>
          <p:nvPr/>
        </p:nvSpPr>
        <p:spPr>
          <a:xfrm>
            <a:off x="6217920" y="2103120"/>
            <a:ext cx="5394960" cy="32918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Bayesian priors (section 4)</a:t>
            </a:r>
          </a:p>
        </p:txBody>
      </p:sp>
      <p:sp>
        <p:nvSpPr>
          <p:cNvPr id="13" name="TextBox 12"/>
          <p:cNvSpPr txBox="1"/>
          <p:nvPr/>
        </p:nvSpPr>
        <p:spPr>
          <a:xfrm>
            <a:off x="6327648" y="2596896"/>
            <a:ext cx="5166360" cy="270662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How: </a:t>
            </a:r>
            <a:r>
              <a:rPr sz="1100">
                <a:solidFill>
                  <a:srgbClr val="333333"/>
                </a:solidFill>
                <a:latin typeface="Calibri"/>
              </a:rPr>
              <a:t>Beta(2,2) on δ, log-normal on K, gamma on s, half-normal on β; MCMC gives posteriors on everything, including ROI.</a:t>
            </a:r>
          </a:p>
          <a:p>
            <a:pPr>
              <a:spcAft>
                <a:spcPts val="500"/>
              </a:spcAft>
            </a:pPr>
            <a:r>
              <a:rPr sz="1100" b="1">
                <a:solidFill>
                  <a:srgbClr val="FF6B6B"/>
                </a:solidFill>
                <a:latin typeface="Calibri"/>
              </a:rPr>
              <a:t>▸ </a:t>
            </a:r>
            <a:r>
              <a:rPr b="1" sz="1100">
                <a:solidFill>
                  <a:srgbClr val="1E2761"/>
                </a:solidFill>
                <a:latin typeface="Calibri"/>
              </a:rPr>
              <a:t>Pros: </a:t>
            </a:r>
            <a:r>
              <a:rPr sz="1100">
                <a:solidFill>
                  <a:srgbClr val="333333"/>
                </a:solidFill>
                <a:latin typeface="Calibri"/>
              </a:rPr>
              <a:t>credible intervals for free; priors can encode a geo-lift result or last year's model; answers 'P(ROI_A &gt; ROI_B)' directly.</a:t>
            </a:r>
          </a:p>
          <a:p>
            <a:pPr>
              <a:spcAft>
                <a:spcPts val="500"/>
              </a:spcAft>
            </a:pPr>
            <a:r>
              <a:rPr sz="1100" b="1">
                <a:solidFill>
                  <a:srgbClr val="FF6B6B"/>
                </a:solidFill>
                <a:latin typeface="Calibri"/>
              </a:rPr>
              <a:t>▸ </a:t>
            </a:r>
            <a:r>
              <a:rPr b="1" sz="1100">
                <a:solidFill>
                  <a:srgbClr val="1E2761"/>
                </a:solidFill>
                <a:latin typeface="Calibri"/>
              </a:rPr>
              <a:t>Cons: </a:t>
            </a:r>
            <a:r>
              <a:rPr sz="1100">
                <a:solidFill>
                  <a:srgbClr val="333333"/>
                </a:solidFill>
                <a:latin typeface="Calibri"/>
              </a:rPr>
              <a:t>minutes of sampling, harder to debug, and priors you must be able to defend in a room.</a:t>
            </a:r>
          </a:p>
          <a:p>
            <a:pPr>
              <a:spcAft>
                <a:spcPts val="500"/>
              </a:spcAft>
            </a:pPr>
            <a:r>
              <a:rPr sz="1100" b="1">
                <a:solidFill>
                  <a:srgbClr val="FF6B6B"/>
                </a:solidFill>
                <a:latin typeface="Calibri"/>
              </a:rPr>
              <a:t>▸ </a:t>
            </a:r>
            <a:r>
              <a:rPr b="1" sz="1100">
                <a:solidFill>
                  <a:srgbClr val="1E2761"/>
                </a:solidFill>
                <a:latin typeface="Calibri"/>
              </a:rPr>
              <a:t>Practice: </a:t>
            </a:r>
            <a:r>
              <a:rPr sz="1100">
                <a:solidFill>
                  <a:srgbClr val="333333"/>
                </a:solidFill>
                <a:latin typeface="Calibri"/>
              </a:rPr>
              <a:t>OLS for v1 ('is there a signal?'), Bayesian for v2 ('how sure, and what should we do?').</a:t>
            </a:r>
          </a:p>
        </p:txBody>
      </p:sp>
      <p:sp>
        <p:nvSpPr>
          <p:cNvPr id="14" name="Rectangle 13"/>
          <p:cNvSpPr/>
          <p:nvPr/>
        </p:nvSpPr>
        <p:spPr>
          <a:xfrm>
            <a:off x="548640" y="5577840"/>
            <a:ext cx="11064240" cy="6858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623560"/>
            <a:ext cx="10698480" cy="594360"/>
          </a:xfrm>
          <a:prstGeom prst="rect">
            <a:avLst/>
          </a:prstGeom>
          <a:noFill/>
        </p:spPr>
        <p:txBody>
          <a:bodyPr wrap="square" lIns="45720" rIns="45720" tIns="27432" bIns="27432" anchor="t">
            <a:spAutoFit/>
          </a:bodyPr>
          <a:lstStyle/>
          <a:p>
            <a:pPr algn="l"/>
            <a:r>
              <a:rPr sz="1050" b="0" i="0">
                <a:solidFill>
                  <a:srgbClr val="1E2761"/>
                </a:solidFill>
                <a:latin typeface="Calibri"/>
              </a:rPr>
              <a:t>Tonight's winners: detailing δ 0.40 · K 1.5× · s 2.0 | conferences 0.55 · 8× · 2.5 | digital 0.25 · 1× · 1.0 | email 0.10 · 0.5× · 1.0 | DTC TV 0.70 · 1.5× · 2.0.  The generating model used δ = 0.55 / 0.35 / 0.25 / 0.10 / 0.65.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DIAGNOSTICS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Diagnostics — what stops you from shipping a wrong model</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From the notebook: R² 0.994 · Durbin–Watson 1.45 (mild positive autocorrelation — the ramped competitor effect is modeled as a step) · every VIF &lt; 2.6 · hold-out MAPE 4.9%</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18 / 40</a:t>
            </a:r>
          </a:p>
        </p:txBody>
      </p:sp>
      <p:pic>
        <p:nvPicPr>
          <p:cNvPr id="8" name="Picture 7" descr="diag.png"/>
          <p:cNvPicPr>
            <a:picLocks noChangeAspect="1"/>
          </p:cNvPicPr>
          <p:nvPr/>
        </p:nvPicPr>
        <p:blipFill>
          <a:blip r:embed="rId2"/>
          <a:stretch>
            <a:fillRect/>
          </a:stretch>
        </p:blipFill>
        <p:spPr>
          <a:xfrm>
            <a:off x="548640" y="2011680"/>
            <a:ext cx="11064240" cy="2296071"/>
          </a:xfrm>
          <a:prstGeom prst="rect">
            <a:avLst/>
          </a:prstGeom>
        </p:spPr>
      </p:pic>
      <p:sp>
        <p:nvSpPr>
          <p:cNvPr id="9" name="Rectangle 8"/>
          <p:cNvSpPr/>
          <p:nvPr/>
        </p:nvSpPr>
        <p:spPr>
          <a:xfrm>
            <a:off x="548640" y="4526280"/>
            <a:ext cx="2651760" cy="17830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636008"/>
            <a:ext cx="2377440" cy="365760"/>
          </a:xfrm>
          <a:prstGeom prst="rect">
            <a:avLst/>
          </a:prstGeom>
          <a:noFill/>
        </p:spPr>
        <p:txBody>
          <a:bodyPr wrap="square" lIns="45720" rIns="45720" tIns="27432" bIns="27432" anchor="t">
            <a:spAutoFit/>
          </a:bodyPr>
          <a:lstStyle/>
          <a:p>
            <a:pPr algn="l"/>
            <a:r>
              <a:rPr sz="1400" b="1" i="0">
                <a:solidFill>
                  <a:srgbClr val="1E2761"/>
                </a:solidFill>
                <a:latin typeface="Calibri"/>
              </a:rPr>
              <a:t>Residuals</a:t>
            </a:r>
          </a:p>
        </p:txBody>
      </p:sp>
      <p:sp>
        <p:nvSpPr>
          <p:cNvPr id="11" name="TextBox 10"/>
          <p:cNvSpPr txBox="1"/>
          <p:nvPr/>
        </p:nvSpPr>
        <p:spPr>
          <a:xfrm>
            <a:off x="658368" y="5020056"/>
            <a:ext cx="2423160" cy="119786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White noise around zero. A slow wave = a missing control; autocorrelation (DW far from 2) = a missing trend or wrong δ.</a:t>
            </a:r>
          </a:p>
        </p:txBody>
      </p:sp>
      <p:sp>
        <p:nvSpPr>
          <p:cNvPr id="12" name="Rectangle 11"/>
          <p:cNvSpPr/>
          <p:nvPr/>
        </p:nvSpPr>
        <p:spPr>
          <a:xfrm>
            <a:off x="3355848" y="4526280"/>
            <a:ext cx="2651760" cy="17830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93008" y="4636008"/>
            <a:ext cx="2377440" cy="365760"/>
          </a:xfrm>
          <a:prstGeom prst="rect">
            <a:avLst/>
          </a:prstGeom>
          <a:noFill/>
        </p:spPr>
        <p:txBody>
          <a:bodyPr wrap="square" lIns="45720" rIns="45720" tIns="27432" bIns="27432" anchor="t">
            <a:spAutoFit/>
          </a:bodyPr>
          <a:lstStyle/>
          <a:p>
            <a:pPr algn="l"/>
            <a:r>
              <a:rPr sz="1400" b="1" i="0">
                <a:solidFill>
                  <a:srgbClr val="1E2761"/>
                </a:solidFill>
                <a:latin typeface="Calibri"/>
              </a:rPr>
              <a:t>VIF</a:t>
            </a:r>
          </a:p>
        </p:txBody>
      </p:sp>
      <p:sp>
        <p:nvSpPr>
          <p:cNvPr id="14" name="TextBox 13"/>
          <p:cNvSpPr txBox="1"/>
          <p:nvPr/>
        </p:nvSpPr>
        <p:spPr>
          <a:xfrm>
            <a:off x="3465576" y="5020056"/>
            <a:ext cx="2423160" cy="119786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&lt; 5 fine · 5–10 suspicious · &gt; 10 not separately identified. Co-spend (digital with TV) and ramp-like channels are the usual causes.</a:t>
            </a:r>
          </a:p>
        </p:txBody>
      </p:sp>
      <p:sp>
        <p:nvSpPr>
          <p:cNvPr id="15" name="Rectangle 14"/>
          <p:cNvSpPr/>
          <p:nvPr/>
        </p:nvSpPr>
        <p:spPr>
          <a:xfrm>
            <a:off x="6153912" y="4526280"/>
            <a:ext cx="2651760" cy="17830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91072" y="4636008"/>
            <a:ext cx="2377440" cy="365760"/>
          </a:xfrm>
          <a:prstGeom prst="rect">
            <a:avLst/>
          </a:prstGeom>
          <a:noFill/>
        </p:spPr>
        <p:txBody>
          <a:bodyPr wrap="square" lIns="45720" rIns="45720" tIns="27432" bIns="27432" anchor="t">
            <a:spAutoFit/>
          </a:bodyPr>
          <a:lstStyle/>
          <a:p>
            <a:pPr algn="l"/>
            <a:r>
              <a:rPr sz="1400" b="1" i="0">
                <a:solidFill>
                  <a:srgbClr val="1E2761"/>
                </a:solidFill>
                <a:latin typeface="Calibri"/>
              </a:rPr>
              <a:t>Signs</a:t>
            </a:r>
          </a:p>
        </p:txBody>
      </p:sp>
      <p:sp>
        <p:nvSpPr>
          <p:cNvPr id="17" name="TextBox 16"/>
          <p:cNvSpPr txBox="1"/>
          <p:nvPr/>
        </p:nvSpPr>
        <p:spPr>
          <a:xfrm>
            <a:off x="6263640" y="5020056"/>
            <a:ext cx="2423160" cy="119786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Every media β positive. A negative detailing β is a confounder, not a finding — fix the controls, do not report it.</a:t>
            </a:r>
          </a:p>
        </p:txBody>
      </p:sp>
      <p:sp>
        <p:nvSpPr>
          <p:cNvPr id="18" name="Rectangle 17"/>
          <p:cNvSpPr/>
          <p:nvPr/>
        </p:nvSpPr>
        <p:spPr>
          <a:xfrm>
            <a:off x="8961120" y="4526280"/>
            <a:ext cx="2651760" cy="17830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280" y="4636008"/>
            <a:ext cx="2377440" cy="365760"/>
          </a:xfrm>
          <a:prstGeom prst="rect">
            <a:avLst/>
          </a:prstGeom>
          <a:noFill/>
        </p:spPr>
        <p:txBody>
          <a:bodyPr wrap="square" lIns="45720" rIns="45720" tIns="27432" bIns="27432" anchor="t">
            <a:spAutoFit/>
          </a:bodyPr>
          <a:lstStyle/>
          <a:p>
            <a:pPr algn="l"/>
            <a:r>
              <a:rPr sz="1400" b="1" i="0">
                <a:solidFill>
                  <a:srgbClr val="1E2761"/>
                </a:solidFill>
                <a:latin typeface="Calibri"/>
              </a:rPr>
              <a:t>Hold-out</a:t>
            </a:r>
          </a:p>
        </p:txBody>
      </p:sp>
      <p:sp>
        <p:nvSpPr>
          <p:cNvPr id="20" name="TextBox 19"/>
          <p:cNvSpPr txBox="1"/>
          <p:nvPr/>
        </p:nvSpPr>
        <p:spPr>
          <a:xfrm>
            <a:off x="9070848" y="5020056"/>
            <a:ext cx="2423160" cy="119786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Train on 104 weeks, predict 52: MAPE 1.6% before the formulary step, 6.1% after. The model cannot forecast an event it never saw.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2 · HOLD-OUT</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The hold-out shows what an MMM is for — and what it is not for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Coefficients trained on weeks 1–104; the formulary win lands at week 118, inside the test window</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19 / 40</a:t>
            </a:r>
          </a:p>
        </p:txBody>
      </p:sp>
      <p:pic>
        <p:nvPicPr>
          <p:cNvPr id="8" name="Picture 7" descr="holdout.png"/>
          <p:cNvPicPr>
            <a:picLocks noChangeAspect="1"/>
          </p:cNvPicPr>
          <p:nvPr/>
        </p:nvPicPr>
        <p:blipFill>
          <a:blip r:embed="rId2"/>
          <a:stretch>
            <a:fillRect/>
          </a:stretch>
        </p:blipFill>
        <p:spPr>
          <a:xfrm>
            <a:off x="548640" y="2011680"/>
            <a:ext cx="7315200" cy="2075663"/>
          </a:xfrm>
          <a:prstGeom prst="rect">
            <a:avLst/>
          </a:prstGeom>
        </p:spPr>
      </p:pic>
      <p:sp>
        <p:nvSpPr>
          <p:cNvPr id="9" name="Rectangle 8"/>
          <p:cNvSpPr/>
          <p:nvPr/>
        </p:nvSpPr>
        <p:spPr>
          <a:xfrm>
            <a:off x="8138160" y="2011680"/>
            <a:ext cx="3474720" cy="4206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2121408"/>
            <a:ext cx="3200400" cy="365760"/>
          </a:xfrm>
          <a:prstGeom prst="rect">
            <a:avLst/>
          </a:prstGeom>
          <a:noFill/>
        </p:spPr>
        <p:txBody>
          <a:bodyPr wrap="square" lIns="45720" rIns="45720" tIns="27432" bIns="27432" anchor="t">
            <a:spAutoFit/>
          </a:bodyPr>
          <a:lstStyle/>
          <a:p>
            <a:pPr algn="l"/>
            <a:r>
              <a:rPr sz="1400" b="1" i="0">
                <a:solidFill>
                  <a:srgbClr val="1E2761"/>
                </a:solidFill>
                <a:latin typeface="Calibri"/>
              </a:rPr>
              <a:t>Two caveats for the homework</a:t>
            </a:r>
          </a:p>
        </p:txBody>
      </p:sp>
      <p:sp>
        <p:nvSpPr>
          <p:cNvPr id="11" name="TextBox 10"/>
          <p:cNvSpPr txBox="1"/>
          <p:nvPr/>
        </p:nvSpPr>
        <p:spPr>
          <a:xfrm>
            <a:off x="8247888" y="2505456"/>
            <a:ext cx="3246120" cy="3621023"/>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1. </a:t>
            </a:r>
            <a:r>
              <a:rPr sz="1100">
                <a:solidFill>
                  <a:srgbClr val="333333"/>
                </a:solidFill>
                <a:latin typeface="Calibri"/>
              </a:rPr>
              <a:t>This hold-out tests the coefficients, not the grid: δ, K, s were chosen on all 156 weeks. The strict version re-runs the grid on the training window.</a:t>
            </a:r>
          </a:p>
          <a:p>
            <a:pPr>
              <a:spcAft>
                <a:spcPts val="500"/>
              </a:spcAft>
            </a:pPr>
            <a:r>
              <a:rPr sz="1100" b="1">
                <a:solidFill>
                  <a:srgbClr val="FF6B6B"/>
                </a:solidFill>
                <a:latin typeface="Calibri"/>
              </a:rPr>
              <a:t>▸ </a:t>
            </a:r>
            <a:r>
              <a:rPr b="1" sz="1100">
                <a:solidFill>
                  <a:srgbClr val="1E2761"/>
                </a:solidFill>
                <a:latin typeface="Calibri"/>
              </a:rPr>
              <a:t>2. </a:t>
            </a:r>
            <a:r>
              <a:rPr sz="1100">
                <a:solidFill>
                  <a:srgbClr val="333333"/>
                </a:solidFill>
                <a:latin typeface="Calibri"/>
              </a:rPr>
              <a:t>An MMM explains the past. It does not forecast an access change, a recall or a label event it has never seen. Forecasting is Week 6; interrupted time series is the tool for one-off events.</a:t>
            </a:r>
          </a:p>
          <a:p>
            <a:pPr>
              <a:spcAft>
                <a:spcPts val="500"/>
              </a:spcAft>
            </a:pPr>
            <a:r>
              <a:rPr sz="1100" b="1">
                <a:solidFill>
                  <a:srgbClr val="FF6B6B"/>
                </a:solidFill>
                <a:latin typeface="Calibri"/>
              </a:rPr>
              <a:t>▸ </a:t>
            </a:r>
            <a:r>
              <a:rPr b="1" sz="1100">
                <a:solidFill>
                  <a:srgbClr val="1E2761"/>
                </a:solidFill>
                <a:latin typeface="Calibri"/>
              </a:rPr>
              <a:t>Rule: </a:t>
            </a:r>
            <a:r>
              <a:rPr sz="1100">
                <a:solidFill>
                  <a:srgbClr val="333333"/>
                </a:solidFill>
                <a:latin typeface="Calibri"/>
              </a:rPr>
              <a:t>state both in the memo. A reviewer who finds them first stops reading.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03</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3400" b="1" i="0">
                <a:solidFill>
                  <a:srgbClr val="FFFFFF"/>
                </a:solidFill>
                <a:latin typeface="Calibri"/>
              </a:rPr>
              <a:t>Decomposition, ROI and uncertainty — live</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Part 2 of the notebook: the chart leadership wants, the table they will argue about, and the ranges that keep you honest.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20 / 40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DECOMPOSITION</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Base vs. incremental — show this before any ROI number</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Of 1.62M TRx: 61% base · 12% detailing · 13% digital · 8% DTC TV · 4% email · 2% conferences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21 / 40</a:t>
            </a:r>
          </a:p>
        </p:txBody>
      </p:sp>
      <p:pic>
        <p:nvPicPr>
          <p:cNvPr id="8" name="Picture 7" descr="decomp.png"/>
          <p:cNvPicPr>
            <a:picLocks noChangeAspect="1"/>
          </p:cNvPicPr>
          <p:nvPr/>
        </p:nvPicPr>
        <p:blipFill>
          <a:blip r:embed="rId2"/>
          <a:stretch>
            <a:fillRect/>
          </a:stretch>
        </p:blipFill>
        <p:spPr>
          <a:xfrm>
            <a:off x="548640" y="2011680"/>
            <a:ext cx="7863840" cy="3242300"/>
          </a:xfrm>
          <a:prstGeom prst="rect">
            <a:avLst/>
          </a:prstGeom>
        </p:spPr>
      </p:pic>
      <p:sp>
        <p:nvSpPr>
          <p:cNvPr id="9" name="Rectangle 8"/>
          <p:cNvSpPr/>
          <p:nvPr/>
        </p:nvSpPr>
        <p:spPr>
          <a:xfrm>
            <a:off x="8686800" y="2011680"/>
            <a:ext cx="2926080" cy="4206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3960" y="2121408"/>
            <a:ext cx="2651760" cy="365760"/>
          </a:xfrm>
          <a:prstGeom prst="rect">
            <a:avLst/>
          </a:prstGeom>
          <a:noFill/>
        </p:spPr>
        <p:txBody>
          <a:bodyPr wrap="square" lIns="45720" rIns="45720" tIns="27432" bIns="27432" anchor="t">
            <a:spAutoFit/>
          </a:bodyPr>
          <a:lstStyle/>
          <a:p>
            <a:pPr algn="l"/>
            <a:r>
              <a:rPr sz="1400" b="1" i="0">
                <a:solidFill>
                  <a:srgbClr val="1E2761"/>
                </a:solidFill>
                <a:latin typeface="Calibri"/>
              </a:rPr>
              <a:t>How to read it</a:t>
            </a:r>
          </a:p>
        </p:txBody>
      </p:sp>
      <p:sp>
        <p:nvSpPr>
          <p:cNvPr id="11" name="TextBox 10"/>
          <p:cNvSpPr txBox="1"/>
          <p:nvPr/>
        </p:nvSpPr>
        <p:spPr>
          <a:xfrm>
            <a:off x="8796528" y="2505456"/>
            <a:ext cx="2697480" cy="362102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Base = intercept + ramp + season + competitor + access. It is the brand's own momentum — and the payer's decisions.</a:t>
            </a:r>
          </a:p>
          <a:p>
            <a:pPr>
              <a:spcAft>
                <a:spcPts val="500"/>
              </a:spcAft>
            </a:pPr>
            <a:r>
              <a:rPr sz="1050" b="1">
                <a:solidFill>
                  <a:srgbClr val="FF6B6B"/>
                </a:solidFill>
                <a:latin typeface="Calibri"/>
              </a:rPr>
              <a:t>▸ </a:t>
            </a:r>
            <a:r>
              <a:rPr sz="1050">
                <a:solidFill>
                  <a:srgbClr val="333333"/>
                </a:solidFill>
                <a:latin typeface="Calibri"/>
              </a:rPr>
              <a:t>Each band is β_c × Hill(Adstock) for that week. TV shows up as flights; conferences as spikes that decay.</a:t>
            </a:r>
          </a:p>
          <a:p>
            <a:pPr>
              <a:spcAft>
                <a:spcPts val="500"/>
              </a:spcAft>
            </a:pPr>
            <a:r>
              <a:rPr sz="1050" b="1">
                <a:solidFill>
                  <a:srgbClr val="FF6B6B"/>
                </a:solidFill>
                <a:latin typeface="Calibri"/>
              </a:rPr>
              <a:t>▸ </a:t>
            </a:r>
            <a:r>
              <a:rPr sz="1050">
                <a:solidFill>
                  <a:srgbClr val="333333"/>
                </a:solidFill>
                <a:latin typeface="Calibri"/>
              </a:rPr>
              <a:t>Black line = actual. Gap = residual. Here the fit is tight; in real data expect 3–6% unexplained.</a:t>
            </a:r>
          </a:p>
          <a:p>
            <a:pPr>
              <a:spcAft>
                <a:spcPts val="500"/>
              </a:spcAft>
            </a:pPr>
            <a:r>
              <a:rPr sz="1050" b="1">
                <a:solidFill>
                  <a:srgbClr val="FF6B6B"/>
                </a:solidFill>
                <a:latin typeface="Calibri"/>
              </a:rPr>
              <a:t>▸ </a:t>
            </a:r>
            <a:r>
              <a:rPr sz="1050">
                <a:solidFill>
                  <a:srgbClr val="333333"/>
                </a:solidFill>
                <a:latin typeface="Calibri"/>
              </a:rPr>
              <a:t>The generating model's base share was 60.7%. We recovered 60.8%.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ROI TABLE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ROI per channel — average vs. marginal, and the truth we happen to know</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Contribution at $250 per TRx. Marginal = +5% spend in every week of that channel, model re-evaluated.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22 / 40</a:t>
            </a:r>
          </a:p>
        </p:txBody>
      </p:sp>
      <p:graphicFrame>
        <p:nvGraphicFramePr>
          <p:cNvPr id="8" name="Table 7"/>
          <p:cNvGraphicFramePr>
            <a:graphicFrameLocks noGrp="1"/>
          </p:cNvGraphicFramePr>
          <p:nvPr/>
        </p:nvGraphicFramePr>
        <p:xfrm>
          <a:off x="548640" y="2057400"/>
          <a:ext cx="11064240" cy="2468880"/>
        </p:xfrm>
        <a:graphic>
          <a:graphicData uri="http://schemas.openxmlformats.org/drawingml/2006/table">
            <a:tbl>
              <a:tblPr firstRow="1" bandRow="1">
                <a:tableStyleId>{5C22544A-7EE6-4342-B048-85BDC9FD1C3A}</a:tableStyleId>
              </a:tblPr>
              <a:tblGrid>
                <a:gridCol w="1463040"/>
                <a:gridCol w="1005840"/>
                <a:gridCol w="1371600"/>
                <a:gridCol w="1371600"/>
                <a:gridCol w="1371600"/>
                <a:gridCol w="1645920"/>
                <a:gridCol w="1371600"/>
                <a:gridCol w="1463040"/>
              </a:tblGrid>
              <a:tr h="411480">
                <a:tc>
                  <a:txBody>
                    <a:bodyPr wrap="square"/>
                    <a:lstStyle/>
                    <a:p>
                      <a:r>
                        <a:rPr sz="1100" b="1">
                          <a:solidFill>
                            <a:srgbClr val="FFFFFF"/>
                          </a:solidFill>
                          <a:latin typeface="Calibri"/>
                        </a:rPr>
                        <a:t>Channel</a:t>
                      </a:r>
                    </a:p>
                  </a:txBody>
                  <a:tcPr marL="54864" marR="54864" marT="27432" marB="27432">
                    <a:solidFill>
                      <a:srgbClr val="1E2761"/>
                    </a:solidFill>
                  </a:tcPr>
                </a:tc>
                <a:tc>
                  <a:txBody>
                    <a:bodyPr wrap="square"/>
                    <a:lstStyle/>
                    <a:p>
                      <a:r>
                        <a:rPr sz="1100" b="1">
                          <a:solidFill>
                            <a:srgbClr val="FFFFFF"/>
                          </a:solidFill>
                          <a:latin typeface="Calibri"/>
                        </a:rPr>
                        <a:t>Spend $M</a:t>
                      </a:r>
                    </a:p>
                  </a:txBody>
                  <a:tcPr marL="54864" marR="54864" marT="27432" marB="27432">
                    <a:solidFill>
                      <a:srgbClr val="1E2761"/>
                    </a:solidFill>
                  </a:tcPr>
                </a:tc>
                <a:tc>
                  <a:txBody>
                    <a:bodyPr wrap="square"/>
                    <a:lstStyle/>
                    <a:p>
                      <a:r>
                        <a:rPr sz="1100" b="1">
                          <a:solidFill>
                            <a:srgbClr val="FFFFFF"/>
                          </a:solidFill>
                          <a:latin typeface="Calibri"/>
                        </a:rPr>
                        <a:t>Incremental TRx</a:t>
                      </a:r>
                    </a:p>
                  </a:txBody>
                  <a:tcPr marL="54864" marR="54864" marT="27432" marB="27432">
                    <a:solidFill>
                      <a:srgbClr val="1E2761"/>
                    </a:solidFill>
                  </a:tcPr>
                </a:tc>
                <a:tc>
                  <a:txBody>
                    <a:bodyPr wrap="square"/>
                    <a:lstStyle/>
                    <a:p>
                      <a:r>
                        <a:rPr sz="1100" b="1">
                          <a:solidFill>
                            <a:srgbClr val="FFFFFF"/>
                          </a:solidFill>
                          <a:latin typeface="Calibri"/>
                        </a:rPr>
                        <a:t>Avg ROI (fitted)</a:t>
                      </a:r>
                    </a:p>
                  </a:txBody>
                  <a:tcPr marL="54864" marR="54864" marT="27432" marB="27432">
                    <a:solidFill>
                      <a:srgbClr val="1E2761"/>
                    </a:solidFill>
                  </a:tcPr>
                </a:tc>
                <a:tc>
                  <a:txBody>
                    <a:bodyPr wrap="square"/>
                    <a:lstStyle/>
                    <a:p>
                      <a:r>
                        <a:rPr sz="1100" b="1">
                          <a:solidFill>
                            <a:srgbClr val="FFFFFF"/>
                          </a:solidFill>
                          <a:latin typeface="Calibri"/>
                        </a:rPr>
                        <a:t>Avg ROI (truth)</a:t>
                      </a:r>
                    </a:p>
                  </a:txBody>
                  <a:tcPr marL="54864" marR="54864" marT="27432" marB="27432">
                    <a:solidFill>
                      <a:srgbClr val="1E2761"/>
                    </a:solidFill>
                  </a:tcPr>
                </a:tc>
                <a:tc>
                  <a:txBody>
                    <a:bodyPr wrap="square"/>
                    <a:lstStyle/>
                    <a:p>
                      <a:r>
                        <a:rPr sz="1100" b="1">
                          <a:solidFill>
                            <a:srgbClr val="FFFFFF"/>
                          </a:solidFill>
                          <a:latin typeface="Calibri"/>
                        </a:rPr>
                        <a:t>Marginal ROI (fitted)</a:t>
                      </a:r>
                    </a:p>
                  </a:txBody>
                  <a:tcPr marL="54864" marR="54864" marT="27432" marB="27432">
                    <a:solidFill>
                      <a:srgbClr val="1E2761"/>
                    </a:solidFill>
                  </a:tcPr>
                </a:tc>
                <a:tc>
                  <a:txBody>
                    <a:bodyPr wrap="square"/>
                    <a:lstStyle/>
                    <a:p>
                      <a:r>
                        <a:rPr sz="1100" b="1">
                          <a:solidFill>
                            <a:srgbClr val="FFFFFF"/>
                          </a:solidFill>
                          <a:latin typeface="Calibri"/>
                        </a:rPr>
                        <a:t>Marginal (truth)</a:t>
                      </a:r>
                    </a:p>
                  </a:txBody>
                  <a:tcPr marL="54864" marR="54864" marT="27432" marB="27432">
                    <a:solidFill>
                      <a:srgbClr val="1E2761"/>
                    </a:solidFill>
                  </a:tcPr>
                </a:tc>
                <a:tc>
                  <a:txBody>
                    <a:bodyPr wrap="square"/>
                    <a:lstStyle/>
                    <a:p>
                      <a:r>
                        <a:rPr sz="1100" b="1">
                          <a:solidFill>
                            <a:srgbClr val="FFFFFF"/>
                          </a:solidFill>
                          <a:latin typeface="Calibri"/>
                        </a:rPr>
                        <a:t>Rank avg → marginal</a:t>
                      </a:r>
                    </a:p>
                  </a:txBody>
                  <a:tcPr marL="54864" marR="54864" marT="27432" marB="27432">
                    <a:solidFill>
                      <a:srgbClr val="1E2761"/>
                    </a:solidFill>
                  </a:tcPr>
                </a:tc>
              </a:tr>
              <a:tr h="411480">
                <a:tc>
                  <a:txBody>
                    <a:bodyPr wrap="square"/>
                    <a:lstStyle/>
                    <a:p>
                      <a:r>
                        <a:rPr sz="1100" b="1">
                          <a:solidFill>
                            <a:srgbClr val="1E2761"/>
                          </a:solidFill>
                          <a:latin typeface="Calibri"/>
                        </a:rPr>
                        <a:t>Email</a:t>
                      </a:r>
                    </a:p>
                  </a:txBody>
                  <a:tcPr marL="54864" marR="54864" marT="27432" marB="27432">
                    <a:solidFill>
                      <a:srgbClr val="FFFFFF"/>
                    </a:solidFill>
                  </a:tcPr>
                </a:tc>
                <a:tc>
                  <a:txBody>
                    <a:bodyPr wrap="square"/>
                    <a:lstStyle/>
                    <a:p>
                      <a:r>
                        <a:rPr sz="1100" b="0">
                          <a:solidFill>
                            <a:srgbClr val="333333"/>
                          </a:solidFill>
                          <a:latin typeface="Calibri"/>
                        </a:rPr>
                        <a:t>1.0</a:t>
                      </a:r>
                    </a:p>
                  </a:txBody>
                  <a:tcPr marL="54864" marR="54864" marT="27432" marB="27432">
                    <a:solidFill>
                      <a:srgbClr val="FFFFFF"/>
                    </a:solidFill>
                  </a:tcPr>
                </a:tc>
                <a:tc>
                  <a:txBody>
                    <a:bodyPr wrap="square"/>
                    <a:lstStyle/>
                    <a:p>
                      <a:r>
                        <a:rPr sz="1100" b="0">
                          <a:solidFill>
                            <a:srgbClr val="333333"/>
                          </a:solidFill>
                          <a:latin typeface="Calibri"/>
                        </a:rPr>
                        <a:t>61k</a:t>
                      </a:r>
                    </a:p>
                  </a:txBody>
                  <a:tcPr marL="54864" marR="54864" marT="27432" marB="27432">
                    <a:solidFill>
                      <a:srgbClr val="FFFFFF"/>
                    </a:solidFill>
                  </a:tcPr>
                </a:tc>
                <a:tc>
                  <a:txBody>
                    <a:bodyPr wrap="square"/>
                    <a:lstStyle/>
                    <a:p>
                      <a:r>
                        <a:rPr sz="1100" b="0">
                          <a:solidFill>
                            <a:srgbClr val="333333"/>
                          </a:solidFill>
                          <a:latin typeface="Calibri"/>
                        </a:rPr>
                        <a:t>14.7</a:t>
                      </a:r>
                    </a:p>
                  </a:txBody>
                  <a:tcPr marL="54864" marR="54864" marT="27432" marB="27432">
                    <a:solidFill>
                      <a:srgbClr val="FFFFFF"/>
                    </a:solidFill>
                  </a:tcPr>
                </a:tc>
                <a:tc>
                  <a:txBody>
                    <a:bodyPr wrap="square"/>
                    <a:lstStyle/>
                    <a:p>
                      <a:r>
                        <a:rPr sz="1100" b="0">
                          <a:solidFill>
                            <a:srgbClr val="333333"/>
                          </a:solidFill>
                          <a:latin typeface="Calibri"/>
                        </a:rPr>
                        <a:t>11.1</a:t>
                      </a:r>
                    </a:p>
                  </a:txBody>
                  <a:tcPr marL="54864" marR="54864" marT="27432" marB="27432">
                    <a:solidFill>
                      <a:srgbClr val="FFFFFF"/>
                    </a:solidFill>
                  </a:tcPr>
                </a:tc>
                <a:tc>
                  <a:txBody>
                    <a:bodyPr wrap="square"/>
                    <a:lstStyle/>
                    <a:p>
                      <a:r>
                        <a:rPr sz="1100" b="0">
                          <a:solidFill>
                            <a:srgbClr val="333333"/>
                          </a:solidFill>
                          <a:latin typeface="Calibri"/>
                        </a:rPr>
                        <a:t>4.6</a:t>
                      </a:r>
                    </a:p>
                  </a:txBody>
                  <a:tcPr marL="54864" marR="54864" marT="27432" marB="27432">
                    <a:solidFill>
                      <a:srgbClr val="FFFFFF"/>
                    </a:solidFill>
                  </a:tcPr>
                </a:tc>
                <a:tc>
                  <a:txBody>
                    <a:bodyPr wrap="square"/>
                    <a:lstStyle/>
                    <a:p>
                      <a:r>
                        <a:rPr sz="1100" b="0">
                          <a:solidFill>
                            <a:srgbClr val="333333"/>
                          </a:solidFill>
                          <a:latin typeface="Calibri"/>
                        </a:rPr>
                        <a:t>3.7</a:t>
                      </a:r>
                    </a:p>
                  </a:txBody>
                  <a:tcPr marL="54864" marR="54864" marT="27432" marB="27432">
                    <a:solidFill>
                      <a:srgbClr val="FFFFFF"/>
                    </a:solidFill>
                  </a:tcPr>
                </a:tc>
                <a:tc>
                  <a:txBody>
                    <a:bodyPr wrap="square"/>
                    <a:lstStyle/>
                    <a:p>
                      <a:r>
                        <a:rPr sz="1100" b="0">
                          <a:solidFill>
                            <a:srgbClr val="333333"/>
                          </a:solidFill>
                          <a:latin typeface="Calibri"/>
                        </a:rPr>
                        <a:t>1 → 1</a:t>
                      </a:r>
                    </a:p>
                  </a:txBody>
                  <a:tcPr marL="54864" marR="54864" marT="27432" marB="27432">
                    <a:solidFill>
                      <a:srgbClr val="FFFFFF"/>
                    </a:solidFill>
                  </a:tcPr>
                </a:tc>
              </a:tr>
              <a:tr h="411480">
                <a:tc>
                  <a:txBody>
                    <a:bodyPr wrap="square"/>
                    <a:lstStyle/>
                    <a:p>
                      <a:r>
                        <a:rPr sz="1100" b="1">
                          <a:solidFill>
                            <a:srgbClr val="1E2761"/>
                          </a:solidFill>
                          <a:latin typeface="Calibri"/>
                        </a:rPr>
                        <a:t>Digital</a:t>
                      </a:r>
                    </a:p>
                  </a:txBody>
                  <a:tcPr marL="54864" marR="54864" marT="27432" marB="27432">
                    <a:solidFill>
                      <a:srgbClr val="F3F6FC"/>
                    </a:solidFill>
                  </a:tcPr>
                </a:tc>
                <a:tc>
                  <a:txBody>
                    <a:bodyPr wrap="square"/>
                    <a:lstStyle/>
                    <a:p>
                      <a:r>
                        <a:rPr sz="1100" b="0">
                          <a:solidFill>
                            <a:srgbClr val="333333"/>
                          </a:solidFill>
                          <a:latin typeface="Calibri"/>
                        </a:rPr>
                        <a:t>14.1</a:t>
                      </a:r>
                    </a:p>
                  </a:txBody>
                  <a:tcPr marL="54864" marR="54864" marT="27432" marB="27432">
                    <a:solidFill>
                      <a:srgbClr val="F3F6FC"/>
                    </a:solidFill>
                  </a:tcPr>
                </a:tc>
                <a:tc>
                  <a:txBody>
                    <a:bodyPr wrap="square"/>
                    <a:lstStyle/>
                    <a:p>
                      <a:r>
                        <a:rPr sz="1100" b="0">
                          <a:solidFill>
                            <a:srgbClr val="333333"/>
                          </a:solidFill>
                          <a:latin typeface="Calibri"/>
                        </a:rPr>
                        <a:t>208k</a:t>
                      </a:r>
                    </a:p>
                  </a:txBody>
                  <a:tcPr marL="54864" marR="54864" marT="27432" marB="27432">
                    <a:solidFill>
                      <a:srgbClr val="F3F6FC"/>
                    </a:solidFill>
                  </a:tcPr>
                </a:tc>
                <a:tc>
                  <a:txBody>
                    <a:bodyPr wrap="square"/>
                    <a:lstStyle/>
                    <a:p>
                      <a:r>
                        <a:rPr sz="1100" b="0">
                          <a:solidFill>
                            <a:srgbClr val="333333"/>
                          </a:solidFill>
                          <a:latin typeface="Calibri"/>
                        </a:rPr>
                        <a:t>3.70</a:t>
                      </a:r>
                    </a:p>
                  </a:txBody>
                  <a:tcPr marL="54864" marR="54864" marT="27432" marB="27432">
                    <a:solidFill>
                      <a:srgbClr val="F3F6FC"/>
                    </a:solidFill>
                  </a:tcPr>
                </a:tc>
                <a:tc>
                  <a:txBody>
                    <a:bodyPr wrap="square"/>
                    <a:lstStyle/>
                    <a:p>
                      <a:r>
                        <a:rPr sz="1100" b="0">
                          <a:solidFill>
                            <a:srgbClr val="333333"/>
                          </a:solidFill>
                          <a:latin typeface="Calibri"/>
                        </a:rPr>
                        <a:t>3.58</a:t>
                      </a:r>
                    </a:p>
                  </a:txBody>
                  <a:tcPr marL="54864" marR="54864" marT="27432" marB="27432">
                    <a:solidFill>
                      <a:srgbClr val="F3F6FC"/>
                    </a:solidFill>
                  </a:tcPr>
                </a:tc>
                <a:tc>
                  <a:txBody>
                    <a:bodyPr wrap="square"/>
                    <a:lstStyle/>
                    <a:p>
                      <a:r>
                        <a:rPr sz="1100" b="0">
                          <a:solidFill>
                            <a:srgbClr val="333333"/>
                          </a:solidFill>
                          <a:latin typeface="Calibri"/>
                        </a:rPr>
                        <a:t>1.76</a:t>
                      </a:r>
                    </a:p>
                  </a:txBody>
                  <a:tcPr marL="54864" marR="54864" marT="27432" marB="27432">
                    <a:solidFill>
                      <a:srgbClr val="F3F6FC"/>
                    </a:solidFill>
                  </a:tcPr>
                </a:tc>
                <a:tc>
                  <a:txBody>
                    <a:bodyPr wrap="square"/>
                    <a:lstStyle/>
                    <a:p>
                      <a:r>
                        <a:rPr sz="1100" b="0">
                          <a:solidFill>
                            <a:srgbClr val="333333"/>
                          </a:solidFill>
                          <a:latin typeface="Calibri"/>
                        </a:rPr>
                        <a:t>1.85</a:t>
                      </a:r>
                    </a:p>
                  </a:txBody>
                  <a:tcPr marL="54864" marR="54864" marT="27432" marB="27432">
                    <a:solidFill>
                      <a:srgbClr val="F3F6FC"/>
                    </a:solidFill>
                  </a:tcPr>
                </a:tc>
                <a:tc>
                  <a:txBody>
                    <a:bodyPr wrap="square"/>
                    <a:lstStyle/>
                    <a:p>
                      <a:r>
                        <a:rPr sz="1100" b="0">
                          <a:solidFill>
                            <a:srgbClr val="333333"/>
                          </a:solidFill>
                          <a:latin typeface="Calibri"/>
                        </a:rPr>
                        <a:t>2 → 3</a:t>
                      </a:r>
                    </a:p>
                  </a:txBody>
                  <a:tcPr marL="54864" marR="54864" marT="27432" marB="27432">
                    <a:solidFill>
                      <a:srgbClr val="F3F6FC"/>
                    </a:solidFill>
                  </a:tcPr>
                </a:tc>
              </a:tr>
              <a:tr h="411480">
                <a:tc>
                  <a:txBody>
                    <a:bodyPr wrap="square"/>
                    <a:lstStyle/>
                    <a:p>
                      <a:r>
                        <a:rPr sz="1100" b="1">
                          <a:solidFill>
                            <a:srgbClr val="1E2761"/>
                          </a:solidFill>
                          <a:latin typeface="Calibri"/>
                        </a:rPr>
                        <a:t>HCP detailing</a:t>
                      </a:r>
                    </a:p>
                  </a:txBody>
                  <a:tcPr marL="54864" marR="54864" marT="27432" marB="27432">
                    <a:solidFill>
                      <a:srgbClr val="FFFFFF"/>
                    </a:solidFill>
                  </a:tcPr>
                </a:tc>
                <a:tc>
                  <a:txBody>
                    <a:bodyPr wrap="square"/>
                    <a:lstStyle/>
                    <a:p>
                      <a:r>
                        <a:rPr sz="1100" b="0">
                          <a:solidFill>
                            <a:srgbClr val="333333"/>
                          </a:solidFill>
                          <a:latin typeface="Calibri"/>
                        </a:rPr>
                        <a:t>26.1</a:t>
                      </a:r>
                    </a:p>
                  </a:txBody>
                  <a:tcPr marL="54864" marR="54864" marT="27432" marB="27432">
                    <a:solidFill>
                      <a:srgbClr val="FFFFFF"/>
                    </a:solidFill>
                  </a:tcPr>
                </a:tc>
                <a:tc>
                  <a:txBody>
                    <a:bodyPr wrap="square"/>
                    <a:lstStyle/>
                    <a:p>
                      <a:r>
                        <a:rPr sz="1100" b="0">
                          <a:solidFill>
                            <a:srgbClr val="333333"/>
                          </a:solidFill>
                          <a:latin typeface="Calibri"/>
                        </a:rPr>
                        <a:t>196k</a:t>
                      </a:r>
                    </a:p>
                  </a:txBody>
                  <a:tcPr marL="54864" marR="54864" marT="27432" marB="27432">
                    <a:solidFill>
                      <a:srgbClr val="FFFFFF"/>
                    </a:solidFill>
                  </a:tcPr>
                </a:tc>
                <a:tc>
                  <a:txBody>
                    <a:bodyPr wrap="square"/>
                    <a:lstStyle/>
                    <a:p>
                      <a:r>
                        <a:rPr sz="1100" b="0">
                          <a:solidFill>
                            <a:srgbClr val="333333"/>
                          </a:solidFill>
                          <a:latin typeface="Calibri"/>
                        </a:rPr>
                        <a:t>1.88</a:t>
                      </a:r>
                    </a:p>
                  </a:txBody>
                  <a:tcPr marL="54864" marR="54864" marT="27432" marB="27432">
                    <a:solidFill>
                      <a:srgbClr val="FFFFFF"/>
                    </a:solidFill>
                  </a:tcPr>
                </a:tc>
                <a:tc>
                  <a:txBody>
                    <a:bodyPr wrap="square"/>
                    <a:lstStyle/>
                    <a:p>
                      <a:r>
                        <a:rPr sz="1100" b="0">
                          <a:solidFill>
                            <a:srgbClr val="333333"/>
                          </a:solidFill>
                          <a:latin typeface="Calibri"/>
                        </a:rPr>
                        <a:t>2.09</a:t>
                      </a:r>
                    </a:p>
                  </a:txBody>
                  <a:tcPr marL="54864" marR="54864" marT="27432" marB="27432">
                    <a:solidFill>
                      <a:srgbClr val="FFFFFF"/>
                    </a:solidFill>
                  </a:tcPr>
                </a:tc>
                <a:tc>
                  <a:txBody>
                    <a:bodyPr wrap="square"/>
                    <a:lstStyle/>
                    <a:p>
                      <a:r>
                        <a:rPr sz="1100" b="0">
                          <a:solidFill>
                            <a:srgbClr val="333333"/>
                          </a:solidFill>
                          <a:latin typeface="Calibri"/>
                        </a:rPr>
                        <a:t>2.55</a:t>
                      </a:r>
                    </a:p>
                  </a:txBody>
                  <a:tcPr marL="54864" marR="54864" marT="27432" marB="27432">
                    <a:solidFill>
                      <a:srgbClr val="FFFFFF"/>
                    </a:solidFill>
                  </a:tcPr>
                </a:tc>
                <a:tc>
                  <a:txBody>
                    <a:bodyPr wrap="square"/>
                    <a:lstStyle/>
                    <a:p>
                      <a:r>
                        <a:rPr sz="1100" b="0">
                          <a:solidFill>
                            <a:srgbClr val="333333"/>
                          </a:solidFill>
                          <a:latin typeface="Calibri"/>
                        </a:rPr>
                        <a:t>1.61</a:t>
                      </a:r>
                    </a:p>
                  </a:txBody>
                  <a:tcPr marL="54864" marR="54864" marT="27432" marB="27432">
                    <a:solidFill>
                      <a:srgbClr val="FFFFFF"/>
                    </a:solidFill>
                  </a:tcPr>
                </a:tc>
                <a:tc>
                  <a:txBody>
                    <a:bodyPr wrap="square"/>
                    <a:lstStyle/>
                    <a:p>
                      <a:r>
                        <a:rPr sz="1100" b="0">
                          <a:solidFill>
                            <a:srgbClr val="333333"/>
                          </a:solidFill>
                          <a:latin typeface="Calibri"/>
                        </a:rPr>
                        <a:t>3 → 2</a:t>
                      </a:r>
                    </a:p>
                  </a:txBody>
                  <a:tcPr marL="54864" marR="54864" marT="27432" marB="27432">
                    <a:solidFill>
                      <a:srgbClr val="FFFFFF"/>
                    </a:solidFill>
                  </a:tcPr>
                </a:tc>
              </a:tr>
              <a:tr h="411480">
                <a:tc>
                  <a:txBody>
                    <a:bodyPr wrap="square"/>
                    <a:lstStyle/>
                    <a:p>
                      <a:r>
                        <a:rPr sz="1100" b="1">
                          <a:solidFill>
                            <a:srgbClr val="1E2761"/>
                          </a:solidFill>
                          <a:latin typeface="Calibri"/>
                        </a:rPr>
                        <a:t>DTC TV</a:t>
                      </a:r>
                    </a:p>
                  </a:txBody>
                  <a:tcPr marL="54864" marR="54864" marT="27432" marB="27432">
                    <a:solidFill>
                      <a:srgbClr val="F3F6FC"/>
                    </a:solidFill>
                  </a:tcPr>
                </a:tc>
                <a:tc>
                  <a:txBody>
                    <a:bodyPr wrap="square"/>
                    <a:lstStyle/>
                    <a:p>
                      <a:r>
                        <a:rPr sz="1100" b="0">
                          <a:solidFill>
                            <a:srgbClr val="333333"/>
                          </a:solidFill>
                          <a:latin typeface="Calibri"/>
                        </a:rPr>
                        <a:t>27.6</a:t>
                      </a:r>
                    </a:p>
                  </a:txBody>
                  <a:tcPr marL="54864" marR="54864" marT="27432" marB="27432">
                    <a:solidFill>
                      <a:srgbClr val="F3F6FC"/>
                    </a:solidFill>
                  </a:tcPr>
                </a:tc>
                <a:tc>
                  <a:txBody>
                    <a:bodyPr wrap="square"/>
                    <a:lstStyle/>
                    <a:p>
                      <a:r>
                        <a:rPr sz="1100" b="0">
                          <a:solidFill>
                            <a:srgbClr val="333333"/>
                          </a:solidFill>
                          <a:latin typeface="Calibri"/>
                        </a:rPr>
                        <a:t>133k</a:t>
                      </a:r>
                    </a:p>
                  </a:txBody>
                  <a:tcPr marL="54864" marR="54864" marT="27432" marB="27432">
                    <a:solidFill>
                      <a:srgbClr val="F3F6FC"/>
                    </a:solidFill>
                  </a:tcPr>
                </a:tc>
                <a:tc>
                  <a:txBody>
                    <a:bodyPr wrap="square"/>
                    <a:lstStyle/>
                    <a:p>
                      <a:r>
                        <a:rPr sz="1100" b="0">
                          <a:solidFill>
                            <a:srgbClr val="333333"/>
                          </a:solidFill>
                          <a:latin typeface="Calibri"/>
                        </a:rPr>
                        <a:t>1.21</a:t>
                      </a:r>
                    </a:p>
                  </a:txBody>
                  <a:tcPr marL="54864" marR="54864" marT="27432" marB="27432">
                    <a:solidFill>
                      <a:srgbClr val="F3F6FC"/>
                    </a:solidFill>
                  </a:tcPr>
                </a:tc>
                <a:tc>
                  <a:txBody>
                    <a:bodyPr wrap="square"/>
                    <a:lstStyle/>
                    <a:p>
                      <a:r>
                        <a:rPr sz="1100" b="0">
                          <a:solidFill>
                            <a:srgbClr val="333333"/>
                          </a:solidFill>
                          <a:latin typeface="Calibri"/>
                        </a:rPr>
                        <a:t>1.28</a:t>
                      </a:r>
                    </a:p>
                  </a:txBody>
                  <a:tcPr marL="54864" marR="54864" marT="27432" marB="27432">
                    <a:solidFill>
                      <a:srgbClr val="F3F6FC"/>
                    </a:solidFill>
                  </a:tcPr>
                </a:tc>
                <a:tc>
                  <a:txBody>
                    <a:bodyPr wrap="square"/>
                    <a:lstStyle/>
                    <a:p>
                      <a:r>
                        <a:rPr sz="1100" b="0">
                          <a:solidFill>
                            <a:srgbClr val="333333"/>
                          </a:solidFill>
                          <a:latin typeface="Calibri"/>
                        </a:rPr>
                        <a:t>1.18</a:t>
                      </a:r>
                    </a:p>
                  </a:txBody>
                  <a:tcPr marL="54864" marR="54864" marT="27432" marB="27432">
                    <a:solidFill>
                      <a:srgbClr val="F3F6FC"/>
                    </a:solidFill>
                  </a:tcPr>
                </a:tc>
                <a:tc>
                  <a:txBody>
                    <a:bodyPr wrap="square"/>
                    <a:lstStyle/>
                    <a:p>
                      <a:r>
                        <a:rPr sz="1100" b="0">
                          <a:solidFill>
                            <a:srgbClr val="333333"/>
                          </a:solidFill>
                          <a:latin typeface="Calibri"/>
                        </a:rPr>
                        <a:t>1.04</a:t>
                      </a:r>
                    </a:p>
                  </a:txBody>
                  <a:tcPr marL="54864" marR="54864" marT="27432" marB="27432">
                    <a:solidFill>
                      <a:srgbClr val="F3F6FC"/>
                    </a:solidFill>
                  </a:tcPr>
                </a:tc>
                <a:tc>
                  <a:txBody>
                    <a:bodyPr wrap="square"/>
                    <a:lstStyle/>
                    <a:p>
                      <a:r>
                        <a:rPr sz="1100" b="0">
                          <a:solidFill>
                            <a:srgbClr val="333333"/>
                          </a:solidFill>
                          <a:latin typeface="Calibri"/>
                        </a:rPr>
                        <a:t>4 → 5</a:t>
                      </a:r>
                    </a:p>
                  </a:txBody>
                  <a:tcPr marL="54864" marR="54864" marT="27432" marB="27432">
                    <a:solidFill>
                      <a:srgbClr val="F3F6FC"/>
                    </a:solidFill>
                  </a:tcPr>
                </a:tc>
              </a:tr>
              <a:tr h="411480">
                <a:tc>
                  <a:txBody>
                    <a:bodyPr wrap="square"/>
                    <a:lstStyle/>
                    <a:p>
                      <a:r>
                        <a:rPr sz="1100" b="1">
                          <a:solidFill>
                            <a:srgbClr val="1E2761"/>
                          </a:solidFill>
                          <a:latin typeface="Calibri"/>
                        </a:rPr>
                        <a:t>Conferences</a:t>
                      </a:r>
                    </a:p>
                  </a:txBody>
                  <a:tcPr marL="54864" marR="54864" marT="27432" marB="27432">
                    <a:solidFill>
                      <a:srgbClr val="FFFFFF"/>
                    </a:solidFill>
                  </a:tcPr>
                </a:tc>
                <a:tc>
                  <a:txBody>
                    <a:bodyPr wrap="square"/>
                    <a:lstStyle/>
                    <a:p>
                      <a:r>
                        <a:rPr sz="1100" b="0">
                          <a:solidFill>
                            <a:srgbClr val="333333"/>
                          </a:solidFill>
                          <a:latin typeface="Calibri"/>
                        </a:rPr>
                        <a:t>9.1</a:t>
                      </a:r>
                    </a:p>
                  </a:txBody>
                  <a:tcPr marL="54864" marR="54864" marT="27432" marB="27432">
                    <a:solidFill>
                      <a:srgbClr val="FFFFFF"/>
                    </a:solidFill>
                  </a:tcPr>
                </a:tc>
                <a:tc>
                  <a:txBody>
                    <a:bodyPr wrap="square"/>
                    <a:lstStyle/>
                    <a:p>
                      <a:r>
                        <a:rPr sz="1100" b="0">
                          <a:solidFill>
                            <a:srgbClr val="333333"/>
                          </a:solidFill>
                          <a:latin typeface="Calibri"/>
                        </a:rPr>
                        <a:t>40k</a:t>
                      </a:r>
                    </a:p>
                  </a:txBody>
                  <a:tcPr marL="54864" marR="54864" marT="27432" marB="27432">
                    <a:solidFill>
                      <a:srgbClr val="FFFFFF"/>
                    </a:solidFill>
                  </a:tcPr>
                </a:tc>
                <a:tc>
                  <a:txBody>
                    <a:bodyPr wrap="square"/>
                    <a:lstStyle/>
                    <a:p>
                      <a:r>
                        <a:rPr sz="1100" b="0">
                          <a:solidFill>
                            <a:srgbClr val="333333"/>
                          </a:solidFill>
                          <a:latin typeface="Calibri"/>
                        </a:rPr>
                        <a:t>1.09</a:t>
                      </a:r>
                    </a:p>
                  </a:txBody>
                  <a:tcPr marL="54864" marR="54864" marT="27432" marB="27432">
                    <a:solidFill>
                      <a:srgbClr val="FFFFFF"/>
                    </a:solidFill>
                  </a:tcPr>
                </a:tc>
                <a:tc>
                  <a:txBody>
                    <a:bodyPr wrap="square"/>
                    <a:lstStyle/>
                    <a:p>
                      <a:r>
                        <a:rPr sz="1100" b="0">
                          <a:solidFill>
                            <a:srgbClr val="333333"/>
                          </a:solidFill>
                          <a:latin typeface="Calibri"/>
                        </a:rPr>
                        <a:t>1.00</a:t>
                      </a:r>
                    </a:p>
                  </a:txBody>
                  <a:tcPr marL="54864" marR="54864" marT="27432" marB="27432">
                    <a:solidFill>
                      <a:srgbClr val="FFFFFF"/>
                    </a:solidFill>
                  </a:tcPr>
                </a:tc>
                <a:tc>
                  <a:txBody>
                    <a:bodyPr wrap="square"/>
                    <a:lstStyle/>
                    <a:p>
                      <a:r>
                        <a:rPr sz="1100" b="0">
                          <a:solidFill>
                            <a:srgbClr val="333333"/>
                          </a:solidFill>
                          <a:latin typeface="Calibri"/>
                        </a:rPr>
                        <a:t>1.19</a:t>
                      </a:r>
                    </a:p>
                  </a:txBody>
                  <a:tcPr marL="54864" marR="54864" marT="27432" marB="27432">
                    <a:solidFill>
                      <a:srgbClr val="FFFFFF"/>
                    </a:solidFill>
                  </a:tcPr>
                </a:tc>
                <a:tc>
                  <a:txBody>
                    <a:bodyPr wrap="square"/>
                    <a:lstStyle/>
                    <a:p>
                      <a:r>
                        <a:rPr sz="1100" b="0">
                          <a:solidFill>
                            <a:srgbClr val="333333"/>
                          </a:solidFill>
                          <a:latin typeface="Calibri"/>
                        </a:rPr>
                        <a:t>0.80</a:t>
                      </a:r>
                    </a:p>
                  </a:txBody>
                  <a:tcPr marL="54864" marR="54864" marT="27432" marB="27432">
                    <a:solidFill>
                      <a:srgbClr val="FFFFFF"/>
                    </a:solidFill>
                  </a:tcPr>
                </a:tc>
                <a:tc>
                  <a:txBody>
                    <a:bodyPr wrap="square"/>
                    <a:lstStyle/>
                    <a:p>
                      <a:r>
                        <a:rPr sz="1100" b="0">
                          <a:solidFill>
                            <a:srgbClr val="333333"/>
                          </a:solidFill>
                          <a:latin typeface="Calibri"/>
                        </a:rPr>
                        <a:t>5 → 4</a:t>
                      </a:r>
                    </a:p>
                  </a:txBody>
                  <a:tcPr marL="54864" marR="54864" marT="27432" marB="27432">
                    <a:solidFill>
                      <a:srgbClr val="FFFFFF"/>
                    </a:solidFill>
                  </a:tcPr>
                </a:tc>
              </a:tr>
            </a:tbl>
          </a:graphicData>
        </a:graphic>
      </p:graphicFrame>
      <p:sp>
        <p:nvSpPr>
          <p:cNvPr id="9" name="Rectangle 8"/>
          <p:cNvSpPr/>
          <p:nvPr/>
        </p:nvSpPr>
        <p:spPr>
          <a:xfrm>
            <a:off x="548640" y="4663440"/>
            <a:ext cx="5394960" cy="16459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7731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this brand teaches</a:t>
            </a:r>
          </a:p>
        </p:txBody>
      </p:sp>
      <p:sp>
        <p:nvSpPr>
          <p:cNvPr id="11" name="TextBox 10"/>
          <p:cNvSpPr txBox="1"/>
          <p:nvPr/>
        </p:nvSpPr>
        <p:spPr>
          <a:xfrm>
            <a:off x="658368" y="5157216"/>
            <a:ext cx="5166360" cy="1060704"/>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Email: best ROI, $1M budget, saturated — the answer to 'so put $5M into email?' is an ROI of 1.4 on that $5M (notebook §11)</a:t>
            </a:r>
          </a:p>
          <a:p>
            <a:pPr>
              <a:spcAft>
                <a:spcPts val="500"/>
              </a:spcAft>
            </a:pPr>
            <a:r>
              <a:rPr sz="1050" b="1">
                <a:solidFill>
                  <a:srgbClr val="FF6B6B"/>
                </a:solidFill>
                <a:latin typeface="Calibri"/>
              </a:rPr>
              <a:t>▸ </a:t>
            </a:r>
            <a:r>
              <a:rPr sz="1050">
                <a:solidFill>
                  <a:srgbClr val="333333"/>
                </a:solidFill>
                <a:latin typeface="Calibri"/>
              </a:rPr>
              <a:t>TV: 35% of the budget at the lowest marginal return — cut, do not kill (the geo test says it works)</a:t>
            </a:r>
          </a:p>
        </p:txBody>
      </p:sp>
      <p:sp>
        <p:nvSpPr>
          <p:cNvPr id="12" name="Rectangle 11"/>
          <p:cNvSpPr/>
          <p:nvPr/>
        </p:nvSpPr>
        <p:spPr>
          <a:xfrm>
            <a:off x="6217920" y="4663440"/>
            <a:ext cx="5394960" cy="16459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77316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Where the method missed</a:t>
            </a:r>
          </a:p>
        </p:txBody>
      </p:sp>
      <p:sp>
        <p:nvSpPr>
          <p:cNvPr id="14" name="TextBox 13"/>
          <p:cNvSpPr txBox="1"/>
          <p:nvPr/>
        </p:nvSpPr>
        <p:spPr>
          <a:xfrm>
            <a:off x="6327648" y="5157216"/>
            <a:ext cx="5166360" cy="1060704"/>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Detailing's marginal is over-stated (fitted s = 2.0 vs. true 1.3): steady spend gives the curve little to learn from</a:t>
            </a:r>
          </a:p>
          <a:p>
            <a:pPr>
              <a:spcAft>
                <a:spcPts val="500"/>
              </a:spcAft>
            </a:pPr>
            <a:r>
              <a:rPr sz="1050" b="1">
                <a:solidFill>
                  <a:srgbClr val="FF6B6B"/>
                </a:solidFill>
                <a:latin typeface="Calibri"/>
              </a:rPr>
              <a:t>▸ </a:t>
            </a:r>
            <a:r>
              <a:rPr sz="1050">
                <a:solidFill>
                  <a:srgbClr val="333333"/>
                </a:solidFill>
                <a:latin typeface="Calibri"/>
              </a:rPr>
              <a:t>Conferences: episodic spend — compute ROI by event, not weekly average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UNCERTAINTY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Ranges, not points — the picture that belongs in the memo</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80% moving-block bootstrap intervals (300 refits, 8-week blocks) plus the ROI implied by the three best grid cells per channel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23 / 40</a:t>
            </a:r>
          </a:p>
        </p:txBody>
      </p:sp>
      <p:pic>
        <p:nvPicPr>
          <p:cNvPr id="8" name="Picture 7" descr="uncertainty.png"/>
          <p:cNvPicPr>
            <a:picLocks noChangeAspect="1"/>
          </p:cNvPicPr>
          <p:nvPr/>
        </p:nvPicPr>
        <p:blipFill>
          <a:blip r:embed="rId2"/>
          <a:stretch>
            <a:fillRect/>
          </a:stretch>
        </p:blipFill>
        <p:spPr>
          <a:xfrm>
            <a:off x="548640" y="2011680"/>
            <a:ext cx="7863840" cy="2621280"/>
          </a:xfrm>
          <a:prstGeom prst="rect">
            <a:avLst/>
          </a:prstGeom>
        </p:spPr>
      </p:pic>
      <p:sp>
        <p:nvSpPr>
          <p:cNvPr id="9" name="Rectangle 8"/>
          <p:cNvSpPr/>
          <p:nvPr/>
        </p:nvSpPr>
        <p:spPr>
          <a:xfrm>
            <a:off x="8686800" y="2011680"/>
            <a:ext cx="2926080" cy="4206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23960" y="2121408"/>
            <a:ext cx="2651760" cy="365760"/>
          </a:xfrm>
          <a:prstGeom prst="rect">
            <a:avLst/>
          </a:prstGeom>
          <a:noFill/>
        </p:spPr>
        <p:txBody>
          <a:bodyPr wrap="square" lIns="45720" rIns="45720" tIns="27432" bIns="27432" anchor="t">
            <a:spAutoFit/>
          </a:bodyPr>
          <a:lstStyle/>
          <a:p>
            <a:pPr algn="l"/>
            <a:r>
              <a:rPr sz="1400" b="1" i="0">
                <a:solidFill>
                  <a:srgbClr val="1E2761"/>
                </a:solidFill>
                <a:latin typeface="Calibri"/>
              </a:rPr>
              <a:t>Two sources, two tools</a:t>
            </a:r>
          </a:p>
        </p:txBody>
      </p:sp>
      <p:sp>
        <p:nvSpPr>
          <p:cNvPr id="11" name="TextBox 10"/>
          <p:cNvSpPr txBox="1"/>
          <p:nvPr/>
        </p:nvSpPr>
        <p:spPr>
          <a:xfrm>
            <a:off x="8796528" y="2505456"/>
            <a:ext cx="2697480" cy="362102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b="1" sz="1050">
                <a:solidFill>
                  <a:srgbClr val="1E2761"/>
                </a:solidFill>
                <a:latin typeface="Calibri"/>
              </a:rPr>
              <a:t>Sampling error: </a:t>
            </a:r>
            <a:r>
              <a:rPr sz="1050">
                <a:solidFill>
                  <a:srgbClr val="333333"/>
                </a:solidFill>
                <a:latin typeface="Calibri"/>
              </a:rPr>
              <a:t>bootstrap the residuals in blocks (keeps autocorrelation), refit, read percentiles. Narrow here because the fit is tight.</a:t>
            </a:r>
          </a:p>
          <a:p>
            <a:pPr>
              <a:spcAft>
                <a:spcPts val="500"/>
              </a:spcAft>
            </a:pPr>
            <a:r>
              <a:rPr sz="1050" b="1">
                <a:solidFill>
                  <a:srgbClr val="FF6B6B"/>
                </a:solidFill>
                <a:latin typeface="Calibri"/>
              </a:rPr>
              <a:t>▸ </a:t>
            </a:r>
            <a:r>
              <a:rPr b="1" sz="1050">
                <a:solidFill>
                  <a:srgbClr val="1E2761"/>
                </a:solidFill>
                <a:latin typeface="Calibri"/>
              </a:rPr>
              <a:t>Specification error: </a:t>
            </a:r>
            <a:r>
              <a:rPr sz="1050">
                <a:solidFill>
                  <a:srgbClr val="333333"/>
                </a:solidFill>
                <a:latin typeface="Calibri"/>
              </a:rPr>
              <a:t>neighbouring grid cells (ΔAIC &lt; 2) imply different ROI — the coral ticks. Wider than the bootstrap for detailing.</a:t>
            </a:r>
          </a:p>
          <a:p>
            <a:pPr>
              <a:spcAft>
                <a:spcPts val="500"/>
              </a:spcAft>
            </a:pPr>
            <a:r>
              <a:rPr sz="1050" b="1">
                <a:solidFill>
                  <a:srgbClr val="FF6B6B"/>
                </a:solidFill>
                <a:latin typeface="Calibri"/>
              </a:rPr>
              <a:t>▸ </a:t>
            </a:r>
            <a:r>
              <a:rPr b="1" sz="1050">
                <a:solidFill>
                  <a:srgbClr val="1E2761"/>
                </a:solidFill>
                <a:latin typeface="Calibri"/>
              </a:rPr>
              <a:t>Neither </a:t>
            </a:r>
            <a:r>
              <a:rPr sz="1050">
                <a:solidFill>
                  <a:srgbClr val="333333"/>
                </a:solidFill>
                <a:latin typeface="Calibri"/>
              </a:rPr>
              <a:t>captures a missing control. Only a design change — or an experiment — does that.</a:t>
            </a:r>
          </a:p>
        </p:txBody>
      </p:sp>
      <p:sp>
        <p:nvSpPr>
          <p:cNvPr id="12" name="TextBox 11"/>
          <p:cNvSpPr txBox="1"/>
          <p:nvPr/>
        </p:nvSpPr>
        <p:spPr>
          <a:xfrm>
            <a:off x="548640" y="5943600"/>
            <a:ext cx="7863840" cy="365760"/>
          </a:xfrm>
          <a:prstGeom prst="rect">
            <a:avLst/>
          </a:prstGeom>
          <a:noFill/>
        </p:spPr>
        <p:txBody>
          <a:bodyPr wrap="square" lIns="45720" rIns="45720" tIns="27432" bIns="27432" anchor="t">
            <a:spAutoFit/>
          </a:bodyPr>
          <a:lstStyle/>
          <a:p>
            <a:pPr algn="l"/>
            <a:r>
              <a:rPr sz="1150" b="1" i="0">
                <a:solidFill>
                  <a:srgbClr val="1E2761"/>
                </a:solidFill>
                <a:latin typeface="Calibri"/>
              </a:rPr>
              <a:t>Report 'digital 3.4–4.0' rather than '3.70'. It lands better with a CFO, and it is more honest.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3 · GRADING</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Grading against the truth: the ranking is right, the levels are ±10–30%, the decay is within a grid step</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Synthetic data lets us do what a real engagement never can. The point is to see how the method misses.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24 / 40</a:t>
            </a:r>
          </a:p>
        </p:txBody>
      </p:sp>
      <p:graphicFrame>
        <p:nvGraphicFramePr>
          <p:cNvPr id="8" name="Table 7"/>
          <p:cNvGraphicFramePr>
            <a:graphicFrameLocks noGrp="1"/>
          </p:cNvGraphicFramePr>
          <p:nvPr/>
        </p:nvGraphicFramePr>
        <p:xfrm>
          <a:off x="548640" y="2057400"/>
          <a:ext cx="11064240" cy="3291840"/>
        </p:xfrm>
        <a:graphic>
          <a:graphicData uri="http://schemas.openxmlformats.org/drawingml/2006/table">
            <a:tbl>
              <a:tblPr firstRow="1" bandRow="1">
                <a:tableStyleId>{5C22544A-7EE6-4342-B048-85BDC9FD1C3A}</a:tableStyleId>
              </a:tblPr>
              <a:tblGrid>
                <a:gridCol w="1371600"/>
                <a:gridCol w="1005840"/>
                <a:gridCol w="914400"/>
                <a:gridCol w="822960"/>
                <a:gridCol w="1188720"/>
                <a:gridCol w="1097280"/>
                <a:gridCol w="4663440"/>
              </a:tblGrid>
              <a:tr h="548640">
                <a:tc>
                  <a:txBody>
                    <a:bodyPr wrap="square"/>
                    <a:lstStyle/>
                    <a:p>
                      <a:r>
                        <a:rPr sz="1000" b="1">
                          <a:solidFill>
                            <a:srgbClr val="FFFFFF"/>
                          </a:solidFill>
                          <a:latin typeface="Calibri"/>
                        </a:rPr>
                        <a:t>Channel</a:t>
                      </a:r>
                    </a:p>
                  </a:txBody>
                  <a:tcPr marL="54864" marR="54864" marT="27432" marB="27432">
                    <a:solidFill>
                      <a:srgbClr val="1E2761"/>
                    </a:solidFill>
                  </a:tcPr>
                </a:tc>
                <a:tc>
                  <a:txBody>
                    <a:bodyPr wrap="square"/>
                    <a:lstStyle/>
                    <a:p>
                      <a:r>
                        <a:rPr sz="1000" b="1">
                          <a:solidFill>
                            <a:srgbClr val="FFFFFF"/>
                          </a:solidFill>
                          <a:latin typeface="Calibri"/>
                        </a:rPr>
                        <a:t>Fitted TRx</a:t>
                      </a:r>
                    </a:p>
                  </a:txBody>
                  <a:tcPr marL="54864" marR="54864" marT="27432" marB="27432">
                    <a:solidFill>
                      <a:srgbClr val="1E2761"/>
                    </a:solidFill>
                  </a:tcPr>
                </a:tc>
                <a:tc>
                  <a:txBody>
                    <a:bodyPr wrap="square"/>
                    <a:lstStyle/>
                    <a:p>
                      <a:r>
                        <a:rPr sz="1000" b="1">
                          <a:solidFill>
                            <a:srgbClr val="FFFFFF"/>
                          </a:solidFill>
                          <a:latin typeface="Calibri"/>
                        </a:rPr>
                        <a:t>True TRx</a:t>
                      </a:r>
                    </a:p>
                  </a:txBody>
                  <a:tcPr marL="54864" marR="54864" marT="27432" marB="27432">
                    <a:solidFill>
                      <a:srgbClr val="1E2761"/>
                    </a:solidFill>
                  </a:tcPr>
                </a:tc>
                <a:tc>
                  <a:txBody>
                    <a:bodyPr wrap="square"/>
                    <a:lstStyle/>
                    <a:p>
                      <a:r>
                        <a:rPr sz="1000" b="1">
                          <a:solidFill>
                            <a:srgbClr val="FFFFFF"/>
                          </a:solidFill>
                          <a:latin typeface="Calibri"/>
                        </a:rPr>
                        <a:t>Error</a:t>
                      </a:r>
                    </a:p>
                  </a:txBody>
                  <a:tcPr marL="54864" marR="54864" marT="27432" marB="27432">
                    <a:solidFill>
                      <a:srgbClr val="1E2761"/>
                    </a:solidFill>
                  </a:tcPr>
                </a:tc>
                <a:tc>
                  <a:txBody>
                    <a:bodyPr wrap="square"/>
                    <a:lstStyle/>
                    <a:p>
                      <a:r>
                        <a:rPr sz="1000" b="1">
                          <a:solidFill>
                            <a:srgbClr val="FFFFFF"/>
                          </a:solidFill>
                          <a:latin typeface="Calibri"/>
                        </a:rPr>
                        <a:t>Fitted δ / s</a:t>
                      </a:r>
                    </a:p>
                  </a:txBody>
                  <a:tcPr marL="54864" marR="54864" marT="27432" marB="27432">
                    <a:solidFill>
                      <a:srgbClr val="1E2761"/>
                    </a:solidFill>
                  </a:tcPr>
                </a:tc>
                <a:tc>
                  <a:txBody>
                    <a:bodyPr wrap="square"/>
                    <a:lstStyle/>
                    <a:p>
                      <a:r>
                        <a:rPr sz="1000" b="1">
                          <a:solidFill>
                            <a:srgbClr val="FFFFFF"/>
                          </a:solidFill>
                          <a:latin typeface="Calibri"/>
                        </a:rPr>
                        <a:t>True δ / s</a:t>
                      </a:r>
                    </a:p>
                  </a:txBody>
                  <a:tcPr marL="54864" marR="54864" marT="27432" marB="27432">
                    <a:solidFill>
                      <a:srgbClr val="1E2761"/>
                    </a:solidFill>
                  </a:tcPr>
                </a:tc>
                <a:tc>
                  <a:txBody>
                    <a:bodyPr wrap="square"/>
                    <a:lstStyle/>
                    <a:p>
                      <a:r>
                        <a:rPr sz="1000" b="1">
                          <a:solidFill>
                            <a:srgbClr val="FFFFFF"/>
                          </a:solidFill>
                          <a:latin typeface="Calibri"/>
                        </a:rPr>
                        <a:t>Why</a:t>
                      </a:r>
                    </a:p>
                  </a:txBody>
                  <a:tcPr marL="54864" marR="54864" marT="27432" marB="27432">
                    <a:solidFill>
                      <a:srgbClr val="1E2761"/>
                    </a:solidFill>
                  </a:tcPr>
                </a:tc>
              </a:tr>
              <a:tr h="548640">
                <a:tc>
                  <a:txBody>
                    <a:bodyPr wrap="square"/>
                    <a:lstStyle/>
                    <a:p>
                      <a:r>
                        <a:rPr sz="1000" b="1">
                          <a:solidFill>
                            <a:srgbClr val="1E2761"/>
                          </a:solidFill>
                          <a:latin typeface="Calibri"/>
                        </a:rPr>
                        <a:t>HCP detailing</a:t>
                      </a:r>
                    </a:p>
                  </a:txBody>
                  <a:tcPr marL="54864" marR="54864" marT="27432" marB="27432">
                    <a:solidFill>
                      <a:srgbClr val="FFFFFF"/>
                    </a:solidFill>
                  </a:tcPr>
                </a:tc>
                <a:tc>
                  <a:txBody>
                    <a:bodyPr wrap="square"/>
                    <a:lstStyle/>
                    <a:p>
                      <a:r>
                        <a:rPr sz="1000" b="0">
                          <a:solidFill>
                            <a:srgbClr val="333333"/>
                          </a:solidFill>
                          <a:latin typeface="Calibri"/>
                        </a:rPr>
                        <a:t>196k</a:t>
                      </a:r>
                    </a:p>
                  </a:txBody>
                  <a:tcPr marL="54864" marR="54864" marT="27432" marB="27432">
                    <a:solidFill>
                      <a:srgbClr val="FFFFFF"/>
                    </a:solidFill>
                  </a:tcPr>
                </a:tc>
                <a:tc>
                  <a:txBody>
                    <a:bodyPr wrap="square"/>
                    <a:lstStyle/>
                    <a:p>
                      <a:r>
                        <a:rPr sz="1000" b="0">
                          <a:solidFill>
                            <a:srgbClr val="333333"/>
                          </a:solidFill>
                          <a:latin typeface="Calibri"/>
                        </a:rPr>
                        <a:t>218k</a:t>
                      </a:r>
                    </a:p>
                  </a:txBody>
                  <a:tcPr marL="54864" marR="54864" marT="27432" marB="27432">
                    <a:solidFill>
                      <a:srgbClr val="FFFFFF"/>
                    </a:solidFill>
                  </a:tcPr>
                </a:tc>
                <a:tc>
                  <a:txBody>
                    <a:bodyPr wrap="square"/>
                    <a:lstStyle/>
                    <a:p>
                      <a:r>
                        <a:rPr sz="1000" b="0">
                          <a:solidFill>
                            <a:srgbClr val="333333"/>
                          </a:solidFill>
                          <a:latin typeface="Calibri"/>
                        </a:rPr>
                        <a:t>−10%</a:t>
                      </a:r>
                    </a:p>
                  </a:txBody>
                  <a:tcPr marL="54864" marR="54864" marT="27432" marB="27432">
                    <a:solidFill>
                      <a:srgbClr val="FFFFFF"/>
                    </a:solidFill>
                  </a:tcPr>
                </a:tc>
                <a:tc>
                  <a:txBody>
                    <a:bodyPr wrap="square"/>
                    <a:lstStyle/>
                    <a:p>
                      <a:r>
                        <a:rPr sz="1000" b="0">
                          <a:solidFill>
                            <a:srgbClr val="333333"/>
                          </a:solidFill>
                          <a:latin typeface="Calibri"/>
                        </a:rPr>
                        <a:t>0.40 / 2.0</a:t>
                      </a:r>
                    </a:p>
                  </a:txBody>
                  <a:tcPr marL="54864" marR="54864" marT="27432" marB="27432">
                    <a:solidFill>
                      <a:srgbClr val="FFFFFF"/>
                    </a:solidFill>
                  </a:tcPr>
                </a:tc>
                <a:tc>
                  <a:txBody>
                    <a:bodyPr wrap="square"/>
                    <a:lstStyle/>
                    <a:p>
                      <a:r>
                        <a:rPr sz="1000" b="0">
                          <a:solidFill>
                            <a:srgbClr val="333333"/>
                          </a:solidFill>
                          <a:latin typeface="Calibri"/>
                        </a:rPr>
                        <a:t>0.55 / 1.3</a:t>
                      </a:r>
                    </a:p>
                  </a:txBody>
                  <a:tcPr marL="54864" marR="54864" marT="27432" marB="27432">
                    <a:solidFill>
                      <a:srgbClr val="FFFFFF"/>
                    </a:solidFill>
                  </a:tcPr>
                </a:tc>
                <a:tc>
                  <a:txBody>
                    <a:bodyPr wrap="square"/>
                    <a:lstStyle/>
                    <a:p>
                      <a:r>
                        <a:rPr sz="1000" b="0">
                          <a:solidFill>
                            <a:srgbClr val="333333"/>
                          </a:solidFill>
                          <a:latin typeface="Calibri"/>
                        </a:rPr>
                        <a:t>Steady spend: the curve's shape is barely identified; the S-curve over-states the marginal</a:t>
                      </a:r>
                    </a:p>
                  </a:txBody>
                  <a:tcPr marL="54864" marR="54864" marT="27432" marB="27432">
                    <a:solidFill>
                      <a:srgbClr val="FFFFFF"/>
                    </a:solidFill>
                  </a:tcPr>
                </a:tc>
              </a:tr>
              <a:tr h="548640">
                <a:tc>
                  <a:txBody>
                    <a:bodyPr wrap="square"/>
                    <a:lstStyle/>
                    <a:p>
                      <a:r>
                        <a:rPr sz="1000" b="1">
                          <a:solidFill>
                            <a:srgbClr val="1E2761"/>
                          </a:solidFill>
                          <a:latin typeface="Calibri"/>
                        </a:rPr>
                        <a:t>Conferences</a:t>
                      </a:r>
                    </a:p>
                  </a:txBody>
                  <a:tcPr marL="54864" marR="54864" marT="27432" marB="27432">
                    <a:solidFill>
                      <a:srgbClr val="F3F6FC"/>
                    </a:solidFill>
                  </a:tcPr>
                </a:tc>
                <a:tc>
                  <a:txBody>
                    <a:bodyPr wrap="square"/>
                    <a:lstStyle/>
                    <a:p>
                      <a:r>
                        <a:rPr sz="1000" b="0">
                          <a:solidFill>
                            <a:srgbClr val="333333"/>
                          </a:solidFill>
                          <a:latin typeface="Calibri"/>
                        </a:rPr>
                        <a:t>40k</a:t>
                      </a:r>
                    </a:p>
                  </a:txBody>
                  <a:tcPr marL="54864" marR="54864" marT="27432" marB="27432">
                    <a:solidFill>
                      <a:srgbClr val="F3F6FC"/>
                    </a:solidFill>
                  </a:tcPr>
                </a:tc>
                <a:tc>
                  <a:txBody>
                    <a:bodyPr wrap="square"/>
                    <a:lstStyle/>
                    <a:p>
                      <a:r>
                        <a:rPr sz="1000" b="0">
                          <a:solidFill>
                            <a:srgbClr val="333333"/>
                          </a:solidFill>
                          <a:latin typeface="Calibri"/>
                        </a:rPr>
                        <a:t>36k</a:t>
                      </a:r>
                    </a:p>
                  </a:txBody>
                  <a:tcPr marL="54864" marR="54864" marT="27432" marB="27432">
                    <a:solidFill>
                      <a:srgbClr val="F3F6FC"/>
                    </a:solidFill>
                  </a:tcPr>
                </a:tc>
                <a:tc>
                  <a:txBody>
                    <a:bodyPr wrap="square"/>
                    <a:lstStyle/>
                    <a:p>
                      <a:r>
                        <a:rPr sz="1000" b="0">
                          <a:solidFill>
                            <a:srgbClr val="333333"/>
                          </a:solidFill>
                          <a:latin typeface="Calibri"/>
                        </a:rPr>
                        <a:t>+9%</a:t>
                      </a:r>
                    </a:p>
                  </a:txBody>
                  <a:tcPr marL="54864" marR="54864" marT="27432" marB="27432">
                    <a:solidFill>
                      <a:srgbClr val="F3F6FC"/>
                    </a:solidFill>
                  </a:tcPr>
                </a:tc>
                <a:tc>
                  <a:txBody>
                    <a:bodyPr wrap="square"/>
                    <a:lstStyle/>
                    <a:p>
                      <a:r>
                        <a:rPr sz="1000" b="0">
                          <a:solidFill>
                            <a:srgbClr val="333333"/>
                          </a:solidFill>
                          <a:latin typeface="Calibri"/>
                        </a:rPr>
                        <a:t>0.55 / 2.5</a:t>
                      </a:r>
                    </a:p>
                  </a:txBody>
                  <a:tcPr marL="54864" marR="54864" marT="27432" marB="27432">
                    <a:solidFill>
                      <a:srgbClr val="F3F6FC"/>
                    </a:solidFill>
                  </a:tcPr>
                </a:tc>
                <a:tc>
                  <a:txBody>
                    <a:bodyPr wrap="square"/>
                    <a:lstStyle/>
                    <a:p>
                      <a:r>
                        <a:rPr sz="1000" b="0">
                          <a:solidFill>
                            <a:srgbClr val="333333"/>
                          </a:solidFill>
                          <a:latin typeface="Calibri"/>
                        </a:rPr>
                        <a:t>0.35 / 1.8</a:t>
                      </a:r>
                    </a:p>
                  </a:txBody>
                  <a:tcPr marL="54864" marR="54864" marT="27432" marB="27432">
                    <a:solidFill>
                      <a:srgbClr val="F3F6FC"/>
                    </a:solidFill>
                  </a:tcPr>
                </a:tc>
                <a:tc>
                  <a:txBody>
                    <a:bodyPr wrap="square"/>
                    <a:lstStyle/>
                    <a:p>
                      <a:r>
                        <a:rPr sz="1000" b="0">
                          <a:solidFill>
                            <a:srgbClr val="333333"/>
                          </a:solidFill>
                          <a:latin typeface="Calibri"/>
                        </a:rPr>
                        <a:t>Spikes identify β well; the tail is confounded with the following weeks' detailing</a:t>
                      </a:r>
                    </a:p>
                  </a:txBody>
                  <a:tcPr marL="54864" marR="54864" marT="27432" marB="27432">
                    <a:solidFill>
                      <a:srgbClr val="F3F6FC"/>
                    </a:solidFill>
                  </a:tcPr>
                </a:tc>
              </a:tr>
              <a:tr h="548640">
                <a:tc>
                  <a:txBody>
                    <a:bodyPr wrap="square"/>
                    <a:lstStyle/>
                    <a:p>
                      <a:r>
                        <a:rPr sz="1000" b="1">
                          <a:solidFill>
                            <a:srgbClr val="1E2761"/>
                          </a:solidFill>
                          <a:latin typeface="Calibri"/>
                        </a:rPr>
                        <a:t>Digital</a:t>
                      </a:r>
                    </a:p>
                  </a:txBody>
                  <a:tcPr marL="54864" marR="54864" marT="27432" marB="27432">
                    <a:solidFill>
                      <a:srgbClr val="FFFFFF"/>
                    </a:solidFill>
                  </a:tcPr>
                </a:tc>
                <a:tc>
                  <a:txBody>
                    <a:bodyPr wrap="square"/>
                    <a:lstStyle/>
                    <a:p>
                      <a:r>
                        <a:rPr sz="1000" b="0">
                          <a:solidFill>
                            <a:srgbClr val="333333"/>
                          </a:solidFill>
                          <a:latin typeface="Calibri"/>
                        </a:rPr>
                        <a:t>208k</a:t>
                      </a:r>
                    </a:p>
                  </a:txBody>
                  <a:tcPr marL="54864" marR="54864" marT="27432" marB="27432">
                    <a:solidFill>
                      <a:srgbClr val="FFFFFF"/>
                    </a:solidFill>
                  </a:tcPr>
                </a:tc>
                <a:tc>
                  <a:txBody>
                    <a:bodyPr wrap="square"/>
                    <a:lstStyle/>
                    <a:p>
                      <a:r>
                        <a:rPr sz="1000" b="0">
                          <a:solidFill>
                            <a:srgbClr val="333333"/>
                          </a:solidFill>
                          <a:latin typeface="Calibri"/>
                        </a:rPr>
                        <a:t>202k</a:t>
                      </a:r>
                    </a:p>
                  </a:txBody>
                  <a:tcPr marL="54864" marR="54864" marT="27432" marB="27432">
                    <a:solidFill>
                      <a:srgbClr val="FFFFFF"/>
                    </a:solidFill>
                  </a:tcPr>
                </a:tc>
                <a:tc>
                  <a:txBody>
                    <a:bodyPr wrap="square"/>
                    <a:lstStyle/>
                    <a:p>
                      <a:r>
                        <a:rPr sz="1000" b="0">
                          <a:solidFill>
                            <a:srgbClr val="333333"/>
                          </a:solidFill>
                          <a:latin typeface="Calibri"/>
                        </a:rPr>
                        <a:t>+3%</a:t>
                      </a:r>
                    </a:p>
                  </a:txBody>
                  <a:tcPr marL="54864" marR="54864" marT="27432" marB="27432">
                    <a:solidFill>
                      <a:srgbClr val="FFFFFF"/>
                    </a:solidFill>
                  </a:tcPr>
                </a:tc>
                <a:tc>
                  <a:txBody>
                    <a:bodyPr wrap="square"/>
                    <a:lstStyle/>
                    <a:p>
                      <a:r>
                        <a:rPr sz="1000" b="0">
                          <a:solidFill>
                            <a:srgbClr val="333333"/>
                          </a:solidFill>
                          <a:latin typeface="Calibri"/>
                        </a:rPr>
                        <a:t>0.25 / 1.0</a:t>
                      </a:r>
                    </a:p>
                  </a:txBody>
                  <a:tcPr marL="54864" marR="54864" marT="27432" marB="27432">
                    <a:solidFill>
                      <a:srgbClr val="FFFFFF"/>
                    </a:solidFill>
                  </a:tcPr>
                </a:tc>
                <a:tc>
                  <a:txBody>
                    <a:bodyPr wrap="square"/>
                    <a:lstStyle/>
                    <a:p>
                      <a:r>
                        <a:rPr sz="1000" b="0">
                          <a:solidFill>
                            <a:srgbClr val="333333"/>
                          </a:solidFill>
                          <a:latin typeface="Calibri"/>
                        </a:rPr>
                        <a:t>0.25 / 1.0</a:t>
                      </a:r>
                    </a:p>
                  </a:txBody>
                  <a:tcPr marL="54864" marR="54864" marT="27432" marB="27432">
                    <a:solidFill>
                      <a:srgbClr val="FFFFFF"/>
                    </a:solidFill>
                  </a:tcPr>
                </a:tc>
                <a:tc>
                  <a:txBody>
                    <a:bodyPr wrap="square"/>
                    <a:lstStyle/>
                    <a:p>
                      <a:r>
                        <a:rPr sz="1000" b="0">
                          <a:solidFill>
                            <a:srgbClr val="333333"/>
                          </a:solidFill>
                          <a:latin typeface="Calibri"/>
                        </a:rPr>
                        <a:t>Pulses and dark windows give the grid what it needs</a:t>
                      </a:r>
                    </a:p>
                  </a:txBody>
                  <a:tcPr marL="54864" marR="54864" marT="27432" marB="27432">
                    <a:solidFill>
                      <a:srgbClr val="FFFFFF"/>
                    </a:solidFill>
                  </a:tcPr>
                </a:tc>
              </a:tr>
              <a:tr h="548640">
                <a:tc>
                  <a:txBody>
                    <a:bodyPr wrap="square"/>
                    <a:lstStyle/>
                    <a:p>
                      <a:r>
                        <a:rPr sz="1000" b="1">
                          <a:solidFill>
                            <a:srgbClr val="1E2761"/>
                          </a:solidFill>
                          <a:latin typeface="Calibri"/>
                        </a:rPr>
                        <a:t>Email</a:t>
                      </a:r>
                    </a:p>
                  </a:txBody>
                  <a:tcPr marL="54864" marR="54864" marT="27432" marB="27432">
                    <a:solidFill>
                      <a:srgbClr val="F3F6FC"/>
                    </a:solidFill>
                  </a:tcPr>
                </a:tc>
                <a:tc>
                  <a:txBody>
                    <a:bodyPr wrap="square"/>
                    <a:lstStyle/>
                    <a:p>
                      <a:r>
                        <a:rPr sz="1000" b="0">
                          <a:solidFill>
                            <a:srgbClr val="333333"/>
                          </a:solidFill>
                          <a:latin typeface="Calibri"/>
                        </a:rPr>
                        <a:t>61k</a:t>
                      </a:r>
                    </a:p>
                  </a:txBody>
                  <a:tcPr marL="54864" marR="54864" marT="27432" marB="27432">
                    <a:solidFill>
                      <a:srgbClr val="F3F6FC"/>
                    </a:solidFill>
                  </a:tcPr>
                </a:tc>
                <a:tc>
                  <a:txBody>
                    <a:bodyPr wrap="square"/>
                    <a:lstStyle/>
                    <a:p>
                      <a:r>
                        <a:rPr sz="1000" b="0">
                          <a:solidFill>
                            <a:srgbClr val="333333"/>
                          </a:solidFill>
                          <a:latin typeface="Calibri"/>
                        </a:rPr>
                        <a:t>46k</a:t>
                      </a:r>
                    </a:p>
                  </a:txBody>
                  <a:tcPr marL="54864" marR="54864" marT="27432" marB="27432">
                    <a:solidFill>
                      <a:srgbClr val="F3F6FC"/>
                    </a:solidFill>
                  </a:tcPr>
                </a:tc>
                <a:tc>
                  <a:txBody>
                    <a:bodyPr wrap="square"/>
                    <a:lstStyle/>
                    <a:p>
                      <a:r>
                        <a:rPr sz="1000" b="0">
                          <a:solidFill>
                            <a:srgbClr val="333333"/>
                          </a:solidFill>
                          <a:latin typeface="Calibri"/>
                        </a:rPr>
                        <a:t>+33%</a:t>
                      </a:r>
                    </a:p>
                  </a:txBody>
                  <a:tcPr marL="54864" marR="54864" marT="27432" marB="27432">
                    <a:solidFill>
                      <a:srgbClr val="F3F6FC"/>
                    </a:solidFill>
                  </a:tcPr>
                </a:tc>
                <a:tc>
                  <a:txBody>
                    <a:bodyPr wrap="square"/>
                    <a:lstStyle/>
                    <a:p>
                      <a:r>
                        <a:rPr sz="1000" b="0">
                          <a:solidFill>
                            <a:srgbClr val="333333"/>
                          </a:solidFill>
                          <a:latin typeface="Calibri"/>
                        </a:rPr>
                        <a:t>0.10 / 1.0</a:t>
                      </a:r>
                    </a:p>
                  </a:txBody>
                  <a:tcPr marL="54864" marR="54864" marT="27432" marB="27432">
                    <a:solidFill>
                      <a:srgbClr val="F3F6FC"/>
                    </a:solidFill>
                  </a:tcPr>
                </a:tc>
                <a:tc>
                  <a:txBody>
                    <a:bodyPr wrap="square"/>
                    <a:lstStyle/>
                    <a:p>
                      <a:r>
                        <a:rPr sz="1000" b="0">
                          <a:solidFill>
                            <a:srgbClr val="333333"/>
                          </a:solidFill>
                          <a:latin typeface="Calibri"/>
                        </a:rPr>
                        <a:t>0.10 / 1.5</a:t>
                      </a:r>
                    </a:p>
                  </a:txBody>
                  <a:tcPr marL="54864" marR="54864" marT="27432" marB="27432">
                    <a:solidFill>
                      <a:srgbClr val="F3F6FC"/>
                    </a:solidFill>
                  </a:tcPr>
                </a:tc>
                <a:tc>
                  <a:txBody>
                    <a:bodyPr wrap="square"/>
                    <a:lstStyle/>
                    <a:p>
                      <a:r>
                        <a:rPr sz="1000" b="0">
                          <a:solidFill>
                            <a:srgbClr val="333333"/>
                          </a:solidFill>
                          <a:latin typeface="Calibri"/>
                        </a:rPr>
                        <a:t>Tiny channel; wide interval; a saturated channel looks like the intercept</a:t>
                      </a:r>
                    </a:p>
                  </a:txBody>
                  <a:tcPr marL="54864" marR="54864" marT="27432" marB="27432">
                    <a:solidFill>
                      <a:srgbClr val="F3F6FC"/>
                    </a:solidFill>
                  </a:tcPr>
                </a:tc>
              </a:tr>
              <a:tr h="548640">
                <a:tc>
                  <a:txBody>
                    <a:bodyPr wrap="square"/>
                    <a:lstStyle/>
                    <a:p>
                      <a:r>
                        <a:rPr sz="1000" b="1">
                          <a:solidFill>
                            <a:srgbClr val="1E2761"/>
                          </a:solidFill>
                          <a:latin typeface="Calibri"/>
                        </a:rPr>
                        <a:t>DTC TV</a:t>
                      </a:r>
                    </a:p>
                  </a:txBody>
                  <a:tcPr marL="54864" marR="54864" marT="27432" marB="27432">
                    <a:solidFill>
                      <a:srgbClr val="FFFFFF"/>
                    </a:solidFill>
                  </a:tcPr>
                </a:tc>
                <a:tc>
                  <a:txBody>
                    <a:bodyPr wrap="square"/>
                    <a:lstStyle/>
                    <a:p>
                      <a:r>
                        <a:rPr sz="1000" b="0">
                          <a:solidFill>
                            <a:srgbClr val="333333"/>
                          </a:solidFill>
                          <a:latin typeface="Calibri"/>
                        </a:rPr>
                        <a:t>133k</a:t>
                      </a:r>
                    </a:p>
                  </a:txBody>
                  <a:tcPr marL="54864" marR="54864" marT="27432" marB="27432">
                    <a:solidFill>
                      <a:srgbClr val="FFFFFF"/>
                    </a:solidFill>
                  </a:tcPr>
                </a:tc>
                <a:tc>
                  <a:txBody>
                    <a:bodyPr wrap="square"/>
                    <a:lstStyle/>
                    <a:p>
                      <a:r>
                        <a:rPr sz="1000" b="0">
                          <a:solidFill>
                            <a:srgbClr val="333333"/>
                          </a:solidFill>
                          <a:latin typeface="Calibri"/>
                        </a:rPr>
                        <a:t>141k</a:t>
                      </a:r>
                    </a:p>
                  </a:txBody>
                  <a:tcPr marL="54864" marR="54864" marT="27432" marB="27432">
                    <a:solidFill>
                      <a:srgbClr val="FFFFFF"/>
                    </a:solidFill>
                  </a:tcPr>
                </a:tc>
                <a:tc>
                  <a:txBody>
                    <a:bodyPr wrap="square"/>
                    <a:lstStyle/>
                    <a:p>
                      <a:r>
                        <a:rPr sz="1000" b="0">
                          <a:solidFill>
                            <a:srgbClr val="333333"/>
                          </a:solidFill>
                          <a:latin typeface="Calibri"/>
                        </a:rPr>
                        <a:t>−6%</a:t>
                      </a:r>
                    </a:p>
                  </a:txBody>
                  <a:tcPr marL="54864" marR="54864" marT="27432" marB="27432">
                    <a:solidFill>
                      <a:srgbClr val="FFFFFF"/>
                    </a:solidFill>
                  </a:tcPr>
                </a:tc>
                <a:tc>
                  <a:txBody>
                    <a:bodyPr wrap="square"/>
                    <a:lstStyle/>
                    <a:p>
                      <a:r>
                        <a:rPr sz="1000" b="0">
                          <a:solidFill>
                            <a:srgbClr val="333333"/>
                          </a:solidFill>
                          <a:latin typeface="Calibri"/>
                        </a:rPr>
                        <a:t>0.70 / 2.0</a:t>
                      </a:r>
                    </a:p>
                  </a:txBody>
                  <a:tcPr marL="54864" marR="54864" marT="27432" marB="27432">
                    <a:solidFill>
                      <a:srgbClr val="FFFFFF"/>
                    </a:solidFill>
                  </a:tcPr>
                </a:tc>
                <a:tc>
                  <a:txBody>
                    <a:bodyPr wrap="square"/>
                    <a:lstStyle/>
                    <a:p>
                      <a:r>
                        <a:rPr sz="1000" b="0">
                          <a:solidFill>
                            <a:srgbClr val="333333"/>
                          </a:solidFill>
                          <a:latin typeface="Calibri"/>
                        </a:rPr>
                        <a:t>0.65 / 1.6</a:t>
                      </a:r>
                    </a:p>
                  </a:txBody>
                  <a:tcPr marL="54864" marR="54864" marT="27432" marB="27432">
                    <a:solidFill>
                      <a:srgbClr val="FFFFFF"/>
                    </a:solidFill>
                  </a:tcPr>
                </a:tc>
                <a:tc>
                  <a:txBody>
                    <a:bodyPr wrap="square"/>
                    <a:lstStyle/>
                    <a:p>
                      <a:r>
                        <a:rPr sz="1000" b="0">
                          <a:solidFill>
                            <a:srgbClr val="333333"/>
                          </a:solidFill>
                          <a:latin typeface="Calibri"/>
                        </a:rPr>
                        <a:t>Flights on/off are the ideal identification pattern</a:t>
                      </a:r>
                    </a:p>
                  </a:txBody>
                  <a:tcPr marL="54864" marR="54864" marT="27432" marB="27432">
                    <a:solidFill>
                      <a:srgbClr val="FFFFFF"/>
                    </a:solidFill>
                  </a:tcPr>
                </a:tc>
              </a:tr>
            </a:tbl>
          </a:graphicData>
        </a:graphic>
      </p:graphicFrame>
      <p:sp>
        <p:nvSpPr>
          <p:cNvPr id="9" name="TextBox 8"/>
          <p:cNvSpPr txBox="1"/>
          <p:nvPr/>
        </p:nvSpPr>
        <p:spPr>
          <a:xfrm>
            <a:off x="548640" y="5532120"/>
            <a:ext cx="11064240" cy="731520"/>
          </a:xfrm>
          <a:prstGeom prst="rect">
            <a:avLst/>
          </a:prstGeom>
          <a:noFill/>
        </p:spPr>
        <p:txBody>
          <a:bodyPr wrap="square" lIns="45720" rIns="45720" tIns="27432" bIns="27432" anchor="t">
            <a:spAutoFit/>
          </a:bodyPr>
          <a:lstStyle/>
          <a:p>
            <a:pPr algn="l"/>
            <a:r>
              <a:rPr sz="1200" b="0" i="0">
                <a:solidFill>
                  <a:srgbClr val="1E2761"/>
                </a:solidFill>
                <a:latin typeface="Calibri"/>
              </a:rPr>
              <a:t>The pattern generalises: channels that vary (flights, pulses) are measurable; channels that never vary (an always-on field force) are not — however big. Variation in spend is the price of measurement. That is the argument for planned experiments.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04</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Calibration and Bayesian MMM</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Models without calibration are confident lies. One clean experiment per major channel per year beats a fancier model.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25 /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GEO HOLDOUT</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The DTC-TV geo holdout: flight 7 dark in 10 of 40 DMAs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Difference-in-differences on the DMA panel: 8 pre-weeks, 8 test weeks. glucoren_geo_lift_dtc_tv.csv</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26 / 40</a:t>
            </a:r>
          </a:p>
        </p:txBody>
      </p:sp>
      <p:pic>
        <p:nvPicPr>
          <p:cNvPr id="8" name="Picture 7" descr="geo.png"/>
          <p:cNvPicPr>
            <a:picLocks noChangeAspect="1"/>
          </p:cNvPicPr>
          <p:nvPr/>
        </p:nvPicPr>
        <p:blipFill>
          <a:blip r:embed="rId2"/>
          <a:stretch>
            <a:fillRect/>
          </a:stretch>
        </p:blipFill>
        <p:spPr>
          <a:xfrm>
            <a:off x="548640" y="2011680"/>
            <a:ext cx="6949440" cy="2169068"/>
          </a:xfrm>
          <a:prstGeom prst="rect">
            <a:avLst/>
          </a:prstGeom>
        </p:spPr>
      </p:pic>
      <p:graphicFrame>
        <p:nvGraphicFramePr>
          <p:cNvPr id="9" name="Table 8"/>
          <p:cNvGraphicFramePr>
            <a:graphicFrameLocks noGrp="1"/>
          </p:cNvGraphicFramePr>
          <p:nvPr/>
        </p:nvGraphicFramePr>
        <p:xfrm>
          <a:off x="7772400" y="2011680"/>
          <a:ext cx="3840480" cy="1152144"/>
        </p:xfrm>
        <a:graphic>
          <a:graphicData uri="http://schemas.openxmlformats.org/drawingml/2006/table">
            <a:tbl>
              <a:tblPr firstRow="1" bandRow="1">
                <a:tableStyleId>{5C22544A-7EE6-4342-B048-85BDC9FD1C3A}</a:tableStyleId>
              </a:tblPr>
              <a:tblGrid>
                <a:gridCol w="1463040"/>
                <a:gridCol w="822960"/>
                <a:gridCol w="822960"/>
                <a:gridCol w="731520"/>
              </a:tblGrid>
              <a:tr h="384048">
                <a:tc>
                  <a:txBody>
                    <a:bodyPr wrap="square"/>
                    <a:lstStyle/>
                    <a:p>
                      <a:r>
                        <a:rPr sz="1050" b="1">
                          <a:solidFill>
                            <a:srgbClr val="FFFFFF"/>
                          </a:solidFill>
                          <a:latin typeface="Calibri"/>
                        </a:rPr>
                        <a:t/>
                      </a:r>
                    </a:p>
                  </a:txBody>
                  <a:tcPr marL="54864" marR="54864" marT="27432" marB="27432">
                    <a:solidFill>
                      <a:srgbClr val="1E2761"/>
                    </a:solidFill>
                  </a:tcPr>
                </a:tc>
                <a:tc>
                  <a:txBody>
                    <a:bodyPr wrap="square"/>
                    <a:lstStyle/>
                    <a:p>
                      <a:r>
                        <a:rPr sz="1050" b="1">
                          <a:solidFill>
                            <a:srgbClr val="FFFFFF"/>
                          </a:solidFill>
                          <a:latin typeface="Calibri"/>
                        </a:rPr>
                        <a:t>Pre (8 wk)</a:t>
                      </a:r>
                    </a:p>
                  </a:txBody>
                  <a:tcPr marL="54864" marR="54864" marT="27432" marB="27432">
                    <a:solidFill>
                      <a:srgbClr val="1E2761"/>
                    </a:solidFill>
                  </a:tcPr>
                </a:tc>
                <a:tc>
                  <a:txBody>
                    <a:bodyPr wrap="square"/>
                    <a:lstStyle/>
                    <a:p>
                      <a:r>
                        <a:rPr sz="1050" b="1">
                          <a:solidFill>
                            <a:srgbClr val="FFFFFF"/>
                          </a:solidFill>
                          <a:latin typeface="Calibri"/>
                        </a:rPr>
                        <a:t>Test (8 wk)</a:t>
                      </a:r>
                    </a:p>
                  </a:txBody>
                  <a:tcPr marL="54864" marR="54864" marT="27432" marB="27432">
                    <a:solidFill>
                      <a:srgbClr val="1E2761"/>
                    </a:solidFill>
                  </a:tcPr>
                </a:tc>
                <a:tc>
                  <a:txBody>
                    <a:bodyPr wrap="square"/>
                    <a:lstStyle/>
                    <a:p>
                      <a:r>
                        <a:rPr sz="1050" b="1">
                          <a:solidFill>
                            <a:srgbClr val="FFFFFF"/>
                          </a:solidFill>
                          <a:latin typeface="Calibri"/>
                        </a:rPr>
                        <a:t>Growth</a:t>
                      </a:r>
                    </a:p>
                  </a:txBody>
                  <a:tcPr marL="54864" marR="54864" marT="27432" marB="27432">
                    <a:solidFill>
                      <a:srgbClr val="1E2761"/>
                    </a:solidFill>
                  </a:tcPr>
                </a:tc>
              </a:tr>
              <a:tr h="384048">
                <a:tc>
                  <a:txBody>
                    <a:bodyPr wrap="square"/>
                    <a:lstStyle/>
                    <a:p>
                      <a:r>
                        <a:rPr sz="1050" b="1">
                          <a:solidFill>
                            <a:srgbClr val="1E2761"/>
                          </a:solidFill>
                          <a:latin typeface="Calibri"/>
                        </a:rPr>
                        <a:t>Exposed (30 DMAs)</a:t>
                      </a:r>
                    </a:p>
                  </a:txBody>
                  <a:tcPr marL="54864" marR="54864" marT="27432" marB="27432">
                    <a:solidFill>
                      <a:srgbClr val="FFFFFF"/>
                    </a:solidFill>
                  </a:tcPr>
                </a:tc>
                <a:tc>
                  <a:txBody>
                    <a:bodyPr wrap="square"/>
                    <a:lstStyle/>
                    <a:p>
                      <a:r>
                        <a:rPr sz="1050" b="0">
                          <a:solidFill>
                            <a:srgbClr val="333333"/>
                          </a:solidFill>
                          <a:latin typeface="Calibri"/>
                        </a:rPr>
                        <a:t>74,139</a:t>
                      </a:r>
                    </a:p>
                  </a:txBody>
                  <a:tcPr marL="54864" marR="54864" marT="27432" marB="27432">
                    <a:solidFill>
                      <a:srgbClr val="FFFFFF"/>
                    </a:solidFill>
                  </a:tcPr>
                </a:tc>
                <a:tc>
                  <a:txBody>
                    <a:bodyPr wrap="square"/>
                    <a:lstStyle/>
                    <a:p>
                      <a:r>
                        <a:rPr sz="1050" b="0">
                          <a:solidFill>
                            <a:srgbClr val="333333"/>
                          </a:solidFill>
                          <a:latin typeface="Calibri"/>
                        </a:rPr>
                        <a:t>82,959</a:t>
                      </a:r>
                    </a:p>
                  </a:txBody>
                  <a:tcPr marL="54864" marR="54864" marT="27432" marB="27432">
                    <a:solidFill>
                      <a:srgbClr val="FFFFFF"/>
                    </a:solidFill>
                  </a:tcPr>
                </a:tc>
                <a:tc>
                  <a:txBody>
                    <a:bodyPr wrap="square"/>
                    <a:lstStyle/>
                    <a:p>
                      <a:r>
                        <a:rPr sz="1050" b="0">
                          <a:solidFill>
                            <a:srgbClr val="333333"/>
                          </a:solidFill>
                          <a:latin typeface="Calibri"/>
                        </a:rPr>
                        <a:t>1.119</a:t>
                      </a:r>
                    </a:p>
                  </a:txBody>
                  <a:tcPr marL="54864" marR="54864" marT="27432" marB="27432">
                    <a:solidFill>
                      <a:srgbClr val="FFFFFF"/>
                    </a:solidFill>
                  </a:tcPr>
                </a:tc>
              </a:tr>
              <a:tr h="384048">
                <a:tc>
                  <a:txBody>
                    <a:bodyPr wrap="square"/>
                    <a:lstStyle/>
                    <a:p>
                      <a:r>
                        <a:rPr sz="1050" b="1">
                          <a:solidFill>
                            <a:srgbClr val="1E2761"/>
                          </a:solidFill>
                          <a:latin typeface="Calibri"/>
                        </a:rPr>
                        <a:t>Holdout (10 DMAs)</a:t>
                      </a:r>
                    </a:p>
                  </a:txBody>
                  <a:tcPr marL="54864" marR="54864" marT="27432" marB="27432">
                    <a:solidFill>
                      <a:srgbClr val="F3F6FC"/>
                    </a:solidFill>
                  </a:tcPr>
                </a:tc>
                <a:tc>
                  <a:txBody>
                    <a:bodyPr wrap="square"/>
                    <a:lstStyle/>
                    <a:p>
                      <a:r>
                        <a:rPr sz="1050" b="0">
                          <a:solidFill>
                            <a:srgbClr val="333333"/>
                          </a:solidFill>
                          <a:latin typeface="Calibri"/>
                        </a:rPr>
                        <a:t>17,719</a:t>
                      </a:r>
                    </a:p>
                  </a:txBody>
                  <a:tcPr marL="54864" marR="54864" marT="27432" marB="27432">
                    <a:solidFill>
                      <a:srgbClr val="F3F6FC"/>
                    </a:solidFill>
                  </a:tcPr>
                </a:tc>
                <a:tc>
                  <a:txBody>
                    <a:bodyPr wrap="square"/>
                    <a:lstStyle/>
                    <a:p>
                      <a:r>
                        <a:rPr sz="1050" b="0">
                          <a:solidFill>
                            <a:srgbClr val="333333"/>
                          </a:solidFill>
                          <a:latin typeface="Calibri"/>
                        </a:rPr>
                        <a:t>17,453</a:t>
                      </a:r>
                    </a:p>
                  </a:txBody>
                  <a:tcPr marL="54864" marR="54864" marT="27432" marB="27432">
                    <a:solidFill>
                      <a:srgbClr val="F3F6FC"/>
                    </a:solidFill>
                  </a:tcPr>
                </a:tc>
                <a:tc>
                  <a:txBody>
                    <a:bodyPr wrap="square"/>
                    <a:lstStyle/>
                    <a:p>
                      <a:r>
                        <a:rPr sz="1050" b="0">
                          <a:solidFill>
                            <a:srgbClr val="333333"/>
                          </a:solidFill>
                          <a:latin typeface="Calibri"/>
                        </a:rPr>
                        <a:t>0.985</a:t>
                      </a:r>
                    </a:p>
                  </a:txBody>
                  <a:tcPr marL="54864" marR="54864" marT="27432" marB="27432">
                    <a:solidFill>
                      <a:srgbClr val="F3F6FC"/>
                    </a:solidFill>
                  </a:tcPr>
                </a:tc>
              </a:tr>
            </a:tbl>
          </a:graphicData>
        </a:graphic>
      </p:graphicFrame>
      <p:sp>
        <p:nvSpPr>
          <p:cNvPr id="10" name="Rectangle 9"/>
          <p:cNvSpPr/>
          <p:nvPr/>
        </p:nvSpPr>
        <p:spPr>
          <a:xfrm>
            <a:off x="7772400" y="3291840"/>
            <a:ext cx="3840480" cy="30175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3401568"/>
            <a:ext cx="3566160" cy="365760"/>
          </a:xfrm>
          <a:prstGeom prst="rect">
            <a:avLst/>
          </a:prstGeom>
          <a:noFill/>
        </p:spPr>
        <p:txBody>
          <a:bodyPr wrap="square" lIns="45720" rIns="45720" tIns="27432" bIns="27432" anchor="t">
            <a:spAutoFit/>
          </a:bodyPr>
          <a:lstStyle/>
          <a:p>
            <a:pPr algn="l"/>
            <a:r>
              <a:rPr sz="1400" b="1" i="0">
                <a:solidFill>
                  <a:srgbClr val="1E2761"/>
                </a:solidFill>
                <a:latin typeface="Calibri"/>
              </a:rPr>
              <a:t>Result</a:t>
            </a:r>
          </a:p>
        </p:txBody>
      </p:sp>
      <p:sp>
        <p:nvSpPr>
          <p:cNvPr id="12" name="TextBox 11"/>
          <p:cNvSpPr txBox="1"/>
          <p:nvPr/>
        </p:nvSpPr>
        <p:spPr>
          <a:xfrm>
            <a:off x="7882127" y="3785616"/>
            <a:ext cx="3611880" cy="243230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Lift = 82,959 − 74,139 × 0.985 = 9,933 TRx (13.6%) in exposed DMAs</a:t>
            </a:r>
          </a:p>
          <a:p>
            <a:pPr>
              <a:spcAft>
                <a:spcPts val="500"/>
              </a:spcAft>
            </a:pPr>
            <a:r>
              <a:rPr sz="1050" b="1">
                <a:solidFill>
                  <a:srgbClr val="FF6B6B"/>
                </a:solidFill>
                <a:latin typeface="Calibri"/>
              </a:rPr>
              <a:t>▸ </a:t>
            </a:r>
            <a:r>
              <a:rPr sz="1050">
                <a:solidFill>
                  <a:srgbClr val="333333"/>
                </a:solidFill>
                <a:latin typeface="Calibri"/>
              </a:rPr>
              <a:t>TV spend in those DMAs: $2.36M → experiment ROI 1.05</a:t>
            </a:r>
          </a:p>
          <a:p>
            <a:pPr>
              <a:spcAft>
                <a:spcPts val="500"/>
              </a:spcAft>
            </a:pPr>
            <a:r>
              <a:rPr sz="1050" b="1">
                <a:solidFill>
                  <a:srgbClr val="FF6B6B"/>
                </a:solidFill>
                <a:latin typeface="Calibri"/>
              </a:rPr>
              <a:t>▸ </a:t>
            </a:r>
            <a:r>
              <a:rPr sz="1050">
                <a:solidFill>
                  <a:srgbClr val="333333"/>
                </a:solidFill>
                <a:latin typeface="Calibri"/>
              </a:rPr>
              <a:t>MMM's view of the same flight and DMAs: 0.97. Truth: 1.08.</a:t>
            </a:r>
          </a:p>
          <a:p>
            <a:pPr>
              <a:spcAft>
                <a:spcPts val="500"/>
              </a:spcAft>
            </a:pPr>
            <a:r>
              <a:rPr sz="1050" b="1">
                <a:solidFill>
                  <a:srgbClr val="FF6B6B"/>
                </a:solidFill>
                <a:latin typeface="Calibri"/>
              </a:rPr>
              <a:t>▸ </a:t>
            </a:r>
            <a:r>
              <a:rPr sz="1050">
                <a:solidFill>
                  <a:srgbClr val="333333"/>
                </a:solidFill>
                <a:latin typeface="Calibri"/>
              </a:rPr>
              <a:t>Agreement inside the interval → the TV coefficient is credible. Disagreement → the experiment wins; it has the cleaner identification.</a:t>
            </a:r>
          </a:p>
        </p:txBody>
      </p:sp>
      <p:sp>
        <p:nvSpPr>
          <p:cNvPr id="13" name="Rectangle 12"/>
          <p:cNvSpPr/>
          <p:nvPr/>
        </p:nvSpPr>
        <p:spPr>
          <a:xfrm>
            <a:off x="548640" y="4434840"/>
            <a:ext cx="6949440" cy="1874519"/>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4544568"/>
            <a:ext cx="6675120" cy="365760"/>
          </a:xfrm>
          <a:prstGeom prst="rect">
            <a:avLst/>
          </a:prstGeom>
          <a:noFill/>
        </p:spPr>
        <p:txBody>
          <a:bodyPr wrap="square" lIns="45720" rIns="45720" tIns="27432" bIns="27432" anchor="t">
            <a:spAutoFit/>
          </a:bodyPr>
          <a:lstStyle/>
          <a:p>
            <a:pPr algn="l"/>
            <a:r>
              <a:rPr sz="1400" b="1" i="0">
                <a:solidFill>
                  <a:srgbClr val="1E2761"/>
                </a:solidFill>
                <a:latin typeface="Calibri"/>
              </a:rPr>
              <a:t>What could make the difference-in-differences wrong</a:t>
            </a:r>
          </a:p>
        </p:txBody>
      </p:sp>
      <p:sp>
        <p:nvSpPr>
          <p:cNvPr id="15" name="TextBox 14"/>
          <p:cNvSpPr txBox="1"/>
          <p:nvPr/>
        </p:nvSpPr>
        <p:spPr>
          <a:xfrm>
            <a:off x="658368" y="4928616"/>
            <a:ext cx="6720840" cy="1289303"/>
          </a:xfrm>
          <a:prstGeom prst="rect">
            <a:avLst/>
          </a:prstGeom>
          <a:noFill/>
        </p:spPr>
        <p:txBody>
          <a:bodyPr wrap="square" lIns="45720" rIns="45720">
            <a:spAutoFit/>
          </a:bodyPr>
          <a:lstStyle/>
          <a:p>
            <a:pPr>
              <a:spcAft>
                <a:spcPts val="500"/>
              </a:spcAft>
            </a:pPr>
            <a:r>
              <a:rPr sz="1050" b="1">
                <a:solidFill>
                  <a:srgbClr val="FF6B6B"/>
                </a:solidFill>
                <a:latin typeface="Calibri"/>
              </a:rPr>
              <a:t>▸ </a:t>
            </a:r>
            <a:r>
              <a:rPr sz="1050">
                <a:solidFill>
                  <a:srgbClr val="333333"/>
                </a:solidFill>
                <a:latin typeface="Calibri"/>
              </a:rPr>
              <a:t>Spillover: TV signal leaks across DMA borders (holdout is partly exposed → lift understated)</a:t>
            </a:r>
          </a:p>
          <a:p>
            <a:pPr>
              <a:spcAft>
                <a:spcPts val="500"/>
              </a:spcAft>
            </a:pPr>
            <a:r>
              <a:rPr sz="1050" b="1">
                <a:solidFill>
                  <a:srgbClr val="FF6B6B"/>
                </a:solidFill>
                <a:latin typeface="Calibri"/>
              </a:rPr>
              <a:t>▸ </a:t>
            </a:r>
            <a:r>
              <a:rPr sz="1050">
                <a:solidFill>
                  <a:srgbClr val="333333"/>
                </a:solidFill>
                <a:latin typeface="Calibri"/>
              </a:rPr>
              <a:t>Non-parallel trends: the ten dark DMAs were already growing differently (check the pre-period)</a:t>
            </a:r>
          </a:p>
          <a:p>
            <a:pPr>
              <a:spcAft>
                <a:spcPts val="500"/>
              </a:spcAft>
            </a:pPr>
            <a:r>
              <a:rPr sz="1050" b="1">
                <a:solidFill>
                  <a:srgbClr val="FF6B6B"/>
                </a:solidFill>
                <a:latin typeface="Calibri"/>
              </a:rPr>
              <a:t>▸ </a:t>
            </a:r>
            <a:r>
              <a:rPr sz="1050">
                <a:solidFill>
                  <a:srgbClr val="333333"/>
                </a:solidFill>
                <a:latin typeface="Calibri"/>
              </a:rPr>
              <a:t>Too few units: 10 dark DMAs is thin — real tests use matched pairs and a power calculation before the flight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THE TRIANGLE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Calibration — the triangle every MMM needs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Each corner fixes a weakness of the other two. Build a portfolio of past lifts; each one tightens the next model.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27 / 40</a:t>
            </a:r>
          </a:p>
        </p:txBody>
      </p:sp>
      <p:sp>
        <p:nvSpPr>
          <p:cNvPr id="8" name="Rectangle 7"/>
          <p:cNvSpPr/>
          <p:nvPr/>
        </p:nvSpPr>
        <p:spPr>
          <a:xfrm>
            <a:off x="548640" y="2103120"/>
            <a:ext cx="3611880" cy="9144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MMM</a:t>
            </a:r>
          </a:p>
        </p:txBody>
      </p:sp>
      <p:sp>
        <p:nvSpPr>
          <p:cNvPr id="9" name="TextBox 8"/>
          <p:cNvSpPr txBox="1"/>
          <p:nvPr/>
        </p:nvSpPr>
        <p:spPr>
          <a:xfrm>
            <a:off x="640080" y="3108960"/>
            <a:ext cx="3429000" cy="822960"/>
          </a:xfrm>
          <a:prstGeom prst="rect">
            <a:avLst/>
          </a:prstGeom>
          <a:noFill/>
        </p:spPr>
        <p:txBody>
          <a:bodyPr wrap="square" lIns="45720" rIns="45720" tIns="27432" bIns="27432" anchor="t">
            <a:spAutoFit/>
          </a:bodyPr>
          <a:lstStyle/>
          <a:p>
            <a:pPr algn="l"/>
            <a:r>
              <a:rPr sz="1100" b="0" i="0">
                <a:solidFill>
                  <a:srgbClr val="333333"/>
                </a:solidFill>
                <a:latin typeface="Calibri"/>
              </a:rPr>
              <a:t>System view, every channel, annual planning. Weak on causality.</a:t>
            </a:r>
          </a:p>
        </p:txBody>
      </p:sp>
      <p:sp>
        <p:nvSpPr>
          <p:cNvPr id="10" name="Rectangle 9"/>
          <p:cNvSpPr/>
          <p:nvPr/>
        </p:nvSpPr>
        <p:spPr>
          <a:xfrm>
            <a:off x="4297680" y="2103120"/>
            <a:ext cx="3611880" cy="91440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Experiments</a:t>
            </a:r>
          </a:p>
        </p:txBody>
      </p:sp>
      <p:sp>
        <p:nvSpPr>
          <p:cNvPr id="11" name="TextBox 10"/>
          <p:cNvSpPr txBox="1"/>
          <p:nvPr/>
        </p:nvSpPr>
        <p:spPr>
          <a:xfrm>
            <a:off x="4389120" y="3108960"/>
            <a:ext cx="3429000" cy="822960"/>
          </a:xfrm>
          <a:prstGeom prst="rect">
            <a:avLst/>
          </a:prstGeom>
          <a:noFill/>
        </p:spPr>
        <p:txBody>
          <a:bodyPr wrap="square" lIns="45720" rIns="45720" tIns="27432" bIns="27432" anchor="t">
            <a:spAutoFit/>
          </a:bodyPr>
          <a:lstStyle/>
          <a:p>
            <a:pPr algn="l"/>
            <a:r>
              <a:rPr sz="1100" b="0" i="0">
                <a:solidFill>
                  <a:srgbClr val="333333"/>
                </a:solidFill>
                <a:latin typeface="Calibri"/>
              </a:rPr>
              <a:t>Causal, one channel at a time. Expensive in dark cells and time.</a:t>
            </a:r>
          </a:p>
        </p:txBody>
      </p:sp>
      <p:sp>
        <p:nvSpPr>
          <p:cNvPr id="12" name="Rectangle 11"/>
          <p:cNvSpPr/>
          <p:nvPr/>
        </p:nvSpPr>
        <p:spPr>
          <a:xfrm>
            <a:off x="8046720" y="2103120"/>
            <a:ext cx="3611880" cy="914400"/>
          </a:xfrm>
          <a:prstGeom prst="rect">
            <a:avLst/>
          </a:prstGeom>
          <a:solidFill>
            <a:srgbClr val="2E3B8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600" b="1">
                <a:solidFill>
                  <a:srgbClr val="FFFFFF"/>
                </a:solidFill>
                <a:latin typeface="Calibri"/>
              </a:rPr>
              <a:t>Digital attribution / CRM</a:t>
            </a:r>
          </a:p>
        </p:txBody>
      </p:sp>
      <p:sp>
        <p:nvSpPr>
          <p:cNvPr id="13" name="TextBox 12"/>
          <p:cNvSpPr txBox="1"/>
          <p:nvPr/>
        </p:nvSpPr>
        <p:spPr>
          <a:xfrm>
            <a:off x="8138160" y="3108960"/>
            <a:ext cx="3429000" cy="822960"/>
          </a:xfrm>
          <a:prstGeom prst="rect">
            <a:avLst/>
          </a:prstGeom>
          <a:noFill/>
        </p:spPr>
        <p:txBody>
          <a:bodyPr wrap="square" lIns="45720" rIns="45720" tIns="27432" bIns="27432" anchor="t">
            <a:spAutoFit/>
          </a:bodyPr>
          <a:lstStyle/>
          <a:p>
            <a:pPr algn="l"/>
            <a:r>
              <a:rPr sz="1100" b="0" i="0">
                <a:solidFill>
                  <a:srgbClr val="333333"/>
                </a:solidFill>
                <a:latin typeface="Calibri"/>
              </a:rPr>
              <a:t>Fast, tactical, person-level for HCP digital. Blind offline; privacy-limited.</a:t>
            </a:r>
          </a:p>
        </p:txBody>
      </p:sp>
      <p:sp>
        <p:nvSpPr>
          <p:cNvPr id="14" name="Rectangle 13"/>
          <p:cNvSpPr/>
          <p:nvPr/>
        </p:nvSpPr>
        <p:spPr>
          <a:xfrm>
            <a:off x="548640" y="4023360"/>
            <a:ext cx="5394960" cy="2286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1330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How the experiment enters the model</a:t>
            </a:r>
          </a:p>
        </p:txBody>
      </p:sp>
      <p:sp>
        <p:nvSpPr>
          <p:cNvPr id="16" name="TextBox 15"/>
          <p:cNvSpPr txBox="1"/>
          <p:nvPr/>
        </p:nvSpPr>
        <p:spPr>
          <a:xfrm>
            <a:off x="658368" y="4517136"/>
            <a:ext cx="5166360" cy="170078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OLS: check the coefficient against the lift; if outside the interval, constrain the grid or add the geo-week rows to the regression (a panel MMM)</a:t>
            </a:r>
          </a:p>
          <a:p>
            <a:pPr>
              <a:spcAft>
                <a:spcPts val="500"/>
              </a:spcAft>
            </a:pPr>
            <a:r>
              <a:rPr sz="1100" b="1">
                <a:solidFill>
                  <a:srgbClr val="FF6B6B"/>
                </a:solidFill>
                <a:latin typeface="Calibri"/>
              </a:rPr>
              <a:t>▸ </a:t>
            </a:r>
            <a:r>
              <a:rPr sz="1100">
                <a:solidFill>
                  <a:srgbClr val="333333"/>
                </a:solidFill>
                <a:latin typeface="Calibri"/>
              </a:rPr>
              <a:t>Bayesian: turn the lift into an informative prior on β_TV (mean and sd from the test); the posterior then blends data and experiment</a:t>
            </a:r>
          </a:p>
          <a:p>
            <a:pPr>
              <a:spcAft>
                <a:spcPts val="500"/>
              </a:spcAft>
            </a:pPr>
            <a:r>
              <a:rPr sz="1100" b="1">
                <a:solidFill>
                  <a:srgbClr val="FF6B6B"/>
                </a:solidFill>
                <a:latin typeface="Calibri"/>
              </a:rPr>
              <a:t>▸ </a:t>
            </a:r>
            <a:r>
              <a:rPr sz="1100">
                <a:solidFill>
                  <a:srgbClr val="333333"/>
                </a:solidFill>
                <a:latin typeface="Calibri"/>
              </a:rPr>
              <a:t>Either way: document which experiment, which flight, which DMAs</a:t>
            </a:r>
          </a:p>
        </p:txBody>
      </p:sp>
      <p:sp>
        <p:nvSpPr>
          <p:cNvPr id="17" name="Rectangle 16"/>
          <p:cNvSpPr/>
          <p:nvPr/>
        </p:nvSpPr>
        <p:spPr>
          <a:xfrm>
            <a:off x="6217920" y="4023360"/>
            <a:ext cx="5394960" cy="22860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41330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Cadence and cost</a:t>
            </a:r>
          </a:p>
        </p:txBody>
      </p:sp>
      <p:sp>
        <p:nvSpPr>
          <p:cNvPr id="19" name="TextBox 18"/>
          <p:cNvSpPr txBox="1"/>
          <p:nvPr/>
        </p:nvSpPr>
        <p:spPr>
          <a:xfrm>
            <a:off x="6327648" y="4517136"/>
            <a:ext cx="5166360" cy="170078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One geo-lift per major channel per year is a reasonable target; a $2–3M flight with a 25% dark cell costs ~$0.6M of TV and some TRx</a:t>
            </a:r>
          </a:p>
          <a:p>
            <a:pPr>
              <a:spcAft>
                <a:spcPts val="500"/>
              </a:spcAft>
            </a:pPr>
            <a:r>
              <a:rPr sz="1100" b="1">
                <a:solidFill>
                  <a:srgbClr val="FF6B6B"/>
                </a:solidFill>
                <a:latin typeface="Calibri"/>
              </a:rPr>
              <a:t>▸ </a:t>
            </a:r>
            <a:r>
              <a:rPr sz="1100">
                <a:solidFill>
                  <a:srgbClr val="333333"/>
                </a:solidFill>
                <a:latin typeface="Calibri"/>
              </a:rPr>
              <a:t>Field-force tests are older than MMM: territory-level detailing holdouts, sample stops</a:t>
            </a:r>
          </a:p>
          <a:p>
            <a:pPr>
              <a:spcAft>
                <a:spcPts val="500"/>
              </a:spcAft>
            </a:pPr>
            <a:r>
              <a:rPr sz="1100" b="1">
                <a:solidFill>
                  <a:srgbClr val="FF6B6B"/>
                </a:solidFill>
                <a:latin typeface="Calibri"/>
              </a:rPr>
              <a:t>▸ </a:t>
            </a:r>
            <a:r>
              <a:rPr sz="1100">
                <a:solidFill>
                  <a:srgbClr val="333333"/>
                </a:solidFill>
                <a:latin typeface="Calibri"/>
              </a:rPr>
              <a:t>Digital lift tests (conversion lift, PSA holdouts) are cheap — run them continuously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4 · BAYESIAN MMM</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Bayesian MMM — why the slowdown is worth it, and PyMC-Marketing in 12 lines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Same model class. Priors replace the grid; the sampler returns posteriors on δ, K, s, β — and therefore on ROI.</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28 / 40</a:t>
            </a:r>
          </a:p>
        </p:txBody>
      </p:sp>
      <p:sp>
        <p:nvSpPr>
          <p:cNvPr id="8" name="Rectangle 7"/>
          <p:cNvSpPr/>
          <p:nvPr/>
        </p:nvSpPr>
        <p:spPr>
          <a:xfrm>
            <a:off x="548640" y="2057400"/>
            <a:ext cx="5029200" cy="4206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67128"/>
            <a:ext cx="4754880" cy="365760"/>
          </a:xfrm>
          <a:prstGeom prst="rect">
            <a:avLst/>
          </a:prstGeom>
          <a:noFill/>
        </p:spPr>
        <p:txBody>
          <a:bodyPr wrap="square" lIns="45720" rIns="45720" tIns="27432" bIns="27432" anchor="t">
            <a:spAutoFit/>
          </a:bodyPr>
          <a:lstStyle/>
          <a:p>
            <a:pPr algn="l"/>
            <a:r>
              <a:rPr sz="1400" b="1" i="0">
                <a:solidFill>
                  <a:srgbClr val="1E2761"/>
                </a:solidFill>
                <a:latin typeface="Calibri"/>
              </a:rPr>
              <a:t>Three reasons</a:t>
            </a:r>
          </a:p>
        </p:txBody>
      </p:sp>
      <p:sp>
        <p:nvSpPr>
          <p:cNvPr id="10" name="TextBox 9"/>
          <p:cNvSpPr txBox="1"/>
          <p:nvPr/>
        </p:nvSpPr>
        <p:spPr>
          <a:xfrm>
            <a:off x="658368" y="2551176"/>
            <a:ext cx="4800600" cy="3621023"/>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Identifiability made explicit: </a:t>
            </a:r>
            <a:r>
              <a:rPr sz="1100">
                <a:solidFill>
                  <a:srgbClr val="333333"/>
                </a:solidFill>
                <a:latin typeface="Calibri"/>
              </a:rPr>
              <a:t>δ and β trade off (a longer tail with a smaller β fits the same curve). OLS picks one pair and pretends; the posterior shows the ridge.</a:t>
            </a:r>
          </a:p>
          <a:p>
            <a:pPr>
              <a:spcAft>
                <a:spcPts val="500"/>
              </a:spcAft>
            </a:pPr>
            <a:r>
              <a:rPr sz="1100" b="1">
                <a:solidFill>
                  <a:srgbClr val="FF6B6B"/>
                </a:solidFill>
                <a:latin typeface="Calibri"/>
              </a:rPr>
              <a:t>▸ </a:t>
            </a:r>
            <a:r>
              <a:rPr b="1" sz="1100">
                <a:solidFill>
                  <a:srgbClr val="1E2761"/>
                </a:solidFill>
                <a:latin typeface="Calibri"/>
              </a:rPr>
              <a:t>Evidence outside the data: </a:t>
            </a:r>
            <a:r>
              <a:rPr sz="1100">
                <a:solidFill>
                  <a:srgbClr val="333333"/>
                </a:solidFill>
                <a:latin typeface="Calibri"/>
              </a:rPr>
              <a:t>last year's geo-lift, ten years of detailing literature, the agency's prior model — all become priors instead of being ignored.</a:t>
            </a:r>
          </a:p>
          <a:p>
            <a:pPr>
              <a:spcAft>
                <a:spcPts val="500"/>
              </a:spcAft>
            </a:pPr>
            <a:r>
              <a:rPr sz="1100" b="1">
                <a:solidFill>
                  <a:srgbClr val="FF6B6B"/>
                </a:solidFill>
                <a:latin typeface="Calibri"/>
              </a:rPr>
              <a:t>▸ </a:t>
            </a:r>
            <a:r>
              <a:rPr b="1" sz="1100">
                <a:solidFill>
                  <a:srgbClr val="1E2761"/>
                </a:solidFill>
                <a:latin typeface="Calibri"/>
              </a:rPr>
              <a:t>Decision-native questions: </a:t>
            </a:r>
            <a:r>
              <a:rPr sz="1100">
                <a:solidFill>
                  <a:srgbClr val="333333"/>
                </a:solidFill>
                <a:latin typeface="Calibri"/>
              </a:rPr>
              <a:t>'P(ROI_digital &gt; ROI_TV + 1)' or 'probability the reallocation loses money' come straight from the draws.</a:t>
            </a:r>
          </a:p>
        </p:txBody>
      </p:sp>
      <p:sp>
        <p:nvSpPr>
          <p:cNvPr id="11" name="Rectangle 10"/>
          <p:cNvSpPr/>
          <p:nvPr/>
        </p:nvSpPr>
        <p:spPr>
          <a:xfrm>
            <a:off x="5760720" y="2057400"/>
            <a:ext cx="5852160" cy="3108960"/>
          </a:xfrm>
          <a:prstGeom prst="rect">
            <a:avLst/>
          </a:prstGeom>
          <a:solidFill>
            <a:srgbClr val="1A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97880" y="2148840"/>
            <a:ext cx="5577840" cy="2926079"/>
          </a:xfrm>
          <a:prstGeom prst="rect">
            <a:avLst/>
          </a:prstGeom>
          <a:noFill/>
        </p:spPr>
        <p:txBody>
          <a:bodyPr wrap="square">
            <a:spAutoFit/>
          </a:bodyPr>
          <a:lstStyle/>
          <a:p>
            <a:r>
              <a:rPr sz="950">
                <a:solidFill>
                  <a:srgbClr val="CADCFC"/>
                </a:solidFill>
                <a:latin typeface="Consolas"/>
              </a:rPr>
              <a:t>from pymc_marketing.mmm import MMM, GeometricAdstock, LogisticSaturation</a:t>
            </a:r>
          </a:p>
          <a:p>
            <a:r>
              <a:rPr sz="950">
                <a:solidFill>
                  <a:srgbClr val="CADCFC"/>
                </a:solidFill>
                <a:latin typeface="Consolas"/>
              </a:rPr>
              <a:t/>
            </a:r>
          </a:p>
          <a:p>
            <a:r>
              <a:rPr sz="950">
                <a:solidFill>
                  <a:srgbClr val="CADCFC"/>
                </a:solidFill>
                <a:latin typeface="Consolas"/>
              </a:rPr>
              <a:t>mmm = MMM(</a:t>
            </a:r>
          </a:p>
          <a:p>
            <a:r>
              <a:rPr sz="950">
                <a:solidFill>
                  <a:srgbClr val="CADCFC"/>
                </a:solidFill>
                <a:latin typeface="Consolas"/>
              </a:rPr>
              <a:t>    date_column="week",</a:t>
            </a:r>
          </a:p>
          <a:p>
            <a:r>
              <a:rPr sz="950">
                <a:solidFill>
                  <a:srgbClr val="CADCFC"/>
                </a:solidFill>
                <a:latin typeface="Consolas"/>
              </a:rPr>
              <a:t>    channel_columns=[f"{c}_spend" for c in CHANNELS],</a:t>
            </a:r>
          </a:p>
          <a:p>
            <a:r>
              <a:rPr sz="950">
                <a:solidFill>
                  <a:srgbClr val="CADCFC"/>
                </a:solidFill>
                <a:latin typeface="Consolas"/>
              </a:rPr>
              <a:t>    control_columns=["ramp","season_sin","season_cos",</a:t>
            </a:r>
          </a:p>
          <a:p>
            <a:r>
              <a:rPr sz="950">
                <a:solidFill>
                  <a:srgbClr val="CADCFC"/>
                </a:solidFill>
                <a:latin typeface="Consolas"/>
              </a:rPr>
              <a:t>                     "competitor","pbm_preferred"],</a:t>
            </a:r>
          </a:p>
          <a:p>
            <a:r>
              <a:rPr sz="950">
                <a:solidFill>
                  <a:srgbClr val="CADCFC"/>
                </a:solidFill>
                <a:latin typeface="Consolas"/>
              </a:rPr>
              <a:t>    adstock=GeometricAdstock(l_max=10),</a:t>
            </a:r>
          </a:p>
          <a:p>
            <a:r>
              <a:rPr sz="950">
                <a:solidFill>
                  <a:srgbClr val="CADCFC"/>
                </a:solidFill>
                <a:latin typeface="Consolas"/>
              </a:rPr>
              <a:t>    saturation=LogisticSaturation())</a:t>
            </a:r>
          </a:p>
          <a:p>
            <a:r>
              <a:rPr sz="950">
                <a:solidFill>
                  <a:srgbClr val="CADCFC"/>
                </a:solidFill>
                <a:latin typeface="Consolas"/>
              </a:rPr>
              <a:t>mmm.fit(X=X, y=y, chains=2, draws=1000, tune=1000,</a:t>
            </a:r>
          </a:p>
          <a:p>
            <a:r>
              <a:rPr sz="950">
                <a:solidFill>
                  <a:srgbClr val="CADCFC"/>
                </a:solidFill>
                <a:latin typeface="Consolas"/>
              </a:rPr>
              <a:t>        target_accept=0.9, random_seed=7)</a:t>
            </a:r>
          </a:p>
          <a:p>
            <a:r>
              <a:rPr sz="950">
                <a:solidFill>
                  <a:srgbClr val="CADCFC"/>
                </a:solidFill>
                <a:latin typeface="Consolas"/>
              </a:rPr>
              <a:t>mmm.plot_posterior_predictive(); mmm.plot_channel_contributions_grid()</a:t>
            </a:r>
          </a:p>
        </p:txBody>
      </p:sp>
      <p:sp>
        <p:nvSpPr>
          <p:cNvPr id="13" name="TextBox 12"/>
          <p:cNvSpPr txBox="1"/>
          <p:nvPr/>
        </p:nvSpPr>
        <p:spPr>
          <a:xfrm>
            <a:off x="5760720" y="5257800"/>
            <a:ext cx="5852160" cy="1005840"/>
          </a:xfrm>
          <a:prstGeom prst="rect">
            <a:avLst/>
          </a:prstGeom>
          <a:noFill/>
        </p:spPr>
        <p:txBody>
          <a:bodyPr wrap="square" lIns="45720" rIns="45720" tIns="27432" bIns="27432" anchor="t">
            <a:spAutoFit/>
          </a:bodyPr>
          <a:lstStyle/>
          <a:p>
            <a:pPr algn="l"/>
            <a:r>
              <a:rPr sz="1050" b="0" i="1">
                <a:solidFill>
                  <a:srgbClr val="666666"/>
                </a:solidFill>
                <a:latin typeface="Calibri"/>
              </a:rPr>
              <a:t>Notebook §12 has this cell behind a BAYES flag; sampling takes minutes. Homework 1's bonus asks for 80% credible intervals on ROI and one posterior-probability statement. Syllabus reading: Jin et al. (Google, 2017) is the paper behind the carryover and shape priors.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05</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3400" b="1" i="0">
                <a:solidFill>
                  <a:srgbClr val="FFFFFF"/>
                </a:solidFill>
                <a:latin typeface="Calibri"/>
              </a:rPr>
              <a:t>Reallocation — the answer to the question</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Equalize marginal ROI under constraints, in small steps, with a stopping rule. Then say it like a strategist.</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29 / 40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THE RULE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Equalize marginal ROI — with floors, caps and a stopping rule</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Notebook §11: a greedy optimizer that moves $0.25M at a time from the lowest to the highest marginal ROI and stops when the gap is inside the noise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30 / 40</a:t>
            </a:r>
          </a:p>
        </p:txBody>
      </p:sp>
      <p:sp>
        <p:nvSpPr>
          <p:cNvPr id="8" name="Rectangle 7"/>
          <p:cNvSpPr/>
          <p:nvPr/>
        </p:nvSpPr>
        <p:spPr>
          <a:xfrm>
            <a:off x="548640" y="2103120"/>
            <a:ext cx="5394960" cy="21031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The textbook rule</a:t>
            </a:r>
          </a:p>
        </p:txBody>
      </p:sp>
      <p:sp>
        <p:nvSpPr>
          <p:cNvPr id="10" name="TextBox 9"/>
          <p:cNvSpPr txBox="1"/>
          <p:nvPr/>
        </p:nvSpPr>
        <p:spPr>
          <a:xfrm>
            <a:off x="658368" y="2596896"/>
            <a:ext cx="5166360" cy="151790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At the optimum every channel has the same marginal ROI</a:t>
            </a:r>
          </a:p>
          <a:p>
            <a:pPr>
              <a:spcAft>
                <a:spcPts val="500"/>
              </a:spcAft>
            </a:pPr>
            <a:r>
              <a:rPr sz="1150" b="1">
                <a:solidFill>
                  <a:srgbClr val="FF6B6B"/>
                </a:solidFill>
                <a:latin typeface="Calibri"/>
              </a:rPr>
              <a:t>▸ </a:t>
            </a:r>
            <a:r>
              <a:rPr sz="1150">
                <a:solidFill>
                  <a:srgbClr val="333333"/>
                </a:solidFill>
                <a:latin typeface="Calibri"/>
              </a:rPr>
              <a:t>Move budget from low-marginal to high-marginal channels in small steps and re-evaluate — the curves move under your feet</a:t>
            </a:r>
          </a:p>
          <a:p>
            <a:pPr>
              <a:spcAft>
                <a:spcPts val="500"/>
              </a:spcAft>
            </a:pPr>
            <a:r>
              <a:rPr sz="1150" b="1">
                <a:solidFill>
                  <a:srgbClr val="FF6B6B"/>
                </a:solidFill>
                <a:latin typeface="Calibri"/>
              </a:rPr>
              <a:t>▸ </a:t>
            </a:r>
            <a:r>
              <a:rPr sz="1150">
                <a:solidFill>
                  <a:srgbClr val="333333"/>
                </a:solidFill>
                <a:latin typeface="Calibri"/>
              </a:rPr>
              <a:t>You never reach the optimum; you stop when the gap is smaller than your uncertainty (tonight: 0.15)</a:t>
            </a:r>
          </a:p>
        </p:txBody>
      </p:sp>
      <p:sp>
        <p:nvSpPr>
          <p:cNvPr id="11" name="Rectangle 10"/>
          <p:cNvSpPr/>
          <p:nvPr/>
        </p:nvSpPr>
        <p:spPr>
          <a:xfrm>
            <a:off x="6217920" y="2103120"/>
            <a:ext cx="5394960" cy="21031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Tonight's constraints</a:t>
            </a:r>
          </a:p>
        </p:txBody>
      </p:sp>
      <p:sp>
        <p:nvSpPr>
          <p:cNvPr id="13" name="TextBox 12"/>
          <p:cNvSpPr txBox="1"/>
          <p:nvPr/>
        </p:nvSpPr>
        <p:spPr>
          <a:xfrm>
            <a:off x="6327648" y="2596896"/>
            <a:ext cx="5166360" cy="1517903"/>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Floors: detailing ≥ 85% (a field force is not a dial); conferences ≥ 60% (contracted sponsorships)</a:t>
            </a:r>
          </a:p>
          <a:p>
            <a:pPr>
              <a:spcAft>
                <a:spcPts val="500"/>
              </a:spcAft>
            </a:pPr>
            <a:r>
              <a:rPr sz="1150" b="1">
                <a:solidFill>
                  <a:srgbClr val="FF6B6B"/>
                </a:solidFill>
                <a:latin typeface="Calibri"/>
              </a:rPr>
              <a:t>▸ </a:t>
            </a:r>
            <a:r>
              <a:rPr sz="1150">
                <a:solidFill>
                  <a:srgbClr val="333333"/>
                </a:solidFill>
                <a:latin typeface="Calibri"/>
              </a:rPr>
              <a:t>Caps: email ≤ 2.5× (list size, fatigue, CAN-SPAM); digital ≤ 1.8× (inventory, MLR-approved content); detailing ≤ 1.3× (hiring)</a:t>
            </a:r>
          </a:p>
          <a:p>
            <a:pPr>
              <a:spcAft>
                <a:spcPts val="500"/>
              </a:spcAft>
            </a:pPr>
            <a:r>
              <a:rPr sz="1150" b="1">
                <a:solidFill>
                  <a:srgbClr val="FF6B6B"/>
                </a:solidFill>
                <a:latin typeface="Calibri"/>
              </a:rPr>
              <a:t>▸ </a:t>
            </a:r>
            <a:r>
              <a:rPr sz="1150">
                <a:solidFill>
                  <a:srgbClr val="333333"/>
                </a:solidFill>
                <a:latin typeface="Calibri"/>
              </a:rPr>
              <a:t>Total budget fixed; the CFO's question was 'which $10M', not 'how much more'</a:t>
            </a:r>
          </a:p>
        </p:txBody>
      </p:sp>
      <p:graphicFrame>
        <p:nvGraphicFramePr>
          <p:cNvPr id="14" name="Table 13"/>
          <p:cNvGraphicFramePr>
            <a:graphicFrameLocks noGrp="1"/>
          </p:cNvGraphicFramePr>
          <p:nvPr/>
        </p:nvGraphicFramePr>
        <p:xfrm>
          <a:off x="548640" y="4389120"/>
          <a:ext cx="11064240" cy="1920240"/>
        </p:xfrm>
        <a:graphic>
          <a:graphicData uri="http://schemas.openxmlformats.org/drawingml/2006/table">
            <a:tbl>
              <a:tblPr firstRow="1" bandRow="1">
                <a:tableStyleId>{5C22544A-7EE6-4342-B048-85BDC9FD1C3A}</a:tableStyleId>
              </a:tblPr>
              <a:tblGrid>
                <a:gridCol w="2377440"/>
                <a:gridCol w="1463040"/>
                <a:gridCol w="3566160"/>
                <a:gridCol w="3657600"/>
              </a:tblGrid>
              <a:tr h="274320">
                <a:tc>
                  <a:txBody>
                    <a:bodyPr wrap="square"/>
                    <a:lstStyle/>
                    <a:p>
                      <a:r>
                        <a:rPr sz="1050" b="1">
                          <a:solidFill>
                            <a:srgbClr val="FFFFFF"/>
                          </a:solidFill>
                          <a:latin typeface="Calibri"/>
                        </a:rPr>
                        <a:t>Channel</a:t>
                      </a:r>
                    </a:p>
                  </a:txBody>
                  <a:tcPr marL="54864" marR="54864" marT="27432" marB="27432">
                    <a:solidFill>
                      <a:srgbClr val="1E2761"/>
                    </a:solidFill>
                  </a:tcPr>
                </a:tc>
                <a:tc>
                  <a:txBody>
                    <a:bodyPr wrap="square"/>
                    <a:lstStyle/>
                    <a:p>
                      <a:r>
                        <a:rPr sz="1050" b="1">
                          <a:solidFill>
                            <a:srgbClr val="FFFFFF"/>
                          </a:solidFill>
                          <a:latin typeface="Calibri"/>
                        </a:rPr>
                        <a:t>Current $M</a:t>
                      </a:r>
                    </a:p>
                  </a:txBody>
                  <a:tcPr marL="54864" marR="54864" marT="27432" marB="27432">
                    <a:solidFill>
                      <a:srgbClr val="1E2761"/>
                    </a:solidFill>
                  </a:tcPr>
                </a:tc>
                <a:tc>
                  <a:txBody>
                    <a:bodyPr wrap="square"/>
                    <a:lstStyle/>
                    <a:p>
                      <a:r>
                        <a:rPr sz="1050" b="1">
                          <a:solidFill>
                            <a:srgbClr val="FFFFFF"/>
                          </a:solidFill>
                          <a:latin typeface="Calibri"/>
                        </a:rPr>
                        <a:t>Conservative (≤ $5M moved)</a:t>
                      </a:r>
                    </a:p>
                  </a:txBody>
                  <a:tcPr marL="54864" marR="54864" marT="27432" marB="27432">
                    <a:solidFill>
                      <a:srgbClr val="1E2761"/>
                    </a:solidFill>
                  </a:tcPr>
                </a:tc>
                <a:tc>
                  <a:txBody>
                    <a:bodyPr wrap="square"/>
                    <a:lstStyle/>
                    <a:p>
                      <a:r>
                        <a:rPr sz="1050" b="1">
                          <a:solidFill>
                            <a:srgbClr val="FFFFFF"/>
                          </a:solidFill>
                          <a:latin typeface="Calibri"/>
                        </a:rPr>
                        <a:t>Aggressive (≤ $15M moved)</a:t>
                      </a:r>
                    </a:p>
                  </a:txBody>
                  <a:tcPr marL="54864" marR="54864" marT="27432" marB="27432">
                    <a:solidFill>
                      <a:srgbClr val="1E2761"/>
                    </a:solidFill>
                  </a:tcPr>
                </a:tc>
              </a:tr>
              <a:tr h="274320">
                <a:tc>
                  <a:txBody>
                    <a:bodyPr wrap="square"/>
                    <a:lstStyle/>
                    <a:p>
                      <a:r>
                        <a:rPr sz="1050" b="1">
                          <a:solidFill>
                            <a:srgbClr val="1E2761"/>
                          </a:solidFill>
                          <a:latin typeface="Calibri"/>
                        </a:rPr>
                        <a:t>HCP detailing</a:t>
                      </a:r>
                    </a:p>
                  </a:txBody>
                  <a:tcPr marL="54864" marR="54864" marT="27432" marB="27432">
                    <a:solidFill>
                      <a:srgbClr val="FFFFFF"/>
                    </a:solidFill>
                  </a:tcPr>
                </a:tc>
                <a:tc>
                  <a:txBody>
                    <a:bodyPr wrap="square"/>
                    <a:lstStyle/>
                    <a:p>
                      <a:r>
                        <a:rPr sz="1050" b="0">
                          <a:solidFill>
                            <a:srgbClr val="333333"/>
                          </a:solidFill>
                          <a:latin typeface="Calibri"/>
                        </a:rPr>
                        <a:t>26.1</a:t>
                      </a:r>
                    </a:p>
                  </a:txBody>
                  <a:tcPr marL="54864" marR="54864" marT="27432" marB="27432">
                    <a:solidFill>
                      <a:srgbClr val="FFFFFF"/>
                    </a:solidFill>
                  </a:tcPr>
                </a:tc>
                <a:tc>
                  <a:txBody>
                    <a:bodyPr wrap="square"/>
                    <a:lstStyle/>
                    <a:p>
                      <a:r>
                        <a:rPr sz="1050" b="0">
                          <a:solidFill>
                            <a:srgbClr val="333333"/>
                          </a:solidFill>
                          <a:latin typeface="Calibri"/>
                        </a:rPr>
                        <a:t>+4.25 → 30.35</a:t>
                      </a:r>
                    </a:p>
                  </a:txBody>
                  <a:tcPr marL="54864" marR="54864" marT="27432" marB="27432">
                    <a:solidFill>
                      <a:srgbClr val="FFFFFF"/>
                    </a:solidFill>
                  </a:tcPr>
                </a:tc>
                <a:tc>
                  <a:txBody>
                    <a:bodyPr wrap="square"/>
                    <a:lstStyle/>
                    <a:p>
                      <a:r>
                        <a:rPr sz="1050" b="0">
                          <a:solidFill>
                            <a:srgbClr val="333333"/>
                          </a:solidFill>
                          <a:latin typeface="Calibri"/>
                        </a:rPr>
                        <a:t>+7.75 → 33.85 (cap)</a:t>
                      </a:r>
                    </a:p>
                  </a:txBody>
                  <a:tcPr marL="54864" marR="54864" marT="27432" marB="27432">
                    <a:solidFill>
                      <a:srgbClr val="FFFFFF"/>
                    </a:solidFill>
                  </a:tcPr>
                </a:tc>
              </a:tr>
              <a:tr h="274320">
                <a:tc>
                  <a:txBody>
                    <a:bodyPr wrap="square"/>
                    <a:lstStyle/>
                    <a:p>
                      <a:r>
                        <a:rPr sz="1050" b="1">
                          <a:solidFill>
                            <a:srgbClr val="1E2761"/>
                          </a:solidFill>
                          <a:latin typeface="Calibri"/>
                        </a:rPr>
                        <a:t>Conferences</a:t>
                      </a:r>
                    </a:p>
                  </a:txBody>
                  <a:tcPr marL="54864" marR="54864" marT="27432" marB="27432">
                    <a:solidFill>
                      <a:srgbClr val="F3F6FC"/>
                    </a:solidFill>
                  </a:tcPr>
                </a:tc>
                <a:tc>
                  <a:txBody>
                    <a:bodyPr wrap="square"/>
                    <a:lstStyle/>
                    <a:p>
                      <a:r>
                        <a:rPr sz="1050" b="0">
                          <a:solidFill>
                            <a:srgbClr val="333333"/>
                          </a:solidFill>
                          <a:latin typeface="Calibri"/>
                        </a:rPr>
                        <a:t>9.1</a:t>
                      </a:r>
                    </a:p>
                  </a:txBody>
                  <a:tcPr marL="54864" marR="54864" marT="27432" marB="27432">
                    <a:solidFill>
                      <a:srgbClr val="F3F6FC"/>
                    </a:solidFill>
                  </a:tcPr>
                </a:tc>
                <a:tc>
                  <a:txBody>
                    <a:bodyPr wrap="square"/>
                    <a:lstStyle/>
                    <a:p>
                      <a:r>
                        <a:rPr sz="1050" b="0">
                          <a:solidFill>
                            <a:srgbClr val="333333"/>
                          </a:solidFill>
                          <a:latin typeface="Calibri"/>
                        </a:rPr>
                        <a:t>−1.50 → 7.57</a:t>
                      </a:r>
                    </a:p>
                  </a:txBody>
                  <a:tcPr marL="54864" marR="54864" marT="27432" marB="27432">
                    <a:solidFill>
                      <a:srgbClr val="F3F6FC"/>
                    </a:solidFill>
                  </a:tcPr>
                </a:tc>
                <a:tc>
                  <a:txBody>
                    <a:bodyPr wrap="square"/>
                    <a:lstStyle/>
                    <a:p>
                      <a:r>
                        <a:rPr sz="1050" b="0">
                          <a:solidFill>
                            <a:srgbClr val="333333"/>
                          </a:solidFill>
                          <a:latin typeface="Calibri"/>
                        </a:rPr>
                        <a:t>−3.25 → 5.82 (floor)</a:t>
                      </a:r>
                    </a:p>
                  </a:txBody>
                  <a:tcPr marL="54864" marR="54864" marT="27432" marB="27432">
                    <a:solidFill>
                      <a:srgbClr val="F3F6FC"/>
                    </a:solidFill>
                  </a:tcPr>
                </a:tc>
              </a:tr>
              <a:tr h="274320">
                <a:tc>
                  <a:txBody>
                    <a:bodyPr wrap="square"/>
                    <a:lstStyle/>
                    <a:p>
                      <a:r>
                        <a:rPr sz="1050" b="1">
                          <a:solidFill>
                            <a:srgbClr val="1E2761"/>
                          </a:solidFill>
                          <a:latin typeface="Calibri"/>
                        </a:rPr>
                        <a:t>Digital</a:t>
                      </a:r>
                    </a:p>
                  </a:txBody>
                  <a:tcPr marL="54864" marR="54864" marT="27432" marB="27432">
                    <a:solidFill>
                      <a:srgbClr val="FFFFFF"/>
                    </a:solidFill>
                  </a:tcPr>
                </a:tc>
                <a:tc>
                  <a:txBody>
                    <a:bodyPr wrap="square"/>
                    <a:lstStyle/>
                    <a:p>
                      <a:r>
                        <a:rPr sz="1050" b="0">
                          <a:solidFill>
                            <a:srgbClr val="333333"/>
                          </a:solidFill>
                          <a:latin typeface="Calibri"/>
                        </a:rPr>
                        <a:t>14.1</a:t>
                      </a:r>
                    </a:p>
                  </a:txBody>
                  <a:tcPr marL="54864" marR="54864" marT="27432" marB="27432">
                    <a:solidFill>
                      <a:srgbClr val="FFFFFF"/>
                    </a:solidFill>
                  </a:tcPr>
                </a:tc>
                <a:tc>
                  <a:txBody>
                    <a:bodyPr wrap="square"/>
                    <a:lstStyle/>
                    <a:p>
                      <a:r>
                        <a:rPr sz="1050" b="0">
                          <a:solidFill>
                            <a:srgbClr val="333333"/>
                          </a:solidFill>
                          <a:latin typeface="Calibri"/>
                        </a:rPr>
                        <a:t>— → 14.08</a:t>
                      </a:r>
                    </a:p>
                  </a:txBody>
                  <a:tcPr marL="54864" marR="54864" marT="27432" marB="27432">
                    <a:solidFill>
                      <a:srgbClr val="FFFFFF"/>
                    </a:solidFill>
                  </a:tcPr>
                </a:tc>
                <a:tc>
                  <a:txBody>
                    <a:bodyPr wrap="square"/>
                    <a:lstStyle/>
                    <a:p>
                      <a:r>
                        <a:rPr sz="1050" b="0">
                          <a:solidFill>
                            <a:srgbClr val="333333"/>
                          </a:solidFill>
                          <a:latin typeface="Calibri"/>
                        </a:rPr>
                        <a:t>+1.75 → 15.83</a:t>
                      </a:r>
                    </a:p>
                  </a:txBody>
                  <a:tcPr marL="54864" marR="54864" marT="27432" marB="27432">
                    <a:solidFill>
                      <a:srgbClr val="FFFFFF"/>
                    </a:solidFill>
                  </a:tcPr>
                </a:tc>
              </a:tr>
              <a:tr h="274320">
                <a:tc>
                  <a:txBody>
                    <a:bodyPr wrap="square"/>
                    <a:lstStyle/>
                    <a:p>
                      <a:r>
                        <a:rPr sz="1050" b="1">
                          <a:solidFill>
                            <a:srgbClr val="1E2761"/>
                          </a:solidFill>
                          <a:latin typeface="Calibri"/>
                        </a:rPr>
                        <a:t>Email</a:t>
                      </a:r>
                    </a:p>
                  </a:txBody>
                  <a:tcPr marL="54864" marR="54864" marT="27432" marB="27432">
                    <a:solidFill>
                      <a:srgbClr val="F3F6FC"/>
                    </a:solidFill>
                  </a:tcPr>
                </a:tc>
                <a:tc>
                  <a:txBody>
                    <a:bodyPr wrap="square"/>
                    <a:lstStyle/>
                    <a:p>
                      <a:r>
                        <a:rPr sz="1050" b="0">
                          <a:solidFill>
                            <a:srgbClr val="333333"/>
                          </a:solidFill>
                          <a:latin typeface="Calibri"/>
                        </a:rPr>
                        <a:t>1.0</a:t>
                      </a:r>
                    </a:p>
                  </a:txBody>
                  <a:tcPr marL="54864" marR="54864" marT="27432" marB="27432">
                    <a:solidFill>
                      <a:srgbClr val="F3F6FC"/>
                    </a:solidFill>
                  </a:tcPr>
                </a:tc>
                <a:tc>
                  <a:txBody>
                    <a:bodyPr wrap="square"/>
                    <a:lstStyle/>
                    <a:p>
                      <a:r>
                        <a:rPr sz="1050" b="0">
                          <a:solidFill>
                            <a:srgbClr val="333333"/>
                          </a:solidFill>
                          <a:latin typeface="Calibri"/>
                        </a:rPr>
                        <a:t>+0.75 → 1.79</a:t>
                      </a:r>
                    </a:p>
                  </a:txBody>
                  <a:tcPr marL="54864" marR="54864" marT="27432" marB="27432">
                    <a:solidFill>
                      <a:srgbClr val="F3F6FC"/>
                    </a:solidFill>
                  </a:tcPr>
                </a:tc>
                <a:tc>
                  <a:txBody>
                    <a:bodyPr wrap="square"/>
                    <a:lstStyle/>
                    <a:p>
                      <a:r>
                        <a:rPr sz="1050" b="0">
                          <a:solidFill>
                            <a:srgbClr val="333333"/>
                          </a:solidFill>
                          <a:latin typeface="Calibri"/>
                        </a:rPr>
                        <a:t>+1.50 → 2.54 (cap)</a:t>
                      </a:r>
                    </a:p>
                  </a:txBody>
                  <a:tcPr marL="54864" marR="54864" marT="27432" marB="27432">
                    <a:solidFill>
                      <a:srgbClr val="F3F6FC"/>
                    </a:solidFill>
                  </a:tcPr>
                </a:tc>
              </a:tr>
              <a:tr h="274320">
                <a:tc>
                  <a:txBody>
                    <a:bodyPr wrap="square"/>
                    <a:lstStyle/>
                    <a:p>
                      <a:r>
                        <a:rPr sz="1050" b="1">
                          <a:solidFill>
                            <a:srgbClr val="1E2761"/>
                          </a:solidFill>
                          <a:latin typeface="Calibri"/>
                        </a:rPr>
                        <a:t>DTC TV</a:t>
                      </a:r>
                    </a:p>
                  </a:txBody>
                  <a:tcPr marL="54864" marR="54864" marT="27432" marB="27432">
                    <a:solidFill>
                      <a:srgbClr val="FFFFFF"/>
                    </a:solidFill>
                  </a:tcPr>
                </a:tc>
                <a:tc>
                  <a:txBody>
                    <a:bodyPr wrap="square"/>
                    <a:lstStyle/>
                    <a:p>
                      <a:r>
                        <a:rPr sz="1050" b="0">
                          <a:solidFill>
                            <a:srgbClr val="333333"/>
                          </a:solidFill>
                          <a:latin typeface="Calibri"/>
                        </a:rPr>
                        <a:t>27.6</a:t>
                      </a:r>
                    </a:p>
                  </a:txBody>
                  <a:tcPr marL="54864" marR="54864" marT="27432" marB="27432">
                    <a:solidFill>
                      <a:srgbClr val="FFFFFF"/>
                    </a:solidFill>
                  </a:tcPr>
                </a:tc>
                <a:tc>
                  <a:txBody>
                    <a:bodyPr wrap="square"/>
                    <a:lstStyle/>
                    <a:p>
                      <a:r>
                        <a:rPr sz="1050" b="0">
                          <a:solidFill>
                            <a:srgbClr val="333333"/>
                          </a:solidFill>
                          <a:latin typeface="Calibri"/>
                        </a:rPr>
                        <a:t>−3.50 → 24.06</a:t>
                      </a:r>
                    </a:p>
                  </a:txBody>
                  <a:tcPr marL="54864" marR="54864" marT="27432" marB="27432">
                    <a:solidFill>
                      <a:srgbClr val="FFFFFF"/>
                    </a:solidFill>
                  </a:tcPr>
                </a:tc>
                <a:tc>
                  <a:txBody>
                    <a:bodyPr wrap="square"/>
                    <a:lstStyle/>
                    <a:p>
                      <a:r>
                        <a:rPr sz="1050" b="0">
                          <a:solidFill>
                            <a:srgbClr val="333333"/>
                          </a:solidFill>
                          <a:latin typeface="Calibri"/>
                        </a:rPr>
                        <a:t>−7.75 → 19.81</a:t>
                      </a:r>
                    </a:p>
                  </a:txBody>
                  <a:tcPr marL="54864" marR="54864" marT="27432" marB="27432">
                    <a:solidFill>
                      <a:srgbClr val="FFFFFF"/>
                    </a:solidFill>
                  </a:tcPr>
                </a:tc>
              </a:tr>
              <a:tr h="274320">
                <a:tc>
                  <a:txBody>
                    <a:bodyPr wrap="square"/>
                    <a:lstStyle/>
                    <a:p>
                      <a:r>
                        <a:rPr sz="1050" b="1">
                          <a:solidFill>
                            <a:srgbClr val="1E2761"/>
                          </a:solidFill>
                          <a:latin typeface="Calibri"/>
                        </a:rPr>
                        <a:t>Result (3-year total)</a:t>
                      </a:r>
                    </a:p>
                  </a:txBody>
                  <a:tcPr marL="54864" marR="54864" marT="27432" marB="27432">
                    <a:solidFill>
                      <a:srgbClr val="F3F6FC"/>
                    </a:solidFill>
                  </a:tcPr>
                </a:tc>
                <a:tc>
                  <a:txBody>
                    <a:bodyPr wrap="square"/>
                    <a:lstStyle/>
                    <a:p>
                      <a:r>
                        <a:rPr sz="1050" b="0">
                          <a:solidFill>
                            <a:srgbClr val="333333"/>
                          </a:solidFill>
                          <a:latin typeface="Calibri"/>
                        </a:rPr>
                        <a:t/>
                      </a:r>
                    </a:p>
                  </a:txBody>
                  <a:tcPr marL="54864" marR="54864" marT="27432" marB="27432">
                    <a:solidFill>
                      <a:srgbClr val="F3F6FC"/>
                    </a:solidFill>
                  </a:tcPr>
                </a:tc>
                <a:tc>
                  <a:txBody>
                    <a:bodyPr wrap="square"/>
                    <a:lstStyle/>
                    <a:p>
                      <a:r>
                        <a:rPr sz="1050" b="0">
                          <a:solidFill>
                            <a:srgbClr val="333333"/>
                          </a:solidFill>
                          <a:latin typeface="Calibri"/>
                        </a:rPr>
                        <a:t>+27k TRx ≈ +$6.8M contribution, +1.7%</a:t>
                      </a:r>
                    </a:p>
                  </a:txBody>
                  <a:tcPr marL="54864" marR="54864" marT="27432" marB="27432">
                    <a:solidFill>
                      <a:srgbClr val="F3F6FC"/>
                    </a:solidFill>
                  </a:tcPr>
                </a:tc>
                <a:tc>
                  <a:txBody>
                    <a:bodyPr wrap="square"/>
                    <a:lstStyle/>
                    <a:p>
                      <a:r>
                        <a:rPr sz="1050" b="0">
                          <a:solidFill>
                            <a:srgbClr val="333333"/>
                          </a:solidFill>
                          <a:latin typeface="Calibri"/>
                        </a:rPr>
                        <a:t>+44k TRx ≈ +$11.0M contribution, +2.7% (stopped at $11M)</a:t>
                      </a:r>
                    </a:p>
                  </a:txBody>
                  <a:tcPr marL="54864" marR="54864" marT="27432" marB="27432">
                    <a:solidFill>
                      <a:srgbClr val="F3F6FC"/>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5 · THE ANSWER</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So — which $10M would you cut?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The recommendation, stated the way it should be stated</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31 / 40</a:t>
            </a:r>
          </a:p>
        </p:txBody>
      </p:sp>
      <p:sp>
        <p:nvSpPr>
          <p:cNvPr id="8" name="Rectangle 7"/>
          <p:cNvSpPr/>
          <p:nvPr/>
        </p:nvSpPr>
        <p:spPr>
          <a:xfrm>
            <a:off x="548640" y="2057400"/>
            <a:ext cx="11064240" cy="12344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121408"/>
            <a:ext cx="10515600" cy="1097280"/>
          </a:xfrm>
          <a:prstGeom prst="rect">
            <a:avLst/>
          </a:prstGeom>
          <a:noFill/>
        </p:spPr>
        <p:txBody>
          <a:bodyPr wrap="square" lIns="45720" rIns="45720" tIns="27432" bIns="27432" anchor="ctr">
            <a:spAutoFit/>
          </a:bodyPr>
          <a:lstStyle/>
          <a:p>
            <a:pPr algn="l"/>
            <a:r>
              <a:rPr sz="1400" b="0" i="0">
                <a:solidFill>
                  <a:srgbClr val="FFFFFF"/>
                </a:solidFill>
                <a:latin typeface="Calibri"/>
              </a:rPr>
              <a:t>“Cut $7–8M of DTC TV (drop two of the eight flights) and $2–3M of conferences; move $4–8M to the field and $1M to email. Expected +1.7 to +2.7% TRx on a flat budget. Our TV number is validated by the Q4 geo test; our detailing number is the least certain and is the one to test next.”</a:t>
            </a:r>
          </a:p>
        </p:txBody>
      </p:sp>
      <p:sp>
        <p:nvSpPr>
          <p:cNvPr id="10" name="Rectangle 9"/>
          <p:cNvSpPr/>
          <p:nvPr/>
        </p:nvSpPr>
        <p:spPr>
          <a:xfrm>
            <a:off x="548640" y="3520440"/>
            <a:ext cx="361188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5800" y="36576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1</a:t>
            </a:r>
          </a:p>
        </p:txBody>
      </p:sp>
      <p:sp>
        <p:nvSpPr>
          <p:cNvPr id="12" name="TextBox 11"/>
          <p:cNvSpPr txBox="1"/>
          <p:nvPr/>
        </p:nvSpPr>
        <p:spPr>
          <a:xfrm>
            <a:off x="1143000" y="364845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Say the decomposition first</a:t>
            </a:r>
          </a:p>
        </p:txBody>
      </p:sp>
      <p:sp>
        <p:nvSpPr>
          <p:cNvPr id="13" name="TextBox 12"/>
          <p:cNvSpPr txBox="1"/>
          <p:nvPr/>
        </p:nvSpPr>
        <p:spPr>
          <a:xfrm>
            <a:off x="658368" y="4142232"/>
            <a:ext cx="3383280" cy="202996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Base, channels, competitor, access. They have to see the system before they hear a ratio.</a:t>
            </a:r>
          </a:p>
          <a:p>
            <a:pPr>
              <a:spcAft>
                <a:spcPts val="500"/>
              </a:spcAft>
            </a:pPr>
            <a:r>
              <a:rPr sz="1100" b="1">
                <a:solidFill>
                  <a:srgbClr val="FF6B6B"/>
                </a:solidFill>
                <a:latin typeface="Calibri"/>
              </a:rPr>
              <a:t>▸ </a:t>
            </a:r>
            <a:r>
              <a:rPr sz="1100">
                <a:solidFill>
                  <a:srgbClr val="333333"/>
                </a:solidFill>
                <a:latin typeface="Calibri"/>
              </a:rPr>
              <a:t>Then the ROI table — with ranges.</a:t>
            </a:r>
          </a:p>
        </p:txBody>
      </p:sp>
      <p:sp>
        <p:nvSpPr>
          <p:cNvPr id="14" name="Rectangle 13"/>
          <p:cNvSpPr/>
          <p:nvPr/>
        </p:nvSpPr>
        <p:spPr>
          <a:xfrm>
            <a:off x="4297680" y="3520440"/>
            <a:ext cx="361188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434840" y="36576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2</a:t>
            </a:r>
          </a:p>
        </p:txBody>
      </p:sp>
      <p:sp>
        <p:nvSpPr>
          <p:cNvPr id="16" name="TextBox 15"/>
          <p:cNvSpPr txBox="1"/>
          <p:nvPr/>
        </p:nvSpPr>
        <p:spPr>
          <a:xfrm>
            <a:off x="4892040" y="364845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Two scenarios, one risk posture each</a:t>
            </a:r>
          </a:p>
        </p:txBody>
      </p:sp>
      <p:sp>
        <p:nvSpPr>
          <p:cNvPr id="17" name="TextBox 16"/>
          <p:cNvSpPr txBox="1"/>
          <p:nvPr/>
        </p:nvSpPr>
        <p:spPr>
          <a:xfrm>
            <a:off x="4407408" y="4142232"/>
            <a:ext cx="3383280" cy="202996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Conservative and aggressive; let the room choose.</a:t>
            </a:r>
          </a:p>
          <a:p>
            <a:pPr>
              <a:spcAft>
                <a:spcPts val="500"/>
              </a:spcAft>
            </a:pPr>
            <a:r>
              <a:rPr sz="1100" b="1">
                <a:solidFill>
                  <a:srgbClr val="FF6B6B"/>
                </a:solidFill>
                <a:latin typeface="Calibri"/>
              </a:rPr>
              <a:t>▸ </a:t>
            </a:r>
            <a:r>
              <a:rPr sz="1100">
                <a:solidFill>
                  <a:srgbClr val="333333"/>
                </a:solidFill>
                <a:latin typeface="Calibri"/>
              </a:rPr>
              <a:t>List what the model is not capturing: copay program, samples, MLR timing, panel restatements.</a:t>
            </a:r>
          </a:p>
        </p:txBody>
      </p:sp>
      <p:sp>
        <p:nvSpPr>
          <p:cNvPr id="18" name="Rectangle 17"/>
          <p:cNvSpPr/>
          <p:nvPr/>
        </p:nvSpPr>
        <p:spPr>
          <a:xfrm>
            <a:off x="8046720" y="3520440"/>
            <a:ext cx="3611880" cy="27432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183880" y="365760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3</a:t>
            </a:r>
          </a:p>
        </p:txBody>
      </p:sp>
      <p:sp>
        <p:nvSpPr>
          <p:cNvPr id="20" name="TextBox 19"/>
          <p:cNvSpPr txBox="1"/>
          <p:nvPr/>
        </p:nvSpPr>
        <p:spPr>
          <a:xfrm>
            <a:off x="8641080" y="364845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End with the experiment</a:t>
            </a:r>
          </a:p>
        </p:txBody>
      </p:sp>
      <p:sp>
        <p:nvSpPr>
          <p:cNvPr id="21" name="TextBox 20"/>
          <p:cNvSpPr txBox="1"/>
          <p:nvPr/>
        </p:nvSpPr>
        <p:spPr>
          <a:xfrm>
            <a:off x="8156448" y="4142232"/>
            <a:ext cx="3383280" cy="2029967"/>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sz="1100">
                <a:solidFill>
                  <a:srgbClr val="333333"/>
                </a:solidFill>
                <a:latin typeface="Calibri"/>
              </a:rPr>
              <a:t>'A 20-territory detailing holdout in Q1 would resolve the field number for ~$0.4M of lost calls.'</a:t>
            </a:r>
          </a:p>
          <a:p>
            <a:pPr>
              <a:spcAft>
                <a:spcPts val="500"/>
              </a:spcAft>
            </a:pPr>
            <a:r>
              <a:rPr sz="1100" b="1">
                <a:solidFill>
                  <a:srgbClr val="FF6B6B"/>
                </a:solidFill>
                <a:latin typeface="Calibri"/>
              </a:rPr>
              <a:t>▸ </a:t>
            </a:r>
            <a:r>
              <a:rPr sz="1100">
                <a:solidFill>
                  <a:srgbClr val="333333"/>
                </a:solidFill>
                <a:latin typeface="Calibri"/>
              </a:rPr>
              <a:t>Name the cost and the decision it unlocks.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2103120"/>
            <a:ext cx="2743200" cy="1280160"/>
          </a:xfrm>
          <a:prstGeom prst="rect">
            <a:avLst/>
          </a:prstGeom>
          <a:noFill/>
        </p:spPr>
        <p:txBody>
          <a:bodyPr wrap="square" lIns="45720" rIns="45720" tIns="27432" bIns="27432" anchor="t">
            <a:spAutoFit/>
          </a:bodyPr>
          <a:lstStyle/>
          <a:p>
            <a:pPr algn="l"/>
            <a:r>
              <a:rPr sz="7200" b="1" i="0">
                <a:solidFill>
                  <a:srgbClr val="FF6B6B"/>
                </a:solidFill>
                <a:latin typeface="Calibri"/>
              </a:rPr>
              <a:t>06</a:t>
            </a:r>
          </a:p>
        </p:txBody>
      </p:sp>
      <p:sp>
        <p:nvSpPr>
          <p:cNvPr id="4" name="TextBox 3"/>
          <p:cNvSpPr txBox="1"/>
          <p:nvPr/>
        </p:nvSpPr>
        <p:spPr>
          <a:xfrm>
            <a:off x="868680" y="3291840"/>
            <a:ext cx="10515600" cy="914400"/>
          </a:xfrm>
          <a:prstGeom prst="rect">
            <a:avLst/>
          </a:prstGeom>
          <a:noFill/>
        </p:spPr>
        <p:txBody>
          <a:bodyPr wrap="square" lIns="45720" rIns="45720" tIns="27432" bIns="27432" anchor="ctr">
            <a:spAutoFit/>
          </a:bodyPr>
          <a:lstStyle/>
          <a:p>
            <a:pPr algn="l"/>
            <a:r>
              <a:rPr sz="4000" b="1" i="0">
                <a:solidFill>
                  <a:srgbClr val="FFFFFF"/>
                </a:solidFill>
                <a:latin typeface="Calibri"/>
              </a:rPr>
              <a:t>Pitfalls and pharma realities</a:t>
            </a:r>
          </a:p>
        </p:txBody>
      </p:sp>
      <p:sp>
        <p:nvSpPr>
          <p:cNvPr id="5" name="TextBox 4"/>
          <p:cNvSpPr txBox="1"/>
          <p:nvPr/>
        </p:nvSpPr>
        <p:spPr>
          <a:xfrm>
            <a:off x="868680" y="4297680"/>
            <a:ext cx="10515600" cy="731520"/>
          </a:xfrm>
          <a:prstGeom prst="rect">
            <a:avLst/>
          </a:prstGeom>
          <a:noFill/>
        </p:spPr>
        <p:txBody>
          <a:bodyPr wrap="square" lIns="45720" rIns="45720" tIns="27432" bIns="27432" anchor="t">
            <a:spAutoFit/>
          </a:bodyPr>
          <a:lstStyle/>
          <a:p>
            <a:pPr algn="l"/>
            <a:r>
              <a:rPr sz="1800" b="0" i="0">
                <a:solidFill>
                  <a:srgbClr val="CADCFC"/>
                </a:solidFill>
                <a:latin typeface="Calibri"/>
              </a:rPr>
              <a:t>Five ways MMM lies to you, six things that wreck a generic MMM in pharma, and when it is the wrong tool.</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32 / 40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FIVE LIES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Five ways MMM lies to you — and the fix for each</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Every one of these appeared in tonight's notebook on purpose</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33 / 40</a:t>
            </a:r>
          </a:p>
        </p:txBody>
      </p:sp>
      <p:graphicFrame>
        <p:nvGraphicFramePr>
          <p:cNvPr id="8" name="Table 7"/>
          <p:cNvGraphicFramePr>
            <a:graphicFrameLocks noGrp="1"/>
          </p:cNvGraphicFramePr>
          <p:nvPr/>
        </p:nvGraphicFramePr>
        <p:xfrm>
          <a:off x="548640" y="2057400"/>
          <a:ext cx="11064240" cy="3950208"/>
        </p:xfrm>
        <a:graphic>
          <a:graphicData uri="http://schemas.openxmlformats.org/drawingml/2006/table">
            <a:tbl>
              <a:tblPr firstRow="1" bandRow="1">
                <a:tableStyleId>{5C22544A-7EE6-4342-B048-85BDC9FD1C3A}</a:tableStyleId>
              </a:tblPr>
              <a:tblGrid>
                <a:gridCol w="1463040"/>
                <a:gridCol w="2651760"/>
                <a:gridCol w="3474720"/>
                <a:gridCol w="3474720"/>
              </a:tblGrid>
              <a:tr h="658368">
                <a:tc>
                  <a:txBody>
                    <a:bodyPr wrap="square"/>
                    <a:lstStyle/>
                    <a:p>
                      <a:r>
                        <a:rPr sz="1000" b="1">
                          <a:solidFill>
                            <a:srgbClr val="FFFFFF"/>
                          </a:solidFill>
                          <a:latin typeface="Calibri"/>
                        </a:rPr>
                        <a:t>Lie</a:t>
                      </a:r>
                    </a:p>
                  </a:txBody>
                  <a:tcPr marL="54864" marR="54864" marT="27432" marB="27432">
                    <a:solidFill>
                      <a:srgbClr val="1E2761"/>
                    </a:solidFill>
                  </a:tcPr>
                </a:tc>
                <a:tc>
                  <a:txBody>
                    <a:bodyPr wrap="square"/>
                    <a:lstStyle/>
                    <a:p>
                      <a:r>
                        <a:rPr sz="1000" b="1">
                          <a:solidFill>
                            <a:srgbClr val="FFFFFF"/>
                          </a:solidFill>
                          <a:latin typeface="Calibri"/>
                        </a:rPr>
                        <a:t>What it looks like</a:t>
                      </a:r>
                    </a:p>
                  </a:txBody>
                  <a:tcPr marL="54864" marR="54864" marT="27432" marB="27432">
                    <a:solidFill>
                      <a:srgbClr val="1E2761"/>
                    </a:solidFill>
                  </a:tcPr>
                </a:tc>
                <a:tc>
                  <a:txBody>
                    <a:bodyPr wrap="square"/>
                    <a:lstStyle/>
                    <a:p>
                      <a:r>
                        <a:rPr sz="1000" b="1">
                          <a:solidFill>
                            <a:srgbClr val="FFFFFF"/>
                          </a:solidFill>
                          <a:latin typeface="Calibri"/>
                        </a:rPr>
                        <a:t>Tonight</a:t>
                      </a:r>
                    </a:p>
                  </a:txBody>
                  <a:tcPr marL="54864" marR="54864" marT="27432" marB="27432">
                    <a:solidFill>
                      <a:srgbClr val="1E2761"/>
                    </a:solidFill>
                  </a:tcPr>
                </a:tc>
                <a:tc>
                  <a:txBody>
                    <a:bodyPr wrap="square"/>
                    <a:lstStyle/>
                    <a:p>
                      <a:r>
                        <a:rPr sz="1000" b="1">
                          <a:solidFill>
                            <a:srgbClr val="FFFFFF"/>
                          </a:solidFill>
                          <a:latin typeface="Calibri"/>
                        </a:rPr>
                        <a:t>Fix</a:t>
                      </a:r>
                    </a:p>
                  </a:txBody>
                  <a:tcPr marL="54864" marR="54864" marT="27432" marB="27432">
                    <a:solidFill>
                      <a:srgbClr val="1E2761"/>
                    </a:solidFill>
                  </a:tcPr>
                </a:tc>
              </a:tr>
              <a:tr h="658368">
                <a:tc>
                  <a:txBody>
                    <a:bodyPr wrap="square"/>
                    <a:lstStyle/>
                    <a:p>
                      <a:r>
                        <a:rPr sz="1000" b="1">
                          <a:solidFill>
                            <a:srgbClr val="1E2761"/>
                          </a:solidFill>
                          <a:latin typeface="Calibri"/>
                        </a:rPr>
                        <a:t>Identifiability</a:t>
                      </a:r>
                    </a:p>
                  </a:txBody>
                  <a:tcPr marL="54864" marR="54864" marT="27432" marB="27432">
                    <a:solidFill>
                      <a:srgbClr val="FFFFFF"/>
                    </a:solidFill>
                  </a:tcPr>
                </a:tc>
                <a:tc>
                  <a:txBody>
                    <a:bodyPr wrap="square"/>
                    <a:lstStyle/>
                    <a:p>
                      <a:r>
                        <a:rPr sz="1000" b="0">
                          <a:solidFill>
                            <a:srgbClr val="333333"/>
                          </a:solidFill>
                          <a:latin typeface="Calibri"/>
                        </a:rPr>
                        <a:t>Two (δ, β) pairs fit identically; ROI differs</a:t>
                      </a:r>
                    </a:p>
                  </a:txBody>
                  <a:tcPr marL="54864" marR="54864" marT="27432" marB="27432">
                    <a:solidFill>
                      <a:srgbClr val="FFFFFF"/>
                    </a:solidFill>
                  </a:tcPr>
                </a:tc>
                <a:tc>
                  <a:txBody>
                    <a:bodyPr wrap="square"/>
                    <a:lstStyle/>
                    <a:p>
                      <a:r>
                        <a:rPr sz="1000" b="0">
                          <a:solidFill>
                            <a:srgbClr val="333333"/>
                          </a:solidFill>
                          <a:latin typeface="Calibri"/>
                        </a:rPr>
                        <a:t>Detailing δ 0.40 vs 0.25: ΔAIC 1.6, ROI 1.88 vs 1.76</a:t>
                      </a:r>
                    </a:p>
                  </a:txBody>
                  <a:tcPr marL="54864" marR="54864" marT="27432" marB="27432">
                    <a:solidFill>
                      <a:srgbClr val="FFFFFF"/>
                    </a:solidFill>
                  </a:tcPr>
                </a:tc>
                <a:tc>
                  <a:txBody>
                    <a:bodyPr wrap="square"/>
                    <a:lstStyle/>
                    <a:p>
                      <a:r>
                        <a:rPr sz="1000" b="0">
                          <a:solidFill>
                            <a:srgbClr val="333333"/>
                          </a:solidFill>
                          <a:latin typeface="Calibri"/>
                        </a:rPr>
                        <a:t>Bound the grid with knowledge; priors; report runner-up cells; experiment</a:t>
                      </a:r>
                    </a:p>
                  </a:txBody>
                  <a:tcPr marL="54864" marR="54864" marT="27432" marB="27432">
                    <a:solidFill>
                      <a:srgbClr val="FFFFFF"/>
                    </a:solidFill>
                  </a:tcPr>
                </a:tc>
              </a:tr>
              <a:tr h="658368">
                <a:tc>
                  <a:txBody>
                    <a:bodyPr wrap="square"/>
                    <a:lstStyle/>
                    <a:p>
                      <a:r>
                        <a:rPr sz="1000" b="1">
                          <a:solidFill>
                            <a:srgbClr val="1E2761"/>
                          </a:solidFill>
                          <a:latin typeface="Calibri"/>
                        </a:rPr>
                        <a:t>Multicollinearity</a:t>
                      </a:r>
                    </a:p>
                  </a:txBody>
                  <a:tcPr marL="54864" marR="54864" marT="27432" marB="27432">
                    <a:solidFill>
                      <a:srgbClr val="F3F6FC"/>
                    </a:solidFill>
                  </a:tcPr>
                </a:tc>
                <a:tc>
                  <a:txBody>
                    <a:bodyPr wrap="square"/>
                    <a:lstStyle/>
                    <a:p>
                      <a:r>
                        <a:rPr sz="1000" b="0">
                          <a:solidFill>
                            <a:srgbClr val="333333"/>
                          </a:solidFill>
                          <a:latin typeface="Calibri"/>
                        </a:rPr>
                        <a:t>Channels co-spend; VIF &gt; 10; signs flip</a:t>
                      </a:r>
                    </a:p>
                  </a:txBody>
                  <a:tcPr marL="54864" marR="54864" marT="27432" marB="27432">
                    <a:solidFill>
                      <a:srgbClr val="F3F6FC"/>
                    </a:solidFill>
                  </a:tcPr>
                </a:tc>
                <a:tc>
                  <a:txBody>
                    <a:bodyPr wrap="square"/>
                    <a:lstStyle/>
                    <a:p>
                      <a:r>
                        <a:rPr sz="1000" b="0">
                          <a:solidFill>
                            <a:srgbClr val="333333"/>
                          </a:solidFill>
                          <a:latin typeface="Calibri"/>
                        </a:rPr>
                        <a:t>Digital co-moves with TV (r = 0.46); free-grid runs push VIF &gt; 20</a:t>
                      </a:r>
                    </a:p>
                  </a:txBody>
                  <a:tcPr marL="54864" marR="54864" marT="27432" marB="27432">
                    <a:solidFill>
                      <a:srgbClr val="F3F6FC"/>
                    </a:solidFill>
                  </a:tcPr>
                </a:tc>
                <a:tc>
                  <a:txBody>
                    <a:bodyPr wrap="square"/>
                    <a:lstStyle/>
                    <a:p>
                      <a:r>
                        <a:rPr sz="1000" b="0">
                          <a:solidFill>
                            <a:srgbClr val="333333"/>
                          </a:solidFill>
                          <a:latin typeface="Calibri"/>
                        </a:rPr>
                        <a:t>Ridge, merge channels, or vary the spend on purpose</a:t>
                      </a:r>
                    </a:p>
                  </a:txBody>
                  <a:tcPr marL="54864" marR="54864" marT="27432" marB="27432">
                    <a:solidFill>
                      <a:srgbClr val="F3F6FC"/>
                    </a:solidFill>
                  </a:tcPr>
                </a:tc>
              </a:tr>
              <a:tr h="658368">
                <a:tc>
                  <a:txBody>
                    <a:bodyPr wrap="square"/>
                    <a:lstStyle/>
                    <a:p>
                      <a:r>
                        <a:rPr sz="1000" b="1">
                          <a:solidFill>
                            <a:srgbClr val="1E2761"/>
                          </a:solidFill>
                          <a:latin typeface="Calibri"/>
                        </a:rPr>
                        <a:t>Seasonality vs. media</a:t>
                      </a:r>
                    </a:p>
                  </a:txBody>
                  <a:tcPr marL="54864" marR="54864" marT="27432" marB="27432">
                    <a:solidFill>
                      <a:srgbClr val="FFFFFF"/>
                    </a:solidFill>
                  </a:tcPr>
                </a:tc>
                <a:tc>
                  <a:txBody>
                    <a:bodyPr wrap="square"/>
                    <a:lstStyle/>
                    <a:p>
                      <a:r>
                        <a:rPr sz="1000" b="0">
                          <a:solidFill>
                            <a:srgbClr val="333333"/>
                          </a:solidFill>
                          <a:latin typeface="Calibri"/>
                        </a:rPr>
                        <a:t>Q1 spend gets credit for the January bump</a:t>
                      </a:r>
                    </a:p>
                  </a:txBody>
                  <a:tcPr marL="54864" marR="54864" marT="27432" marB="27432">
                    <a:solidFill>
                      <a:srgbClr val="FFFFFF"/>
                    </a:solidFill>
                  </a:tcPr>
                </a:tc>
                <a:tc>
                  <a:txBody>
                    <a:bodyPr wrap="square"/>
                    <a:lstStyle/>
                    <a:p>
                      <a:r>
                        <a:rPr sz="1000" b="0">
                          <a:solidFill>
                            <a:srgbClr val="333333"/>
                          </a:solidFill>
                          <a:latin typeface="Calibri"/>
                        </a:rPr>
                        <a:t>Season terms in before channels</a:t>
                      </a:r>
                    </a:p>
                  </a:txBody>
                  <a:tcPr marL="54864" marR="54864" marT="27432" marB="27432">
                    <a:solidFill>
                      <a:srgbClr val="FFFFFF"/>
                    </a:solidFill>
                  </a:tcPr>
                </a:tc>
                <a:tc>
                  <a:txBody>
                    <a:bodyPr wrap="square"/>
                    <a:lstStyle/>
                    <a:p>
                      <a:r>
                        <a:rPr sz="1000" b="0">
                          <a:solidFill>
                            <a:srgbClr val="333333"/>
                          </a:solidFill>
                          <a:latin typeface="Calibri"/>
                        </a:rPr>
                        <a:t>Explicit seasonality first; check residuals by month</a:t>
                      </a:r>
                    </a:p>
                  </a:txBody>
                  <a:tcPr marL="54864" marR="54864" marT="27432" marB="27432">
                    <a:solidFill>
                      <a:srgbClr val="FFFFFF"/>
                    </a:solidFill>
                  </a:tcPr>
                </a:tc>
              </a:tr>
              <a:tr h="658368">
                <a:tc>
                  <a:txBody>
                    <a:bodyPr wrap="square"/>
                    <a:lstStyle/>
                    <a:p>
                      <a:r>
                        <a:rPr sz="1000" b="1">
                          <a:solidFill>
                            <a:srgbClr val="1E2761"/>
                          </a:solidFill>
                          <a:latin typeface="Calibri"/>
                        </a:rPr>
                        <a:t>Missing control</a:t>
                      </a:r>
                    </a:p>
                  </a:txBody>
                  <a:tcPr marL="54864" marR="54864" marT="27432" marB="27432">
                    <a:solidFill>
                      <a:srgbClr val="F3F6FC"/>
                    </a:solidFill>
                  </a:tcPr>
                </a:tc>
                <a:tc>
                  <a:txBody>
                    <a:bodyPr wrap="square"/>
                    <a:lstStyle/>
                    <a:p>
                      <a:r>
                        <a:rPr sz="1000" b="0">
                          <a:solidFill>
                            <a:srgbClr val="333333"/>
                          </a:solidFill>
                          <a:latin typeface="Calibri"/>
                        </a:rPr>
                        <a:t>A channel absorbs an event</a:t>
                      </a:r>
                    </a:p>
                  </a:txBody>
                  <a:tcPr marL="54864" marR="54864" marT="27432" marB="27432">
                    <a:solidFill>
                      <a:srgbClr val="F3F6FC"/>
                    </a:solidFill>
                  </a:tcPr>
                </a:tc>
                <a:tc>
                  <a:txBody>
                    <a:bodyPr wrap="square"/>
                    <a:lstStyle/>
                    <a:p>
                      <a:r>
                        <a:rPr sz="1000" b="0">
                          <a:solidFill>
                            <a:srgbClr val="333333"/>
                          </a:solidFill>
                          <a:latin typeface="Calibri"/>
                        </a:rPr>
                        <a:t>Formulary win: competitor coefficient halves without it</a:t>
                      </a:r>
                    </a:p>
                  </a:txBody>
                  <a:tcPr marL="54864" marR="54864" marT="27432" marB="27432">
                    <a:solidFill>
                      <a:srgbClr val="F3F6FC"/>
                    </a:solidFill>
                  </a:tcPr>
                </a:tc>
                <a:tc>
                  <a:txBody>
                    <a:bodyPr wrap="square"/>
                    <a:lstStyle/>
                    <a:p>
                      <a:r>
                        <a:rPr sz="1000" b="0">
                          <a:solidFill>
                            <a:srgbClr val="333333"/>
                          </a:solidFill>
                          <a:latin typeface="Calibri"/>
                        </a:rPr>
                        <a:t>Access, competitor, price, copay in the model; residual plot</a:t>
                      </a:r>
                    </a:p>
                  </a:txBody>
                  <a:tcPr marL="54864" marR="54864" marT="27432" marB="27432">
                    <a:solidFill>
                      <a:srgbClr val="F3F6FC"/>
                    </a:solidFill>
                  </a:tcPr>
                </a:tc>
              </a:tr>
              <a:tr h="658368">
                <a:tc>
                  <a:txBody>
                    <a:bodyPr wrap="square"/>
                    <a:lstStyle/>
                    <a:p>
                      <a:r>
                        <a:rPr sz="1000" b="1">
                          <a:solidFill>
                            <a:srgbClr val="1E2761"/>
                          </a:solidFill>
                          <a:latin typeface="Calibri"/>
                        </a:rPr>
                        <a:t>Selection bias</a:t>
                      </a:r>
                    </a:p>
                  </a:txBody>
                  <a:tcPr marL="54864" marR="54864" marT="27432" marB="27432">
                    <a:solidFill>
                      <a:srgbClr val="FFFFFF"/>
                    </a:solidFill>
                  </a:tcPr>
                </a:tc>
                <a:tc>
                  <a:txBody>
                    <a:bodyPr wrap="square"/>
                    <a:lstStyle/>
                    <a:p>
                      <a:r>
                        <a:rPr sz="1000" b="0">
                          <a:solidFill>
                            <a:srgbClr val="333333"/>
                          </a:solidFill>
                          <a:latin typeface="Calibri"/>
                        </a:rPr>
                        <a:t>Spend rises when growth is already strong</a:t>
                      </a:r>
                    </a:p>
                  </a:txBody>
                  <a:tcPr marL="54864" marR="54864" marT="27432" marB="27432">
                    <a:solidFill>
                      <a:srgbClr val="FFFFFF"/>
                    </a:solidFill>
                  </a:tcPr>
                </a:tc>
                <a:tc>
                  <a:txBody>
                    <a:bodyPr wrap="square"/>
                    <a:lstStyle/>
                    <a:p>
                      <a:r>
                        <a:rPr sz="1000" b="0">
                          <a:solidFill>
                            <a:srgbClr val="333333"/>
                          </a:solidFill>
                          <a:latin typeface="Calibri"/>
                        </a:rPr>
                        <a:t>Detailing cut after the competitor launch (managers chase momentum)</a:t>
                      </a:r>
                    </a:p>
                  </a:txBody>
                  <a:tcPr marL="54864" marR="54864" marT="27432" marB="27432">
                    <a:solidFill>
                      <a:srgbClr val="FFFFFF"/>
                    </a:solidFill>
                  </a:tcPr>
                </a:tc>
                <a:tc>
                  <a:txBody>
                    <a:bodyPr wrap="square"/>
                    <a:lstStyle/>
                    <a:p>
                      <a:r>
                        <a:rPr sz="1000" b="0">
                          <a:solidFill>
                            <a:srgbClr val="333333"/>
                          </a:solidFill>
                          <a:latin typeface="Calibri"/>
                        </a:rPr>
                        <a:t>Instrument, DAG-aware controls, or flag it — and run an experiment</a:t>
                      </a:r>
                    </a:p>
                  </a:txBody>
                  <a:tcPr marL="54864" marR="54864"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PHARMA QUIRKS</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Six pharma-specific things that wreck a generic MMM</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A consumer-goods MMM template will get every one of these wrong</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34 / 40</a:t>
            </a:r>
          </a:p>
        </p:txBody>
      </p:sp>
      <p:sp>
        <p:nvSpPr>
          <p:cNvPr id="8" name="Rectangle 7"/>
          <p:cNvSpPr/>
          <p:nvPr/>
        </p:nvSpPr>
        <p:spPr>
          <a:xfrm>
            <a:off x="548640"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Long latency</a:t>
            </a:r>
          </a:p>
        </p:txBody>
      </p:sp>
      <p:sp>
        <p:nvSpPr>
          <p:cNvPr id="10" name="TextBox 9"/>
          <p:cNvSpPr txBox="1"/>
          <p:nvPr/>
        </p:nvSpPr>
        <p:spPr>
          <a:xfrm>
            <a:off x="685800" y="260603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Detail → physician thinks → next eligible patient → script → fill → claim → panel projection. 4–8 weeks. Weibull adstock or a lagged term; weekly data is the minimum.</a:t>
            </a:r>
          </a:p>
        </p:txBody>
      </p:sp>
      <p:sp>
        <p:nvSpPr>
          <p:cNvPr id="11" name="Rectangle 10"/>
          <p:cNvSpPr/>
          <p:nvPr/>
        </p:nvSpPr>
        <p:spPr>
          <a:xfrm>
            <a:off x="4297679"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221284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Formulary and prior auth</a:t>
            </a:r>
          </a:p>
        </p:txBody>
      </p:sp>
      <p:sp>
        <p:nvSpPr>
          <p:cNvPr id="13" name="TextBox 12"/>
          <p:cNvSpPr txBox="1"/>
          <p:nvPr/>
        </p:nvSpPr>
        <p:spPr>
          <a:xfrm>
            <a:off x="4434840" y="260603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A tier change moves TRx overnight with zero spend change. Access covariates or event dummies — from the payer file, not the agency.</a:t>
            </a:r>
          </a:p>
        </p:txBody>
      </p:sp>
      <p:sp>
        <p:nvSpPr>
          <p:cNvPr id="14" name="Rectangle 13"/>
          <p:cNvSpPr/>
          <p:nvPr/>
        </p:nvSpPr>
        <p:spPr>
          <a:xfrm>
            <a:off x="8046719" y="210312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83879" y="221284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Copay programs and samples</a:t>
            </a:r>
          </a:p>
        </p:txBody>
      </p:sp>
      <p:sp>
        <p:nvSpPr>
          <p:cNvPr id="16" name="TextBox 15"/>
          <p:cNvSpPr txBox="1"/>
          <p:nvPr/>
        </p:nvSpPr>
        <p:spPr>
          <a:xfrm>
            <a:off x="8183879" y="260603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Drive volume but are not 'media'. Separate levers with their own transforms — and gross-to-net implications (Week 1).</a:t>
            </a:r>
          </a:p>
        </p:txBody>
      </p:sp>
      <p:sp>
        <p:nvSpPr>
          <p:cNvPr id="17" name="Rectangle 16"/>
          <p:cNvSpPr/>
          <p:nvPr/>
        </p:nvSpPr>
        <p:spPr>
          <a:xfrm>
            <a:off x="548640"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31596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Detailing is not a dollar</a:t>
            </a:r>
          </a:p>
        </p:txBody>
      </p:sp>
      <p:sp>
        <p:nvSpPr>
          <p:cNvPr id="19" name="TextBox 18"/>
          <p:cNvSpPr txBox="1"/>
          <p:nvPr/>
        </p:nvSpPr>
        <p:spPr>
          <a:xfrm>
            <a:off x="685800" y="470915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It is calls × content × coverage × reach. Use call equivalents or reach as the dose; test hcp_calls vs. spend (notebook 'try before Week 4').</a:t>
            </a:r>
          </a:p>
        </p:txBody>
      </p:sp>
      <p:sp>
        <p:nvSpPr>
          <p:cNvPr id="20" name="Rectangle 19"/>
          <p:cNvSpPr/>
          <p:nvPr/>
        </p:nvSpPr>
        <p:spPr>
          <a:xfrm>
            <a:off x="4297679"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431596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Specialty brands are small</a:t>
            </a:r>
          </a:p>
        </p:txBody>
      </p:sp>
      <p:sp>
        <p:nvSpPr>
          <p:cNvPr id="22" name="TextBox 21"/>
          <p:cNvSpPr txBox="1"/>
          <p:nvPr/>
        </p:nvSpPr>
        <p:spPr>
          <a:xfrm>
            <a:off x="4434840" y="470915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A few thousand prescribers: the law of large numbers does not apply. Hierarchical models by territory; HCP-level models (Weeks 4–5).</a:t>
            </a:r>
          </a:p>
        </p:txBody>
      </p:sp>
      <p:sp>
        <p:nvSpPr>
          <p:cNvPr id="23" name="Rectangle 22"/>
          <p:cNvSpPr/>
          <p:nvPr/>
        </p:nvSpPr>
        <p:spPr>
          <a:xfrm>
            <a:off x="8046719" y="4206240"/>
            <a:ext cx="3566160" cy="1920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83879" y="4315968"/>
            <a:ext cx="3291840" cy="365760"/>
          </a:xfrm>
          <a:prstGeom prst="rect">
            <a:avLst/>
          </a:prstGeom>
          <a:noFill/>
        </p:spPr>
        <p:txBody>
          <a:bodyPr wrap="square" lIns="45720" rIns="45720" tIns="27432" bIns="27432" anchor="t">
            <a:spAutoFit/>
          </a:bodyPr>
          <a:lstStyle/>
          <a:p>
            <a:pPr algn="l"/>
            <a:r>
              <a:rPr sz="1300" b="1" i="0">
                <a:solidFill>
                  <a:srgbClr val="1E2761"/>
                </a:solidFill>
                <a:latin typeface="Calibri"/>
              </a:rPr>
              <a:t>MLR and compliance lag</a:t>
            </a:r>
          </a:p>
        </p:txBody>
      </p:sp>
      <p:sp>
        <p:nvSpPr>
          <p:cNvPr id="25" name="TextBox 24"/>
          <p:cNvSpPr txBox="1"/>
          <p:nvPr/>
        </p:nvSpPr>
        <p:spPr>
          <a:xfrm>
            <a:off x="8183879" y="4709159"/>
            <a:ext cx="3291840" cy="1371600"/>
          </a:xfrm>
          <a:prstGeom prst="rect">
            <a:avLst/>
          </a:prstGeom>
          <a:noFill/>
        </p:spPr>
        <p:txBody>
          <a:bodyPr wrap="square" lIns="45720" rIns="45720" tIns="27432" bIns="27432" anchor="t">
            <a:spAutoFit/>
          </a:bodyPr>
          <a:lstStyle/>
          <a:p>
            <a:pPr algn="l"/>
            <a:r>
              <a:rPr sz="1050" b="0" i="0">
                <a:solidFill>
                  <a:srgbClr val="333333"/>
                </a:solidFill>
                <a:latin typeface="Calibri"/>
              </a:rPr>
              <a:t>DTC content takes 6–10 weeks of review. 'Reallocate to TV by next quarter' may not be feasible; say so in the memo.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WRONG TOOL</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3000" b="1" i="0">
                <a:solidFill>
                  <a:srgbClr val="1E2761"/>
                </a:solidFill>
                <a:latin typeface="Calibri"/>
              </a:rPr>
              <a:t>When MMM is the wrong tool</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Knowing this is worth more than knowing PyMC</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35 / 40</a:t>
            </a:r>
          </a:p>
        </p:txBody>
      </p:sp>
      <p:graphicFrame>
        <p:nvGraphicFramePr>
          <p:cNvPr id="8" name="Table 7"/>
          <p:cNvGraphicFramePr>
            <a:graphicFrameLocks noGrp="1"/>
          </p:cNvGraphicFramePr>
          <p:nvPr/>
        </p:nvGraphicFramePr>
        <p:xfrm>
          <a:off x="548640" y="2057400"/>
          <a:ext cx="11064240" cy="3840480"/>
        </p:xfrm>
        <a:graphic>
          <a:graphicData uri="http://schemas.openxmlformats.org/drawingml/2006/table">
            <a:tbl>
              <a:tblPr firstRow="1" bandRow="1">
                <a:tableStyleId>{5C22544A-7EE6-4342-B048-85BDC9FD1C3A}</a:tableStyleId>
              </a:tblPr>
              <a:tblGrid>
                <a:gridCol w="2743200"/>
                <a:gridCol w="3291840"/>
                <a:gridCol w="3931920"/>
                <a:gridCol w="1097280"/>
              </a:tblGrid>
              <a:tr h="640080">
                <a:tc>
                  <a:txBody>
                    <a:bodyPr wrap="square"/>
                    <a:lstStyle/>
                    <a:p>
                      <a:r>
                        <a:rPr sz="1050" b="1">
                          <a:solidFill>
                            <a:srgbClr val="FFFFFF"/>
                          </a:solidFill>
                          <a:latin typeface="Calibri"/>
                        </a:rPr>
                        <a:t>Situation</a:t>
                      </a:r>
                    </a:p>
                  </a:txBody>
                  <a:tcPr marL="54864" marR="54864" marT="27432" marB="27432">
                    <a:solidFill>
                      <a:srgbClr val="1E2761"/>
                    </a:solidFill>
                  </a:tcPr>
                </a:tc>
                <a:tc>
                  <a:txBody>
                    <a:bodyPr wrap="square"/>
                    <a:lstStyle/>
                    <a:p>
                      <a:r>
                        <a:rPr sz="1050" b="1">
                          <a:solidFill>
                            <a:srgbClr val="FFFFFF"/>
                          </a:solidFill>
                          <a:latin typeface="Calibri"/>
                        </a:rPr>
                        <a:t>Why MMM fails</a:t>
                      </a:r>
                    </a:p>
                  </a:txBody>
                  <a:tcPr marL="54864" marR="54864" marT="27432" marB="27432">
                    <a:solidFill>
                      <a:srgbClr val="1E2761"/>
                    </a:solidFill>
                  </a:tcPr>
                </a:tc>
                <a:tc>
                  <a:txBody>
                    <a:bodyPr wrap="square"/>
                    <a:lstStyle/>
                    <a:p>
                      <a:r>
                        <a:rPr sz="1050" b="1">
                          <a:solidFill>
                            <a:srgbClr val="FFFFFF"/>
                          </a:solidFill>
                          <a:latin typeface="Calibri"/>
                        </a:rPr>
                        <a:t>Use instead</a:t>
                      </a:r>
                    </a:p>
                  </a:txBody>
                  <a:tcPr marL="54864" marR="54864" marT="27432" marB="27432">
                    <a:solidFill>
                      <a:srgbClr val="1E2761"/>
                    </a:solidFill>
                  </a:tcPr>
                </a:tc>
                <a:tc>
                  <a:txBody>
                    <a:bodyPr wrap="square"/>
                    <a:lstStyle/>
                    <a:p>
                      <a:r>
                        <a:rPr sz="1050" b="1">
                          <a:solidFill>
                            <a:srgbClr val="FFFFFF"/>
                          </a:solidFill>
                          <a:latin typeface="Calibri"/>
                        </a:rPr>
                        <a:t>Course week</a:t>
                      </a:r>
                    </a:p>
                  </a:txBody>
                  <a:tcPr marL="54864" marR="54864" marT="27432" marB="27432">
                    <a:solidFill>
                      <a:srgbClr val="1E2761"/>
                    </a:solidFill>
                  </a:tcPr>
                </a:tc>
              </a:tr>
              <a:tr h="640080">
                <a:tc>
                  <a:txBody>
                    <a:bodyPr wrap="square"/>
                    <a:lstStyle/>
                    <a:p>
                      <a:r>
                        <a:rPr sz="1050" b="1">
                          <a:solidFill>
                            <a:srgbClr val="1E2761"/>
                          </a:solidFill>
                          <a:latin typeface="Calibri"/>
                        </a:rPr>
                        <a:t>Brand-new launch, &lt; 1 year of data</a:t>
                      </a:r>
                    </a:p>
                  </a:txBody>
                  <a:tcPr marL="54864" marR="54864" marT="27432" marB="27432">
                    <a:solidFill>
                      <a:srgbClr val="FFFFFF"/>
                    </a:solidFill>
                  </a:tcPr>
                </a:tc>
                <a:tc>
                  <a:txBody>
                    <a:bodyPr wrap="square"/>
                    <a:lstStyle/>
                    <a:p>
                      <a:r>
                        <a:rPr sz="1050" b="0">
                          <a:solidFill>
                            <a:srgbClr val="333333"/>
                          </a:solidFill>
                          <a:latin typeface="Calibri"/>
                        </a:rPr>
                        <a:t>No cycles to identify channels; the ramp swamps everything</a:t>
                      </a:r>
                    </a:p>
                  </a:txBody>
                  <a:tcPr marL="54864" marR="54864" marT="27432" marB="27432">
                    <a:solidFill>
                      <a:srgbClr val="FFFFFF"/>
                    </a:solidFill>
                  </a:tcPr>
                </a:tc>
                <a:tc>
                  <a:txBody>
                    <a:bodyPr wrap="square"/>
                    <a:lstStyle/>
                    <a:p>
                      <a:r>
                        <a:rPr sz="1050" b="0">
                          <a:solidFill>
                            <a:srgbClr val="333333"/>
                          </a:solidFill>
                          <a:latin typeface="Calibri"/>
                        </a:rPr>
                        <a:t>Analog launches + Bayesian priors; launch-archetype benchmarks (Week 1's IQVIA framework)</a:t>
                      </a:r>
                    </a:p>
                  </a:txBody>
                  <a:tcPr marL="54864" marR="54864" marT="27432" marB="27432">
                    <a:solidFill>
                      <a:srgbClr val="FFFFFF"/>
                    </a:solidFill>
                  </a:tcPr>
                </a:tc>
                <a:tc>
                  <a:txBody>
                    <a:bodyPr wrap="square"/>
                    <a:lstStyle/>
                    <a:p>
                      <a:r>
                        <a:rPr sz="1050" b="0">
                          <a:solidFill>
                            <a:srgbClr val="333333"/>
                          </a:solidFill>
                          <a:latin typeface="Calibri"/>
                        </a:rPr>
                        <a:t>1, 6</a:t>
                      </a:r>
                    </a:p>
                  </a:txBody>
                  <a:tcPr marL="54864" marR="54864" marT="27432" marB="27432">
                    <a:solidFill>
                      <a:srgbClr val="FFFFFF"/>
                    </a:solidFill>
                  </a:tcPr>
                </a:tc>
              </a:tr>
              <a:tr h="640080">
                <a:tc>
                  <a:txBody>
                    <a:bodyPr wrap="square"/>
                    <a:lstStyle/>
                    <a:p>
                      <a:r>
                        <a:rPr sz="1050" b="1">
                          <a:solidFill>
                            <a:srgbClr val="1E2761"/>
                          </a:solidFill>
                          <a:latin typeface="Calibri"/>
                        </a:rPr>
                        <a:t>Day-level digital decisions</a:t>
                      </a:r>
                    </a:p>
                  </a:txBody>
                  <a:tcPr marL="54864" marR="54864" marT="27432" marB="27432">
                    <a:solidFill>
                      <a:srgbClr val="F3F6FC"/>
                    </a:solidFill>
                  </a:tcPr>
                </a:tc>
                <a:tc>
                  <a:txBody>
                    <a:bodyPr wrap="square"/>
                    <a:lstStyle/>
                    <a:p>
                      <a:r>
                        <a:rPr sz="1050" b="0">
                          <a:solidFill>
                            <a:srgbClr val="333333"/>
                          </a:solidFill>
                          <a:latin typeface="Calibri"/>
                        </a:rPr>
                        <a:t>Weekly cadence too slow; channels too granular</a:t>
                      </a:r>
                    </a:p>
                  </a:txBody>
                  <a:tcPr marL="54864" marR="54864" marT="27432" marB="27432">
                    <a:solidFill>
                      <a:srgbClr val="F3F6FC"/>
                    </a:solidFill>
                  </a:tcPr>
                </a:tc>
                <a:tc>
                  <a:txBody>
                    <a:bodyPr wrap="square"/>
                    <a:lstStyle/>
                    <a:p>
                      <a:r>
                        <a:rPr sz="1050" b="0">
                          <a:solidFill>
                            <a:srgbClr val="333333"/>
                          </a:solidFill>
                          <a:latin typeface="Calibri"/>
                        </a:rPr>
                        <a:t>Digital attribution, contextual bandits</a:t>
                      </a:r>
                    </a:p>
                  </a:txBody>
                  <a:tcPr marL="54864" marR="54864" marT="27432" marB="27432">
                    <a:solidFill>
                      <a:srgbClr val="F3F6FC"/>
                    </a:solidFill>
                  </a:tcPr>
                </a:tc>
                <a:tc>
                  <a:txBody>
                    <a:bodyPr wrap="square"/>
                    <a:lstStyle/>
                    <a:p>
                      <a:r>
                        <a:rPr sz="1050" b="0">
                          <a:solidFill>
                            <a:srgbClr val="333333"/>
                          </a:solidFill>
                          <a:latin typeface="Calibri"/>
                        </a:rPr>
                        <a:t>5</a:t>
                      </a:r>
                    </a:p>
                  </a:txBody>
                  <a:tcPr marL="54864" marR="54864" marT="27432" marB="27432">
                    <a:solidFill>
                      <a:srgbClr val="F3F6FC"/>
                    </a:solidFill>
                  </a:tcPr>
                </a:tc>
              </a:tr>
              <a:tr h="640080">
                <a:tc>
                  <a:txBody>
                    <a:bodyPr wrap="square"/>
                    <a:lstStyle/>
                    <a:p>
                      <a:r>
                        <a:rPr sz="1050" b="1">
                          <a:solidFill>
                            <a:srgbClr val="1E2761"/>
                          </a:solidFill>
                          <a:latin typeface="Calibri"/>
                        </a:rPr>
                        <a:t>HCP-level next best action</a:t>
                      </a:r>
                    </a:p>
                  </a:txBody>
                  <a:tcPr marL="54864" marR="54864" marT="27432" marB="27432">
                    <a:solidFill>
                      <a:srgbClr val="FFFFFF"/>
                    </a:solidFill>
                  </a:tcPr>
                </a:tc>
                <a:tc>
                  <a:txBody>
                    <a:bodyPr wrap="square"/>
                    <a:lstStyle/>
                    <a:p>
                      <a:r>
                        <a:rPr sz="1050" b="0">
                          <a:solidFill>
                            <a:srgbClr val="333333"/>
                          </a:solidFill>
                          <a:latin typeface="Calibri"/>
                        </a:rPr>
                        <a:t>MMM is brand-level; it cannot say who to call</a:t>
                      </a:r>
                    </a:p>
                  </a:txBody>
                  <a:tcPr marL="54864" marR="54864" marT="27432" marB="27432">
                    <a:solidFill>
                      <a:srgbClr val="FFFFFF"/>
                    </a:solidFill>
                  </a:tcPr>
                </a:tc>
                <a:tc>
                  <a:txBody>
                    <a:bodyPr wrap="square"/>
                    <a:lstStyle/>
                    <a:p>
                      <a:r>
                        <a:rPr sz="1050" b="0">
                          <a:solidFill>
                            <a:srgbClr val="333333"/>
                          </a:solidFill>
                          <a:latin typeface="Calibri"/>
                        </a:rPr>
                        <a:t>Uplift models, affinity scores, orchestration</a:t>
                      </a:r>
                    </a:p>
                  </a:txBody>
                  <a:tcPr marL="54864" marR="54864" marT="27432" marB="27432">
                    <a:solidFill>
                      <a:srgbClr val="FFFFFF"/>
                    </a:solidFill>
                  </a:tcPr>
                </a:tc>
                <a:tc>
                  <a:txBody>
                    <a:bodyPr wrap="square"/>
                    <a:lstStyle/>
                    <a:p>
                      <a:r>
                        <a:rPr sz="1050" b="0">
                          <a:solidFill>
                            <a:srgbClr val="333333"/>
                          </a:solidFill>
                          <a:latin typeface="Calibri"/>
                        </a:rPr>
                        <a:t>4–5</a:t>
                      </a:r>
                    </a:p>
                  </a:txBody>
                  <a:tcPr marL="54864" marR="54864" marT="27432" marB="27432">
                    <a:solidFill>
                      <a:srgbClr val="FFFFFF"/>
                    </a:solidFill>
                  </a:tcPr>
                </a:tc>
              </a:tr>
              <a:tr h="640080">
                <a:tc>
                  <a:txBody>
                    <a:bodyPr wrap="square"/>
                    <a:lstStyle/>
                    <a:p>
                      <a:r>
                        <a:rPr sz="1050" b="1">
                          <a:solidFill>
                            <a:srgbClr val="1E2761"/>
                          </a:solidFill>
                          <a:latin typeface="Calibri"/>
                        </a:rPr>
                        <a:t>One-off causal event (label change, recall, FDA action)</a:t>
                      </a:r>
                    </a:p>
                  </a:txBody>
                  <a:tcPr marL="54864" marR="54864" marT="27432" marB="27432">
                    <a:solidFill>
                      <a:srgbClr val="F3F6FC"/>
                    </a:solidFill>
                  </a:tcPr>
                </a:tc>
                <a:tc>
                  <a:txBody>
                    <a:bodyPr wrap="square"/>
                    <a:lstStyle/>
                    <a:p>
                      <a:r>
                        <a:rPr sz="1050" b="0">
                          <a:solidFill>
                            <a:srgbClr val="333333"/>
                          </a:solidFill>
                          <a:latin typeface="Calibri"/>
                        </a:rPr>
                        <a:t>Treated as noise or absorbed by a channel</a:t>
                      </a:r>
                    </a:p>
                  </a:txBody>
                  <a:tcPr marL="54864" marR="54864" marT="27432" marB="27432">
                    <a:solidFill>
                      <a:srgbClr val="F3F6FC"/>
                    </a:solidFill>
                  </a:tcPr>
                </a:tc>
                <a:tc>
                  <a:txBody>
                    <a:bodyPr wrap="square"/>
                    <a:lstStyle/>
                    <a:p>
                      <a:r>
                        <a:rPr sz="1050" b="0">
                          <a:solidFill>
                            <a:srgbClr val="333333"/>
                          </a:solidFill>
                          <a:latin typeface="Calibri"/>
                        </a:rPr>
                        <a:t>Interrupted time series, synthetic control</a:t>
                      </a:r>
                    </a:p>
                  </a:txBody>
                  <a:tcPr marL="54864" marR="54864" marT="27432" marB="27432">
                    <a:solidFill>
                      <a:srgbClr val="F3F6FC"/>
                    </a:solidFill>
                  </a:tcPr>
                </a:tc>
                <a:tc>
                  <a:txBody>
                    <a:bodyPr wrap="square"/>
                    <a:lstStyle/>
                    <a:p>
                      <a:r>
                        <a:rPr sz="1050" b="0">
                          <a:solidFill>
                            <a:srgbClr val="333333"/>
                          </a:solidFill>
                          <a:latin typeface="Calibri"/>
                        </a:rPr>
                        <a:t>6</a:t>
                      </a:r>
                    </a:p>
                  </a:txBody>
                  <a:tcPr marL="54864" marR="54864" marT="27432" marB="27432">
                    <a:solidFill>
                      <a:srgbClr val="F3F6FC"/>
                    </a:solidFill>
                  </a:tcPr>
                </a:tc>
              </a:tr>
              <a:tr h="640080">
                <a:tc>
                  <a:txBody>
                    <a:bodyPr wrap="square"/>
                    <a:lstStyle/>
                    <a:p>
                      <a:r>
                        <a:rPr sz="1050" b="1">
                          <a:solidFill>
                            <a:srgbClr val="1E2761"/>
                          </a:solidFill>
                          <a:latin typeface="Calibri"/>
                        </a:rPr>
                        <a:t>Deciding total budget, not mix</a:t>
                      </a:r>
                    </a:p>
                  </a:txBody>
                  <a:tcPr marL="54864" marR="54864" marT="27432" marB="27432">
                    <a:solidFill>
                      <a:srgbClr val="FFFFFF"/>
                    </a:solidFill>
                  </a:tcPr>
                </a:tc>
                <a:tc>
                  <a:txBody>
                    <a:bodyPr wrap="square"/>
                    <a:lstStyle/>
                    <a:p>
                      <a:r>
                        <a:rPr sz="1050" b="0">
                          <a:solidFill>
                            <a:srgbClr val="333333"/>
                          </a:solidFill>
                          <a:latin typeface="Calibri"/>
                        </a:rPr>
                        <a:t>MMM allocates a given budget; the curve's level is the least certain thing it estimates</a:t>
                      </a:r>
                    </a:p>
                  </a:txBody>
                  <a:tcPr marL="54864" marR="54864" marT="27432" marB="27432">
                    <a:solidFill>
                      <a:srgbClr val="FFFFFF"/>
                    </a:solidFill>
                  </a:tcPr>
                </a:tc>
                <a:tc>
                  <a:txBody>
                    <a:bodyPr wrap="square"/>
                    <a:lstStyle/>
                    <a:p>
                      <a:r>
                        <a:rPr sz="1050" b="0">
                          <a:solidFill>
                            <a:srgbClr val="333333"/>
                          </a:solidFill>
                          <a:latin typeface="Calibri"/>
                        </a:rPr>
                        <a:t>Financial model + experiments on the margin</a:t>
                      </a:r>
                    </a:p>
                  </a:txBody>
                  <a:tcPr marL="54864" marR="54864" marT="27432" marB="27432">
                    <a:solidFill>
                      <a:srgbClr val="FFFFFF"/>
                    </a:solidFill>
                  </a:tcPr>
                </a:tc>
                <a:tc>
                  <a:txBody>
                    <a:bodyPr wrap="square"/>
                    <a:lstStyle/>
                    <a:p>
                      <a:r>
                        <a:rPr sz="1050" b="0">
                          <a:solidFill>
                            <a:srgbClr val="333333"/>
                          </a:solidFill>
                          <a:latin typeface="Calibri"/>
                        </a:rPr>
                        <a:t>—</a:t>
                      </a:r>
                    </a:p>
                  </a:txBody>
                  <a:tcPr marL="54864" marR="54864" marT="27432" marB="27432">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6 · INDUSTRY</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What the industry says it wants from this — and why it still struggles</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From the IQVIA papers in the reading pack</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36 / 40</a:t>
            </a:r>
          </a:p>
        </p:txBody>
      </p:sp>
      <p:sp>
        <p:nvSpPr>
          <p:cNvPr id="8" name="Rectangle 7"/>
          <p:cNvSpPr/>
          <p:nvPr/>
        </p:nvSpPr>
        <p:spPr>
          <a:xfrm>
            <a:off x="548640" y="2057400"/>
            <a:ext cx="11064240" cy="141732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121408"/>
            <a:ext cx="10607040" cy="1280160"/>
          </a:xfrm>
          <a:prstGeom prst="rect">
            <a:avLst/>
          </a:prstGeom>
          <a:noFill/>
        </p:spPr>
        <p:txBody>
          <a:bodyPr wrap="square" lIns="45720" rIns="45720" tIns="27432" bIns="27432" anchor="t">
            <a:spAutoFit/>
          </a:bodyPr>
          <a:lstStyle/>
          <a:p>
            <a:pPr algn="l"/>
            <a:r>
              <a:rPr sz="1200" b="0" i="1">
                <a:solidFill>
                  <a:srgbClr val="333333"/>
                </a:solidFill>
                <a:latin typeface="Calibri"/>
              </a:rPr>
              <a:t>“Life sciences organizations still need to prepare more effectively for high-value customer interactions, allocate spend with greater precision, understand care pathways and patient journeys, and respond to access barriers and customer behavior. What has changed is the tolerance for delay and ambiguity. Senior decision makers need answers faster, with context they can trust and enough confidence to act.”</a:t>
            </a:r>
          </a:p>
        </p:txBody>
      </p:sp>
      <p:sp>
        <p:nvSpPr>
          <p:cNvPr id="10" name="TextBox 9"/>
          <p:cNvSpPr txBox="1"/>
          <p:nvPr/>
        </p:nvSpPr>
        <p:spPr>
          <a:xfrm>
            <a:off x="777240" y="3200400"/>
            <a:ext cx="10607040" cy="274320"/>
          </a:xfrm>
          <a:prstGeom prst="rect">
            <a:avLst/>
          </a:prstGeom>
          <a:noFill/>
        </p:spPr>
        <p:txBody>
          <a:bodyPr wrap="square" lIns="45720" rIns="45720" tIns="27432" bIns="27432" anchor="t">
            <a:spAutoFit/>
          </a:bodyPr>
          <a:lstStyle/>
          <a:p>
            <a:pPr algn="l"/>
            <a:r>
              <a:rPr sz="1000" b="0" i="0">
                <a:solidFill>
                  <a:srgbClr val="666666"/>
                </a:solidFill>
                <a:latin typeface="Calibri"/>
              </a:rPr>
              <a:t>— IQVIA, “AI Alone Will Not Modernize the Life Sciences Enterprise” (Silvis, 2026)</a:t>
            </a:r>
          </a:p>
        </p:txBody>
      </p:sp>
      <p:sp>
        <p:nvSpPr>
          <p:cNvPr id="11" name="Rectangle 10"/>
          <p:cNvSpPr/>
          <p:nvPr/>
        </p:nvSpPr>
        <p:spPr>
          <a:xfrm>
            <a:off x="548640" y="3703320"/>
            <a:ext cx="2651760" cy="1463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840480"/>
            <a:ext cx="2468879" cy="731520"/>
          </a:xfrm>
          <a:prstGeom prst="rect">
            <a:avLst/>
          </a:prstGeom>
          <a:noFill/>
        </p:spPr>
        <p:txBody>
          <a:bodyPr wrap="square" lIns="45720" rIns="45720" tIns="27432" bIns="27432" anchor="ctr">
            <a:spAutoFit/>
          </a:bodyPr>
          <a:lstStyle/>
          <a:p>
            <a:pPr algn="ctr"/>
            <a:r>
              <a:rPr sz="3200" b="1" i="0">
                <a:solidFill>
                  <a:srgbClr val="FFFFFF"/>
                </a:solidFill>
                <a:latin typeface="Calibri"/>
              </a:rPr>
              <a:t>58%</a:t>
            </a:r>
          </a:p>
        </p:txBody>
      </p:sp>
      <p:sp>
        <p:nvSpPr>
          <p:cNvPr id="13" name="TextBox 12"/>
          <p:cNvSpPr txBox="1"/>
          <p:nvPr/>
        </p:nvSpPr>
        <p:spPr>
          <a:xfrm>
            <a:off x="685800" y="4507992"/>
            <a:ext cx="2377440" cy="614476"/>
          </a:xfrm>
          <a:prstGeom prst="rect">
            <a:avLst/>
          </a:prstGeom>
          <a:noFill/>
        </p:spPr>
        <p:txBody>
          <a:bodyPr wrap="square" lIns="45720" rIns="45720" tIns="27432" bIns="27432" anchor="t">
            <a:spAutoFit/>
          </a:bodyPr>
          <a:lstStyle/>
          <a:p>
            <a:pPr algn="ctr"/>
            <a:r>
              <a:rPr sz="1100" b="0" i="0">
                <a:solidFill>
                  <a:srgbClr val="CADCFC"/>
                </a:solidFill>
                <a:latin typeface="Calibri"/>
              </a:rPr>
              <a:t>of commercial leaders report ≥ 2× one-year ROI from AI initiatives (IQVIA 2025 survey, n = 107)</a:t>
            </a:r>
          </a:p>
        </p:txBody>
      </p:sp>
      <p:sp>
        <p:nvSpPr>
          <p:cNvPr id="14" name="Rectangle 13"/>
          <p:cNvSpPr/>
          <p:nvPr/>
        </p:nvSpPr>
        <p:spPr>
          <a:xfrm>
            <a:off x="3355848" y="3703320"/>
            <a:ext cx="2651760" cy="1463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47288" y="3840480"/>
            <a:ext cx="2468879" cy="731520"/>
          </a:xfrm>
          <a:prstGeom prst="rect">
            <a:avLst/>
          </a:prstGeom>
          <a:noFill/>
        </p:spPr>
        <p:txBody>
          <a:bodyPr wrap="square" lIns="45720" rIns="45720" tIns="27432" bIns="27432" anchor="ctr">
            <a:spAutoFit/>
          </a:bodyPr>
          <a:lstStyle/>
          <a:p>
            <a:pPr algn="ctr"/>
            <a:r>
              <a:rPr sz="3200" b="1" i="0">
                <a:solidFill>
                  <a:srgbClr val="FFFFFF"/>
                </a:solidFill>
                <a:latin typeface="Calibri"/>
              </a:rPr>
              <a:t>11%</a:t>
            </a:r>
          </a:p>
        </p:txBody>
      </p:sp>
      <p:sp>
        <p:nvSpPr>
          <p:cNvPr id="16" name="TextBox 15"/>
          <p:cNvSpPr txBox="1"/>
          <p:nvPr/>
        </p:nvSpPr>
        <p:spPr>
          <a:xfrm>
            <a:off x="3493008" y="4507992"/>
            <a:ext cx="2377440" cy="614476"/>
          </a:xfrm>
          <a:prstGeom prst="rect">
            <a:avLst/>
          </a:prstGeom>
          <a:noFill/>
        </p:spPr>
        <p:txBody>
          <a:bodyPr wrap="square" lIns="45720" rIns="45720" tIns="27432" bIns="27432" anchor="t">
            <a:spAutoFit/>
          </a:bodyPr>
          <a:lstStyle/>
          <a:p>
            <a:pPr algn="ctr"/>
            <a:r>
              <a:rPr sz="1100" b="0" i="0">
                <a:solidFill>
                  <a:srgbClr val="CADCFC"/>
                </a:solidFill>
                <a:latin typeface="Calibri"/>
              </a:rPr>
              <a:t>say their data is 'fully sufficient' for commercial AI; 52% 'mostly'</a:t>
            </a:r>
          </a:p>
        </p:txBody>
      </p:sp>
      <p:sp>
        <p:nvSpPr>
          <p:cNvPr id="17" name="Rectangle 16"/>
          <p:cNvSpPr/>
          <p:nvPr/>
        </p:nvSpPr>
        <p:spPr>
          <a:xfrm>
            <a:off x="6153912" y="3703320"/>
            <a:ext cx="2651760" cy="1463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5352" y="3840480"/>
            <a:ext cx="2468879" cy="731520"/>
          </a:xfrm>
          <a:prstGeom prst="rect">
            <a:avLst/>
          </a:prstGeom>
          <a:noFill/>
        </p:spPr>
        <p:txBody>
          <a:bodyPr wrap="square" lIns="45720" rIns="45720" tIns="27432" bIns="27432" anchor="ctr">
            <a:spAutoFit/>
          </a:bodyPr>
          <a:lstStyle/>
          <a:p>
            <a:pPr algn="ctr"/>
            <a:r>
              <a:rPr sz="3000" b="1" i="0">
                <a:solidFill>
                  <a:srgbClr val="FFFFFF"/>
                </a:solidFill>
                <a:latin typeface="Calibri"/>
              </a:rPr>
              <a:t>$53M</a:t>
            </a:r>
          </a:p>
        </p:txBody>
      </p:sp>
      <p:sp>
        <p:nvSpPr>
          <p:cNvPr id="19" name="TextBox 18"/>
          <p:cNvSpPr txBox="1"/>
          <p:nvPr/>
        </p:nvSpPr>
        <p:spPr>
          <a:xfrm>
            <a:off x="6291072" y="4507992"/>
            <a:ext cx="2377440" cy="614476"/>
          </a:xfrm>
          <a:prstGeom prst="rect">
            <a:avLst/>
          </a:prstGeom>
          <a:noFill/>
        </p:spPr>
        <p:txBody>
          <a:bodyPr wrap="square" lIns="45720" rIns="45720" tIns="27432" bIns="27432" anchor="t">
            <a:spAutoFit/>
          </a:bodyPr>
          <a:lstStyle/>
          <a:p>
            <a:pPr algn="ctr"/>
            <a:r>
              <a:rPr sz="1100" b="0" i="0">
                <a:solidFill>
                  <a:srgbClr val="CADCFC"/>
                </a:solidFill>
                <a:latin typeface="Calibri"/>
              </a:rPr>
              <a:t>average first-year promotional spend for a top-25 launch vs. $17M for emerging biopharma (IQVIA, 605 launches)</a:t>
            </a:r>
          </a:p>
        </p:txBody>
      </p:sp>
      <p:sp>
        <p:nvSpPr>
          <p:cNvPr id="20" name="Rectangle 19"/>
          <p:cNvSpPr/>
          <p:nvPr/>
        </p:nvSpPr>
        <p:spPr>
          <a:xfrm>
            <a:off x="8961120" y="3703320"/>
            <a:ext cx="2651760" cy="146304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0" y="3840480"/>
            <a:ext cx="2468879" cy="731520"/>
          </a:xfrm>
          <a:prstGeom prst="rect">
            <a:avLst/>
          </a:prstGeom>
          <a:noFill/>
        </p:spPr>
        <p:txBody>
          <a:bodyPr wrap="square" lIns="45720" rIns="45720" tIns="27432" bIns="27432" anchor="ctr">
            <a:spAutoFit/>
          </a:bodyPr>
          <a:lstStyle/>
          <a:p>
            <a:pPr algn="ctr"/>
            <a:r>
              <a:rPr sz="3000" b="1" i="0">
                <a:solidFill>
                  <a:srgbClr val="FFFFFF"/>
                </a:solidFill>
                <a:latin typeface="Calibri"/>
              </a:rPr>
              <a:t>$75k+</a:t>
            </a:r>
          </a:p>
        </p:txBody>
      </p:sp>
      <p:sp>
        <p:nvSpPr>
          <p:cNvPr id="22" name="TextBox 21"/>
          <p:cNvSpPr txBox="1"/>
          <p:nvPr/>
        </p:nvSpPr>
        <p:spPr>
          <a:xfrm>
            <a:off x="9098280" y="4507992"/>
            <a:ext cx="2377440" cy="614476"/>
          </a:xfrm>
          <a:prstGeom prst="rect">
            <a:avLst/>
          </a:prstGeom>
          <a:noFill/>
        </p:spPr>
        <p:txBody>
          <a:bodyPr wrap="square" lIns="45720" rIns="45720" tIns="27432" bIns="27432" anchor="t">
            <a:spAutoFit/>
          </a:bodyPr>
          <a:lstStyle/>
          <a:p>
            <a:pPr algn="ctr"/>
            <a:r>
              <a:rPr sz="1100" b="0" i="0">
                <a:solidFill>
                  <a:srgbClr val="CADCFC"/>
                </a:solidFill>
                <a:latin typeface="Calibri"/>
              </a:rPr>
              <a:t>found by an IQVIA audit in one health system's paid search spent on irrelevant keywords and geographies in a year</a:t>
            </a:r>
          </a:p>
        </p:txBody>
      </p:sp>
      <p:sp>
        <p:nvSpPr>
          <p:cNvPr id="23" name="TextBox 22"/>
          <p:cNvSpPr txBox="1"/>
          <p:nvPr/>
        </p:nvSpPr>
        <p:spPr>
          <a:xfrm>
            <a:off x="548640" y="5349240"/>
            <a:ext cx="11064240" cy="914400"/>
          </a:xfrm>
          <a:prstGeom prst="rect">
            <a:avLst/>
          </a:prstGeom>
          <a:noFill/>
        </p:spPr>
        <p:txBody>
          <a:bodyPr wrap="square" lIns="45720" rIns="45720" tIns="27432" bIns="27432" anchor="t">
            <a:spAutoFit/>
          </a:bodyPr>
          <a:lstStyle/>
          <a:p>
            <a:pPr algn="l"/>
            <a:r>
              <a:rPr sz="1200" b="0" i="0">
                <a:solidFill>
                  <a:srgbClr val="1E2761"/>
                </a:solidFill>
                <a:latin typeface="Calibri"/>
              </a:rPr>
              <a:t>The measurement question is the same at every scale: a $25M brand budget, a $2M AI program, or a hospital's paid-search account. 'What did the spend do?' is answered by a model with controls, a range, and an experiment — or it is not answered.</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 · IN-CLASS EXERCISE</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300" b="1" i="0">
                <a:solidFill>
                  <a:srgbClr val="1E2761"/>
                </a:solidFill>
                <a:latin typeface="Calibri"/>
              </a:rPr>
              <a:t>Exercise: adstock by hand, reallocate by hand, pick the tool (20 min, groups of 3–4)</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Handout: Week_03_InClass_Exercise. One group presents each part in the debrief.</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37 / 40</a:t>
            </a:r>
          </a:p>
        </p:txBody>
      </p:sp>
      <p:sp>
        <p:nvSpPr>
          <p:cNvPr id="8" name="Rectangle 7"/>
          <p:cNvSpPr/>
          <p:nvPr/>
        </p:nvSpPr>
        <p:spPr>
          <a:xfrm>
            <a:off x="54864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8580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A</a:t>
            </a:r>
          </a:p>
        </p:txBody>
      </p:sp>
      <p:sp>
        <p:nvSpPr>
          <p:cNvPr id="10" name="TextBox 9"/>
          <p:cNvSpPr txBox="1"/>
          <p:nvPr/>
        </p:nvSpPr>
        <p:spPr>
          <a:xfrm>
            <a:off x="114300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A · Transforms by hand (6 min)</a:t>
            </a:r>
          </a:p>
        </p:txBody>
      </p:sp>
      <p:sp>
        <p:nvSpPr>
          <p:cNvPr id="11" name="TextBox 10"/>
          <p:cNvSpPr txBox="1"/>
          <p:nvPr/>
        </p:nvSpPr>
        <p:spPr>
          <a:xfrm>
            <a:off x="65836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Six weeks of spend for one channel; compute geometric adstock at δ = 0.5, then Hill at K = 300, s = 1</a:t>
            </a:r>
          </a:p>
          <a:p>
            <a:pPr>
              <a:spcAft>
                <a:spcPts val="500"/>
              </a:spcAft>
            </a:pPr>
            <a:r>
              <a:rPr sz="1150" b="1">
                <a:solidFill>
                  <a:srgbClr val="FF6B6B"/>
                </a:solidFill>
                <a:latin typeface="Calibri"/>
              </a:rPr>
              <a:t>▸ </a:t>
            </a:r>
            <a:r>
              <a:rPr sz="1150">
                <a:solidFill>
                  <a:srgbClr val="333333"/>
                </a:solidFill>
                <a:latin typeface="Calibri"/>
              </a:rPr>
              <a:t>Then: which single week's spend would you move to raise the six-week total most, and why?</a:t>
            </a:r>
          </a:p>
        </p:txBody>
      </p:sp>
      <p:sp>
        <p:nvSpPr>
          <p:cNvPr id="12" name="Rectangle 11"/>
          <p:cNvSpPr/>
          <p:nvPr/>
        </p:nvSpPr>
        <p:spPr>
          <a:xfrm>
            <a:off x="429768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43484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B</a:t>
            </a:r>
          </a:p>
        </p:txBody>
      </p:sp>
      <p:sp>
        <p:nvSpPr>
          <p:cNvPr id="14" name="TextBox 13"/>
          <p:cNvSpPr txBox="1"/>
          <p:nvPr/>
        </p:nvSpPr>
        <p:spPr>
          <a:xfrm>
            <a:off x="489204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B · Reallocate by hand (8 min)</a:t>
            </a:r>
          </a:p>
        </p:txBody>
      </p:sp>
      <p:sp>
        <p:nvSpPr>
          <p:cNvPr id="15" name="TextBox 14"/>
          <p:cNvSpPr txBox="1"/>
          <p:nvPr/>
        </p:nvSpPr>
        <p:spPr>
          <a:xfrm>
            <a:off x="440740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A response-curve table for three channels (TRx at 80 / 100 / 120% of current spend)</a:t>
            </a:r>
          </a:p>
          <a:p>
            <a:pPr>
              <a:spcAft>
                <a:spcPts val="500"/>
              </a:spcAft>
            </a:pPr>
            <a:r>
              <a:rPr sz="1150" b="1">
                <a:solidFill>
                  <a:srgbClr val="FF6B6B"/>
                </a:solidFill>
                <a:latin typeface="Calibri"/>
              </a:rPr>
              <a:t>▸ </a:t>
            </a:r>
            <a:r>
              <a:rPr sz="1150">
                <a:solidFill>
                  <a:srgbClr val="333333"/>
                </a:solidFill>
                <a:latin typeface="Calibri"/>
              </a:rPr>
              <a:t>Compute average and marginal ROI; move $2M from the worst marginal to the best; recompute</a:t>
            </a:r>
          </a:p>
          <a:p>
            <a:pPr>
              <a:spcAft>
                <a:spcPts val="500"/>
              </a:spcAft>
            </a:pPr>
            <a:r>
              <a:rPr sz="1150" b="1">
                <a:solidFill>
                  <a:srgbClr val="FF6B6B"/>
                </a:solidFill>
                <a:latin typeface="Calibri"/>
              </a:rPr>
              <a:t>▸ </a:t>
            </a:r>
            <a:r>
              <a:rPr sz="1150">
                <a:solidFill>
                  <a:srgbClr val="333333"/>
                </a:solidFill>
                <a:latin typeface="Calibri"/>
              </a:rPr>
              <a:t>Then: the CFO asks for $4M of savings instead</a:t>
            </a:r>
          </a:p>
        </p:txBody>
      </p:sp>
      <p:sp>
        <p:nvSpPr>
          <p:cNvPr id="16" name="Rectangle 15"/>
          <p:cNvSpPr/>
          <p:nvPr/>
        </p:nvSpPr>
        <p:spPr>
          <a:xfrm>
            <a:off x="8046720" y="2057400"/>
            <a:ext cx="3611880" cy="384048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183880" y="2194560"/>
            <a:ext cx="384048" cy="384048"/>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200" b="1">
                <a:solidFill>
                  <a:srgbClr val="FFFFFF"/>
                </a:solidFill>
                <a:latin typeface="Calibri"/>
              </a:rPr>
              <a:t>C</a:t>
            </a:r>
          </a:p>
        </p:txBody>
      </p:sp>
      <p:sp>
        <p:nvSpPr>
          <p:cNvPr id="18" name="TextBox 17"/>
          <p:cNvSpPr txBox="1"/>
          <p:nvPr/>
        </p:nvSpPr>
        <p:spPr>
          <a:xfrm>
            <a:off x="8641080" y="2185416"/>
            <a:ext cx="2926080" cy="411480"/>
          </a:xfrm>
          <a:prstGeom prst="rect">
            <a:avLst/>
          </a:prstGeom>
          <a:noFill/>
        </p:spPr>
        <p:txBody>
          <a:bodyPr wrap="square" lIns="45720" rIns="45720" tIns="27432" bIns="27432" anchor="ctr">
            <a:spAutoFit/>
          </a:bodyPr>
          <a:lstStyle/>
          <a:p>
            <a:pPr algn="l"/>
            <a:r>
              <a:rPr sz="1400" b="1" i="0">
                <a:solidFill>
                  <a:srgbClr val="1E2761"/>
                </a:solidFill>
                <a:latin typeface="Calibri"/>
              </a:rPr>
              <a:t>Part C · Pick the tool (6 min)</a:t>
            </a:r>
          </a:p>
        </p:txBody>
      </p:sp>
      <p:sp>
        <p:nvSpPr>
          <p:cNvPr id="19" name="TextBox 18"/>
          <p:cNvSpPr txBox="1"/>
          <p:nvPr/>
        </p:nvSpPr>
        <p:spPr>
          <a:xfrm>
            <a:off x="8156448" y="2679192"/>
            <a:ext cx="3383280" cy="3127248"/>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Six situations a GLUCOREN brand team faced this year</a:t>
            </a:r>
          </a:p>
          <a:p>
            <a:pPr>
              <a:spcAft>
                <a:spcPts val="500"/>
              </a:spcAft>
            </a:pPr>
            <a:r>
              <a:rPr sz="1150" b="1">
                <a:solidFill>
                  <a:srgbClr val="FF6B6B"/>
                </a:solidFill>
                <a:latin typeface="Calibri"/>
              </a:rPr>
              <a:t>▸ </a:t>
            </a:r>
            <a:r>
              <a:rPr sz="1150">
                <a:solidFill>
                  <a:srgbClr val="333333"/>
                </a:solidFill>
                <a:latin typeface="Calibri"/>
              </a:rPr>
              <a:t>For each: MMM, experiment, digital attribution, interrupted time series, or 'none — it is a data problem'; and the control you would need</a:t>
            </a:r>
          </a:p>
        </p:txBody>
      </p:sp>
      <p:sp>
        <p:nvSpPr>
          <p:cNvPr id="20" name="TextBox 19"/>
          <p:cNvSpPr txBox="1"/>
          <p:nvPr/>
        </p:nvSpPr>
        <p:spPr>
          <a:xfrm>
            <a:off x="548640" y="6035040"/>
            <a:ext cx="11064240" cy="365760"/>
          </a:xfrm>
          <a:prstGeom prst="rect">
            <a:avLst/>
          </a:prstGeom>
          <a:noFill/>
        </p:spPr>
        <p:txBody>
          <a:bodyPr wrap="square" lIns="45720" rIns="45720" tIns="27432" bIns="27432" anchor="t">
            <a:spAutoFit/>
          </a:bodyPr>
          <a:lstStyle/>
          <a:p>
            <a:pPr algn="l"/>
            <a:r>
              <a:rPr sz="1100" b="0" i="1">
                <a:solidFill>
                  <a:srgbClr val="666666"/>
                </a:solidFill>
                <a:latin typeface="Calibri"/>
              </a:rPr>
              <a:t>Answer key in the instructor package; students receive the worked solution after the debrief.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7 · HOMEWORK 1</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Homework 1 — released tonight, due Monday, October 12, 11:59 PM ET</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10% of the final grade · +10 bonus · same data as tonight · Homework_1_MMM.docx has the full brief and rubric</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38 / 40</a:t>
            </a:r>
          </a:p>
        </p:txBody>
      </p:sp>
      <p:sp>
        <p:nvSpPr>
          <p:cNvPr id="8" name="Rectangle 7"/>
          <p:cNvSpPr/>
          <p:nvPr/>
        </p:nvSpPr>
        <p:spPr>
          <a:xfrm>
            <a:off x="548640" y="2103120"/>
            <a:ext cx="5394960" cy="32004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Deliverables (one zip)</a:t>
            </a:r>
          </a:p>
        </p:txBody>
      </p:sp>
      <p:sp>
        <p:nvSpPr>
          <p:cNvPr id="10" name="TextBox 9"/>
          <p:cNvSpPr txBox="1"/>
          <p:nvPr/>
        </p:nvSpPr>
        <p:spPr>
          <a:xfrm>
            <a:off x="658368" y="2596896"/>
            <a:ext cx="5166360" cy="2615184"/>
          </a:xfrm>
          <a:prstGeom prst="rect">
            <a:avLst/>
          </a:prstGeom>
          <a:noFill/>
        </p:spPr>
        <p:txBody>
          <a:bodyPr wrap="square" lIns="45720" rIns="45720">
            <a:spAutoFit/>
          </a:bodyPr>
          <a:lstStyle/>
          <a:p>
            <a:pPr>
              <a:spcAft>
                <a:spcPts val="500"/>
              </a:spcAft>
            </a:pPr>
            <a:r>
              <a:rPr sz="1100" b="1">
                <a:solidFill>
                  <a:srgbClr val="FF6B6B"/>
                </a:solidFill>
                <a:latin typeface="Calibri"/>
              </a:rPr>
              <a:t>▸ </a:t>
            </a:r>
            <a:r>
              <a:rPr b="1" sz="1100">
                <a:solidFill>
                  <a:srgbClr val="1E2761"/>
                </a:solidFill>
                <a:latin typeface="Calibri"/>
              </a:rPr>
              <a:t>Notebook: </a:t>
            </a:r>
            <a:r>
              <a:rPr sz="1100">
                <a:solidFill>
                  <a:srgbClr val="333333"/>
                </a:solidFill>
                <a:latin typeface="Calibri"/>
              </a:rPr>
              <a:t>EDA → adstock + Hill → controls → OLS with a grid → diagnostics incl. hold-out → decomposition → average and marginal ROI → bootstrap or grid-sensitivity ranges</a:t>
            </a:r>
          </a:p>
          <a:p>
            <a:pPr>
              <a:spcAft>
                <a:spcPts val="500"/>
              </a:spcAft>
            </a:pPr>
            <a:r>
              <a:rPr sz="1100" b="1">
                <a:solidFill>
                  <a:srgbClr val="FF6B6B"/>
                </a:solidFill>
                <a:latin typeface="Calibri"/>
              </a:rPr>
              <a:t>▸ </a:t>
            </a:r>
            <a:r>
              <a:rPr b="1" sz="1100">
                <a:solidFill>
                  <a:srgbClr val="1E2761"/>
                </a:solidFill>
                <a:latin typeface="Calibri"/>
              </a:rPr>
              <a:t>Memo (2 pages, PDF): </a:t>
            </a:r>
            <a:r>
              <a:rPr sz="1100">
                <a:solidFill>
                  <a:srgbClr val="333333"/>
                </a:solidFill>
                <a:latin typeface="Calibri"/>
              </a:rPr>
              <a:t>to the GLUCOREN Brand Lead — TL;DR, decomposition chart, a reallocation with a risk posture, what the model misses, one experiment with a cost</a:t>
            </a:r>
          </a:p>
          <a:p>
            <a:pPr>
              <a:spcAft>
                <a:spcPts val="500"/>
              </a:spcAft>
            </a:pPr>
            <a:r>
              <a:rPr sz="1100" b="1">
                <a:solidFill>
                  <a:srgbClr val="FF6B6B"/>
                </a:solidFill>
                <a:latin typeface="Calibri"/>
              </a:rPr>
              <a:t>▸ </a:t>
            </a:r>
            <a:r>
              <a:rPr b="1" sz="1100">
                <a:solidFill>
                  <a:srgbClr val="1E2761"/>
                </a:solidFill>
                <a:latin typeface="Calibri"/>
              </a:rPr>
              <a:t>Bonus (+10): </a:t>
            </a:r>
            <a:r>
              <a:rPr sz="1100">
                <a:solidFill>
                  <a:srgbClr val="333333"/>
                </a:solidFill>
                <a:latin typeface="Calibri"/>
              </a:rPr>
              <a:t>PyMC-Marketing fit; 80% credible intervals on ROI; one posterior-probability statement; a paragraph on whether the recommendation changes</a:t>
            </a:r>
          </a:p>
        </p:txBody>
      </p:sp>
      <p:sp>
        <p:nvSpPr>
          <p:cNvPr id="11" name="Rectangle 10"/>
          <p:cNvSpPr/>
          <p:nvPr/>
        </p:nvSpPr>
        <p:spPr>
          <a:xfrm>
            <a:off x="6217920" y="2103120"/>
            <a:ext cx="5394960" cy="32004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1284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Rubric (100 + 10)</a:t>
            </a:r>
          </a:p>
        </p:txBody>
      </p:sp>
      <p:sp>
        <p:nvSpPr>
          <p:cNvPr id="13" name="TextBox 12"/>
          <p:cNvSpPr txBox="1"/>
          <p:nvPr/>
        </p:nvSpPr>
        <p:spPr>
          <a:xfrm>
            <a:off x="6327648" y="2596896"/>
            <a:ext cx="5166360" cy="26151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sz="1150">
                <a:solidFill>
                  <a:srgbClr val="333333"/>
                </a:solidFill>
                <a:latin typeface="Calibri"/>
              </a:rPr>
              <a:t>EDA + controls · 10</a:t>
            </a:r>
          </a:p>
          <a:p>
            <a:pPr>
              <a:spcAft>
                <a:spcPts val="500"/>
              </a:spcAft>
            </a:pPr>
            <a:r>
              <a:rPr sz="1150" b="1">
                <a:solidFill>
                  <a:srgbClr val="FF6B6B"/>
                </a:solidFill>
                <a:latin typeface="Calibri"/>
              </a:rPr>
              <a:t>▸ </a:t>
            </a:r>
            <a:r>
              <a:rPr sz="1150">
                <a:solidFill>
                  <a:srgbClr val="333333"/>
                </a:solidFill>
                <a:latin typeface="Calibri"/>
              </a:rPr>
              <a:t>Adstock + Hill · 15</a:t>
            </a:r>
          </a:p>
          <a:p>
            <a:pPr>
              <a:spcAft>
                <a:spcPts val="500"/>
              </a:spcAft>
            </a:pPr>
            <a:r>
              <a:rPr sz="1150" b="1">
                <a:solidFill>
                  <a:srgbClr val="FF6B6B"/>
                </a:solidFill>
                <a:latin typeface="Calibri"/>
              </a:rPr>
              <a:t>▸ </a:t>
            </a:r>
            <a:r>
              <a:rPr sz="1150">
                <a:solidFill>
                  <a:srgbClr val="333333"/>
                </a:solidFill>
                <a:latin typeface="Calibri"/>
              </a:rPr>
              <a:t>OLS MMM + diagnostics · 25</a:t>
            </a:r>
          </a:p>
          <a:p>
            <a:pPr>
              <a:spcAft>
                <a:spcPts val="500"/>
              </a:spcAft>
            </a:pPr>
            <a:r>
              <a:rPr sz="1150" b="1">
                <a:solidFill>
                  <a:srgbClr val="FF6B6B"/>
                </a:solidFill>
                <a:latin typeface="Calibri"/>
              </a:rPr>
              <a:t>▸ </a:t>
            </a:r>
            <a:r>
              <a:rPr sz="1150">
                <a:solidFill>
                  <a:srgbClr val="333333"/>
                </a:solidFill>
                <a:latin typeface="Calibri"/>
              </a:rPr>
              <a:t>Decomposition + ROI with ranges · 15</a:t>
            </a:r>
          </a:p>
          <a:p>
            <a:pPr>
              <a:spcAft>
                <a:spcPts val="500"/>
              </a:spcAft>
            </a:pPr>
            <a:r>
              <a:rPr sz="1150" b="1">
                <a:solidFill>
                  <a:srgbClr val="FF6B6B"/>
                </a:solidFill>
                <a:latin typeface="Calibri"/>
              </a:rPr>
              <a:t>▸ </a:t>
            </a:r>
            <a:r>
              <a:rPr sz="1150">
                <a:solidFill>
                  <a:srgbClr val="333333"/>
                </a:solidFill>
                <a:latin typeface="Calibri"/>
              </a:rPr>
              <a:t>Memo · 35</a:t>
            </a:r>
          </a:p>
          <a:p>
            <a:pPr>
              <a:spcAft>
                <a:spcPts val="500"/>
              </a:spcAft>
            </a:pPr>
            <a:r>
              <a:rPr sz="1150" b="1">
                <a:solidFill>
                  <a:srgbClr val="FF6B6B"/>
                </a:solidFill>
                <a:latin typeface="Calibri"/>
              </a:rPr>
              <a:t>▸ </a:t>
            </a:r>
            <a:r>
              <a:rPr sz="1150">
                <a:solidFill>
                  <a:srgbClr val="333333"/>
                </a:solidFill>
                <a:latin typeface="Calibri"/>
              </a:rPr>
              <a:t>Bayesian bonus · +10</a:t>
            </a:r>
          </a:p>
        </p:txBody>
      </p:sp>
      <p:sp>
        <p:nvSpPr>
          <p:cNvPr id="14" name="Rectangle 13"/>
          <p:cNvSpPr/>
          <p:nvPr/>
        </p:nvSpPr>
        <p:spPr>
          <a:xfrm>
            <a:off x="548640" y="5486400"/>
            <a:ext cx="11064240" cy="77724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532120"/>
            <a:ext cx="10698480" cy="685800"/>
          </a:xfrm>
          <a:prstGeom prst="rect">
            <a:avLst/>
          </a:prstGeom>
          <a:noFill/>
        </p:spPr>
        <p:txBody>
          <a:bodyPr wrap="square" lIns="45720" rIns="45720" tIns="27432" bIns="27432" anchor="t">
            <a:spAutoFit/>
          </a:bodyPr>
          <a:lstStyle/>
          <a:p>
            <a:pPr algn="l"/>
            <a:r>
              <a:rPr sz="1100" b="0" i="0">
                <a:solidFill>
                  <a:srgbClr val="1E2761"/>
                </a:solidFill>
                <a:latin typeface="Calibri"/>
              </a:rPr>
              <a:t>Rules: numpy seed 7; the notebook runs top-to-bottom on a clean kernel; no code in the memo; AI use disclosed in a one-paragraph appendix (syllabus policy); late work not accepted. The instructor truth files are not distributed — do not go looking for them.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11480"/>
            <a:ext cx="2377440" cy="329184"/>
          </a:xfrm>
          <a:prstGeom prst="round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r>
              <a:rPr sz="1100" b="1">
                <a:solidFill>
                  <a:srgbClr val="FFFFFF"/>
                </a:solidFill>
                <a:latin typeface="Calibri"/>
              </a:rPr>
              <a:t>NEXT WEEK</a:t>
            </a:r>
          </a:p>
        </p:txBody>
      </p:sp>
      <p:sp>
        <p:nvSpPr>
          <p:cNvPr id="4" name="TextBox 3"/>
          <p:cNvSpPr txBox="1"/>
          <p:nvPr/>
        </p:nvSpPr>
        <p:spPr>
          <a:xfrm>
            <a:off x="548640" y="868680"/>
            <a:ext cx="11064240" cy="822960"/>
          </a:xfrm>
          <a:prstGeom prst="rect">
            <a:avLst/>
          </a:prstGeom>
          <a:noFill/>
        </p:spPr>
        <p:txBody>
          <a:bodyPr wrap="square" lIns="45720" rIns="45720" tIns="27432" bIns="27432" anchor="ctr">
            <a:spAutoFit/>
          </a:bodyPr>
          <a:lstStyle/>
          <a:p>
            <a:pPr algn="l"/>
            <a:r>
              <a:rPr sz="2600" b="1" i="0">
                <a:solidFill>
                  <a:srgbClr val="1E2761"/>
                </a:solidFill>
                <a:latin typeface="Calibri"/>
              </a:rPr>
              <a:t>Before Week 4 (Oct 5): readings, data plan, homework started</a:t>
            </a:r>
          </a:p>
        </p:txBody>
      </p:sp>
      <p:sp>
        <p:nvSpPr>
          <p:cNvPr id="5" name="TextBox 4"/>
          <p:cNvSpPr txBox="1"/>
          <p:nvPr/>
        </p:nvSpPr>
        <p:spPr>
          <a:xfrm>
            <a:off x="548640" y="1572768"/>
            <a:ext cx="11064240" cy="411480"/>
          </a:xfrm>
          <a:prstGeom prst="rect">
            <a:avLst/>
          </a:prstGeom>
          <a:noFill/>
        </p:spPr>
        <p:txBody>
          <a:bodyPr wrap="square" lIns="45720" rIns="45720" tIns="27432" bIns="27432" anchor="t">
            <a:spAutoFit/>
          </a:bodyPr>
          <a:lstStyle/>
          <a:p>
            <a:pPr algn="l"/>
            <a:r>
              <a:rPr sz="1300" b="0" i="0">
                <a:solidFill>
                  <a:srgbClr val="666666"/>
                </a:solidFill>
                <a:latin typeface="Calibri"/>
              </a:rPr>
              <a:t>Week 4: HCP and patient segmentation — decile vs. behavioral vs. needs-based; k-means, GMM, UMAP/HDBSCAN on claims features.</a:t>
            </a:r>
          </a:p>
        </p:txBody>
      </p:sp>
      <p:sp>
        <p:nvSpPr>
          <p:cNvPr id="6" name="TextBox 5"/>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666666"/>
                </a:solidFill>
                <a:latin typeface="Calibri"/>
              </a:rPr>
              <a:t>Week 3 — Marketing Mix Modeling &amp; ROI Optimization  ·  Pharma DS&amp;AI · Fall 2026</a:t>
            </a:r>
          </a:p>
        </p:txBody>
      </p:sp>
      <p:sp>
        <p:nvSpPr>
          <p:cNvPr id="7" name="TextBox 6"/>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666666"/>
                </a:solidFill>
                <a:latin typeface="Calibri"/>
              </a:rPr>
              <a:t>39 / 40</a:t>
            </a:r>
          </a:p>
        </p:txBody>
      </p:sp>
      <p:sp>
        <p:nvSpPr>
          <p:cNvPr id="8" name="Rectangle 7"/>
          <p:cNvSpPr/>
          <p:nvPr/>
        </p:nvSpPr>
        <p:spPr>
          <a:xfrm>
            <a:off x="548640" y="219456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3042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Do</a:t>
            </a:r>
          </a:p>
        </p:txBody>
      </p:sp>
      <p:sp>
        <p:nvSpPr>
          <p:cNvPr id="10" name="TextBox 9"/>
          <p:cNvSpPr txBox="1"/>
          <p:nvPr/>
        </p:nvSpPr>
        <p:spPr>
          <a:xfrm>
            <a:off x="658368" y="268833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Read: </a:t>
            </a:r>
            <a:r>
              <a:rPr sz="1150">
                <a:solidFill>
                  <a:srgbClr val="333333"/>
                </a:solidFill>
                <a:latin typeface="Calibri"/>
              </a:rPr>
              <a:t>Week 3 reading pack (~35 min) and the MMM Field Guide (reference — keep it next to the homework).</a:t>
            </a:r>
          </a:p>
          <a:p>
            <a:pPr>
              <a:spcAft>
                <a:spcPts val="500"/>
              </a:spcAft>
            </a:pPr>
            <a:r>
              <a:rPr sz="1150" b="1">
                <a:solidFill>
                  <a:srgbClr val="FF6B6B"/>
                </a:solidFill>
                <a:latin typeface="Calibri"/>
              </a:rPr>
              <a:t>▸ </a:t>
            </a:r>
            <a:r>
              <a:rPr b="1" sz="1150">
                <a:solidFill>
                  <a:srgbClr val="1E2761"/>
                </a:solidFill>
                <a:latin typeface="Calibri"/>
              </a:rPr>
              <a:t>Read (syllabus): </a:t>
            </a:r>
            <a:r>
              <a:rPr sz="1150">
                <a:solidFill>
                  <a:srgbClr val="333333"/>
                </a:solidFill>
                <a:latin typeface="Calibri"/>
              </a:rPr>
              <a:t>Jin et al., “Bayesian Methods for Media Mix Modeling with Carryover and Shape Effects” (Google, 2017) — §§1–3; skim the PyMC-Marketing MMM example notebook.</a:t>
            </a:r>
          </a:p>
          <a:p>
            <a:pPr>
              <a:spcAft>
                <a:spcPts val="500"/>
              </a:spcAft>
            </a:pPr>
            <a:r>
              <a:rPr sz="1150" b="1">
                <a:solidFill>
                  <a:srgbClr val="FF6B6B"/>
                </a:solidFill>
                <a:latin typeface="Calibri"/>
              </a:rPr>
              <a:t>▸ </a:t>
            </a:r>
            <a:r>
              <a:rPr b="1" sz="1150">
                <a:solidFill>
                  <a:srgbClr val="1E2761"/>
                </a:solidFill>
                <a:latin typeface="Calibri"/>
              </a:rPr>
              <a:t>Watch / read (optional, PMSA): </a:t>
            </a:r>
            <a:r>
              <a:rPr sz="1150">
                <a:solidFill>
                  <a:srgbClr val="333333"/>
                </a:solidFill>
                <a:latin typeface="Calibri"/>
              </a:rPr>
              <a:t>Axtria “Promotion Response Modeling for Pharma”; “Marketing-Mix Methodologies to Account for Managed Care Dynamics.”</a:t>
            </a:r>
          </a:p>
          <a:p>
            <a:pPr>
              <a:spcAft>
                <a:spcPts val="500"/>
              </a:spcAft>
            </a:pPr>
            <a:r>
              <a:rPr sz="1150" b="1">
                <a:solidFill>
                  <a:srgbClr val="FF6B6B"/>
                </a:solidFill>
                <a:latin typeface="Calibri"/>
              </a:rPr>
              <a:t>▸ </a:t>
            </a:r>
            <a:r>
              <a:rPr b="1" sz="1150">
                <a:solidFill>
                  <a:srgbClr val="1E2761"/>
                </a:solidFill>
                <a:latin typeface="Calibri"/>
              </a:rPr>
              <a:t>Submit: </a:t>
            </a:r>
            <a:r>
              <a:rPr sz="1150">
                <a:solidFill>
                  <a:srgbClr val="333333"/>
                </a:solidFill>
                <a:latin typeface="Calibri"/>
              </a:rPr>
              <a:t>problem statement + data plan (one page) by Oct 5.</a:t>
            </a:r>
          </a:p>
          <a:p>
            <a:pPr>
              <a:spcAft>
                <a:spcPts val="500"/>
              </a:spcAft>
            </a:pPr>
            <a:r>
              <a:rPr sz="1150" b="1">
                <a:solidFill>
                  <a:srgbClr val="FF6B6B"/>
                </a:solidFill>
                <a:latin typeface="Calibri"/>
              </a:rPr>
              <a:t>▸ </a:t>
            </a:r>
            <a:r>
              <a:rPr b="1" sz="1150">
                <a:solidFill>
                  <a:srgbClr val="1E2761"/>
                </a:solidFill>
                <a:latin typeface="Calibri"/>
              </a:rPr>
              <a:t>Start Homework 1 </a:t>
            </a:r>
            <a:r>
              <a:rPr sz="1150">
                <a:solidFill>
                  <a:srgbClr val="333333"/>
                </a:solidFill>
                <a:latin typeface="Calibri"/>
              </a:rPr>
              <a:t>this week; the PyMC bonus needs sampling time.</a:t>
            </a:r>
          </a:p>
        </p:txBody>
      </p:sp>
      <p:sp>
        <p:nvSpPr>
          <p:cNvPr id="11" name="Rectangle 10"/>
          <p:cNvSpPr/>
          <p:nvPr/>
        </p:nvSpPr>
        <p:spPr>
          <a:xfrm>
            <a:off x="6217920" y="2194560"/>
            <a:ext cx="5394960" cy="3657600"/>
          </a:xfrm>
          <a:prstGeom prst="rect">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304288"/>
            <a:ext cx="5120640" cy="365760"/>
          </a:xfrm>
          <a:prstGeom prst="rect">
            <a:avLst/>
          </a:prstGeom>
          <a:noFill/>
        </p:spPr>
        <p:txBody>
          <a:bodyPr wrap="square" lIns="45720" rIns="45720" tIns="27432" bIns="27432" anchor="t">
            <a:spAutoFit/>
          </a:bodyPr>
          <a:lstStyle/>
          <a:p>
            <a:pPr algn="l"/>
            <a:r>
              <a:rPr sz="1400" b="1" i="0">
                <a:solidFill>
                  <a:srgbClr val="1E2761"/>
                </a:solidFill>
                <a:latin typeface="Calibri"/>
              </a:rPr>
              <a:t>Bring</a:t>
            </a:r>
          </a:p>
        </p:txBody>
      </p:sp>
      <p:sp>
        <p:nvSpPr>
          <p:cNvPr id="13" name="TextBox 12"/>
          <p:cNvSpPr txBox="1"/>
          <p:nvPr/>
        </p:nvSpPr>
        <p:spPr>
          <a:xfrm>
            <a:off x="6327648" y="2688336"/>
            <a:ext cx="5166360" cy="3072384"/>
          </a:xfrm>
          <a:prstGeom prst="rect">
            <a:avLst/>
          </a:prstGeom>
          <a:noFill/>
        </p:spPr>
        <p:txBody>
          <a:bodyPr wrap="square" lIns="45720" rIns="45720">
            <a:spAutoFit/>
          </a:bodyPr>
          <a:lstStyle/>
          <a:p>
            <a:pPr>
              <a:spcAft>
                <a:spcPts val="500"/>
              </a:spcAft>
            </a:pPr>
            <a:r>
              <a:rPr sz="1150" b="1">
                <a:solidFill>
                  <a:srgbClr val="FF6B6B"/>
                </a:solidFill>
                <a:latin typeface="Calibri"/>
              </a:rPr>
              <a:t>▸ </a:t>
            </a:r>
            <a:r>
              <a:rPr b="1" sz="1150">
                <a:solidFill>
                  <a:srgbClr val="1E2761"/>
                </a:solidFill>
                <a:latin typeface="Calibri"/>
              </a:rPr>
              <a:t>One channel from your term project </a:t>
            </a:r>
            <a:r>
              <a:rPr sz="1150">
                <a:solidFill>
                  <a:srgbClr val="333333"/>
                </a:solidFill>
                <a:latin typeface="Calibri"/>
              </a:rPr>
              <a:t>(or from any brand you know) and the pattern of its spend: steady, bursty, flighted, growing? What does that mean for measuring it?</a:t>
            </a:r>
          </a:p>
          <a:p>
            <a:pPr>
              <a:spcAft>
                <a:spcPts val="500"/>
              </a:spcAft>
            </a:pPr>
            <a:r>
              <a:rPr sz="1150" b="1">
                <a:solidFill>
                  <a:srgbClr val="FF6B6B"/>
                </a:solidFill>
                <a:latin typeface="Calibri"/>
              </a:rPr>
              <a:t>▸ </a:t>
            </a:r>
            <a:r>
              <a:rPr b="1" sz="1150">
                <a:solidFill>
                  <a:srgbClr val="1E2761"/>
                </a:solidFill>
                <a:latin typeface="Calibri"/>
              </a:rPr>
              <a:t>Your answer to: </a:t>
            </a:r>
            <a:r>
              <a:rPr sz="1150">
                <a:solidFill>
                  <a:srgbClr val="333333"/>
                </a:solidFill>
                <a:latin typeface="Calibri"/>
              </a:rPr>
              <a:t>“what would force us to retrain this model?” (a formulary change, a competitor, a panel restatement, a pandemic — the PMSA 2021 post-COVID recalibration sessions are the reference).</a:t>
            </a:r>
          </a:p>
          <a:p>
            <a:pPr>
              <a:spcAft>
                <a:spcPts val="500"/>
              </a:spcAft>
            </a:pPr>
            <a:r>
              <a:rPr sz="1150" b="1">
                <a:solidFill>
                  <a:srgbClr val="FF6B6B"/>
                </a:solidFill>
                <a:latin typeface="Calibri"/>
              </a:rPr>
              <a:t>▸ </a:t>
            </a:r>
            <a:r>
              <a:rPr b="1" sz="1150">
                <a:solidFill>
                  <a:srgbClr val="1E2761"/>
                </a:solidFill>
                <a:latin typeface="Calibri"/>
              </a:rPr>
              <a:t>For Week 4: </a:t>
            </a:r>
            <a:r>
              <a:rPr sz="1150">
                <a:solidFill>
                  <a:srgbClr val="333333"/>
                </a:solidFill>
                <a:latin typeface="Calibri"/>
              </a:rPr>
              <a:t>scikit-learn, umap-learn, hdbscan installed.</a:t>
            </a:r>
          </a:p>
        </p:txBody>
      </p:sp>
      <p:sp>
        <p:nvSpPr>
          <p:cNvPr id="14" name="TextBox 13"/>
          <p:cNvSpPr txBox="1"/>
          <p:nvPr/>
        </p:nvSpPr>
        <p:spPr>
          <a:xfrm>
            <a:off x="548640" y="5989320"/>
            <a:ext cx="11064240" cy="365760"/>
          </a:xfrm>
          <a:prstGeom prst="rect">
            <a:avLst/>
          </a:prstGeom>
          <a:noFill/>
        </p:spPr>
        <p:txBody>
          <a:bodyPr wrap="square" lIns="45720" rIns="45720" tIns="27432" bIns="27432" anchor="t">
            <a:spAutoFit/>
          </a:bodyPr>
          <a:lstStyle/>
          <a:p>
            <a:pPr algn="l"/>
            <a:r>
              <a:rPr sz="1150" b="1" i="0">
                <a:solidFill>
                  <a:srgbClr val="1E2761"/>
                </a:solidFill>
                <a:latin typeface="Calibri"/>
              </a:rPr>
              <a:t>Office hours Mondays 5:00–6:45 PM · ac5562@columbia.edu</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411480" cy="237744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194560"/>
            <a:ext cx="10515600" cy="1097280"/>
          </a:xfrm>
          <a:prstGeom prst="rect">
            <a:avLst/>
          </a:prstGeom>
          <a:noFill/>
        </p:spPr>
        <p:txBody>
          <a:bodyPr wrap="square" lIns="45720" rIns="45720" tIns="27432" bIns="27432" anchor="t">
            <a:spAutoFit/>
          </a:bodyPr>
          <a:lstStyle/>
          <a:p>
            <a:pPr algn="l"/>
            <a:r>
              <a:rPr sz="4800" b="1" i="0">
                <a:solidFill>
                  <a:srgbClr val="FFFFFF"/>
                </a:solidFill>
                <a:latin typeface="Calibri"/>
              </a:rPr>
              <a:t>Questions?</a:t>
            </a:r>
          </a:p>
        </p:txBody>
      </p:sp>
      <p:sp>
        <p:nvSpPr>
          <p:cNvPr id="5" name="TextBox 4"/>
          <p:cNvSpPr txBox="1"/>
          <p:nvPr/>
        </p:nvSpPr>
        <p:spPr>
          <a:xfrm>
            <a:off x="868680" y="3383280"/>
            <a:ext cx="10515600" cy="1645920"/>
          </a:xfrm>
          <a:prstGeom prst="rect">
            <a:avLst/>
          </a:prstGeom>
          <a:noFill/>
        </p:spPr>
        <p:txBody>
          <a:bodyPr wrap="square" lIns="45720" rIns="45720" tIns="27432" bIns="27432" anchor="t">
            <a:spAutoFit/>
          </a:bodyPr>
          <a:lstStyle/>
          <a:p>
            <a:pPr algn="l"/>
            <a:r>
              <a:rPr sz="1400" b="0" i="0">
                <a:solidFill>
                  <a:srgbClr val="CADCFC"/>
                </a:solidFill>
                <a:latin typeface="Calibri"/>
              </a:rPr>
              <a:t>Five things to leave with:</a:t>
            </a:r>
          </a:p>
          <a:p>
            <a:pPr algn="l"/>
            <a:r>
              <a:rPr sz="1400" b="0" i="0">
                <a:solidFill>
                  <a:srgbClr val="CADCFC"/>
                </a:solidFill>
                <a:latin typeface="Calibri"/>
              </a:rPr>
              <a:t>1 · Adstock and saturation are not optional.   2 · In pharma the controls are the model — ramp, season, competitor, access.</a:t>
            </a:r>
          </a:p>
          <a:p>
            <a:pPr algn="l"/>
            <a:r>
              <a:rPr sz="1400" b="0" i="0">
                <a:solidFill>
                  <a:srgbClr val="CADCFC"/>
                </a:solidFill>
                <a:latin typeface="Calibri"/>
              </a:rPr>
              <a:t>3 · Average ROI reports; marginal ROI decides.   4 · Ranges, not points — and a channel that never varies cannot be measured.   5 · Calibrate: where the experiment and the model disagree, the experiment wins.</a:t>
            </a:r>
          </a:p>
        </p:txBody>
      </p:sp>
      <p:sp>
        <p:nvSpPr>
          <p:cNvPr id="6" name="TextBox 5"/>
          <p:cNvSpPr txBox="1"/>
          <p:nvPr/>
        </p:nvSpPr>
        <p:spPr>
          <a:xfrm>
            <a:off x="868680" y="5943600"/>
            <a:ext cx="10972800" cy="365760"/>
          </a:xfrm>
          <a:prstGeom prst="rect">
            <a:avLst/>
          </a:prstGeom>
          <a:noFill/>
        </p:spPr>
        <p:txBody>
          <a:bodyPr wrap="square" lIns="45720" rIns="45720" tIns="27432" bIns="27432" anchor="t">
            <a:spAutoFit/>
          </a:bodyPr>
          <a:lstStyle/>
          <a:p>
            <a:pPr algn="l"/>
            <a:r>
              <a:rPr sz="1200" b="0" i="0">
                <a:solidFill>
                  <a:srgbClr val="CADCFC"/>
                </a:solidFill>
                <a:latin typeface="Calibri"/>
              </a:rPr>
              <a:t>Next week — HCP and patient segmentation · Homework 1 due October 12</a:t>
            </a:r>
          </a:p>
        </p:txBody>
      </p:sp>
      <p:sp>
        <p:nvSpPr>
          <p:cNvPr id="7" name="TextBox 6"/>
          <p:cNvSpPr txBox="1"/>
          <p:nvPr/>
        </p:nvSpPr>
        <p:spPr>
          <a:xfrm>
            <a:off x="365760" y="6446520"/>
            <a:ext cx="7315200" cy="274320"/>
          </a:xfrm>
          <a:prstGeom prst="rect">
            <a:avLst/>
          </a:prstGeom>
          <a:noFill/>
        </p:spPr>
        <p:txBody>
          <a:bodyPr wrap="square" lIns="45720" rIns="45720" tIns="27432" bIns="27432" anchor="t">
            <a:spAutoFit/>
          </a:bodyPr>
          <a:lstStyle/>
          <a:p>
            <a:pPr algn="l"/>
            <a:r>
              <a:rPr sz="900" b="0" i="0">
                <a:solidFill>
                  <a:srgbClr val="FFFFFF"/>
                </a:solidFill>
                <a:latin typeface="Calibri"/>
              </a:rPr>
              <a:t>Week 3 — Marketing Mix Modeling &amp; ROI Optimization  ·  Pharma DS&amp;AI · Fall 2026</a:t>
            </a:r>
          </a:p>
        </p:txBody>
      </p:sp>
      <p:sp>
        <p:nvSpPr>
          <p:cNvPr id="8" name="TextBox 7"/>
          <p:cNvSpPr txBox="1"/>
          <p:nvPr/>
        </p:nvSpPr>
        <p:spPr>
          <a:xfrm>
            <a:off x="10972800" y="6446520"/>
            <a:ext cx="822960" cy="274320"/>
          </a:xfrm>
          <a:prstGeom prst="rect">
            <a:avLst/>
          </a:prstGeom>
          <a:noFill/>
        </p:spPr>
        <p:txBody>
          <a:bodyPr wrap="square" lIns="45720" rIns="45720" tIns="27432" bIns="27432" anchor="t">
            <a:spAutoFit/>
          </a:bodyPr>
          <a:lstStyle/>
          <a:p>
            <a:pPr algn="r"/>
            <a:r>
              <a:rPr sz="900" b="0" i="0">
                <a:solidFill>
                  <a:srgbClr val="FFFFFF"/>
                </a:solidFill>
                <a:latin typeface="Calibri"/>
              </a:rPr>
              <a:t>40 / 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