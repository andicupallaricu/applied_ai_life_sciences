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adverse-event detection in GLUCOREN field notes (fictional brand, Aspen Therapeutics; competitor CARDIVEX). All data synthetic. GenAI gets one slide; the full session comes later in the term.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Nov 2 deadline given the holiday. Study guide to post by Nov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411480" cy="237744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914400"/>
            <a:ext cx="10972800" cy="548640"/>
          </a:xfrm>
          <a:prstGeom prst="rect">
            <a:avLst/>
          </a:prstGeom>
          <a:noFill/>
        </p:spPr>
        <p:txBody>
          <a:bodyPr wrap="square" lIns="45720" rIns="45720" tIns="27432" bIns="27432" anchor="t">
            <a:spAutoFit/>
          </a:bodyPr>
          <a:lstStyle/>
          <a:p>
            <a:pPr algn="l"/>
            <a:r>
              <a:rPr sz="1400" b="1" i="0">
                <a:solidFill>
                  <a:srgbClr val="CADCFC"/>
                </a:solidFill>
                <a:latin typeface="Calibri"/>
              </a:rPr>
              <a:t>WEEK 7</a:t>
            </a:r>
          </a:p>
        </p:txBody>
      </p:sp>
      <p:sp>
        <p:nvSpPr>
          <p:cNvPr id="5" name="TextBox 4"/>
          <p:cNvSpPr txBox="1"/>
          <p:nvPr/>
        </p:nvSpPr>
        <p:spPr>
          <a:xfrm>
            <a:off x="868680" y="1645920"/>
            <a:ext cx="10789920" cy="1463040"/>
          </a:xfrm>
          <a:prstGeom prst="rect">
            <a:avLst/>
          </a:prstGeom>
          <a:noFill/>
        </p:spPr>
        <p:txBody>
          <a:bodyPr wrap="square" lIns="45720" rIns="45720" tIns="27432" bIns="27432" anchor="t">
            <a:spAutoFit/>
          </a:bodyPr>
          <a:lstStyle/>
          <a:p>
            <a:pPr algn="l"/>
            <a:r>
              <a:rPr sz="3800" b="1" i="0">
                <a:solidFill>
                  <a:srgbClr val="FFFFFF"/>
                </a:solidFill>
                <a:latin typeface="Calibri"/>
              </a:rPr>
              <a:t>NLP in Pharma Commercial</a:t>
            </a:r>
          </a:p>
          <a:p>
            <a:pPr algn="l"/>
            <a:r>
              <a:rPr sz="3800" b="1" i="0">
                <a:solidFill>
                  <a:srgbClr val="FFFFFF"/>
                </a:solidFill>
                <a:latin typeface="Calibri"/>
              </a:rPr>
              <a:t>Adverse events, field notes and social listening</a:t>
            </a:r>
          </a:p>
        </p:txBody>
      </p:sp>
      <p:sp>
        <p:nvSpPr>
          <p:cNvPr id="6" name="TextBox 5"/>
          <p:cNvSpPr txBox="1"/>
          <p:nvPr/>
        </p:nvSpPr>
        <p:spPr>
          <a:xfrm>
            <a:off x="868680" y="3383280"/>
            <a:ext cx="10058400" cy="914400"/>
          </a:xfrm>
          <a:prstGeom prst="rect">
            <a:avLst/>
          </a:prstGeom>
          <a:noFill/>
        </p:spPr>
        <p:txBody>
          <a:bodyPr wrap="square" lIns="45720" rIns="45720" tIns="27432" bIns="27432" anchor="t">
            <a:spAutoFit/>
          </a:bodyPr>
          <a:lstStyle/>
          <a:p>
            <a:pPr algn="l"/>
            <a:r>
              <a:rPr sz="1800" b="0" i="0">
                <a:solidFill>
                  <a:srgbClr val="CADCFC"/>
                </a:solidFill>
                <a:latin typeface="Calibri"/>
              </a:rPr>
              <a:t>Detecting adverse events in free text, explaining the model to a safety reviewer, and reusing the same tools on the rest of what the field writes down.</a:t>
            </a:r>
          </a:p>
        </p:txBody>
      </p:sp>
      <p:sp>
        <p:nvSpPr>
          <p:cNvPr id="7" name="TextBox 6"/>
          <p:cNvSpPr txBox="1"/>
          <p:nvPr/>
        </p:nvSpPr>
        <p:spPr>
          <a:xfrm>
            <a:off x="868680" y="5943600"/>
            <a:ext cx="10972800" cy="365760"/>
          </a:xfrm>
          <a:prstGeom prst="rect">
            <a:avLst/>
          </a:prstGeom>
          <a:noFill/>
        </p:spPr>
        <p:txBody>
          <a:bodyPr wrap="square" lIns="45720" rIns="45720" tIns="27432" bIns="27432" anchor="t">
            <a:spAutoFit/>
          </a:bodyPr>
          <a:lstStyle/>
          <a:p>
            <a:pPr algn="l"/>
            <a:r>
              <a:rPr sz="1100" b="0" i="0">
                <a:solidFill>
                  <a:srgbClr val="CADCFC"/>
                </a:solidFill>
                <a:latin typeface="Calibri"/>
              </a:rPr>
              <a:t>Andi Cupallari · Applied Data Science and AI in Pharma Commercial · Fall 2026 · Monday, October 26</a:t>
            </a:r>
          </a:p>
        </p:txBody>
      </p:sp>
      <p:sp>
        <p:nvSpPr>
          <p:cNvPr id="8" name="TextBox 7"/>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7 — NLP in Pharma Commercial: Adverse Events, Field Notes and Social Listening  ·  Pharma DS&amp;AI · Fall 2026</a:t>
            </a:r>
          </a:p>
        </p:txBody>
      </p:sp>
      <p:sp>
        <p:nvSpPr>
          <p:cNvPr id="9" name="TextBox 8"/>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1 / 37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AGENDA</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Tonight</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 / 37</a:t>
            </a:r>
          </a:p>
        </p:txBody>
      </p:sp>
      <p:sp>
        <p:nvSpPr>
          <p:cNvPr id="7" name="Oval 6"/>
          <p:cNvSpPr/>
          <p:nvPr/>
        </p:nvSpPr>
        <p:spPr>
          <a:xfrm>
            <a:off x="640080" y="1828800"/>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a:t>
            </a:r>
          </a:p>
        </p:txBody>
      </p:sp>
      <p:sp>
        <p:nvSpPr>
          <p:cNvPr id="8" name="TextBox 7"/>
          <p:cNvSpPr txBox="1"/>
          <p:nvPr/>
        </p:nvSpPr>
        <p:spPr>
          <a:xfrm>
            <a:off x="1188720" y="1810512"/>
            <a:ext cx="4206240" cy="365760"/>
          </a:xfrm>
          <a:prstGeom prst="rect">
            <a:avLst/>
          </a:prstGeom>
          <a:noFill/>
        </p:spPr>
        <p:txBody>
          <a:bodyPr wrap="square" lIns="45720" rIns="45720" tIns="27432" bIns="27432" anchor="t">
            <a:spAutoFit/>
          </a:bodyPr>
          <a:lstStyle/>
          <a:p>
            <a:pPr algn="l"/>
            <a:r>
              <a:rPr sz="1400" b="1" i="0">
                <a:solidFill>
                  <a:srgbClr val="1E2761"/>
                </a:solidFill>
                <a:latin typeface="Calibri"/>
              </a:rPr>
              <a:t>Text and the rules</a:t>
            </a:r>
          </a:p>
        </p:txBody>
      </p:sp>
      <p:sp>
        <p:nvSpPr>
          <p:cNvPr id="9" name="TextBox 8"/>
          <p:cNvSpPr txBox="1"/>
          <p:nvPr/>
        </p:nvSpPr>
        <p:spPr>
          <a:xfrm>
            <a:off x="5394960" y="1847088"/>
            <a:ext cx="6217920" cy="365760"/>
          </a:xfrm>
          <a:prstGeom prst="rect">
            <a:avLst/>
          </a:prstGeom>
          <a:noFill/>
        </p:spPr>
        <p:txBody>
          <a:bodyPr wrap="square" lIns="45720" rIns="45720" tIns="27432" bIns="27432" anchor="t">
            <a:spAutoFit/>
          </a:bodyPr>
          <a:lstStyle/>
          <a:p>
            <a:pPr algn="l"/>
            <a:r>
              <a:rPr sz="1200" b="0" i="0">
                <a:solidFill>
                  <a:srgbClr val="666666"/>
                </a:solidFill>
                <a:latin typeface="Calibri"/>
              </a:rPr>
              <a:t>Where the text comes from; what counts as an adverse event; when the clock starts</a:t>
            </a:r>
          </a:p>
        </p:txBody>
      </p:sp>
      <p:sp>
        <p:nvSpPr>
          <p:cNvPr id="10" name="Oval 9"/>
          <p:cNvSpPr/>
          <p:nvPr/>
        </p:nvSpPr>
        <p:spPr>
          <a:xfrm>
            <a:off x="640080" y="2377440"/>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a:t>
            </a:r>
          </a:p>
        </p:txBody>
      </p:sp>
      <p:sp>
        <p:nvSpPr>
          <p:cNvPr id="11" name="TextBox 10"/>
          <p:cNvSpPr txBox="1"/>
          <p:nvPr/>
        </p:nvSpPr>
        <p:spPr>
          <a:xfrm>
            <a:off x="1188720" y="2359152"/>
            <a:ext cx="4206240" cy="365760"/>
          </a:xfrm>
          <a:prstGeom prst="rect">
            <a:avLst/>
          </a:prstGeom>
          <a:noFill/>
        </p:spPr>
        <p:txBody>
          <a:bodyPr wrap="square" lIns="45720" rIns="45720" tIns="27432" bIns="27432" anchor="t">
            <a:spAutoFit/>
          </a:bodyPr>
          <a:lstStyle/>
          <a:p>
            <a:pPr algn="l"/>
            <a:r>
              <a:rPr sz="1400" b="1" i="0">
                <a:solidFill>
                  <a:srgbClr val="1E2761"/>
                </a:solidFill>
                <a:latin typeface="Calibri"/>
              </a:rPr>
              <a:t>The toolbox</a:t>
            </a:r>
          </a:p>
        </p:txBody>
      </p:sp>
      <p:sp>
        <p:nvSpPr>
          <p:cNvPr id="12" name="TextBox 11"/>
          <p:cNvSpPr txBox="1"/>
          <p:nvPr/>
        </p:nvSpPr>
        <p:spPr>
          <a:xfrm>
            <a:off x="5394960" y="2395728"/>
            <a:ext cx="6217920" cy="365760"/>
          </a:xfrm>
          <a:prstGeom prst="rect">
            <a:avLst/>
          </a:prstGeom>
          <a:noFill/>
        </p:spPr>
        <p:txBody>
          <a:bodyPr wrap="square" lIns="45720" rIns="45720" tIns="27432" bIns="27432" anchor="t">
            <a:spAutoFit/>
          </a:bodyPr>
          <a:lstStyle/>
          <a:p>
            <a:pPr algn="l"/>
            <a:r>
              <a:rPr sz="1200" b="0" i="0">
                <a:solidFill>
                  <a:srgbClr val="666666"/>
                </a:solidFill>
                <a:latin typeface="Calibri"/>
              </a:rPr>
              <a:t>Bag of words, embeddings, transformers; precision and recall</a:t>
            </a:r>
          </a:p>
        </p:txBody>
      </p:sp>
      <p:sp>
        <p:nvSpPr>
          <p:cNvPr id="13" name="Oval 12"/>
          <p:cNvSpPr/>
          <p:nvPr/>
        </p:nvSpPr>
        <p:spPr>
          <a:xfrm>
            <a:off x="640080" y="2926080"/>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a:t>
            </a:r>
          </a:p>
        </p:txBody>
      </p:sp>
      <p:sp>
        <p:nvSpPr>
          <p:cNvPr id="14" name="TextBox 13"/>
          <p:cNvSpPr txBox="1"/>
          <p:nvPr/>
        </p:nvSpPr>
        <p:spPr>
          <a:xfrm>
            <a:off x="1188720" y="2907792"/>
            <a:ext cx="4206240" cy="365760"/>
          </a:xfrm>
          <a:prstGeom prst="rect">
            <a:avLst/>
          </a:prstGeom>
          <a:noFill/>
        </p:spPr>
        <p:txBody>
          <a:bodyPr wrap="square" lIns="45720" rIns="45720" tIns="27432" bIns="27432" anchor="t">
            <a:spAutoFit/>
          </a:bodyPr>
          <a:lstStyle/>
          <a:p>
            <a:pPr algn="l"/>
            <a:r>
              <a:rPr sz="1400" b="1" i="0">
                <a:solidFill>
                  <a:srgbClr val="1E2761"/>
                </a:solidFill>
                <a:latin typeface="Calibri"/>
              </a:rPr>
              <a:t>Building the detector</a:t>
            </a:r>
          </a:p>
        </p:txBody>
      </p:sp>
      <p:sp>
        <p:nvSpPr>
          <p:cNvPr id="15" name="TextBox 14"/>
          <p:cNvSpPr txBox="1"/>
          <p:nvPr/>
        </p:nvSpPr>
        <p:spPr>
          <a:xfrm>
            <a:off x="5394960" y="2944368"/>
            <a:ext cx="6217920" cy="365760"/>
          </a:xfrm>
          <a:prstGeom prst="rect">
            <a:avLst/>
          </a:prstGeom>
          <a:noFill/>
        </p:spPr>
        <p:txBody>
          <a:bodyPr wrap="square" lIns="45720" rIns="45720" tIns="27432" bIns="27432" anchor="t">
            <a:spAutoFit/>
          </a:bodyPr>
          <a:lstStyle/>
          <a:p>
            <a:pPr algn="l"/>
            <a:r>
              <a:rPr sz="1200" b="0" i="0">
                <a:solidFill>
                  <a:srgbClr val="666666"/>
                </a:solidFill>
                <a:latin typeface="Calibri"/>
              </a:rPr>
              <a:t>Lexicon, then logistic regression; choosing the threshold</a:t>
            </a:r>
          </a:p>
        </p:txBody>
      </p:sp>
      <p:sp>
        <p:nvSpPr>
          <p:cNvPr id="16" name="Oval 15"/>
          <p:cNvSpPr/>
          <p:nvPr/>
        </p:nvSpPr>
        <p:spPr>
          <a:xfrm>
            <a:off x="640080" y="3474720"/>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a:t>
            </a:r>
          </a:p>
        </p:txBody>
      </p:sp>
      <p:sp>
        <p:nvSpPr>
          <p:cNvPr id="17" name="TextBox 16"/>
          <p:cNvSpPr txBox="1"/>
          <p:nvPr/>
        </p:nvSpPr>
        <p:spPr>
          <a:xfrm>
            <a:off x="1188720" y="3456432"/>
            <a:ext cx="4206240" cy="365760"/>
          </a:xfrm>
          <a:prstGeom prst="rect">
            <a:avLst/>
          </a:prstGeom>
          <a:noFill/>
        </p:spPr>
        <p:txBody>
          <a:bodyPr wrap="square" lIns="45720" rIns="45720" tIns="27432" bIns="27432" anchor="t">
            <a:spAutoFit/>
          </a:bodyPr>
          <a:lstStyle/>
          <a:p>
            <a:pPr algn="l"/>
            <a:r>
              <a:rPr sz="1400" b="1" i="0">
                <a:solidFill>
                  <a:srgbClr val="1E2761"/>
                </a:solidFill>
                <a:latin typeface="Calibri"/>
              </a:rPr>
              <a:t>Explaining the model</a:t>
            </a:r>
          </a:p>
        </p:txBody>
      </p:sp>
      <p:sp>
        <p:nvSpPr>
          <p:cNvPr id="18" name="TextBox 17"/>
          <p:cNvSpPr txBox="1"/>
          <p:nvPr/>
        </p:nvSpPr>
        <p:spPr>
          <a:xfrm>
            <a:off x="5394960" y="3493008"/>
            <a:ext cx="6217920" cy="365760"/>
          </a:xfrm>
          <a:prstGeom prst="rect">
            <a:avLst/>
          </a:prstGeom>
          <a:noFill/>
        </p:spPr>
        <p:txBody>
          <a:bodyPr wrap="square" lIns="45720" rIns="45720" tIns="27432" bIns="27432" anchor="t">
            <a:spAutoFit/>
          </a:bodyPr>
          <a:lstStyle/>
          <a:p>
            <a:pPr algn="l"/>
            <a:r>
              <a:rPr sz="1200" b="0" i="0">
                <a:solidFill>
                  <a:srgbClr val="666666"/>
                </a:solidFill>
                <a:latin typeface="Calibri"/>
              </a:rPr>
              <a:t>Coefficients, word contributions, LIME, SHAP, leak checks</a:t>
            </a:r>
          </a:p>
        </p:txBody>
      </p:sp>
      <p:sp>
        <p:nvSpPr>
          <p:cNvPr id="19" name="Oval 18"/>
          <p:cNvSpPr/>
          <p:nvPr/>
        </p:nvSpPr>
        <p:spPr>
          <a:xfrm>
            <a:off x="640080" y="4023360"/>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5</a:t>
            </a:r>
          </a:p>
        </p:txBody>
      </p:sp>
      <p:sp>
        <p:nvSpPr>
          <p:cNvPr id="20" name="TextBox 19"/>
          <p:cNvSpPr txBox="1"/>
          <p:nvPr/>
        </p:nvSpPr>
        <p:spPr>
          <a:xfrm>
            <a:off x="1188720" y="4005072"/>
            <a:ext cx="4206240" cy="365760"/>
          </a:xfrm>
          <a:prstGeom prst="rect">
            <a:avLst/>
          </a:prstGeom>
          <a:noFill/>
        </p:spPr>
        <p:txBody>
          <a:bodyPr wrap="square" lIns="45720" rIns="45720" tIns="27432" bIns="27432" anchor="t">
            <a:spAutoFit/>
          </a:bodyPr>
          <a:lstStyle/>
          <a:p>
            <a:pPr algn="l"/>
            <a:r>
              <a:rPr sz="1400" b="1" i="0">
                <a:solidFill>
                  <a:srgbClr val="1E2761"/>
                </a:solidFill>
                <a:latin typeface="Calibri"/>
              </a:rPr>
              <a:t>From flag to case</a:t>
            </a:r>
          </a:p>
        </p:txBody>
      </p:sp>
      <p:sp>
        <p:nvSpPr>
          <p:cNvPr id="21" name="TextBox 20"/>
          <p:cNvSpPr txBox="1"/>
          <p:nvPr/>
        </p:nvSpPr>
        <p:spPr>
          <a:xfrm>
            <a:off x="5394960" y="4041648"/>
            <a:ext cx="6217920" cy="365760"/>
          </a:xfrm>
          <a:prstGeom prst="rect">
            <a:avLst/>
          </a:prstGeom>
          <a:noFill/>
        </p:spPr>
        <p:txBody>
          <a:bodyPr wrap="square" lIns="45720" rIns="45720" tIns="27432" bIns="27432" anchor="t">
            <a:spAutoFit/>
          </a:bodyPr>
          <a:lstStyle/>
          <a:p>
            <a:pPr algn="l"/>
            <a:r>
              <a:rPr sz="1200" b="0" i="0">
                <a:solidFill>
                  <a:srgbClr val="666666"/>
                </a:solidFill>
                <a:latin typeface="Calibri"/>
              </a:rPr>
              <a:t>Four elements, seriousness, due date, PHI</a:t>
            </a:r>
          </a:p>
        </p:txBody>
      </p:sp>
      <p:sp>
        <p:nvSpPr>
          <p:cNvPr id="22" name="Oval 21"/>
          <p:cNvSpPr/>
          <p:nvPr/>
        </p:nvSpPr>
        <p:spPr>
          <a:xfrm>
            <a:off x="640080" y="4572000"/>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6</a:t>
            </a:r>
          </a:p>
        </p:txBody>
      </p:sp>
      <p:sp>
        <p:nvSpPr>
          <p:cNvPr id="23" name="TextBox 22"/>
          <p:cNvSpPr txBox="1"/>
          <p:nvPr/>
        </p:nvSpPr>
        <p:spPr>
          <a:xfrm>
            <a:off x="1188720" y="4553712"/>
            <a:ext cx="4206240" cy="365760"/>
          </a:xfrm>
          <a:prstGeom prst="rect">
            <a:avLst/>
          </a:prstGeom>
          <a:noFill/>
        </p:spPr>
        <p:txBody>
          <a:bodyPr wrap="square" lIns="45720" rIns="45720" tIns="27432" bIns="27432" anchor="t">
            <a:spAutoFit/>
          </a:bodyPr>
          <a:lstStyle/>
          <a:p>
            <a:pPr algn="l"/>
            <a:r>
              <a:rPr sz="1400" b="1" i="0">
                <a:solidFill>
                  <a:srgbClr val="1E2761"/>
                </a:solidFill>
                <a:latin typeface="Calibri"/>
              </a:rPr>
              <a:t>Other uses of the same tools</a:t>
            </a:r>
          </a:p>
        </p:txBody>
      </p:sp>
      <p:sp>
        <p:nvSpPr>
          <p:cNvPr id="24" name="TextBox 23"/>
          <p:cNvSpPr txBox="1"/>
          <p:nvPr/>
        </p:nvSpPr>
        <p:spPr>
          <a:xfrm>
            <a:off x="5394960" y="4590288"/>
            <a:ext cx="6217920" cy="365760"/>
          </a:xfrm>
          <a:prstGeom prst="rect">
            <a:avLst/>
          </a:prstGeom>
          <a:noFill/>
        </p:spPr>
        <p:txBody>
          <a:bodyPr wrap="square" lIns="45720" rIns="45720" tIns="27432" bIns="27432" anchor="t">
            <a:spAutoFit/>
          </a:bodyPr>
          <a:lstStyle/>
          <a:p>
            <a:pPr algn="l"/>
            <a:r>
              <a:rPr sz="1200" b="0" i="0">
                <a:solidFill>
                  <a:srgbClr val="666666"/>
                </a:solidFill>
                <a:latin typeface="Calibri"/>
              </a:rPr>
              <a:t>Topics, social listening, MI routing, signal detection</a:t>
            </a:r>
          </a:p>
        </p:txBody>
      </p:sp>
      <p:sp>
        <p:nvSpPr>
          <p:cNvPr id="25" name="Oval 24"/>
          <p:cNvSpPr/>
          <p:nvPr/>
        </p:nvSpPr>
        <p:spPr>
          <a:xfrm>
            <a:off x="640080" y="5120640"/>
            <a:ext cx="347472" cy="34747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7</a:t>
            </a:r>
          </a:p>
        </p:txBody>
      </p:sp>
      <p:sp>
        <p:nvSpPr>
          <p:cNvPr id="26" name="TextBox 25"/>
          <p:cNvSpPr txBox="1"/>
          <p:nvPr/>
        </p:nvSpPr>
        <p:spPr>
          <a:xfrm>
            <a:off x="1188720" y="5102352"/>
            <a:ext cx="4206240" cy="365760"/>
          </a:xfrm>
          <a:prstGeom prst="rect">
            <a:avLst/>
          </a:prstGeom>
          <a:noFill/>
        </p:spPr>
        <p:txBody>
          <a:bodyPr wrap="square" lIns="45720" rIns="45720" tIns="27432" bIns="27432" anchor="t">
            <a:spAutoFit/>
          </a:bodyPr>
          <a:lstStyle/>
          <a:p>
            <a:pPr algn="l"/>
            <a:r>
              <a:rPr sz="1400" b="1" i="0">
                <a:solidFill>
                  <a:srgbClr val="1E2761"/>
                </a:solidFill>
                <a:latin typeface="Calibri"/>
              </a:rPr>
              <a:t>Close</a:t>
            </a:r>
          </a:p>
        </p:txBody>
      </p:sp>
      <p:sp>
        <p:nvSpPr>
          <p:cNvPr id="27" name="TextBox 26"/>
          <p:cNvSpPr txBox="1"/>
          <p:nvPr/>
        </p:nvSpPr>
        <p:spPr>
          <a:xfrm>
            <a:off x="5394960" y="5138927"/>
            <a:ext cx="6217920" cy="365760"/>
          </a:xfrm>
          <a:prstGeom prst="rect">
            <a:avLst/>
          </a:prstGeom>
          <a:noFill/>
        </p:spPr>
        <p:txBody>
          <a:bodyPr wrap="square" lIns="45720" rIns="45720" tIns="27432" bIns="27432" anchor="t">
            <a:spAutoFit/>
          </a:bodyPr>
          <a:lstStyle/>
          <a:p>
            <a:pPr algn="l"/>
            <a:r>
              <a:rPr sz="1200" b="0" i="0">
                <a:solidFill>
                  <a:srgbClr val="666666"/>
                </a:solidFill>
                <a:latin typeface="Calibri"/>
              </a:rPr>
              <a:t>GenAI in one slide; governance; exercise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01</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Text and the rules</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What gets written down, and what the regulator expects us to do with it</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7 — NLP in Pharma Commercial: Adverse Events, Field Notes and Social Listening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3 /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THE STREAMS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Three streams of text reach a brand team</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4 / 37</a:t>
            </a:r>
          </a:p>
        </p:txBody>
      </p:sp>
      <p:sp>
        <p:nvSpPr>
          <p:cNvPr id="7" name="Rectangle 6"/>
          <p:cNvSpPr/>
          <p:nvPr/>
        </p:nvSpPr>
        <p:spPr>
          <a:xfrm>
            <a:off x="548640" y="1874519"/>
            <a:ext cx="3566160" cy="27432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84248"/>
            <a:ext cx="3291840" cy="365760"/>
          </a:xfrm>
          <a:prstGeom prst="rect">
            <a:avLst/>
          </a:prstGeom>
          <a:noFill/>
        </p:spPr>
        <p:txBody>
          <a:bodyPr wrap="square" lIns="45720" rIns="45720" tIns="27432" bIns="27432" anchor="t">
            <a:spAutoFit/>
          </a:bodyPr>
          <a:lstStyle/>
          <a:p>
            <a:pPr algn="l"/>
            <a:r>
              <a:rPr sz="1400" b="1" i="0">
                <a:solidFill>
                  <a:srgbClr val="1E2761"/>
                </a:solidFill>
                <a:latin typeface="Calibri"/>
              </a:rPr>
              <a:t>Field call notes</a:t>
            </a:r>
          </a:p>
        </p:txBody>
      </p:sp>
      <p:sp>
        <p:nvSpPr>
          <p:cNvPr id="9" name="TextBox 8"/>
          <p:cNvSpPr txBox="1"/>
          <p:nvPr/>
        </p:nvSpPr>
        <p:spPr>
          <a:xfrm>
            <a:off x="658368" y="2368296"/>
            <a:ext cx="3337560" cy="2157984"/>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sz="1200">
                <a:solidFill>
                  <a:srgbClr val="333333"/>
                </a:solidFill>
                <a:latin typeface="Calibri"/>
              </a:rPr>
              <a:t>Typed by the rep after the visit</a:t>
            </a:r>
          </a:p>
          <a:p>
            <a:pPr>
              <a:spcAft>
                <a:spcPts val="500"/>
              </a:spcAft>
            </a:pPr>
            <a:r>
              <a:rPr sz="1200" b="1">
                <a:solidFill>
                  <a:srgbClr val="FF6B6B"/>
                </a:solidFill>
                <a:latin typeface="Calibri"/>
              </a:rPr>
              <a:t>▸ </a:t>
            </a:r>
            <a:r>
              <a:rPr sz="1200">
                <a:solidFill>
                  <a:srgbClr val="333333"/>
                </a:solidFill>
                <a:latin typeface="Calibri"/>
              </a:rPr>
              <a:t>Short, abbreviated, inconsistent</a:t>
            </a:r>
          </a:p>
          <a:p>
            <a:pPr>
              <a:spcAft>
                <a:spcPts val="500"/>
              </a:spcAft>
            </a:pPr>
            <a:r>
              <a:rPr sz="1200" b="1">
                <a:solidFill>
                  <a:srgbClr val="FF6B6B"/>
                </a:solidFill>
                <a:latin typeface="Calibri"/>
              </a:rPr>
              <a:t>▸ </a:t>
            </a:r>
            <a:r>
              <a:rPr sz="1200">
                <a:solidFill>
                  <a:srgbClr val="333333"/>
                </a:solidFill>
                <a:latin typeface="Calibri"/>
              </a:rPr>
              <a:t>4,200 notes · 60 reps · 2,400 HCPs</a:t>
            </a:r>
          </a:p>
          <a:p>
            <a:pPr>
              <a:spcAft>
                <a:spcPts val="500"/>
              </a:spcAft>
            </a:pPr>
            <a:r>
              <a:rPr sz="1200" b="1">
                <a:solidFill>
                  <a:srgbClr val="FF6B6B"/>
                </a:solidFill>
                <a:latin typeface="Calibri"/>
              </a:rPr>
              <a:t>▸ </a:t>
            </a:r>
            <a:r>
              <a:rPr sz="1200">
                <a:solidFill>
                  <a:srgbClr val="333333"/>
                </a:solidFill>
                <a:latin typeface="Calibri"/>
              </a:rPr>
              <a:t>Company knowledge the moment they are saved</a:t>
            </a:r>
          </a:p>
        </p:txBody>
      </p:sp>
      <p:sp>
        <p:nvSpPr>
          <p:cNvPr id="10" name="Rectangle 9"/>
          <p:cNvSpPr/>
          <p:nvPr/>
        </p:nvSpPr>
        <p:spPr>
          <a:xfrm>
            <a:off x="548640" y="1874519"/>
            <a:ext cx="356616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79" y="1874519"/>
            <a:ext cx="3566160" cy="27432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984248"/>
            <a:ext cx="3291840" cy="365760"/>
          </a:xfrm>
          <a:prstGeom prst="rect">
            <a:avLst/>
          </a:prstGeom>
          <a:noFill/>
        </p:spPr>
        <p:txBody>
          <a:bodyPr wrap="square" lIns="45720" rIns="45720" tIns="27432" bIns="27432" anchor="t">
            <a:spAutoFit/>
          </a:bodyPr>
          <a:lstStyle/>
          <a:p>
            <a:pPr algn="l"/>
            <a:r>
              <a:rPr sz="1400" b="1" i="0">
                <a:solidFill>
                  <a:srgbClr val="1E2761"/>
                </a:solidFill>
                <a:latin typeface="Calibri"/>
              </a:rPr>
              <a:t>Patient forum posts</a:t>
            </a:r>
          </a:p>
        </p:txBody>
      </p:sp>
      <p:sp>
        <p:nvSpPr>
          <p:cNvPr id="13" name="TextBox 12"/>
          <p:cNvSpPr txBox="1"/>
          <p:nvPr/>
        </p:nvSpPr>
        <p:spPr>
          <a:xfrm>
            <a:off x="4407407" y="2368296"/>
            <a:ext cx="3337560" cy="2157984"/>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sz="1200">
                <a:solidFill>
                  <a:srgbClr val="333333"/>
                </a:solidFill>
                <a:latin typeface="Calibri"/>
              </a:rPr>
              <a:t>A company-sponsored community and an independent forum</a:t>
            </a:r>
          </a:p>
          <a:p>
            <a:pPr>
              <a:spcAft>
                <a:spcPts val="500"/>
              </a:spcAft>
            </a:pPr>
            <a:r>
              <a:rPr sz="1200" b="1">
                <a:solidFill>
                  <a:srgbClr val="FF6B6B"/>
                </a:solidFill>
                <a:latin typeface="Calibri"/>
              </a:rPr>
              <a:t>▸ </a:t>
            </a:r>
            <a:r>
              <a:rPr sz="1200">
                <a:solidFill>
                  <a:srgbClr val="333333"/>
                </a:solidFill>
                <a:latin typeface="Calibri"/>
              </a:rPr>
              <a:t>First person, lay language</a:t>
            </a:r>
          </a:p>
          <a:p>
            <a:pPr>
              <a:spcAft>
                <a:spcPts val="500"/>
              </a:spcAft>
            </a:pPr>
            <a:r>
              <a:rPr sz="1200" b="1">
                <a:solidFill>
                  <a:srgbClr val="FF6B6B"/>
                </a:solidFill>
                <a:latin typeface="Calibri"/>
              </a:rPr>
              <a:t>▸ </a:t>
            </a:r>
            <a:r>
              <a:rPr sz="1200">
                <a:solidFill>
                  <a:srgbClr val="333333"/>
                </a:solidFill>
                <a:latin typeface="Calibri"/>
              </a:rPr>
              <a:t>3,000 posts</a:t>
            </a:r>
          </a:p>
          <a:p>
            <a:pPr>
              <a:spcAft>
                <a:spcPts val="500"/>
              </a:spcAft>
            </a:pPr>
            <a:r>
              <a:rPr sz="1200" b="1">
                <a:solidFill>
                  <a:srgbClr val="FF6B6B"/>
                </a:solidFill>
                <a:latin typeface="Calibri"/>
              </a:rPr>
              <a:t>▸ </a:t>
            </a:r>
            <a:r>
              <a:rPr sz="1200">
                <a:solidFill>
                  <a:srgbClr val="333333"/>
                </a:solidFill>
                <a:latin typeface="Calibri"/>
              </a:rPr>
              <a:t>Duty to screen depends on who runs the site</a:t>
            </a:r>
          </a:p>
        </p:txBody>
      </p:sp>
      <p:sp>
        <p:nvSpPr>
          <p:cNvPr id="14" name="Rectangle 13"/>
          <p:cNvSpPr/>
          <p:nvPr/>
        </p:nvSpPr>
        <p:spPr>
          <a:xfrm>
            <a:off x="4297679" y="1874519"/>
            <a:ext cx="3566160" cy="73152"/>
          </a:xfrm>
          <a:prstGeom prst="rect">
            <a:avLst/>
          </a:prstGeom>
          <a:solidFill>
            <a:srgbClr val="1F7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19" y="1874519"/>
            <a:ext cx="3566160" cy="27432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1984248"/>
            <a:ext cx="3291840" cy="365760"/>
          </a:xfrm>
          <a:prstGeom prst="rect">
            <a:avLst/>
          </a:prstGeom>
          <a:noFill/>
        </p:spPr>
        <p:txBody>
          <a:bodyPr wrap="square" lIns="45720" rIns="45720" tIns="27432" bIns="27432" anchor="t">
            <a:spAutoFit/>
          </a:bodyPr>
          <a:lstStyle/>
          <a:p>
            <a:pPr algn="l"/>
            <a:r>
              <a:rPr sz="1400" b="1" i="0">
                <a:solidFill>
                  <a:srgbClr val="1E2761"/>
                </a:solidFill>
                <a:latin typeface="Calibri"/>
              </a:rPr>
              <a:t>Medical-information inquiries</a:t>
            </a:r>
          </a:p>
        </p:txBody>
      </p:sp>
      <p:sp>
        <p:nvSpPr>
          <p:cNvPr id="17" name="TextBox 16"/>
          <p:cNvSpPr txBox="1"/>
          <p:nvPr/>
        </p:nvSpPr>
        <p:spPr>
          <a:xfrm>
            <a:off x="8156447" y="2368296"/>
            <a:ext cx="3337560" cy="2157984"/>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sz="1200">
                <a:solidFill>
                  <a:srgbClr val="333333"/>
                </a:solidFill>
                <a:latin typeface="Calibri"/>
              </a:rPr>
              <a:t>Phone, email, web form</a:t>
            </a:r>
          </a:p>
          <a:p>
            <a:pPr>
              <a:spcAft>
                <a:spcPts val="500"/>
              </a:spcAft>
            </a:pPr>
            <a:r>
              <a:rPr sz="1200" b="1">
                <a:solidFill>
                  <a:srgbClr val="FF6B6B"/>
                </a:solidFill>
                <a:latin typeface="Calibri"/>
              </a:rPr>
              <a:t>▸ </a:t>
            </a:r>
            <a:r>
              <a:rPr sz="1200">
                <a:solidFill>
                  <a:srgbClr val="333333"/>
                </a:solidFill>
                <a:latin typeface="Calibri"/>
              </a:rPr>
              <a:t>HCPs, pharmacists, patients, caregivers</a:t>
            </a:r>
          </a:p>
          <a:p>
            <a:pPr>
              <a:spcAft>
                <a:spcPts val="500"/>
              </a:spcAft>
            </a:pPr>
            <a:r>
              <a:rPr sz="1200" b="1">
                <a:solidFill>
                  <a:srgbClr val="FF6B6B"/>
                </a:solidFill>
                <a:latin typeface="Calibri"/>
              </a:rPr>
              <a:t>▸ </a:t>
            </a:r>
            <a:r>
              <a:rPr sz="1200">
                <a:solidFill>
                  <a:srgbClr val="333333"/>
                </a:solidFill>
                <a:latin typeface="Calibri"/>
              </a:rPr>
              <a:t>1,200 inquiries</a:t>
            </a:r>
          </a:p>
          <a:p>
            <a:pPr>
              <a:spcAft>
                <a:spcPts val="500"/>
              </a:spcAft>
            </a:pPr>
            <a:r>
              <a:rPr sz="1200" b="1">
                <a:solidFill>
                  <a:srgbClr val="FF6B6B"/>
                </a:solidFill>
                <a:latin typeface="Calibri"/>
              </a:rPr>
              <a:t>▸ </a:t>
            </a:r>
            <a:r>
              <a:rPr sz="1200">
                <a:solidFill>
                  <a:srgbClr val="333333"/>
                </a:solidFill>
                <a:latin typeface="Calibri"/>
              </a:rPr>
              <a:t>Routed by intent; safety intake on all</a:t>
            </a:r>
          </a:p>
        </p:txBody>
      </p:sp>
      <p:sp>
        <p:nvSpPr>
          <p:cNvPr id="18" name="Rectangle 17"/>
          <p:cNvSpPr/>
          <p:nvPr/>
        </p:nvSpPr>
        <p:spPr>
          <a:xfrm>
            <a:off x="8046719" y="1874519"/>
            <a:ext cx="3566160" cy="73152"/>
          </a:xfrm>
          <a:prstGeom prst="rect">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846320"/>
            <a:ext cx="2651760" cy="10972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983480"/>
            <a:ext cx="2468879" cy="548640"/>
          </a:xfrm>
          <a:prstGeom prst="rect">
            <a:avLst/>
          </a:prstGeom>
          <a:noFill/>
        </p:spPr>
        <p:txBody>
          <a:bodyPr wrap="square" lIns="45720" rIns="45720" tIns="27432" bIns="27432" anchor="ctr">
            <a:spAutoFit/>
          </a:bodyPr>
          <a:lstStyle/>
          <a:p>
            <a:pPr algn="ctr"/>
            <a:r>
              <a:rPr sz="2600" b="1" i="0">
                <a:solidFill>
                  <a:srgbClr val="FFFFFF"/>
                </a:solidFill>
                <a:latin typeface="Calibri"/>
              </a:rPr>
              <a:t>~80%</a:t>
            </a:r>
          </a:p>
        </p:txBody>
      </p:sp>
      <p:sp>
        <p:nvSpPr>
          <p:cNvPr id="21" name="TextBox 20"/>
          <p:cNvSpPr txBox="1"/>
          <p:nvPr/>
        </p:nvSpPr>
        <p:spPr>
          <a:xfrm>
            <a:off x="685800" y="5449824"/>
            <a:ext cx="2377440" cy="460857"/>
          </a:xfrm>
          <a:prstGeom prst="rect">
            <a:avLst/>
          </a:prstGeom>
          <a:noFill/>
        </p:spPr>
        <p:txBody>
          <a:bodyPr wrap="square" lIns="45720" rIns="45720" tIns="27432" bIns="27432" anchor="t">
            <a:spAutoFit/>
          </a:bodyPr>
          <a:lstStyle/>
          <a:p>
            <a:pPr algn="ctr"/>
            <a:r>
              <a:rPr sz="1100" b="0" i="0">
                <a:solidFill>
                  <a:srgbClr val="CADCFC"/>
                </a:solidFill>
                <a:latin typeface="Calibri"/>
              </a:rPr>
              <a:t>of EMR data is unstructured</a:t>
            </a:r>
          </a:p>
        </p:txBody>
      </p:sp>
      <p:sp>
        <p:nvSpPr>
          <p:cNvPr id="22" name="Rectangle 21"/>
          <p:cNvSpPr/>
          <p:nvPr/>
        </p:nvSpPr>
        <p:spPr>
          <a:xfrm>
            <a:off x="3383280" y="4846320"/>
            <a:ext cx="2651760" cy="1097280"/>
          </a:xfrm>
          <a:prstGeom prst="rect">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0" y="4983480"/>
            <a:ext cx="2468879" cy="548640"/>
          </a:xfrm>
          <a:prstGeom prst="rect">
            <a:avLst/>
          </a:prstGeom>
          <a:noFill/>
        </p:spPr>
        <p:txBody>
          <a:bodyPr wrap="square" lIns="45720" rIns="45720" tIns="27432" bIns="27432" anchor="ctr">
            <a:spAutoFit/>
          </a:bodyPr>
          <a:lstStyle/>
          <a:p>
            <a:pPr algn="ctr"/>
            <a:r>
              <a:rPr sz="2600" b="1" i="0">
                <a:solidFill>
                  <a:srgbClr val="FFFFFF"/>
                </a:solidFill>
                <a:latin typeface="Calibri"/>
              </a:rPr>
              <a:t>34M</a:t>
            </a:r>
          </a:p>
        </p:txBody>
      </p:sp>
      <p:sp>
        <p:nvSpPr>
          <p:cNvPr id="24" name="TextBox 23"/>
          <p:cNvSpPr txBox="1"/>
          <p:nvPr/>
        </p:nvSpPr>
        <p:spPr>
          <a:xfrm>
            <a:off x="3520440" y="5449824"/>
            <a:ext cx="2377440" cy="460857"/>
          </a:xfrm>
          <a:prstGeom prst="rect">
            <a:avLst/>
          </a:prstGeom>
          <a:noFill/>
        </p:spPr>
        <p:txBody>
          <a:bodyPr wrap="square" lIns="45720" rIns="45720" tIns="27432" bIns="27432" anchor="t">
            <a:spAutoFit/>
          </a:bodyPr>
          <a:lstStyle/>
          <a:p>
            <a:pPr algn="ctr"/>
            <a:r>
              <a:rPr sz="1100" b="0" i="0">
                <a:solidFill>
                  <a:srgbClr val="CADCFC"/>
                </a:solidFill>
                <a:latin typeface="Calibri"/>
              </a:rPr>
              <a:t>clinical notes mined in one NLP chart-review program</a:t>
            </a:r>
          </a:p>
        </p:txBody>
      </p:sp>
      <p:sp>
        <p:nvSpPr>
          <p:cNvPr id="25" name="Rectangle 24"/>
          <p:cNvSpPr/>
          <p:nvPr/>
        </p:nvSpPr>
        <p:spPr>
          <a:xfrm>
            <a:off x="6217920" y="4846320"/>
            <a:ext cx="2651760" cy="1097280"/>
          </a:xfrm>
          <a:prstGeom prst="rect">
            <a:avLst/>
          </a:prstGeom>
          <a:solidFill>
            <a:srgbClr val="1F7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59" y="4983480"/>
            <a:ext cx="2468879" cy="548640"/>
          </a:xfrm>
          <a:prstGeom prst="rect">
            <a:avLst/>
          </a:prstGeom>
          <a:noFill/>
        </p:spPr>
        <p:txBody>
          <a:bodyPr wrap="square" lIns="45720" rIns="45720" tIns="27432" bIns="27432" anchor="ctr">
            <a:spAutoFit/>
          </a:bodyPr>
          <a:lstStyle/>
          <a:p>
            <a:pPr algn="ctr"/>
            <a:r>
              <a:rPr sz="2600" b="1" i="0">
                <a:solidFill>
                  <a:srgbClr val="FFFFFF"/>
                </a:solidFill>
                <a:latin typeface="Calibri"/>
              </a:rPr>
              <a:t>87%</a:t>
            </a:r>
          </a:p>
        </p:txBody>
      </p:sp>
      <p:sp>
        <p:nvSpPr>
          <p:cNvPr id="27" name="TextBox 26"/>
          <p:cNvSpPr txBox="1"/>
          <p:nvPr/>
        </p:nvSpPr>
        <p:spPr>
          <a:xfrm>
            <a:off x="6355080" y="5449824"/>
            <a:ext cx="2377440" cy="460857"/>
          </a:xfrm>
          <a:prstGeom prst="rect">
            <a:avLst/>
          </a:prstGeom>
          <a:noFill/>
        </p:spPr>
        <p:txBody>
          <a:bodyPr wrap="square" lIns="45720" rIns="45720" tIns="27432" bIns="27432" anchor="t">
            <a:spAutoFit/>
          </a:bodyPr>
          <a:lstStyle/>
          <a:p>
            <a:pPr algn="ctr"/>
            <a:r>
              <a:rPr sz="1100" b="0" i="0">
                <a:solidFill>
                  <a:srgbClr val="CADCFC"/>
                </a:solidFill>
                <a:latin typeface="Calibri"/>
              </a:rPr>
              <a:t>fewer papers screened by hand with AI-assisted review</a:t>
            </a:r>
          </a:p>
        </p:txBody>
      </p:sp>
      <p:sp>
        <p:nvSpPr>
          <p:cNvPr id="28" name="Rectangle 27"/>
          <p:cNvSpPr/>
          <p:nvPr/>
        </p:nvSpPr>
        <p:spPr>
          <a:xfrm>
            <a:off x="9052560" y="4846320"/>
            <a:ext cx="2560320" cy="109728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0" y="4983480"/>
            <a:ext cx="2377439" cy="548640"/>
          </a:xfrm>
          <a:prstGeom prst="rect">
            <a:avLst/>
          </a:prstGeom>
          <a:noFill/>
        </p:spPr>
        <p:txBody>
          <a:bodyPr wrap="square" lIns="45720" rIns="45720" tIns="27432" bIns="27432" anchor="ctr">
            <a:spAutoFit/>
          </a:bodyPr>
          <a:lstStyle/>
          <a:p>
            <a:pPr algn="ctr"/>
            <a:r>
              <a:rPr sz="2600" b="1" i="0">
                <a:solidFill>
                  <a:srgbClr val="FFFFFF"/>
                </a:solidFill>
                <a:latin typeface="Calibri"/>
              </a:rPr>
              <a:t>94%</a:t>
            </a:r>
          </a:p>
        </p:txBody>
      </p:sp>
      <p:sp>
        <p:nvSpPr>
          <p:cNvPr id="30" name="TextBox 29"/>
          <p:cNvSpPr txBox="1"/>
          <p:nvPr/>
        </p:nvSpPr>
        <p:spPr>
          <a:xfrm>
            <a:off x="9189720" y="5449824"/>
            <a:ext cx="2286000" cy="460857"/>
          </a:xfrm>
          <a:prstGeom prst="rect">
            <a:avLst/>
          </a:prstGeom>
          <a:noFill/>
        </p:spPr>
        <p:txBody>
          <a:bodyPr wrap="square" lIns="45720" rIns="45720" tIns="27432" bIns="27432" anchor="t">
            <a:spAutoFit/>
          </a:bodyPr>
          <a:lstStyle/>
          <a:p>
            <a:pPr algn="ctr"/>
            <a:r>
              <a:rPr sz="1100" b="0" i="0">
                <a:solidFill>
                  <a:srgbClr val="CADCFC"/>
                </a:solidFill>
                <a:latin typeface="Calibri"/>
              </a:rPr>
              <a:t>median share of adverse drug reactions never reported</a:t>
            </a:r>
          </a:p>
        </p:txBody>
      </p:sp>
      <p:sp>
        <p:nvSpPr>
          <p:cNvPr id="31" name="TextBox 30"/>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IQVIA, Harnessing the Power of AI in Medical Affairs (2025); Hazell &amp; Shakir, Drug Safety 2006.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ONE NOTE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One call note, four jobs</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5 / 37</a:t>
            </a:r>
          </a:p>
        </p:txBody>
      </p:sp>
      <p:sp>
        <p:nvSpPr>
          <p:cNvPr id="7" name="Rectangle 6"/>
          <p:cNvSpPr/>
          <p:nvPr/>
        </p:nvSpPr>
        <p:spPr>
          <a:xfrm>
            <a:off x="548640" y="1828800"/>
            <a:ext cx="6583680" cy="256032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0240"/>
            <a:ext cx="6217920" cy="2377440"/>
          </a:xfrm>
          <a:prstGeom prst="rect">
            <a:avLst/>
          </a:prstGeom>
          <a:noFill/>
        </p:spPr>
        <p:txBody>
          <a:bodyPr wrap="square" lIns="45720" rIns="45720" tIns="27432" bIns="27432" anchor="ctr">
            <a:spAutoFit/>
          </a:bodyPr>
          <a:lstStyle/>
          <a:p>
            <a:pPr algn="l"/>
            <a:r>
              <a:rPr sz="1300" b="0" i="1">
                <a:solidFill>
                  <a:srgbClr val="333333"/>
                </a:solidFill>
                <a:latin typeface="Calibri"/>
              </a:rPr>
              <a:t>Dr. reports BCBS is requiring prior authorization for GLUCOREN; two patients waiting over a week. Left PA form and hub phone number. Side note: a 58-year-old female patient reported dizziness within two weeks of starting; HCP managing conservatively. HCP also asked whether GLUCOREN could be used in a type 1 patient — referred to Medical Information. Mrs. Kowalski to call the office back.</a:t>
            </a:r>
          </a:p>
        </p:txBody>
      </p:sp>
      <p:sp>
        <p:nvSpPr>
          <p:cNvPr id="9" name="Rounded Rectangle 8"/>
          <p:cNvSpPr/>
          <p:nvPr/>
        </p:nvSpPr>
        <p:spPr>
          <a:xfrm>
            <a:off x="7406640" y="1828800"/>
            <a:ext cx="4206240" cy="585216"/>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Access insight</a:t>
            </a:r>
          </a:p>
          <a:p>
            <a:pPr algn="ctr"/>
            <a:r>
              <a:rPr sz="950">
                <a:solidFill>
                  <a:srgbClr val="CADCFC"/>
                </a:solidFill>
                <a:latin typeface="Calibri"/>
              </a:rPr>
              <a:t>PA barrier at BCBS → payer team</a:t>
            </a:r>
          </a:p>
        </p:txBody>
      </p:sp>
      <p:sp>
        <p:nvSpPr>
          <p:cNvPr id="10" name="Rounded Rectangle 9"/>
          <p:cNvSpPr/>
          <p:nvPr/>
        </p:nvSpPr>
        <p:spPr>
          <a:xfrm>
            <a:off x="7406640" y="2487168"/>
            <a:ext cx="4206240" cy="585216"/>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Adverse event</a:t>
            </a:r>
          </a:p>
          <a:p>
            <a:pPr algn="ctr"/>
            <a:r>
              <a:rPr sz="950">
                <a:solidFill>
                  <a:srgbClr val="CADCFC"/>
                </a:solidFill>
                <a:latin typeface="Calibri"/>
              </a:rPr>
              <a:t>patient + event + drug + reporter → safety intake; clock running</a:t>
            </a:r>
          </a:p>
        </p:txBody>
      </p:sp>
      <p:sp>
        <p:nvSpPr>
          <p:cNvPr id="11" name="Rounded Rectangle 10"/>
          <p:cNvSpPr/>
          <p:nvPr/>
        </p:nvSpPr>
        <p:spPr>
          <a:xfrm>
            <a:off x="7406640" y="3145536"/>
            <a:ext cx="4206240" cy="585216"/>
          </a:xfrm>
          <a:prstGeom prst="roundRect">
            <a:avLst/>
          </a:prstGeom>
          <a:solidFill>
            <a:srgbClr val="1F7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Off-label request</a:t>
            </a:r>
          </a:p>
          <a:p>
            <a:pPr algn="ctr"/>
            <a:r>
              <a:rPr sz="950">
                <a:solidFill>
                  <a:srgbClr val="CADCFC"/>
                </a:solidFill>
                <a:latin typeface="Calibri"/>
              </a:rPr>
              <a:t>unsolicited → Medical Information; rep does not engage</a:t>
            </a:r>
          </a:p>
        </p:txBody>
      </p:sp>
      <p:sp>
        <p:nvSpPr>
          <p:cNvPr id="12" name="Rounded Rectangle 11"/>
          <p:cNvSpPr/>
          <p:nvPr/>
        </p:nvSpPr>
        <p:spPr>
          <a:xfrm>
            <a:off x="7406640" y="3803904"/>
            <a:ext cx="4206240" cy="585216"/>
          </a:xfrm>
          <a:prstGeom prst="roundRect">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PHI</a:t>
            </a:r>
          </a:p>
          <a:p>
            <a:pPr algn="ctr"/>
            <a:r>
              <a:rPr sz="950">
                <a:solidFill>
                  <a:srgbClr val="CADCFC"/>
                </a:solidFill>
                <a:latin typeface="Calibri"/>
              </a:rPr>
              <a:t>a patient name in free text → scrub before storage</a:t>
            </a:r>
          </a:p>
        </p:txBody>
      </p:sp>
      <p:sp>
        <p:nvSpPr>
          <p:cNvPr id="13" name="TextBox 12"/>
          <p:cNvSpPr txBox="1"/>
          <p:nvPr/>
        </p:nvSpPr>
        <p:spPr>
          <a:xfrm>
            <a:off x="548640" y="4663440"/>
            <a:ext cx="11064240" cy="457200"/>
          </a:xfrm>
          <a:prstGeom prst="rect">
            <a:avLst/>
          </a:prstGeom>
          <a:noFill/>
        </p:spPr>
        <p:txBody>
          <a:bodyPr wrap="square" lIns="45720" rIns="45720" tIns="27432" bIns="27432" anchor="t">
            <a:spAutoFit/>
          </a:bodyPr>
          <a:lstStyle/>
          <a:p>
            <a:pPr algn="l"/>
            <a:r>
              <a:rPr sz="1250" b="1" i="0">
                <a:solidFill>
                  <a:srgbClr val="1E2761"/>
                </a:solidFill>
                <a:latin typeface="Calibri"/>
              </a:rPr>
              <a:t>Tonight builds the second row. The others use the same methods with different labels.</a:t>
            </a:r>
          </a:p>
        </p:txBody>
      </p:sp>
      <p:sp>
        <p:nvSpPr>
          <p:cNvPr id="14" name="TextBox 13"/>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Synthetic note, composed for illustration.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DEFINITIONS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What the regulation says</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6 / 37</a:t>
            </a:r>
          </a:p>
        </p:txBody>
      </p:sp>
      <p:graphicFrame>
        <p:nvGraphicFramePr>
          <p:cNvPr id="7" name="Table 6"/>
          <p:cNvGraphicFramePr>
            <a:graphicFrameLocks noGrp="1"/>
          </p:cNvGraphicFramePr>
          <p:nvPr/>
        </p:nvGraphicFramePr>
        <p:xfrm>
          <a:off x="548640" y="1828800"/>
          <a:ext cx="11064240" cy="3291840"/>
        </p:xfrm>
        <a:graphic>
          <a:graphicData uri="http://schemas.openxmlformats.org/drawingml/2006/table">
            <a:tbl>
              <a:tblPr firstRow="1" bandRow="1">
                <a:tableStyleId>{5C22544A-7EE6-4342-B048-85BDC9FD1C3A}</a:tableStyleId>
              </a:tblPr>
              <a:tblGrid>
                <a:gridCol w="2103120"/>
                <a:gridCol w="5486400"/>
                <a:gridCol w="3474720"/>
              </a:tblGrid>
              <a:tr h="548640">
                <a:tc>
                  <a:txBody>
                    <a:bodyPr wrap="square"/>
                    <a:lstStyle/>
                    <a:p>
                      <a:r>
                        <a:rPr sz="1150" b="1">
                          <a:solidFill>
                            <a:srgbClr val="FFFFFF"/>
                          </a:solidFill>
                          <a:latin typeface="Calibri"/>
                        </a:rPr>
                        <a:t>Term</a:t>
                      </a:r>
                    </a:p>
                  </a:txBody>
                  <a:tcPr marL="54864" marR="54864" marT="27432" marB="27432">
                    <a:solidFill>
                      <a:srgbClr val="1E2761"/>
                    </a:solidFill>
                  </a:tcPr>
                </a:tc>
                <a:tc>
                  <a:txBody>
                    <a:bodyPr wrap="square"/>
                    <a:lstStyle/>
                    <a:p>
                      <a:r>
                        <a:rPr sz="1150" b="1">
                          <a:solidFill>
                            <a:srgbClr val="FFFFFF"/>
                          </a:solidFill>
                          <a:latin typeface="Calibri"/>
                        </a:rPr>
                        <a:t>21 CFR 314.80</a:t>
                      </a:r>
                    </a:p>
                  </a:txBody>
                  <a:tcPr marL="54864" marR="54864" marT="27432" marB="27432">
                    <a:solidFill>
                      <a:srgbClr val="1E2761"/>
                    </a:solidFill>
                  </a:tcPr>
                </a:tc>
                <a:tc>
                  <a:txBody>
                    <a:bodyPr wrap="square"/>
                    <a:lstStyle/>
                    <a:p>
                      <a:r>
                        <a:rPr sz="1150" b="1">
                          <a:solidFill>
                            <a:srgbClr val="FFFFFF"/>
                          </a:solidFill>
                          <a:latin typeface="Calibri"/>
                        </a:rPr>
                        <a:t>For the model</a:t>
                      </a:r>
                    </a:p>
                  </a:txBody>
                  <a:tcPr marL="54864" marR="54864" marT="27432" marB="27432">
                    <a:solidFill>
                      <a:srgbClr val="1E2761"/>
                    </a:solidFill>
                  </a:tcPr>
                </a:tc>
              </a:tr>
              <a:tr h="548640">
                <a:tc>
                  <a:txBody>
                    <a:bodyPr wrap="square"/>
                    <a:lstStyle/>
                    <a:p>
                      <a:r>
                        <a:rPr sz="1150" b="1">
                          <a:solidFill>
                            <a:srgbClr val="1E2761"/>
                          </a:solidFill>
                          <a:latin typeface="Calibri"/>
                        </a:rPr>
                        <a:t>Adverse drug experience</a:t>
                      </a:r>
                    </a:p>
                  </a:txBody>
                  <a:tcPr marL="54864" marR="54864" marT="27432" marB="27432">
                    <a:solidFill>
                      <a:srgbClr val="FFFFFF"/>
                    </a:solidFill>
                  </a:tcPr>
                </a:tc>
                <a:tc>
                  <a:txBody>
                    <a:bodyPr wrap="square"/>
                    <a:lstStyle/>
                    <a:p>
                      <a:r>
                        <a:rPr sz="1150" b="0">
                          <a:solidFill>
                            <a:srgbClr val="333333"/>
                          </a:solidFill>
                          <a:latin typeface="Calibri"/>
                        </a:rPr>
                        <a:t>Any adverse event associated with the use of a drug in humans, whether or not considered drug related</a:t>
                      </a:r>
                    </a:p>
                  </a:txBody>
                  <a:tcPr marL="54864" marR="54864" marT="27432" marB="27432">
                    <a:solidFill>
                      <a:srgbClr val="FFFFFF"/>
                    </a:solidFill>
                  </a:tcPr>
                </a:tc>
                <a:tc>
                  <a:txBody>
                    <a:bodyPr wrap="square"/>
                    <a:lstStyle/>
                    <a:p>
                      <a:r>
                        <a:rPr sz="1150" b="0">
                          <a:solidFill>
                            <a:srgbClr val="333333"/>
                          </a:solidFill>
                          <a:latin typeface="Calibri"/>
                        </a:rPr>
                        <a:t>Association opens a case; causality is not the model's job</a:t>
                      </a:r>
                    </a:p>
                  </a:txBody>
                  <a:tcPr marL="54864" marR="54864" marT="27432" marB="27432">
                    <a:solidFill>
                      <a:srgbClr val="FFFFFF"/>
                    </a:solidFill>
                  </a:tcPr>
                </a:tc>
              </a:tr>
              <a:tr h="548640">
                <a:tc>
                  <a:txBody>
                    <a:bodyPr wrap="square"/>
                    <a:lstStyle/>
                    <a:p>
                      <a:r>
                        <a:rPr sz="1150" b="1">
                          <a:solidFill>
                            <a:srgbClr val="1E2761"/>
                          </a:solidFill>
                          <a:latin typeface="Calibri"/>
                        </a:rPr>
                        <a:t>Serious</a:t>
                      </a:r>
                    </a:p>
                  </a:txBody>
                  <a:tcPr marL="54864" marR="54864" marT="27432" marB="27432">
                    <a:solidFill>
                      <a:srgbClr val="F3F6FC"/>
                    </a:solidFill>
                  </a:tcPr>
                </a:tc>
                <a:tc>
                  <a:txBody>
                    <a:bodyPr wrap="square"/>
                    <a:lstStyle/>
                    <a:p>
                      <a:r>
                        <a:rPr sz="1150" b="0">
                          <a:solidFill>
                            <a:srgbClr val="333333"/>
                          </a:solidFill>
                          <a:latin typeface="Calibri"/>
                        </a:rPr>
                        <a:t>Death; life-threatening; hospitalization; persistent disability; congenital anomaly; other medically important event</a:t>
                      </a:r>
                    </a:p>
                  </a:txBody>
                  <a:tcPr marL="54864" marR="54864" marT="27432" marB="27432">
                    <a:solidFill>
                      <a:srgbClr val="F3F6FC"/>
                    </a:solidFill>
                  </a:tcPr>
                </a:tc>
                <a:tc>
                  <a:txBody>
                    <a:bodyPr wrap="square"/>
                    <a:lstStyle/>
                    <a:p>
                      <a:r>
                        <a:rPr sz="1150" b="0">
                          <a:solidFill>
                            <a:srgbClr val="333333"/>
                          </a:solidFill>
                          <a:latin typeface="Calibri"/>
                        </a:rPr>
                        <a:t>A second label</a:t>
                      </a:r>
                    </a:p>
                  </a:txBody>
                  <a:tcPr marL="54864" marR="54864" marT="27432" marB="27432">
                    <a:solidFill>
                      <a:srgbClr val="F3F6FC"/>
                    </a:solidFill>
                  </a:tcPr>
                </a:tc>
              </a:tr>
              <a:tr h="548640">
                <a:tc>
                  <a:txBody>
                    <a:bodyPr wrap="square"/>
                    <a:lstStyle/>
                    <a:p>
                      <a:r>
                        <a:rPr sz="1150" b="1">
                          <a:solidFill>
                            <a:srgbClr val="1E2761"/>
                          </a:solidFill>
                          <a:latin typeface="Calibri"/>
                        </a:rPr>
                        <a:t>Unexpected</a:t>
                      </a:r>
                    </a:p>
                  </a:txBody>
                  <a:tcPr marL="54864" marR="54864" marT="27432" marB="27432">
                    <a:solidFill>
                      <a:srgbClr val="FFFFFF"/>
                    </a:solidFill>
                  </a:tcPr>
                </a:tc>
                <a:tc>
                  <a:txBody>
                    <a:bodyPr wrap="square"/>
                    <a:lstStyle/>
                    <a:p>
                      <a:r>
                        <a:rPr sz="1150" b="0">
                          <a:solidFill>
                            <a:srgbClr val="333333"/>
                          </a:solidFill>
                          <a:latin typeface="Calibri"/>
                        </a:rPr>
                        <a:t>Not listed in the current labeling</a:t>
                      </a:r>
                    </a:p>
                  </a:txBody>
                  <a:tcPr marL="54864" marR="54864" marT="27432" marB="27432">
                    <a:solidFill>
                      <a:srgbClr val="FFFFFF"/>
                    </a:solidFill>
                  </a:tcPr>
                </a:tc>
                <a:tc>
                  <a:txBody>
                    <a:bodyPr wrap="square"/>
                    <a:lstStyle/>
                    <a:p>
                      <a:r>
                        <a:rPr sz="1150" b="0">
                          <a:solidFill>
                            <a:srgbClr val="333333"/>
                          </a:solidFill>
                          <a:latin typeface="Calibri"/>
                        </a:rPr>
                        <a:t>Lookup against the label</a:t>
                      </a:r>
                    </a:p>
                  </a:txBody>
                  <a:tcPr marL="54864" marR="54864" marT="27432" marB="27432">
                    <a:solidFill>
                      <a:srgbClr val="FFFFFF"/>
                    </a:solidFill>
                  </a:tcPr>
                </a:tc>
              </a:tr>
              <a:tr h="548640">
                <a:tc>
                  <a:txBody>
                    <a:bodyPr wrap="square"/>
                    <a:lstStyle/>
                    <a:p>
                      <a:r>
                        <a:rPr sz="1150" b="1">
                          <a:solidFill>
                            <a:srgbClr val="1E2761"/>
                          </a:solidFill>
                          <a:latin typeface="Calibri"/>
                        </a:rPr>
                        <a:t>15-day Alert report</a:t>
                      </a:r>
                    </a:p>
                  </a:txBody>
                  <a:tcPr marL="54864" marR="54864" marT="27432" marB="27432">
                    <a:solidFill>
                      <a:srgbClr val="F3F6FC"/>
                    </a:solidFill>
                  </a:tcPr>
                </a:tc>
                <a:tc>
                  <a:txBody>
                    <a:bodyPr wrap="square"/>
                    <a:lstStyle/>
                    <a:p>
                      <a:r>
                        <a:rPr sz="1150" b="0">
                          <a:solidFill>
                            <a:srgbClr val="333333"/>
                          </a:solidFill>
                          <a:latin typeface="Calibri"/>
                        </a:rPr>
                        <a:t>Serious and unexpected: report within 15 calendar days of initial receipt</a:t>
                      </a:r>
                    </a:p>
                  </a:txBody>
                  <a:tcPr marL="54864" marR="54864" marT="27432" marB="27432">
                    <a:solidFill>
                      <a:srgbClr val="F3F6FC"/>
                    </a:solidFill>
                  </a:tcPr>
                </a:tc>
                <a:tc>
                  <a:txBody>
                    <a:bodyPr wrap="square"/>
                    <a:lstStyle/>
                    <a:p>
                      <a:r>
                        <a:rPr sz="1150" b="0">
                          <a:solidFill>
                            <a:srgbClr val="333333"/>
                          </a:solidFill>
                          <a:latin typeface="Calibri"/>
                        </a:rPr>
                        <a:t>The deadline the queue computes</a:t>
                      </a:r>
                    </a:p>
                  </a:txBody>
                  <a:tcPr marL="54864" marR="54864" marT="27432" marB="27432">
                    <a:solidFill>
                      <a:srgbClr val="F3F6FC"/>
                    </a:solidFill>
                  </a:tcPr>
                </a:tc>
              </a:tr>
              <a:tr h="548640">
                <a:tc>
                  <a:txBody>
                    <a:bodyPr wrap="square"/>
                    <a:lstStyle/>
                    <a:p>
                      <a:r>
                        <a:rPr sz="1150" b="1">
                          <a:solidFill>
                            <a:srgbClr val="1E2761"/>
                          </a:solidFill>
                          <a:latin typeface="Calibri"/>
                        </a:rPr>
                        <a:t>Periodic report</a:t>
                      </a:r>
                    </a:p>
                  </a:txBody>
                  <a:tcPr marL="54864" marR="54864" marT="27432" marB="27432">
                    <a:solidFill>
                      <a:srgbClr val="FFFFFF"/>
                    </a:solidFill>
                  </a:tcPr>
                </a:tc>
                <a:tc>
                  <a:txBody>
                    <a:bodyPr wrap="square"/>
                    <a:lstStyle/>
                    <a:p>
                      <a:r>
                        <a:rPr sz="1150" b="0">
                          <a:solidFill>
                            <a:srgbClr val="333333"/>
                          </a:solidFill>
                          <a:latin typeface="Calibri"/>
                        </a:rPr>
                        <a:t>Everything else</a:t>
                      </a:r>
                    </a:p>
                  </a:txBody>
                  <a:tcPr marL="54864" marR="54864" marT="27432" marB="27432">
                    <a:solidFill>
                      <a:srgbClr val="FFFFFF"/>
                    </a:solidFill>
                  </a:tcPr>
                </a:tc>
                <a:tc>
                  <a:txBody>
                    <a:bodyPr wrap="square"/>
                    <a:lstStyle/>
                    <a:p>
                      <a:r>
                        <a:rPr sz="1150" b="0">
                          <a:solidFill>
                            <a:srgbClr val="333333"/>
                          </a:solidFill>
                          <a:latin typeface="Calibri"/>
                        </a:rPr>
                        <a:t>Still a case</a:t>
                      </a:r>
                    </a:p>
                  </a:txBody>
                  <a:tcPr marL="54864" marR="54864" marT="27432" marB="27432">
                    <a:solidFill>
                      <a:srgbClr val="FFFFFF"/>
                    </a:solidFill>
                  </a:tcPr>
                </a:tc>
              </a:tr>
            </a:tbl>
          </a:graphicData>
        </a:graphic>
      </p:graphicFrame>
      <p:sp>
        <p:nvSpPr>
          <p:cNvPr id="8" name="Rectangle 7"/>
          <p:cNvSpPr/>
          <p:nvPr/>
        </p:nvSpPr>
        <p:spPr>
          <a:xfrm>
            <a:off x="548640" y="4846320"/>
            <a:ext cx="11064240" cy="10972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4846320"/>
            <a:ext cx="109728" cy="109728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4937759"/>
            <a:ext cx="10607040" cy="594359"/>
          </a:xfrm>
          <a:prstGeom prst="rect">
            <a:avLst/>
          </a:prstGeom>
          <a:noFill/>
        </p:spPr>
        <p:txBody>
          <a:bodyPr wrap="square" lIns="45720" rIns="45720" tIns="27432" bIns="27432" anchor="ctr">
            <a:spAutoFit/>
          </a:bodyPr>
          <a:lstStyle/>
          <a:p>
            <a:pPr algn="l"/>
            <a:r>
              <a:rPr sz="1400" b="0" i="1">
                <a:solidFill>
                  <a:srgbClr val="FFFFFF"/>
                </a:solidFill>
                <a:latin typeface="Calibri"/>
              </a:rPr>
              <a:t>FDA “will consider an applicant responsible for information known to its employees, affiliates, and contractors.”  A saved call note is company knowledge.</a:t>
            </a:r>
          </a:p>
        </p:txBody>
      </p:sp>
      <p:sp>
        <p:nvSpPr>
          <p:cNvPr id="11" name="TextBox 10"/>
          <p:cNvSpPr txBox="1"/>
          <p:nvPr/>
        </p:nvSpPr>
        <p:spPr>
          <a:xfrm>
            <a:off x="822959" y="5532120"/>
            <a:ext cx="10607040" cy="320040"/>
          </a:xfrm>
          <a:prstGeom prst="rect">
            <a:avLst/>
          </a:prstGeom>
          <a:noFill/>
        </p:spPr>
        <p:txBody>
          <a:bodyPr wrap="square" lIns="45720" rIns="45720" tIns="27432" bIns="27432" anchor="t">
            <a:spAutoFit/>
          </a:bodyPr>
          <a:lstStyle/>
          <a:p>
            <a:pPr algn="l"/>
            <a:r>
              <a:rPr sz="1050" b="0" i="0">
                <a:solidFill>
                  <a:srgbClr val="CADCFC"/>
                </a:solidFill>
                <a:latin typeface="Calibri"/>
              </a:rPr>
              <a:t>— FDA draft guidance, Postmarketing Safety Reporting (2001), §X</a:t>
            </a:r>
          </a:p>
        </p:txBody>
      </p:sp>
      <p:sp>
        <p:nvSpPr>
          <p:cNvPr id="12" name="TextBox 11"/>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21 CFR §314.80; ICH E2D (2003).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FOUR ELEMENTS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A case needs four things</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7 / 37</a:t>
            </a:r>
          </a:p>
        </p:txBody>
      </p:sp>
      <p:sp>
        <p:nvSpPr>
          <p:cNvPr id="7" name="Rounded Rectangle 6"/>
          <p:cNvSpPr/>
          <p:nvPr/>
        </p:nvSpPr>
        <p:spPr>
          <a:xfrm>
            <a:off x="548640" y="1920240"/>
            <a:ext cx="2560320" cy="105156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Identifiable patient</a:t>
            </a:r>
          </a:p>
          <a:p>
            <a:pPr algn="ctr"/>
            <a:r>
              <a:rPr sz="1000">
                <a:solidFill>
                  <a:srgbClr val="CADCFC"/>
                </a:solidFill>
                <a:latin typeface="Calibri"/>
              </a:rPr>
              <a:t>“a 58-year-old female”, “one of his patients”</a:t>
            </a:r>
          </a:p>
        </p:txBody>
      </p:sp>
      <p:cxnSp>
        <p:nvCxnSpPr>
          <p:cNvPr id="8" name="Connector 7"/>
          <p:cNvCxnSpPr/>
          <p:nvPr/>
        </p:nvCxnSpPr>
        <p:spPr>
          <a:xfrm>
            <a:off x="3136391" y="2446020"/>
            <a:ext cx="219457"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83279" y="1920240"/>
            <a:ext cx="2560320" cy="105156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Identifiable reporter</a:t>
            </a:r>
          </a:p>
          <a:p>
            <a:pPr algn="ctr"/>
            <a:r>
              <a:rPr sz="1000">
                <a:solidFill>
                  <a:srgbClr val="CADCFC"/>
                </a:solidFill>
                <a:latin typeface="Calibri"/>
              </a:rPr>
              <a:t>the HCP, a caller, a forum member</a:t>
            </a:r>
          </a:p>
        </p:txBody>
      </p:sp>
      <p:cxnSp>
        <p:nvCxnSpPr>
          <p:cNvPr id="10" name="Connector 9"/>
          <p:cNvCxnSpPr/>
          <p:nvPr/>
        </p:nvCxnSpPr>
        <p:spPr>
          <a:xfrm>
            <a:off x="5971031" y="2446020"/>
            <a:ext cx="219456"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7919" y="1920240"/>
            <a:ext cx="2560320" cy="105156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Suspect drug</a:t>
            </a:r>
          </a:p>
          <a:p>
            <a:pPr algn="ctr"/>
            <a:r>
              <a:rPr sz="1000">
                <a:solidFill>
                  <a:srgbClr val="CADCFC"/>
                </a:solidFill>
                <a:latin typeface="Calibri"/>
              </a:rPr>
              <a:t>GLUCOREN, implicit in a brand call</a:t>
            </a:r>
          </a:p>
        </p:txBody>
      </p:sp>
      <p:cxnSp>
        <p:nvCxnSpPr>
          <p:cNvPr id="12" name="Connector 11"/>
          <p:cNvCxnSpPr/>
          <p:nvPr/>
        </p:nvCxnSpPr>
        <p:spPr>
          <a:xfrm>
            <a:off x="8805671" y="2446020"/>
            <a:ext cx="219457"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052559" y="1920240"/>
            <a:ext cx="2560320" cy="1051560"/>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Adverse experience</a:t>
            </a:r>
          </a:p>
          <a:p>
            <a:pPr algn="ctr"/>
            <a:r>
              <a:rPr sz="1000">
                <a:solidFill>
                  <a:srgbClr val="CADCFC"/>
                </a:solidFill>
                <a:latin typeface="Calibri"/>
              </a:rPr>
              <a:t>the event, in any words</a:t>
            </a:r>
          </a:p>
        </p:txBody>
      </p:sp>
      <p:sp>
        <p:nvSpPr>
          <p:cNvPr id="14" name="Rectangle 13"/>
          <p:cNvSpPr/>
          <p:nvPr/>
        </p:nvSpPr>
        <p:spPr>
          <a:xfrm>
            <a:off x="548640" y="3291840"/>
            <a:ext cx="5394960" cy="2194560"/>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Not a case</a:t>
            </a:r>
          </a:p>
        </p:txBody>
      </p:sp>
      <p:sp>
        <p:nvSpPr>
          <p:cNvPr id="16" name="TextBox 15"/>
          <p:cNvSpPr txBox="1"/>
          <p:nvPr/>
        </p:nvSpPr>
        <p:spPr>
          <a:xfrm>
            <a:off x="658368" y="3785616"/>
            <a:ext cx="5166360" cy="1609343"/>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b="1" sz="1200">
                <a:solidFill>
                  <a:srgbClr val="1E2761"/>
                </a:solidFill>
                <a:latin typeface="Calibri"/>
              </a:rPr>
              <a:t>“No reports of nausea” </a:t>
            </a:r>
            <a:r>
              <a:rPr sz="1200">
                <a:solidFill>
                  <a:srgbClr val="333333"/>
                </a:solidFill>
                <a:latin typeface="Calibri"/>
              </a:rPr>
              <a:t>(negation)</a:t>
            </a:r>
          </a:p>
          <a:p>
            <a:pPr>
              <a:spcAft>
                <a:spcPts val="500"/>
              </a:spcAft>
            </a:pPr>
            <a:r>
              <a:rPr sz="1200" b="1">
                <a:solidFill>
                  <a:srgbClr val="FF6B6B"/>
                </a:solidFill>
                <a:latin typeface="Calibri"/>
              </a:rPr>
              <a:t>▸ </a:t>
            </a:r>
            <a:r>
              <a:rPr b="1" sz="1200">
                <a:solidFill>
                  <a:srgbClr val="1E2761"/>
                </a:solidFill>
                <a:latin typeface="Calibri"/>
              </a:rPr>
              <a:t>“Asked about the nausea rate in the label” </a:t>
            </a:r>
            <a:r>
              <a:rPr sz="1200">
                <a:solidFill>
                  <a:srgbClr val="333333"/>
                </a:solidFill>
                <a:latin typeface="Calibri"/>
              </a:rPr>
              <a:t>(no patient)</a:t>
            </a:r>
          </a:p>
          <a:p>
            <a:pPr>
              <a:spcAft>
                <a:spcPts val="500"/>
              </a:spcAft>
            </a:pPr>
            <a:r>
              <a:rPr sz="1200" b="1">
                <a:solidFill>
                  <a:srgbClr val="FF6B6B"/>
                </a:solidFill>
                <a:latin typeface="Calibri"/>
              </a:rPr>
              <a:t>▸ </a:t>
            </a:r>
            <a:r>
              <a:rPr b="1" sz="1200">
                <a:solidFill>
                  <a:srgbClr val="1E2761"/>
                </a:solidFill>
                <a:latin typeface="Calibri"/>
              </a:rPr>
              <a:t>“Worried about side effects before starting” </a:t>
            </a:r>
            <a:r>
              <a:rPr sz="1200">
                <a:solidFill>
                  <a:srgbClr val="333333"/>
                </a:solidFill>
                <a:latin typeface="Calibri"/>
              </a:rPr>
              <a:t>(hypothetical)</a:t>
            </a:r>
          </a:p>
          <a:p>
            <a:pPr>
              <a:spcAft>
                <a:spcPts val="500"/>
              </a:spcAft>
            </a:pPr>
            <a:r>
              <a:rPr sz="1200" b="1">
                <a:solidFill>
                  <a:srgbClr val="FF6B6B"/>
                </a:solidFill>
                <a:latin typeface="Calibri"/>
              </a:rPr>
              <a:t>▸ </a:t>
            </a:r>
            <a:r>
              <a:rPr b="1" sz="1200">
                <a:solidFill>
                  <a:srgbClr val="1E2761"/>
                </a:solidFill>
                <a:latin typeface="Calibri"/>
              </a:rPr>
              <a:t>A competitor's patient </a:t>
            </a:r>
            <a:r>
              <a:rPr sz="1200">
                <a:solidFill>
                  <a:srgbClr val="333333"/>
                </a:solidFill>
                <a:latin typeface="Calibri"/>
              </a:rPr>
              <a:t>(not our product)</a:t>
            </a:r>
          </a:p>
        </p:txBody>
      </p:sp>
      <p:sp>
        <p:nvSpPr>
          <p:cNvPr id="17" name="Rectangle 16"/>
          <p:cNvSpPr/>
          <p:nvPr/>
        </p:nvSpPr>
        <p:spPr>
          <a:xfrm>
            <a:off x="6217920" y="3291840"/>
            <a:ext cx="5394960" cy="21945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40156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So the pipeline answers, in order</a:t>
            </a:r>
          </a:p>
        </p:txBody>
      </p:sp>
      <p:sp>
        <p:nvSpPr>
          <p:cNvPr id="19" name="TextBox 18"/>
          <p:cNvSpPr txBox="1"/>
          <p:nvPr/>
        </p:nvSpPr>
        <p:spPr>
          <a:xfrm>
            <a:off x="6327648" y="3785616"/>
            <a:ext cx="5166360" cy="1609343"/>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b="1" sz="1200">
                <a:solidFill>
                  <a:srgbClr val="1E2761"/>
                </a:solidFill>
                <a:latin typeface="Calibri"/>
              </a:rPr>
              <a:t>AE mentioned? </a:t>
            </a:r>
            <a:r>
              <a:rPr sz="1200">
                <a:solidFill>
                  <a:srgbClr val="333333"/>
                </a:solidFill>
                <a:latin typeface="Calibri"/>
              </a:rPr>
              <a:t>classifier</a:t>
            </a:r>
          </a:p>
          <a:p>
            <a:pPr>
              <a:spcAft>
                <a:spcPts val="500"/>
              </a:spcAft>
            </a:pPr>
            <a:r>
              <a:rPr sz="1200" b="1">
                <a:solidFill>
                  <a:srgbClr val="FF6B6B"/>
                </a:solidFill>
                <a:latin typeface="Calibri"/>
              </a:rPr>
              <a:t>▸ </a:t>
            </a:r>
            <a:r>
              <a:rPr b="1" sz="1200">
                <a:solidFill>
                  <a:srgbClr val="1E2761"/>
                </a:solidFill>
                <a:latin typeface="Calibri"/>
              </a:rPr>
              <a:t>Four elements? </a:t>
            </a:r>
            <a:r>
              <a:rPr sz="1200">
                <a:solidFill>
                  <a:srgbClr val="333333"/>
                </a:solidFill>
                <a:latin typeface="Calibri"/>
              </a:rPr>
              <a:t>rules</a:t>
            </a:r>
          </a:p>
          <a:p>
            <a:pPr>
              <a:spcAft>
                <a:spcPts val="500"/>
              </a:spcAft>
            </a:pPr>
            <a:r>
              <a:rPr sz="1200" b="1">
                <a:solidFill>
                  <a:srgbClr val="FF6B6B"/>
                </a:solidFill>
                <a:latin typeface="Calibri"/>
              </a:rPr>
              <a:t>▸ </a:t>
            </a:r>
            <a:r>
              <a:rPr b="1" sz="1200">
                <a:solidFill>
                  <a:srgbClr val="1E2761"/>
                </a:solidFill>
                <a:latin typeface="Calibri"/>
              </a:rPr>
              <a:t>Serious? Unexpected? </a:t>
            </a:r>
            <a:r>
              <a:rPr sz="1200">
                <a:solidFill>
                  <a:srgbClr val="333333"/>
                </a:solidFill>
                <a:latin typeface="Calibri"/>
              </a:rPr>
              <a:t>lexicon and label lookup</a:t>
            </a:r>
          </a:p>
          <a:p>
            <a:pPr>
              <a:spcAft>
                <a:spcPts val="500"/>
              </a:spcAft>
            </a:pPr>
            <a:r>
              <a:rPr sz="1200" b="1">
                <a:solidFill>
                  <a:srgbClr val="FF6B6B"/>
                </a:solidFill>
                <a:latin typeface="Calibri"/>
              </a:rPr>
              <a:t>▸ </a:t>
            </a:r>
            <a:r>
              <a:rPr b="1" sz="1200">
                <a:solidFill>
                  <a:srgbClr val="1E2761"/>
                </a:solidFill>
                <a:latin typeface="Calibri"/>
              </a:rPr>
              <a:t>Due date </a:t>
            </a:r>
            <a:r>
              <a:rPr sz="1200">
                <a:solidFill>
                  <a:srgbClr val="333333"/>
                </a:solidFill>
                <a:latin typeface="Calibri"/>
              </a:rPr>
              <a:t>awareness date + 15 days if serious and unexpected</a:t>
            </a:r>
          </a:p>
        </p:txBody>
      </p:sp>
      <p:sp>
        <p:nvSpPr>
          <p:cNvPr id="20" name="TextBox 19"/>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FDA draft guidance (2001), §IV.B; ICH E2D.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WHICH MEDIA</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Which text you are obliged to look at</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8 / 37</a:t>
            </a:r>
          </a:p>
        </p:txBody>
      </p:sp>
      <p:sp>
        <p:nvSpPr>
          <p:cNvPr id="7" name="Rectangle 6"/>
          <p:cNvSpPr/>
          <p:nvPr/>
        </p:nvSpPr>
        <p:spPr>
          <a:xfrm>
            <a:off x="548640" y="1828800"/>
            <a:ext cx="5394960" cy="20116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3852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FDA (2001 draft guidance, §VI.G)</a:t>
            </a:r>
          </a:p>
        </p:txBody>
      </p:sp>
      <p:sp>
        <p:nvSpPr>
          <p:cNvPr id="9" name="TextBox 8"/>
          <p:cNvSpPr txBox="1"/>
          <p:nvPr/>
        </p:nvSpPr>
        <p:spPr>
          <a:xfrm>
            <a:off x="658368" y="2322576"/>
            <a:ext cx="5166360" cy="1426464"/>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sz="1200">
                <a:solidFill>
                  <a:srgbClr val="333333"/>
                </a:solidFill>
                <a:latin typeface="Calibri"/>
              </a:rPr>
              <a:t>“Applicants should review any Internet sites sponsored by them for adverse experience information.” Sites they do not sponsor: no duty to review; a duty to act on what they become aware of.</a:t>
            </a:r>
          </a:p>
        </p:txBody>
      </p:sp>
      <p:sp>
        <p:nvSpPr>
          <p:cNvPr id="10" name="Rectangle 9"/>
          <p:cNvSpPr/>
          <p:nvPr/>
        </p:nvSpPr>
        <p:spPr>
          <a:xfrm>
            <a:off x="6217920" y="1828800"/>
            <a:ext cx="5394960" cy="2011680"/>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93852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EMA GVP Module VI (Rev 2, VI.B.1.1.4)</a:t>
            </a:r>
          </a:p>
        </p:txBody>
      </p:sp>
      <p:sp>
        <p:nvSpPr>
          <p:cNvPr id="12" name="TextBox 11"/>
          <p:cNvSpPr txBox="1"/>
          <p:nvPr/>
        </p:nvSpPr>
        <p:spPr>
          <a:xfrm>
            <a:off x="6327648" y="2322576"/>
            <a:ext cx="5166360" cy="1426464"/>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sz="1200">
                <a:solidFill>
                  <a:srgbClr val="333333"/>
                </a:solidFill>
                <a:latin typeface="Calibri"/>
              </a:rPr>
              <a:t>MAHs “should regularly screen internet or digital media under their management or responsibility.” Media outside their control: act on awareness.</a:t>
            </a:r>
          </a:p>
        </p:txBody>
      </p:sp>
      <p:graphicFrame>
        <p:nvGraphicFramePr>
          <p:cNvPr id="13" name="Table 12"/>
          <p:cNvGraphicFramePr>
            <a:graphicFrameLocks noGrp="1"/>
          </p:cNvGraphicFramePr>
          <p:nvPr/>
        </p:nvGraphicFramePr>
        <p:xfrm>
          <a:off x="548640" y="4023360"/>
          <a:ext cx="11064240" cy="1463040"/>
        </p:xfrm>
        <a:graphic>
          <a:graphicData uri="http://schemas.openxmlformats.org/drawingml/2006/table">
            <a:tbl>
              <a:tblPr firstRow="1" bandRow="1">
                <a:tableStyleId>{5C22544A-7EE6-4342-B048-85BDC9FD1C3A}</a:tableStyleId>
              </a:tblPr>
              <a:tblGrid>
                <a:gridCol w="3657600"/>
                <a:gridCol w="2194560"/>
                <a:gridCol w="5212080"/>
              </a:tblGrid>
              <a:tr h="365760">
                <a:tc>
                  <a:txBody>
                    <a:bodyPr wrap="square"/>
                    <a:lstStyle/>
                    <a:p>
                      <a:r>
                        <a:rPr sz="1150" b="1">
                          <a:solidFill>
                            <a:srgbClr val="FFFFFF"/>
                          </a:solidFill>
                          <a:latin typeface="Calibri"/>
                        </a:rPr>
                        <a:t>Stream</a:t>
                      </a:r>
                    </a:p>
                  </a:txBody>
                  <a:tcPr marL="54864" marR="54864" marT="27432" marB="27432">
                    <a:solidFill>
                      <a:srgbClr val="1E2761"/>
                    </a:solidFill>
                  </a:tcPr>
                </a:tc>
                <a:tc>
                  <a:txBody>
                    <a:bodyPr wrap="square"/>
                    <a:lstStyle/>
                    <a:p>
                      <a:r>
                        <a:rPr sz="1150" b="1">
                          <a:solidFill>
                            <a:srgbClr val="FFFFFF"/>
                          </a:solidFill>
                          <a:latin typeface="Calibri"/>
                        </a:rPr>
                        <a:t>Who runs it</a:t>
                      </a:r>
                    </a:p>
                  </a:txBody>
                  <a:tcPr marL="54864" marR="54864" marT="27432" marB="27432">
                    <a:solidFill>
                      <a:srgbClr val="1E2761"/>
                    </a:solidFill>
                  </a:tcPr>
                </a:tc>
                <a:tc>
                  <a:txBody>
                    <a:bodyPr wrap="square"/>
                    <a:lstStyle/>
                    <a:p>
                      <a:r>
                        <a:rPr sz="1150" b="1">
                          <a:solidFill>
                            <a:srgbClr val="FFFFFF"/>
                          </a:solidFill>
                          <a:latin typeface="Calibri"/>
                        </a:rPr>
                        <a:t>Duty</a:t>
                      </a:r>
                    </a:p>
                  </a:txBody>
                  <a:tcPr marL="54864" marR="54864" marT="27432" marB="27432">
                    <a:solidFill>
                      <a:srgbClr val="1E2761"/>
                    </a:solidFill>
                  </a:tcPr>
                </a:tc>
              </a:tr>
              <a:tr h="365760">
                <a:tc>
                  <a:txBody>
                    <a:bodyPr wrap="square"/>
                    <a:lstStyle/>
                    <a:p>
                      <a:r>
                        <a:rPr sz="1150" b="1">
                          <a:solidFill>
                            <a:srgbClr val="1E2761"/>
                          </a:solidFill>
                          <a:latin typeface="Calibri"/>
                        </a:rPr>
                        <a:t>Aspen “Living with T2D” community</a:t>
                      </a:r>
                    </a:p>
                  </a:txBody>
                  <a:tcPr marL="54864" marR="54864" marT="27432" marB="27432">
                    <a:solidFill>
                      <a:srgbClr val="FFFFFF"/>
                    </a:solidFill>
                  </a:tcPr>
                </a:tc>
                <a:tc>
                  <a:txBody>
                    <a:bodyPr wrap="square"/>
                    <a:lstStyle/>
                    <a:p>
                      <a:r>
                        <a:rPr sz="1150" b="0">
                          <a:solidFill>
                            <a:srgbClr val="333333"/>
                          </a:solidFill>
                          <a:latin typeface="Calibri"/>
                        </a:rPr>
                        <a:t>the company</a:t>
                      </a:r>
                    </a:p>
                  </a:txBody>
                  <a:tcPr marL="54864" marR="54864" marT="27432" marB="27432">
                    <a:solidFill>
                      <a:srgbClr val="FFFFFF"/>
                    </a:solidFill>
                  </a:tcPr>
                </a:tc>
                <a:tc>
                  <a:txBody>
                    <a:bodyPr wrap="square"/>
                    <a:lstStyle/>
                    <a:p>
                      <a:r>
                        <a:rPr sz="1150" b="0">
                          <a:solidFill>
                            <a:srgbClr val="333333"/>
                          </a:solidFill>
                          <a:latin typeface="Calibri"/>
                        </a:rPr>
                        <a:t>screen regularly</a:t>
                      </a:r>
                    </a:p>
                  </a:txBody>
                  <a:tcPr marL="54864" marR="54864" marT="27432" marB="27432">
                    <a:solidFill>
                      <a:srgbClr val="FFFFFF"/>
                    </a:solidFill>
                  </a:tcPr>
                </a:tc>
              </a:tr>
              <a:tr h="365760">
                <a:tc>
                  <a:txBody>
                    <a:bodyPr wrap="square"/>
                    <a:lstStyle/>
                    <a:p>
                      <a:r>
                        <a:rPr sz="1150" b="1">
                          <a:solidFill>
                            <a:srgbClr val="1E2761"/>
                          </a:solidFill>
                          <a:latin typeface="Calibri"/>
                        </a:rPr>
                        <a:t>T2D Circle forum</a:t>
                      </a:r>
                    </a:p>
                  </a:txBody>
                  <a:tcPr marL="54864" marR="54864" marT="27432" marB="27432">
                    <a:solidFill>
                      <a:srgbClr val="F3F6FC"/>
                    </a:solidFill>
                  </a:tcPr>
                </a:tc>
                <a:tc>
                  <a:txBody>
                    <a:bodyPr wrap="square"/>
                    <a:lstStyle/>
                    <a:p>
                      <a:r>
                        <a:rPr sz="1150" b="0">
                          <a:solidFill>
                            <a:srgbClr val="333333"/>
                          </a:solidFill>
                          <a:latin typeface="Calibri"/>
                        </a:rPr>
                        <a:t>independent</a:t>
                      </a:r>
                    </a:p>
                  </a:txBody>
                  <a:tcPr marL="54864" marR="54864" marT="27432" marB="27432">
                    <a:solidFill>
                      <a:srgbClr val="F3F6FC"/>
                    </a:solidFill>
                  </a:tcPr>
                </a:tc>
                <a:tc>
                  <a:txBody>
                    <a:bodyPr wrap="square"/>
                    <a:lstStyle/>
                    <a:p>
                      <a:r>
                        <a:rPr sz="1150" b="0">
                          <a:solidFill>
                            <a:srgbClr val="333333"/>
                          </a:solidFill>
                          <a:latin typeface="Calibri"/>
                        </a:rPr>
                        <a:t>act on what you see</a:t>
                      </a:r>
                    </a:p>
                  </a:txBody>
                  <a:tcPr marL="54864" marR="54864" marT="27432" marB="27432">
                    <a:solidFill>
                      <a:srgbClr val="F3F6FC"/>
                    </a:solidFill>
                  </a:tcPr>
                </a:tc>
              </a:tr>
              <a:tr h="365760">
                <a:tc>
                  <a:txBody>
                    <a:bodyPr wrap="square"/>
                    <a:lstStyle/>
                    <a:p>
                      <a:r>
                        <a:rPr sz="1150" b="1">
                          <a:solidFill>
                            <a:srgbClr val="1E2761"/>
                          </a:solidFill>
                          <a:latin typeface="Calibri"/>
                        </a:rPr>
                        <a:t>Field notes, MI inquiries</a:t>
                      </a:r>
                    </a:p>
                  </a:txBody>
                  <a:tcPr marL="54864" marR="54864" marT="27432" marB="27432">
                    <a:solidFill>
                      <a:srgbClr val="FFFFFF"/>
                    </a:solidFill>
                  </a:tcPr>
                </a:tc>
                <a:tc>
                  <a:txBody>
                    <a:bodyPr wrap="square"/>
                    <a:lstStyle/>
                    <a:p>
                      <a:r>
                        <a:rPr sz="1150" b="0">
                          <a:solidFill>
                            <a:srgbClr val="333333"/>
                          </a:solidFill>
                          <a:latin typeface="Calibri"/>
                        </a:rPr>
                        <a:t>the company</a:t>
                      </a:r>
                    </a:p>
                  </a:txBody>
                  <a:tcPr marL="54864" marR="54864" marT="27432" marB="27432">
                    <a:solidFill>
                      <a:srgbClr val="FFFFFF"/>
                    </a:solidFill>
                  </a:tcPr>
                </a:tc>
                <a:tc>
                  <a:txBody>
                    <a:bodyPr wrap="square"/>
                    <a:lstStyle/>
                    <a:p>
                      <a:r>
                        <a:rPr sz="1150" b="0">
                          <a:solidFill>
                            <a:srgbClr val="333333"/>
                          </a:solidFill>
                          <a:latin typeface="Calibri"/>
                        </a:rPr>
                        <a:t>company knowledge</a:t>
                      </a:r>
                    </a:p>
                  </a:txBody>
                  <a:tcPr marL="54864" marR="54864" marT="27432" marB="27432">
                    <a:solidFill>
                      <a:srgbClr val="FFFFFF"/>
                    </a:solidFill>
                  </a:tcPr>
                </a:tc>
              </a:tr>
            </a:tbl>
          </a:graphicData>
        </a:graphic>
      </p:graphicFrame>
      <p:sp>
        <p:nvSpPr>
          <p:cNvPr id="14" name="TextBox 13"/>
          <p:cNvSpPr txBox="1"/>
          <p:nvPr/>
        </p:nvSpPr>
        <p:spPr>
          <a:xfrm>
            <a:off x="548640" y="5623560"/>
            <a:ext cx="11064240" cy="457200"/>
          </a:xfrm>
          <a:prstGeom prst="rect">
            <a:avLst/>
          </a:prstGeom>
          <a:noFill/>
        </p:spPr>
        <p:txBody>
          <a:bodyPr wrap="square" lIns="45720" rIns="45720" tIns="27432" bIns="27432" anchor="t">
            <a:spAutoFit/>
          </a:bodyPr>
          <a:lstStyle/>
          <a:p>
            <a:pPr algn="l"/>
            <a:r>
              <a:rPr sz="1200" b="1" i="0">
                <a:solidFill>
                  <a:srgbClr val="1E2761"/>
                </a:solidFill>
                <a:latin typeface="Calibri"/>
              </a:rPr>
              <a:t>Running social listening on a site you do not control is a decision to acquire knowledge you must then act on. Route cases to Safety before anything goes to a dashboard.</a:t>
            </a:r>
          </a:p>
        </p:txBody>
      </p:sp>
      <p:sp>
        <p:nvSpPr>
          <p:cNvPr id="15" name="TextBox 14"/>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FDA (2001) §VI.G; EMA GVP Module VI Rev 2 (2017).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02</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The toolbox</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Text into numbers, and how to judge the result</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7 — NLP in Pharma Commercial: Adverse Events, Field Notes and Social Listening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9 / 37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TEXT TO NUMBERS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Three ways to represent a sentence</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10 / 37</a:t>
            </a:r>
          </a:p>
        </p:txBody>
      </p:sp>
      <p:graphicFrame>
        <p:nvGraphicFramePr>
          <p:cNvPr id="7" name="Table 6"/>
          <p:cNvGraphicFramePr>
            <a:graphicFrameLocks noGrp="1"/>
          </p:cNvGraphicFramePr>
          <p:nvPr/>
        </p:nvGraphicFramePr>
        <p:xfrm>
          <a:off x="548640" y="1828800"/>
          <a:ext cx="11064240" cy="3182112"/>
        </p:xfrm>
        <a:graphic>
          <a:graphicData uri="http://schemas.openxmlformats.org/drawingml/2006/table">
            <a:tbl>
              <a:tblPr firstRow="1" bandRow="1">
                <a:tableStyleId>{5C22544A-7EE6-4342-B048-85BDC9FD1C3A}</a:tableStyleId>
              </a:tblPr>
              <a:tblGrid>
                <a:gridCol w="1463040"/>
                <a:gridCol w="3108960"/>
                <a:gridCol w="3108960"/>
                <a:gridCol w="3383280"/>
              </a:tblGrid>
              <a:tr h="530352">
                <a:tc>
                  <a:txBody>
                    <a:bodyPr wrap="square"/>
                    <a:lstStyle/>
                    <a:p>
                      <a:r>
                        <a:rPr sz="1150" b="1">
                          <a:solidFill>
                            <a:srgbClr val="FFFFFF"/>
                          </a:solidFill>
                          <a:latin typeface="Calibri"/>
                        </a:rPr>
                        <a:t/>
                      </a:r>
                    </a:p>
                  </a:txBody>
                  <a:tcPr marL="54864" marR="54864" marT="27432" marB="27432">
                    <a:solidFill>
                      <a:srgbClr val="1E2761"/>
                    </a:solidFill>
                  </a:tcPr>
                </a:tc>
                <a:tc>
                  <a:txBody>
                    <a:bodyPr wrap="square"/>
                    <a:lstStyle/>
                    <a:p>
                      <a:r>
                        <a:rPr sz="1150" b="1">
                          <a:solidFill>
                            <a:srgbClr val="FFFFFF"/>
                          </a:solidFill>
                          <a:latin typeface="Calibri"/>
                        </a:rPr>
                        <a:t>Bag of words / TF-IDF</a:t>
                      </a:r>
                    </a:p>
                  </a:txBody>
                  <a:tcPr marL="54864" marR="54864" marT="27432" marB="27432">
                    <a:solidFill>
                      <a:srgbClr val="1E2761"/>
                    </a:solidFill>
                  </a:tcPr>
                </a:tc>
                <a:tc>
                  <a:txBody>
                    <a:bodyPr wrap="square"/>
                    <a:lstStyle/>
                    <a:p>
                      <a:r>
                        <a:rPr sz="1150" b="1">
                          <a:solidFill>
                            <a:srgbClr val="FFFFFF"/>
                          </a:solidFill>
                          <a:latin typeface="Calibri"/>
                        </a:rPr>
                        <a:t>Static embeddings</a:t>
                      </a:r>
                    </a:p>
                  </a:txBody>
                  <a:tcPr marL="54864" marR="54864" marT="27432" marB="27432">
                    <a:solidFill>
                      <a:srgbClr val="1E2761"/>
                    </a:solidFill>
                  </a:tcPr>
                </a:tc>
                <a:tc>
                  <a:txBody>
                    <a:bodyPr wrap="square"/>
                    <a:lstStyle/>
                    <a:p>
                      <a:r>
                        <a:rPr sz="1150" b="1">
                          <a:solidFill>
                            <a:srgbClr val="FFFFFF"/>
                          </a:solidFill>
                          <a:latin typeface="Calibri"/>
                        </a:rPr>
                        <a:t>Contextual transformers</a:t>
                      </a:r>
                    </a:p>
                  </a:txBody>
                  <a:tcPr marL="54864" marR="54864" marT="27432" marB="27432">
                    <a:solidFill>
                      <a:srgbClr val="1E2761"/>
                    </a:solidFill>
                  </a:tcPr>
                </a:tc>
              </a:tr>
              <a:tr h="530352">
                <a:tc>
                  <a:txBody>
                    <a:bodyPr wrap="square"/>
                    <a:lstStyle/>
                    <a:p>
                      <a:r>
                        <a:rPr sz="1150" b="1">
                          <a:solidFill>
                            <a:srgbClr val="1E2761"/>
                          </a:solidFill>
                          <a:latin typeface="Calibri"/>
                        </a:rPr>
                        <a:t>Idea</a:t>
                      </a:r>
                    </a:p>
                  </a:txBody>
                  <a:tcPr marL="54864" marR="54864" marT="27432" marB="27432">
                    <a:solidFill>
                      <a:srgbClr val="FFFFFF"/>
                    </a:solidFill>
                  </a:tcPr>
                </a:tc>
                <a:tc>
                  <a:txBody>
                    <a:bodyPr wrap="square"/>
                    <a:lstStyle/>
                    <a:p>
                      <a:r>
                        <a:rPr sz="1150" b="0">
                          <a:solidFill>
                            <a:srgbClr val="333333"/>
                          </a:solidFill>
                          <a:latin typeface="Calibri"/>
                        </a:rPr>
                        <a:t>count terms; weight rare ones up</a:t>
                      </a:r>
                    </a:p>
                  </a:txBody>
                  <a:tcPr marL="54864" marR="54864" marT="27432" marB="27432">
                    <a:solidFill>
                      <a:srgbClr val="FFFFFF"/>
                    </a:solidFill>
                  </a:tcPr>
                </a:tc>
                <a:tc>
                  <a:txBody>
                    <a:bodyPr wrap="square"/>
                    <a:lstStyle/>
                    <a:p>
                      <a:r>
                        <a:rPr sz="1150" b="0">
                          <a:solidFill>
                            <a:srgbClr val="333333"/>
                          </a:solidFill>
                          <a:latin typeface="Calibri"/>
                        </a:rPr>
                        <a:t>one vector per word, learned from co-occurrence</a:t>
                      </a:r>
                    </a:p>
                  </a:txBody>
                  <a:tcPr marL="54864" marR="54864" marT="27432" marB="27432">
                    <a:solidFill>
                      <a:srgbClr val="FFFFFF"/>
                    </a:solidFill>
                  </a:tcPr>
                </a:tc>
                <a:tc>
                  <a:txBody>
                    <a:bodyPr wrap="square"/>
                    <a:lstStyle/>
                    <a:p>
                      <a:r>
                        <a:rPr sz="1150" b="0">
                          <a:solidFill>
                            <a:srgbClr val="333333"/>
                          </a:solidFill>
                          <a:latin typeface="Calibri"/>
                        </a:rPr>
                        <a:t>one vector per token in context, pretrained on large corpora</a:t>
                      </a:r>
                    </a:p>
                  </a:txBody>
                  <a:tcPr marL="54864" marR="54864" marT="27432" marB="27432">
                    <a:solidFill>
                      <a:srgbClr val="FFFFFF"/>
                    </a:solidFill>
                  </a:tcPr>
                </a:tc>
              </a:tr>
              <a:tr h="530352">
                <a:tc>
                  <a:txBody>
                    <a:bodyPr wrap="square"/>
                    <a:lstStyle/>
                    <a:p>
                      <a:r>
                        <a:rPr sz="1150" b="1">
                          <a:solidFill>
                            <a:srgbClr val="1E2761"/>
                          </a:solidFill>
                          <a:latin typeface="Calibri"/>
                        </a:rPr>
                        <a:t>Knows that</a:t>
                      </a:r>
                    </a:p>
                  </a:txBody>
                  <a:tcPr marL="54864" marR="54864" marT="27432" marB="27432">
                    <a:solidFill>
                      <a:srgbClr val="F3F6FC"/>
                    </a:solidFill>
                  </a:tcPr>
                </a:tc>
                <a:tc>
                  <a:txBody>
                    <a:bodyPr wrap="square"/>
                    <a:lstStyle/>
                    <a:p>
                      <a:r>
                        <a:rPr sz="1150" b="0">
                          <a:solidFill>
                            <a:srgbClr val="333333"/>
                          </a:solidFill>
                          <a:latin typeface="Calibri"/>
                        </a:rPr>
                        <a:t>“nausea” ≠ “vomiting”</a:t>
                      </a:r>
                    </a:p>
                  </a:txBody>
                  <a:tcPr marL="54864" marR="54864" marT="27432" marB="27432">
                    <a:solidFill>
                      <a:srgbClr val="F3F6FC"/>
                    </a:solidFill>
                  </a:tcPr>
                </a:tc>
                <a:tc>
                  <a:txBody>
                    <a:bodyPr wrap="square"/>
                    <a:lstStyle/>
                    <a:p>
                      <a:r>
                        <a:rPr sz="1150" b="0">
                          <a:solidFill>
                            <a:srgbClr val="333333"/>
                          </a:solidFill>
                          <a:latin typeface="Calibri"/>
                        </a:rPr>
                        <a:t>“nausea” ≈ “vomiting”</a:t>
                      </a:r>
                    </a:p>
                  </a:txBody>
                  <a:tcPr marL="54864" marR="54864" marT="27432" marB="27432">
                    <a:solidFill>
                      <a:srgbClr val="F3F6FC"/>
                    </a:solidFill>
                  </a:tcPr>
                </a:tc>
                <a:tc>
                  <a:txBody>
                    <a:bodyPr wrap="square"/>
                    <a:lstStyle/>
                    <a:p>
                      <a:r>
                        <a:rPr sz="1150" b="0">
                          <a:solidFill>
                            <a:srgbClr val="333333"/>
                          </a:solidFill>
                          <a:latin typeface="Calibri"/>
                        </a:rPr>
                        <a:t>“no nausea” ≠ “nausea”</a:t>
                      </a:r>
                    </a:p>
                  </a:txBody>
                  <a:tcPr marL="54864" marR="54864" marT="27432" marB="27432">
                    <a:solidFill>
                      <a:srgbClr val="F3F6FC"/>
                    </a:solidFill>
                  </a:tcPr>
                </a:tc>
              </a:tr>
              <a:tr h="530352">
                <a:tc>
                  <a:txBody>
                    <a:bodyPr wrap="square"/>
                    <a:lstStyle/>
                    <a:p>
                      <a:r>
                        <a:rPr sz="1150" b="1">
                          <a:solidFill>
                            <a:srgbClr val="1E2761"/>
                          </a:solidFill>
                          <a:latin typeface="Calibri"/>
                        </a:rPr>
                        <a:t>Needs</a:t>
                      </a:r>
                    </a:p>
                  </a:txBody>
                  <a:tcPr marL="54864" marR="54864" marT="27432" marB="27432">
                    <a:solidFill>
                      <a:srgbClr val="FFFFFF"/>
                    </a:solidFill>
                  </a:tcPr>
                </a:tc>
                <a:tc>
                  <a:txBody>
                    <a:bodyPr wrap="square"/>
                    <a:lstStyle/>
                    <a:p>
                      <a:r>
                        <a:rPr sz="1150" b="0">
                          <a:solidFill>
                            <a:srgbClr val="333333"/>
                          </a:solidFill>
                          <a:latin typeface="Calibri"/>
                        </a:rPr>
                        <a:t>labels</a:t>
                      </a:r>
                    </a:p>
                  </a:txBody>
                  <a:tcPr marL="54864" marR="54864" marT="27432" marB="27432">
                    <a:solidFill>
                      <a:srgbClr val="FFFFFF"/>
                    </a:solidFill>
                  </a:tcPr>
                </a:tc>
                <a:tc>
                  <a:txBody>
                    <a:bodyPr wrap="square"/>
                    <a:lstStyle/>
                    <a:p>
                      <a:r>
                        <a:rPr sz="1150" b="0">
                          <a:solidFill>
                            <a:srgbClr val="333333"/>
                          </a:solidFill>
                          <a:latin typeface="Calibri"/>
                        </a:rPr>
                        <a:t>a corpus or a download</a:t>
                      </a:r>
                    </a:p>
                  </a:txBody>
                  <a:tcPr marL="54864" marR="54864" marT="27432" marB="27432">
                    <a:solidFill>
                      <a:srgbClr val="FFFFFF"/>
                    </a:solidFill>
                  </a:tcPr>
                </a:tc>
                <a:tc>
                  <a:txBody>
                    <a:bodyPr wrap="square"/>
                    <a:lstStyle/>
                    <a:p>
                      <a:r>
                        <a:rPr sz="1150" b="0">
                          <a:solidFill>
                            <a:srgbClr val="333333"/>
                          </a:solidFill>
                          <a:latin typeface="Calibri"/>
                        </a:rPr>
                        <a:t>a download, a GPU to fine-tune, labels</a:t>
                      </a:r>
                    </a:p>
                  </a:txBody>
                  <a:tcPr marL="54864" marR="54864" marT="27432" marB="27432">
                    <a:solidFill>
                      <a:srgbClr val="FFFFFF"/>
                    </a:solidFill>
                  </a:tcPr>
                </a:tc>
              </a:tr>
              <a:tr h="530352">
                <a:tc>
                  <a:txBody>
                    <a:bodyPr wrap="square"/>
                    <a:lstStyle/>
                    <a:p>
                      <a:r>
                        <a:rPr sz="1150" b="1">
                          <a:solidFill>
                            <a:srgbClr val="1E2761"/>
                          </a:solidFill>
                          <a:latin typeface="Calibri"/>
                        </a:rPr>
                        <a:t>Explained by</a:t>
                      </a:r>
                    </a:p>
                  </a:txBody>
                  <a:tcPr marL="54864" marR="54864" marT="27432" marB="27432">
                    <a:solidFill>
                      <a:srgbClr val="F3F6FC"/>
                    </a:solidFill>
                  </a:tcPr>
                </a:tc>
                <a:tc>
                  <a:txBody>
                    <a:bodyPr wrap="square"/>
                    <a:lstStyle/>
                    <a:p>
                      <a:r>
                        <a:rPr sz="1150" b="0">
                          <a:solidFill>
                            <a:srgbClr val="333333"/>
                          </a:solidFill>
                          <a:latin typeface="Calibri"/>
                        </a:rPr>
                        <a:t>coefficients</a:t>
                      </a:r>
                    </a:p>
                  </a:txBody>
                  <a:tcPr marL="54864" marR="54864" marT="27432" marB="27432">
                    <a:solidFill>
                      <a:srgbClr val="F3F6FC"/>
                    </a:solidFill>
                  </a:tcPr>
                </a:tc>
                <a:tc>
                  <a:txBody>
                    <a:bodyPr wrap="square"/>
                    <a:lstStyle/>
                    <a:p>
                      <a:r>
                        <a:rPr sz="1150" b="0">
                          <a:solidFill>
                            <a:srgbClr val="333333"/>
                          </a:solidFill>
                          <a:latin typeface="Calibri"/>
                        </a:rPr>
                        <a:t>nearest neighbours</a:t>
                      </a:r>
                    </a:p>
                  </a:txBody>
                  <a:tcPr marL="54864" marR="54864" marT="27432" marB="27432">
                    <a:solidFill>
                      <a:srgbClr val="F3F6FC"/>
                    </a:solidFill>
                  </a:tcPr>
                </a:tc>
                <a:tc>
                  <a:txBody>
                    <a:bodyPr wrap="square"/>
                    <a:lstStyle/>
                    <a:p>
                      <a:r>
                        <a:rPr sz="1150" b="0">
                          <a:solidFill>
                            <a:srgbClr val="333333"/>
                          </a:solidFill>
                          <a:latin typeface="Calibri"/>
                        </a:rPr>
                        <a:t>Integrated Gradients; attention with care</a:t>
                      </a:r>
                    </a:p>
                  </a:txBody>
                  <a:tcPr marL="54864" marR="54864" marT="27432" marB="27432">
                    <a:solidFill>
                      <a:srgbClr val="F3F6FC"/>
                    </a:solidFill>
                  </a:tcPr>
                </a:tc>
              </a:tr>
              <a:tr h="530352">
                <a:tc>
                  <a:txBody>
                    <a:bodyPr wrap="square"/>
                    <a:lstStyle/>
                    <a:p>
                      <a:r>
                        <a:rPr sz="1150" b="1">
                          <a:solidFill>
                            <a:srgbClr val="1E2761"/>
                          </a:solidFill>
                          <a:latin typeface="Calibri"/>
                        </a:rPr>
                        <a:t>Tonight</a:t>
                      </a:r>
                    </a:p>
                  </a:txBody>
                  <a:tcPr marL="54864" marR="54864" marT="27432" marB="27432">
                    <a:solidFill>
                      <a:srgbClr val="FFFFFF"/>
                    </a:solidFill>
                  </a:tcPr>
                </a:tc>
                <a:tc>
                  <a:txBody>
                    <a:bodyPr wrap="square"/>
                    <a:lstStyle/>
                    <a:p>
                      <a:r>
                        <a:rPr sz="1150" b="0">
                          <a:solidFill>
                            <a:srgbClr val="333333"/>
                          </a:solidFill>
                          <a:latin typeface="Calibri"/>
                        </a:rPr>
                        <a:t>the detector</a:t>
                      </a:r>
                    </a:p>
                  </a:txBody>
                  <a:tcPr marL="54864" marR="54864" marT="27432" marB="27432">
                    <a:solidFill>
                      <a:srgbClr val="FFFFFF"/>
                    </a:solidFill>
                  </a:tcPr>
                </a:tc>
                <a:tc>
                  <a:txBody>
                    <a:bodyPr wrap="square"/>
                    <a:lstStyle/>
                    <a:p>
                      <a:r>
                        <a:rPr sz="1150" b="0">
                          <a:solidFill>
                            <a:srgbClr val="333333"/>
                          </a:solidFill>
                          <a:latin typeface="Calibri"/>
                        </a:rPr>
                        <a:t>LSA stand-in for search</a:t>
                      </a:r>
                    </a:p>
                  </a:txBody>
                  <a:tcPr marL="54864" marR="54864" marT="27432" marB="27432">
                    <a:solidFill>
                      <a:srgbClr val="FFFFFF"/>
                    </a:solidFill>
                  </a:tcPr>
                </a:tc>
                <a:tc>
                  <a:txBody>
                    <a:bodyPr wrap="square"/>
                    <a:lstStyle/>
                    <a:p>
                      <a:r>
                        <a:rPr sz="1150" b="0">
                          <a:solidFill>
                            <a:srgbClr val="333333"/>
                          </a:solidFill>
                          <a:latin typeface="Calibri"/>
                        </a:rPr>
                        <a:t>optional cell</a:t>
                      </a:r>
                    </a:p>
                  </a:txBody>
                  <a:tcPr marL="54864" marR="54864" marT="27432" marB="27432">
                    <a:solidFill>
                      <a:srgbClr val="FFFFFF"/>
                    </a:solidFill>
                  </a:tcPr>
                </a:tc>
              </a:tr>
            </a:tbl>
          </a:graphicData>
        </a:graphic>
      </p:graphicFrame>
      <p:graphicFrame>
        <p:nvGraphicFramePr>
          <p:cNvPr id="8" name="Table 7"/>
          <p:cNvGraphicFramePr>
            <a:graphicFrameLocks noGrp="1"/>
          </p:cNvGraphicFramePr>
          <p:nvPr/>
        </p:nvGraphicFramePr>
        <p:xfrm>
          <a:off x="548640" y="4572000"/>
          <a:ext cx="11064240" cy="1371600"/>
        </p:xfrm>
        <a:graphic>
          <a:graphicData uri="http://schemas.openxmlformats.org/drawingml/2006/table">
            <a:tbl>
              <a:tblPr firstRow="1" bandRow="1">
                <a:tableStyleId>{5C22544A-7EE6-4342-B048-85BDC9FD1C3A}</a:tableStyleId>
              </a:tblPr>
              <a:tblGrid>
                <a:gridCol w="2926080"/>
                <a:gridCol w="2743200"/>
                <a:gridCol w="5394960"/>
              </a:tblGrid>
              <a:tr h="274320">
                <a:tc>
                  <a:txBody>
                    <a:bodyPr wrap="square"/>
                    <a:lstStyle/>
                    <a:p>
                      <a:r>
                        <a:rPr sz="1050" b="1">
                          <a:solidFill>
                            <a:srgbClr val="FFFFFF"/>
                          </a:solidFill>
                          <a:latin typeface="Calibri"/>
                        </a:rPr>
                        <a:t>Model</a:t>
                      </a:r>
                    </a:p>
                  </a:txBody>
                  <a:tcPr marL="54864" marR="54864" marT="27432" marB="27432">
                    <a:solidFill>
                      <a:srgbClr val="1E2761"/>
                    </a:solidFill>
                  </a:tcPr>
                </a:tc>
                <a:tc>
                  <a:txBody>
                    <a:bodyPr wrap="square"/>
                    <a:lstStyle/>
                    <a:p>
                      <a:r>
                        <a:rPr sz="1050" b="1">
                          <a:solidFill>
                            <a:srgbClr val="FFFFFF"/>
                          </a:solidFill>
                          <a:latin typeface="Calibri"/>
                        </a:rPr>
                        <a:t>Pretrained on</a:t>
                      </a:r>
                    </a:p>
                  </a:txBody>
                  <a:tcPr marL="54864" marR="54864" marT="27432" marB="27432">
                    <a:solidFill>
                      <a:srgbClr val="1E2761"/>
                    </a:solidFill>
                  </a:tcPr>
                </a:tc>
                <a:tc>
                  <a:txBody>
                    <a:bodyPr wrap="square"/>
                    <a:lstStyle/>
                    <a:p>
                      <a:r>
                        <a:rPr sz="1050" b="1">
                          <a:solidFill>
                            <a:srgbClr val="FFFFFF"/>
                          </a:solidFill>
                          <a:latin typeface="Calibri"/>
                        </a:rPr>
                        <a:t>Use for</a:t>
                      </a:r>
                    </a:p>
                  </a:txBody>
                  <a:tcPr marL="54864" marR="54864" marT="27432" marB="27432">
                    <a:solidFill>
                      <a:srgbClr val="1E2761"/>
                    </a:solidFill>
                  </a:tcPr>
                </a:tc>
              </a:tr>
              <a:tr h="274320">
                <a:tc>
                  <a:txBody>
                    <a:bodyPr wrap="square"/>
                    <a:lstStyle/>
                    <a:p>
                      <a:r>
                        <a:rPr sz="1050" b="1">
                          <a:solidFill>
                            <a:srgbClr val="1E2761"/>
                          </a:solidFill>
                          <a:latin typeface="Calibri"/>
                        </a:rPr>
                        <a:t>BERT (Devlin 2019)</a:t>
                      </a:r>
                    </a:p>
                  </a:txBody>
                  <a:tcPr marL="54864" marR="54864" marT="27432" marB="27432">
                    <a:solidFill>
                      <a:srgbClr val="FFFFFF"/>
                    </a:solidFill>
                  </a:tcPr>
                </a:tc>
                <a:tc>
                  <a:txBody>
                    <a:bodyPr wrap="square"/>
                    <a:lstStyle/>
                    <a:p>
                      <a:r>
                        <a:rPr sz="1050" b="0">
                          <a:solidFill>
                            <a:srgbClr val="333333"/>
                          </a:solidFill>
                          <a:latin typeface="Calibri"/>
                        </a:rPr>
                        <a:t>Wikipedia, books</a:t>
                      </a:r>
                    </a:p>
                  </a:txBody>
                  <a:tcPr marL="54864" marR="54864" marT="27432" marB="27432">
                    <a:solidFill>
                      <a:srgbClr val="FFFFFF"/>
                    </a:solidFill>
                  </a:tcPr>
                </a:tc>
                <a:tc>
                  <a:txBody>
                    <a:bodyPr wrap="square"/>
                    <a:lstStyle/>
                    <a:p>
                      <a:r>
                        <a:rPr sz="1050" b="0">
                          <a:solidFill>
                            <a:srgbClr val="333333"/>
                          </a:solidFill>
                          <a:latin typeface="Calibri"/>
                        </a:rPr>
                        <a:t>general English: rep notes, patient posts</a:t>
                      </a:r>
                    </a:p>
                  </a:txBody>
                  <a:tcPr marL="54864" marR="54864" marT="27432" marB="27432">
                    <a:solidFill>
                      <a:srgbClr val="FFFFFF"/>
                    </a:solidFill>
                  </a:tcPr>
                </a:tc>
              </a:tr>
              <a:tr h="274320">
                <a:tc>
                  <a:txBody>
                    <a:bodyPr wrap="square"/>
                    <a:lstStyle/>
                    <a:p>
                      <a:r>
                        <a:rPr sz="1050" b="1">
                          <a:solidFill>
                            <a:srgbClr val="1E2761"/>
                          </a:solidFill>
                          <a:latin typeface="Calibri"/>
                        </a:rPr>
                        <a:t>BioBERT (Lee 2020)</a:t>
                      </a:r>
                    </a:p>
                  </a:txBody>
                  <a:tcPr marL="54864" marR="54864" marT="27432" marB="27432">
                    <a:solidFill>
                      <a:srgbClr val="F3F6FC"/>
                    </a:solidFill>
                  </a:tcPr>
                </a:tc>
                <a:tc>
                  <a:txBody>
                    <a:bodyPr wrap="square"/>
                    <a:lstStyle/>
                    <a:p>
                      <a:r>
                        <a:rPr sz="1050" b="0">
                          <a:solidFill>
                            <a:srgbClr val="333333"/>
                          </a:solidFill>
                          <a:latin typeface="Calibri"/>
                        </a:rPr>
                        <a:t>PubMed, PMC</a:t>
                      </a:r>
                    </a:p>
                  </a:txBody>
                  <a:tcPr marL="54864" marR="54864" marT="27432" marB="27432">
                    <a:solidFill>
                      <a:srgbClr val="F3F6FC"/>
                    </a:solidFill>
                  </a:tcPr>
                </a:tc>
                <a:tc>
                  <a:txBody>
                    <a:bodyPr wrap="square"/>
                    <a:lstStyle/>
                    <a:p>
                      <a:r>
                        <a:rPr sz="1050" b="0">
                          <a:solidFill>
                            <a:srgbClr val="333333"/>
                          </a:solidFill>
                          <a:latin typeface="Calibri"/>
                        </a:rPr>
                        <a:t>literature, biomedical NER</a:t>
                      </a:r>
                    </a:p>
                  </a:txBody>
                  <a:tcPr marL="54864" marR="54864" marT="27432" marB="27432">
                    <a:solidFill>
                      <a:srgbClr val="F3F6FC"/>
                    </a:solidFill>
                  </a:tcPr>
                </a:tc>
              </a:tr>
              <a:tr h="274320">
                <a:tc>
                  <a:txBody>
                    <a:bodyPr wrap="square"/>
                    <a:lstStyle/>
                    <a:p>
                      <a:r>
                        <a:rPr sz="1050" b="1">
                          <a:solidFill>
                            <a:srgbClr val="1E2761"/>
                          </a:solidFill>
                          <a:latin typeface="Calibri"/>
                        </a:rPr>
                        <a:t>ClinicalBERT (Alsentzer 2019)</a:t>
                      </a:r>
                    </a:p>
                  </a:txBody>
                  <a:tcPr marL="54864" marR="54864" marT="27432" marB="27432">
                    <a:solidFill>
                      <a:srgbClr val="FFFFFF"/>
                    </a:solidFill>
                  </a:tcPr>
                </a:tc>
                <a:tc>
                  <a:txBody>
                    <a:bodyPr wrap="square"/>
                    <a:lstStyle/>
                    <a:p>
                      <a:r>
                        <a:rPr sz="1050" b="0">
                          <a:solidFill>
                            <a:srgbClr val="333333"/>
                          </a:solidFill>
                          <a:latin typeface="Calibri"/>
                        </a:rPr>
                        <a:t>MIMIC clinical notes</a:t>
                      </a:r>
                    </a:p>
                  </a:txBody>
                  <a:tcPr marL="54864" marR="54864" marT="27432" marB="27432">
                    <a:solidFill>
                      <a:srgbClr val="FFFFFF"/>
                    </a:solidFill>
                  </a:tcPr>
                </a:tc>
                <a:tc>
                  <a:txBody>
                    <a:bodyPr wrap="square"/>
                    <a:lstStyle/>
                    <a:p>
                      <a:r>
                        <a:rPr sz="1050" b="0">
                          <a:solidFill>
                            <a:srgbClr val="333333"/>
                          </a:solidFill>
                          <a:latin typeface="Calibri"/>
                        </a:rPr>
                        <a:t>chart review</a:t>
                      </a:r>
                    </a:p>
                  </a:txBody>
                  <a:tcPr marL="54864" marR="54864" marT="27432" marB="27432">
                    <a:solidFill>
                      <a:srgbClr val="FFFFFF"/>
                    </a:solidFill>
                  </a:tcPr>
                </a:tc>
              </a:tr>
              <a:tr h="274320">
                <a:tc>
                  <a:txBody>
                    <a:bodyPr wrap="square"/>
                    <a:lstStyle/>
                    <a:p>
                      <a:r>
                        <a:rPr sz="1050" b="1">
                          <a:solidFill>
                            <a:srgbClr val="1E2761"/>
                          </a:solidFill>
                          <a:latin typeface="Calibri"/>
                        </a:rPr>
                        <a:t>Sentence-BERT (Reimers 2019)</a:t>
                      </a:r>
                    </a:p>
                  </a:txBody>
                  <a:tcPr marL="54864" marR="54864" marT="27432" marB="27432">
                    <a:solidFill>
                      <a:srgbClr val="F3F6FC"/>
                    </a:solidFill>
                  </a:tcPr>
                </a:tc>
                <a:tc>
                  <a:txBody>
                    <a:bodyPr wrap="square"/>
                    <a:lstStyle/>
                    <a:p>
                      <a:r>
                        <a:rPr sz="1050" b="0">
                          <a:solidFill>
                            <a:srgbClr val="333333"/>
                          </a:solidFill>
                          <a:latin typeface="Calibri"/>
                        </a:rPr>
                        <a:t>sentence pairs</a:t>
                      </a:r>
                    </a:p>
                  </a:txBody>
                  <a:tcPr marL="54864" marR="54864" marT="27432" marB="27432">
                    <a:solidFill>
                      <a:srgbClr val="F3F6FC"/>
                    </a:solidFill>
                  </a:tcPr>
                </a:tc>
                <a:tc>
                  <a:txBody>
                    <a:bodyPr wrap="square"/>
                    <a:lstStyle/>
                    <a:p>
                      <a:r>
                        <a:rPr sz="1050" b="0">
                          <a:solidFill>
                            <a:srgbClr val="333333"/>
                          </a:solidFill>
                          <a:latin typeface="Calibri"/>
                        </a:rPr>
                        <a:t>search, clustering, BERTopic</a:t>
                      </a:r>
                    </a:p>
                  </a:txBody>
                  <a:tcPr marL="54864" marR="54864" marT="27432" marB="27432">
                    <a:solidFill>
                      <a:srgbClr val="F3F6FC"/>
                    </a:solidFill>
                  </a:tcPr>
                </a:tc>
              </a:tr>
            </a:tbl>
          </a:graphicData>
        </a:graphic>
      </p:graphicFrame>
      <p:sp>
        <p:nvSpPr>
          <p:cNvPr id="9" name="TextBox 8"/>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Pang, Lee &amp; Vaithyanathan 2002; Deerwester et al. 1990; Devlin et al. 2019; Lee et al. 2020; Alsentzer et al. 2019; Reimers &amp; Gurevych 2019.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THE LADDER</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Four rungs</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11 / 37</a:t>
            </a:r>
          </a:p>
        </p:txBody>
      </p:sp>
      <p:sp>
        <p:nvSpPr>
          <p:cNvPr id="7" name="Rounded Rectangle 6"/>
          <p:cNvSpPr/>
          <p:nvPr/>
        </p:nvSpPr>
        <p:spPr>
          <a:xfrm>
            <a:off x="548640" y="1920240"/>
            <a:ext cx="2560320" cy="118872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FFFFFF"/>
                </a:solidFill>
                <a:latin typeface="Calibri"/>
              </a:rPr>
              <a:t>Rules / lexicon</a:t>
            </a:r>
          </a:p>
          <a:p>
            <a:pPr algn="ctr"/>
            <a:r>
              <a:rPr sz="1000">
                <a:solidFill>
                  <a:srgbClr val="CADCFC"/>
                </a:solidFill>
                <a:latin typeface="Calibri"/>
              </a:rPr>
              <a:t>minutes to build · no labels · transparent</a:t>
            </a:r>
          </a:p>
        </p:txBody>
      </p:sp>
      <p:cxnSp>
        <p:nvCxnSpPr>
          <p:cNvPr id="8" name="Connector 7"/>
          <p:cNvCxnSpPr/>
          <p:nvPr/>
        </p:nvCxnSpPr>
        <p:spPr>
          <a:xfrm>
            <a:off x="3136391" y="2514600"/>
            <a:ext cx="219457"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83279" y="1920240"/>
            <a:ext cx="2560320" cy="1188720"/>
          </a:xfrm>
          <a:prstGeom prst="roundRect">
            <a:avLst/>
          </a:prstGeom>
          <a:solidFill>
            <a:srgbClr val="1F7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FFFFFF"/>
                </a:solidFill>
                <a:latin typeface="Calibri"/>
              </a:rPr>
              <a:t>Classical ML</a:t>
            </a:r>
          </a:p>
          <a:p>
            <a:pPr algn="ctr"/>
            <a:r>
              <a:rPr sz="1000">
                <a:solidFill>
                  <a:srgbClr val="CADCFC"/>
                </a:solidFill>
                <a:latin typeface="Calibri"/>
              </a:rPr>
              <a:t>TF-IDF + logistic regression · labels · exact explanations</a:t>
            </a:r>
          </a:p>
        </p:txBody>
      </p:sp>
      <p:cxnSp>
        <p:nvCxnSpPr>
          <p:cNvPr id="10" name="Connector 9"/>
          <p:cNvCxnSpPr/>
          <p:nvPr/>
        </p:nvCxnSpPr>
        <p:spPr>
          <a:xfrm>
            <a:off x="5971031" y="2514600"/>
            <a:ext cx="219456"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7919" y="1920240"/>
            <a:ext cx="2560320" cy="1188720"/>
          </a:xfrm>
          <a:prstGeom prst="roundRect">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FFFFFF"/>
                </a:solidFill>
                <a:latin typeface="Calibri"/>
              </a:rPr>
              <a:t>Fine-tuned transformer</a:t>
            </a:r>
          </a:p>
          <a:p>
            <a:pPr algn="ctr"/>
            <a:r>
              <a:rPr sz="1000">
                <a:solidFill>
                  <a:srgbClr val="CADCFC"/>
                </a:solidFill>
                <a:latin typeface="Calibri"/>
              </a:rPr>
              <a:t>BioBERT head · labels + GPU · best on hard text</a:t>
            </a:r>
          </a:p>
        </p:txBody>
      </p:sp>
      <p:cxnSp>
        <p:nvCxnSpPr>
          <p:cNvPr id="12" name="Connector 11"/>
          <p:cNvCxnSpPr/>
          <p:nvPr/>
        </p:nvCxnSpPr>
        <p:spPr>
          <a:xfrm>
            <a:off x="8805671" y="2514600"/>
            <a:ext cx="219457"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052559" y="1920240"/>
            <a:ext cx="2560320" cy="1188720"/>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FFFFFF"/>
                </a:solidFill>
                <a:latin typeface="Calibri"/>
              </a:rPr>
              <a:t>LLM, zero-shot</a:t>
            </a:r>
          </a:p>
          <a:p>
            <a:pPr algn="ctr"/>
            <a:r>
              <a:rPr sz="1000">
                <a:solidFill>
                  <a:srgbClr val="CADCFC"/>
                </a:solidFill>
                <a:latin typeface="Calibri"/>
              </a:rPr>
              <a:t>a prompt · no labels · cost per call · still measured</a:t>
            </a:r>
          </a:p>
        </p:txBody>
      </p:sp>
      <p:sp>
        <p:nvSpPr>
          <p:cNvPr id="14" name="Rectangle 13"/>
          <p:cNvSpPr/>
          <p:nvPr/>
        </p:nvSpPr>
        <p:spPr>
          <a:xfrm>
            <a:off x="548640" y="3429000"/>
            <a:ext cx="5394960" cy="18288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53872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Climb when</a:t>
            </a:r>
          </a:p>
        </p:txBody>
      </p:sp>
      <p:sp>
        <p:nvSpPr>
          <p:cNvPr id="16" name="TextBox 15"/>
          <p:cNvSpPr txBox="1"/>
          <p:nvPr/>
        </p:nvSpPr>
        <p:spPr>
          <a:xfrm>
            <a:off x="658368" y="3922776"/>
            <a:ext cx="5166360" cy="1243584"/>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sz="1200">
                <a:solidFill>
                  <a:srgbClr val="333333"/>
                </a:solidFill>
                <a:latin typeface="Calibri"/>
              </a:rPr>
              <a:t>error analysis shows negation, paraphrase or abbreviations the rung below cannot handle;</a:t>
            </a:r>
          </a:p>
          <a:p>
            <a:pPr>
              <a:spcAft>
                <a:spcPts val="500"/>
              </a:spcAft>
            </a:pPr>
            <a:r>
              <a:rPr sz="1200" b="1">
                <a:solidFill>
                  <a:srgbClr val="FF6B6B"/>
                </a:solidFill>
                <a:latin typeface="Calibri"/>
              </a:rPr>
              <a:t>▸ </a:t>
            </a:r>
            <a:r>
              <a:rPr sz="1200">
                <a:solidFill>
                  <a:srgbClr val="333333"/>
                </a:solidFill>
                <a:latin typeface="Calibri"/>
              </a:rPr>
              <a:t>you have labels;</a:t>
            </a:r>
          </a:p>
          <a:p>
            <a:pPr>
              <a:spcAft>
                <a:spcPts val="500"/>
              </a:spcAft>
            </a:pPr>
            <a:r>
              <a:rPr sz="1200" b="1">
                <a:solidFill>
                  <a:srgbClr val="FF6B6B"/>
                </a:solidFill>
                <a:latin typeface="Calibri"/>
              </a:rPr>
              <a:t>▸ </a:t>
            </a:r>
            <a:r>
              <a:rPr sz="1200">
                <a:solidFill>
                  <a:srgbClr val="333333"/>
                </a:solidFill>
                <a:latin typeface="Calibri"/>
              </a:rPr>
              <a:t>the gain holds on a held-out set.</a:t>
            </a:r>
          </a:p>
        </p:txBody>
      </p:sp>
      <p:sp>
        <p:nvSpPr>
          <p:cNvPr id="17" name="Rectangle 16"/>
          <p:cNvSpPr/>
          <p:nvPr/>
        </p:nvSpPr>
        <p:spPr>
          <a:xfrm>
            <a:off x="6217920" y="3429000"/>
            <a:ext cx="5394960" cy="1828800"/>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53872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Stay when</a:t>
            </a:r>
          </a:p>
        </p:txBody>
      </p:sp>
      <p:sp>
        <p:nvSpPr>
          <p:cNvPr id="19" name="TextBox 18"/>
          <p:cNvSpPr txBox="1"/>
          <p:nvPr/>
        </p:nvSpPr>
        <p:spPr>
          <a:xfrm>
            <a:off x="6327648" y="3922776"/>
            <a:ext cx="5166360" cy="1243584"/>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sz="1200">
                <a:solidFill>
                  <a:srgbClr val="333333"/>
                </a:solidFill>
                <a:latin typeface="Calibri"/>
              </a:rPr>
              <a:t>the text is short and formulaic (CRM notes usually are);</a:t>
            </a:r>
          </a:p>
          <a:p>
            <a:pPr>
              <a:spcAft>
                <a:spcPts val="500"/>
              </a:spcAft>
            </a:pPr>
            <a:r>
              <a:rPr sz="1200" b="1">
                <a:solidFill>
                  <a:srgbClr val="FF6B6B"/>
                </a:solidFill>
                <a:latin typeface="Calibri"/>
              </a:rPr>
              <a:t>▸ </a:t>
            </a:r>
            <a:r>
              <a:rPr sz="1200">
                <a:solidFill>
                  <a:srgbClr val="333333"/>
                </a:solidFill>
                <a:latin typeface="Calibri"/>
              </a:rPr>
              <a:t>the reviewer needs to see why;</a:t>
            </a:r>
          </a:p>
          <a:p>
            <a:pPr>
              <a:spcAft>
                <a:spcPts val="500"/>
              </a:spcAft>
            </a:pPr>
            <a:r>
              <a:rPr sz="1200" b="1">
                <a:solidFill>
                  <a:srgbClr val="FF6B6B"/>
                </a:solidFill>
                <a:latin typeface="Calibri"/>
              </a:rPr>
              <a:t>▸ </a:t>
            </a:r>
            <a:r>
              <a:rPr sz="1200">
                <a:solidFill>
                  <a:srgbClr val="333333"/>
                </a:solidFill>
                <a:latin typeface="Calibri"/>
              </a:rPr>
              <a:t>the model has to be documented in a validated process.</a:t>
            </a:r>
          </a:p>
        </p:txBody>
      </p:sp>
      <p:sp>
        <p:nvSpPr>
          <p:cNvPr id="20" name="TextBox 19"/>
          <p:cNvSpPr txBox="1"/>
          <p:nvPr/>
        </p:nvSpPr>
        <p:spPr>
          <a:xfrm>
            <a:off x="548640" y="5486400"/>
            <a:ext cx="11064240" cy="457200"/>
          </a:xfrm>
          <a:prstGeom prst="rect">
            <a:avLst/>
          </a:prstGeom>
          <a:noFill/>
        </p:spPr>
        <p:txBody>
          <a:bodyPr wrap="square" lIns="45720" rIns="45720" tIns="27432" bIns="27432" anchor="t">
            <a:spAutoFit/>
          </a:bodyPr>
          <a:lstStyle/>
          <a:p>
            <a:pPr algn="l"/>
            <a:r>
              <a:rPr sz="1250" b="1" i="0">
                <a:solidFill>
                  <a:srgbClr val="1E2761"/>
                </a:solidFill>
                <a:latin typeface="Calibri"/>
              </a:rPr>
              <a:t>Tonight stops at rung two and shows how to read rungs three and four when a vendor brings them.</a:t>
            </a:r>
          </a:p>
        </p:txBody>
      </p:sp>
      <p:sp>
        <p:nvSpPr>
          <p:cNvPr id="21" name="TextBox 20"/>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Karimi et al., ACM Computing Surveys 2015; Rudin, Nature Machine Intelligence 2019.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PRECISION AND RECALL</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Judge a detector by its operating point</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12 / 37</a:t>
            </a:r>
          </a:p>
        </p:txBody>
      </p:sp>
      <p:sp>
        <p:nvSpPr>
          <p:cNvPr id="7" name="Rectangle 6"/>
          <p:cNvSpPr/>
          <p:nvPr/>
        </p:nvSpPr>
        <p:spPr>
          <a:xfrm>
            <a:off x="548640" y="1828800"/>
            <a:ext cx="3566160" cy="23774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38528"/>
            <a:ext cx="3291840" cy="365760"/>
          </a:xfrm>
          <a:prstGeom prst="rect">
            <a:avLst/>
          </a:prstGeom>
          <a:noFill/>
        </p:spPr>
        <p:txBody>
          <a:bodyPr wrap="square" lIns="45720" rIns="45720" tIns="27432" bIns="27432" anchor="t">
            <a:spAutoFit/>
          </a:bodyPr>
          <a:lstStyle/>
          <a:p>
            <a:pPr algn="l"/>
            <a:r>
              <a:rPr sz="1400" b="1" i="0">
                <a:solidFill>
                  <a:srgbClr val="1E2761"/>
                </a:solidFill>
                <a:latin typeface="Calibri"/>
              </a:rPr>
              <a:t>Precision</a:t>
            </a:r>
          </a:p>
        </p:txBody>
      </p:sp>
      <p:sp>
        <p:nvSpPr>
          <p:cNvPr id="9" name="TextBox 8"/>
          <p:cNvSpPr txBox="1"/>
          <p:nvPr/>
        </p:nvSpPr>
        <p:spPr>
          <a:xfrm>
            <a:off x="658368" y="2322576"/>
            <a:ext cx="3337560" cy="1792224"/>
          </a:xfrm>
          <a:prstGeom prst="rect">
            <a:avLst/>
          </a:prstGeom>
          <a:noFill/>
        </p:spPr>
        <p:txBody>
          <a:bodyPr wrap="square" lIns="45720" rIns="45720">
            <a:spAutoFit/>
          </a:bodyPr>
          <a:lstStyle/>
          <a:p>
            <a:pPr>
              <a:spcAft>
                <a:spcPts val="500"/>
              </a:spcAft>
            </a:pPr>
            <a:r>
              <a:rPr sz="1250" b="1">
                <a:solidFill>
                  <a:srgbClr val="FF6B6B"/>
                </a:solidFill>
                <a:latin typeface="Calibri"/>
              </a:rPr>
              <a:t>▸ </a:t>
            </a:r>
            <a:r>
              <a:rPr sz="1250">
                <a:solidFill>
                  <a:srgbClr val="333333"/>
                </a:solidFill>
                <a:latin typeface="Calibri"/>
              </a:rPr>
              <a:t>Of the notes we flag, how many are real. Low precision wastes reviewer time.</a:t>
            </a:r>
          </a:p>
        </p:txBody>
      </p:sp>
      <p:sp>
        <p:nvSpPr>
          <p:cNvPr id="10" name="Rectangle 9"/>
          <p:cNvSpPr/>
          <p:nvPr/>
        </p:nvSpPr>
        <p:spPr>
          <a:xfrm>
            <a:off x="4297680" y="1828800"/>
            <a:ext cx="3566160" cy="2377440"/>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938528"/>
            <a:ext cx="3291840" cy="365760"/>
          </a:xfrm>
          <a:prstGeom prst="rect">
            <a:avLst/>
          </a:prstGeom>
          <a:noFill/>
        </p:spPr>
        <p:txBody>
          <a:bodyPr wrap="square" lIns="45720" rIns="45720" tIns="27432" bIns="27432" anchor="t">
            <a:spAutoFit/>
          </a:bodyPr>
          <a:lstStyle/>
          <a:p>
            <a:pPr algn="l"/>
            <a:r>
              <a:rPr sz="1400" b="1" i="0">
                <a:solidFill>
                  <a:srgbClr val="1E2761"/>
                </a:solidFill>
                <a:latin typeface="Calibri"/>
              </a:rPr>
              <a:t>Recall</a:t>
            </a:r>
          </a:p>
        </p:txBody>
      </p:sp>
      <p:sp>
        <p:nvSpPr>
          <p:cNvPr id="12" name="TextBox 11"/>
          <p:cNvSpPr txBox="1"/>
          <p:nvPr/>
        </p:nvSpPr>
        <p:spPr>
          <a:xfrm>
            <a:off x="4407408" y="2322576"/>
            <a:ext cx="3337560" cy="1792224"/>
          </a:xfrm>
          <a:prstGeom prst="rect">
            <a:avLst/>
          </a:prstGeom>
          <a:noFill/>
        </p:spPr>
        <p:txBody>
          <a:bodyPr wrap="square" lIns="45720" rIns="45720">
            <a:spAutoFit/>
          </a:bodyPr>
          <a:lstStyle/>
          <a:p>
            <a:pPr>
              <a:spcAft>
                <a:spcPts val="500"/>
              </a:spcAft>
            </a:pPr>
            <a:r>
              <a:rPr sz="1250" b="1">
                <a:solidFill>
                  <a:srgbClr val="FF6B6B"/>
                </a:solidFill>
                <a:latin typeface="Calibri"/>
              </a:rPr>
              <a:t>▸ </a:t>
            </a:r>
            <a:r>
              <a:rPr sz="1250">
                <a:solidFill>
                  <a:srgbClr val="333333"/>
                </a:solidFill>
                <a:latin typeface="Calibri"/>
              </a:rPr>
              <a:t>Of the real AEs, how many we catch. Low recall means unreported cases. In safety this comes first.</a:t>
            </a:r>
          </a:p>
        </p:txBody>
      </p:sp>
      <p:sp>
        <p:nvSpPr>
          <p:cNvPr id="13" name="Rectangle 12"/>
          <p:cNvSpPr/>
          <p:nvPr/>
        </p:nvSpPr>
        <p:spPr>
          <a:xfrm>
            <a:off x="8046720" y="1828800"/>
            <a:ext cx="3566160" cy="23774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1938528"/>
            <a:ext cx="3291840" cy="365760"/>
          </a:xfrm>
          <a:prstGeom prst="rect">
            <a:avLst/>
          </a:prstGeom>
          <a:noFill/>
        </p:spPr>
        <p:txBody>
          <a:bodyPr wrap="square" lIns="45720" rIns="45720" tIns="27432" bIns="27432" anchor="t">
            <a:spAutoFit/>
          </a:bodyPr>
          <a:lstStyle/>
          <a:p>
            <a:pPr algn="l"/>
            <a:r>
              <a:rPr sz="1400" b="1" i="0">
                <a:solidFill>
                  <a:srgbClr val="1E2761"/>
                </a:solidFill>
                <a:latin typeface="Calibri"/>
              </a:rPr>
              <a:t>The curve</a:t>
            </a:r>
          </a:p>
        </p:txBody>
      </p:sp>
      <p:sp>
        <p:nvSpPr>
          <p:cNvPr id="15" name="TextBox 14"/>
          <p:cNvSpPr txBox="1"/>
          <p:nvPr/>
        </p:nvSpPr>
        <p:spPr>
          <a:xfrm>
            <a:off x="8156448" y="2322576"/>
            <a:ext cx="3337560" cy="1792224"/>
          </a:xfrm>
          <a:prstGeom prst="rect">
            <a:avLst/>
          </a:prstGeom>
          <a:noFill/>
        </p:spPr>
        <p:txBody>
          <a:bodyPr wrap="square" lIns="45720" rIns="45720">
            <a:spAutoFit/>
          </a:bodyPr>
          <a:lstStyle/>
          <a:p>
            <a:pPr>
              <a:spcAft>
                <a:spcPts val="500"/>
              </a:spcAft>
            </a:pPr>
            <a:r>
              <a:rPr sz="1250" b="1">
                <a:solidFill>
                  <a:srgbClr val="FF6B6B"/>
                </a:solidFill>
                <a:latin typeface="Calibri"/>
              </a:rPr>
              <a:t>▸ </a:t>
            </a:r>
            <a:r>
              <a:rPr sz="1250">
                <a:solidFill>
                  <a:srgbClr val="333333"/>
                </a:solidFill>
                <a:latin typeface="Calibri"/>
              </a:rPr>
              <a:t>Each threshold is a (recall, precision) pair. AUC and AP compare models; the chosen point is the decision.</a:t>
            </a:r>
          </a:p>
        </p:txBody>
      </p:sp>
      <p:sp>
        <p:nvSpPr>
          <p:cNvPr id="16" name="TextBox 15"/>
          <p:cNvSpPr txBox="1"/>
          <p:nvPr/>
        </p:nvSpPr>
        <p:spPr>
          <a:xfrm>
            <a:off x="548640" y="4480560"/>
            <a:ext cx="11064240" cy="731520"/>
          </a:xfrm>
          <a:prstGeom prst="rect">
            <a:avLst/>
          </a:prstGeom>
          <a:noFill/>
        </p:spPr>
        <p:txBody>
          <a:bodyPr wrap="square" lIns="45720" rIns="45720" tIns="27432" bIns="27432" anchor="t">
            <a:spAutoFit/>
          </a:bodyPr>
          <a:lstStyle/>
          <a:p>
            <a:pPr algn="l"/>
            <a:r>
              <a:rPr sz="1300" b="1" i="0">
                <a:solidFill>
                  <a:srgbClr val="1E2761"/>
                </a:solidFill>
                <a:latin typeface="Calibri"/>
              </a:rPr>
              <a:t>Write down: target recall, resulting precision, flags per week, reviewer hours, cases missed per year. F1 hides all of that.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03</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Building the detector</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A lexicon to find the failure modes, then a model that reads context</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7 — NLP in Pharma Commercial: Adverse Events, Field Notes and Social Listening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13 / 37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LEXICON</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Lexicon of 77 lay terms: recall 79%, precision 42%</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14 / 37</a:t>
            </a:r>
          </a:p>
        </p:txBody>
      </p:sp>
      <p:sp>
        <p:nvSpPr>
          <p:cNvPr id="7" name="Rectangle 6"/>
          <p:cNvSpPr/>
          <p:nvPr/>
        </p:nvSpPr>
        <p:spPr>
          <a:xfrm>
            <a:off x="548640" y="1828800"/>
            <a:ext cx="5394960" cy="164592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3852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Method</a:t>
            </a:r>
          </a:p>
        </p:txBody>
      </p:sp>
      <p:sp>
        <p:nvSpPr>
          <p:cNvPr id="9" name="TextBox 8"/>
          <p:cNvSpPr txBox="1"/>
          <p:nvPr/>
        </p:nvSpPr>
        <p:spPr>
          <a:xfrm>
            <a:off x="658368" y="2322576"/>
            <a:ext cx="5166360" cy="1060704"/>
          </a:xfrm>
          <a:prstGeom prst="rect">
            <a:avLst/>
          </a:prstGeom>
          <a:noFill/>
        </p:spPr>
        <p:txBody>
          <a:bodyPr wrap="square" lIns="45720" rIns="45720">
            <a:spAutoFit/>
          </a:bodyPr>
          <a:lstStyle/>
          <a:p>
            <a:pPr>
              <a:spcAft>
                <a:spcPts val="500"/>
              </a:spcAft>
            </a:pPr>
            <a:r>
              <a:rPr sz="1250" b="1">
                <a:solidFill>
                  <a:srgbClr val="FF6B6B"/>
                </a:solidFill>
                <a:latin typeface="Calibri"/>
              </a:rPr>
              <a:t>▸ </a:t>
            </a:r>
            <a:r>
              <a:rPr sz="1250">
                <a:solidFill>
                  <a:srgbClr val="333333"/>
                </a:solidFill>
                <a:latin typeface="Calibri"/>
              </a:rPr>
              <a:t>Flag a note if any lay term appears (nausea, threw up, sugar lows, hospitalized…). Score against the PV reviewer's labels on the reviewed notes.</a:t>
            </a:r>
          </a:p>
        </p:txBody>
      </p:sp>
      <p:sp>
        <p:nvSpPr>
          <p:cNvPr id="10" name="Rectangle 9"/>
          <p:cNvSpPr/>
          <p:nvPr/>
        </p:nvSpPr>
        <p:spPr>
          <a:xfrm>
            <a:off x="6217920" y="1828800"/>
            <a:ext cx="5394960" cy="1645920"/>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93852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What a lexicon cannot tell</a:t>
            </a:r>
          </a:p>
        </p:txBody>
      </p:sp>
      <p:sp>
        <p:nvSpPr>
          <p:cNvPr id="12" name="TextBox 11"/>
          <p:cNvSpPr txBox="1"/>
          <p:nvPr/>
        </p:nvSpPr>
        <p:spPr>
          <a:xfrm>
            <a:off x="6327648" y="2322576"/>
            <a:ext cx="5166360" cy="1060704"/>
          </a:xfrm>
          <a:prstGeom prst="rect">
            <a:avLst/>
          </a:prstGeom>
          <a:noFill/>
        </p:spPr>
        <p:txBody>
          <a:bodyPr wrap="square" lIns="45720" rIns="45720">
            <a:spAutoFit/>
          </a:bodyPr>
          <a:lstStyle/>
          <a:p>
            <a:pPr>
              <a:spcAft>
                <a:spcPts val="500"/>
              </a:spcAft>
            </a:pPr>
            <a:r>
              <a:rPr sz="1250" b="1">
                <a:solidFill>
                  <a:srgbClr val="FF6B6B"/>
                </a:solidFill>
                <a:latin typeface="Calibri"/>
              </a:rPr>
              <a:t>▸ </a:t>
            </a:r>
            <a:r>
              <a:rPr b="1" sz="1250">
                <a:solidFill>
                  <a:srgbClr val="1E2761"/>
                </a:solidFill>
                <a:latin typeface="Calibri"/>
              </a:rPr>
              <a:t>Who: </a:t>
            </a:r>
            <a:r>
              <a:rPr sz="1250">
                <a:solidFill>
                  <a:srgbClr val="333333"/>
                </a:solidFill>
                <a:latin typeface="Calibri"/>
              </a:rPr>
              <a:t>a patient, or the label?</a:t>
            </a:r>
          </a:p>
          <a:p>
            <a:pPr>
              <a:spcAft>
                <a:spcPts val="500"/>
              </a:spcAft>
            </a:pPr>
            <a:r>
              <a:rPr sz="1250" b="1">
                <a:solidFill>
                  <a:srgbClr val="FF6B6B"/>
                </a:solidFill>
                <a:latin typeface="Calibri"/>
              </a:rPr>
              <a:t>▸ </a:t>
            </a:r>
            <a:r>
              <a:rPr b="1" sz="1250">
                <a:solidFill>
                  <a:srgbClr val="1E2761"/>
                </a:solidFill>
                <a:latin typeface="Calibri"/>
              </a:rPr>
              <a:t>Whether: </a:t>
            </a:r>
            <a:r>
              <a:rPr sz="1250">
                <a:solidFill>
                  <a:srgbClr val="333333"/>
                </a:solidFill>
                <a:latin typeface="Calibri"/>
              </a:rPr>
              <a:t>present, denied, hypothetical?</a:t>
            </a:r>
          </a:p>
          <a:p>
            <a:pPr>
              <a:spcAft>
                <a:spcPts val="500"/>
              </a:spcAft>
            </a:pPr>
            <a:r>
              <a:rPr sz="1250" b="1">
                <a:solidFill>
                  <a:srgbClr val="FF6B6B"/>
                </a:solidFill>
                <a:latin typeface="Calibri"/>
              </a:rPr>
              <a:t>▸ </a:t>
            </a:r>
            <a:r>
              <a:rPr b="1" sz="1250">
                <a:solidFill>
                  <a:srgbClr val="1E2761"/>
                </a:solidFill>
                <a:latin typeface="Calibri"/>
              </a:rPr>
              <a:t>Spelling: </a:t>
            </a:r>
            <a:r>
              <a:rPr sz="1250">
                <a:solidFill>
                  <a:srgbClr val="333333"/>
                </a:solidFill>
                <a:latin typeface="Calibri"/>
              </a:rPr>
              <a:t>typos, abbreviations, paraphrase</a:t>
            </a:r>
          </a:p>
        </p:txBody>
      </p:sp>
      <p:sp>
        <p:nvSpPr>
          <p:cNvPr id="13" name="Rectangle 12"/>
          <p:cNvSpPr/>
          <p:nvPr/>
        </p:nvSpPr>
        <p:spPr>
          <a:xfrm>
            <a:off x="548640" y="3611880"/>
            <a:ext cx="5394960" cy="1828800"/>
          </a:xfrm>
          <a:prstGeom prst="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721608"/>
            <a:ext cx="5120640" cy="365760"/>
          </a:xfrm>
          <a:prstGeom prst="rect">
            <a:avLst/>
          </a:prstGeom>
          <a:noFill/>
        </p:spPr>
        <p:txBody>
          <a:bodyPr wrap="square" lIns="45720" rIns="45720" tIns="27432" bIns="27432" anchor="t">
            <a:spAutoFit/>
          </a:bodyPr>
          <a:lstStyle/>
          <a:p>
            <a:pPr algn="l"/>
            <a:r>
              <a:rPr sz="1400" b="1" i="0">
                <a:solidFill>
                  <a:srgbClr val="A11E1E"/>
                </a:solidFill>
                <a:latin typeface="Calibri"/>
              </a:rPr>
              <a:t>False positives: word present, no event</a:t>
            </a:r>
          </a:p>
        </p:txBody>
      </p:sp>
      <p:sp>
        <p:nvSpPr>
          <p:cNvPr id="15" name="TextBox 14"/>
          <p:cNvSpPr txBox="1"/>
          <p:nvPr/>
        </p:nvSpPr>
        <p:spPr>
          <a:xfrm>
            <a:off x="658368" y="4105656"/>
            <a:ext cx="5166360" cy="12435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“no reports of yeast infection”</a:t>
            </a:r>
          </a:p>
          <a:p>
            <a:pPr>
              <a:spcAft>
                <a:spcPts val="500"/>
              </a:spcAft>
            </a:pPr>
            <a:r>
              <a:rPr sz="1150" b="1">
                <a:solidFill>
                  <a:srgbClr val="FF6B6B"/>
                </a:solidFill>
                <a:latin typeface="Calibri"/>
              </a:rPr>
              <a:t>▸ </a:t>
            </a:r>
            <a:r>
              <a:rPr sz="1150">
                <a:solidFill>
                  <a:srgbClr val="333333"/>
                </a:solidFill>
                <a:latin typeface="Calibri"/>
              </a:rPr>
              <a:t>“asked how common hypoglycemia was in the trials”</a:t>
            </a:r>
          </a:p>
          <a:p>
            <a:pPr>
              <a:spcAft>
                <a:spcPts val="500"/>
              </a:spcAft>
            </a:pPr>
            <a:r>
              <a:rPr sz="1150" b="1">
                <a:solidFill>
                  <a:srgbClr val="FF6B6B"/>
                </a:solidFill>
                <a:latin typeface="Calibri"/>
              </a:rPr>
              <a:t>▸ </a:t>
            </a:r>
            <a:r>
              <a:rPr sz="1150">
                <a:solidFill>
                  <a:srgbClr val="333333"/>
                </a:solidFill>
                <a:latin typeface="Calibri"/>
              </a:rPr>
              <a:t>“patient education materials on hypoglycemia awareness”</a:t>
            </a:r>
          </a:p>
        </p:txBody>
      </p:sp>
      <p:sp>
        <p:nvSpPr>
          <p:cNvPr id="16" name="Rectangle 15"/>
          <p:cNvSpPr/>
          <p:nvPr/>
        </p:nvSpPr>
        <p:spPr>
          <a:xfrm>
            <a:off x="6217920" y="3611880"/>
            <a:ext cx="5394960" cy="1828800"/>
          </a:xfrm>
          <a:prstGeom prst="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721608"/>
            <a:ext cx="5120640" cy="365760"/>
          </a:xfrm>
          <a:prstGeom prst="rect">
            <a:avLst/>
          </a:prstGeom>
          <a:noFill/>
        </p:spPr>
        <p:txBody>
          <a:bodyPr wrap="square" lIns="45720" rIns="45720" tIns="27432" bIns="27432" anchor="t">
            <a:spAutoFit/>
          </a:bodyPr>
          <a:lstStyle/>
          <a:p>
            <a:pPr algn="l"/>
            <a:r>
              <a:rPr sz="1400" b="1" i="0">
                <a:solidFill>
                  <a:srgbClr val="A11E1E"/>
                </a:solidFill>
                <a:latin typeface="Calibri"/>
              </a:rPr>
              <a:t>False negatives: event present, word missing</a:t>
            </a:r>
          </a:p>
        </p:txBody>
      </p:sp>
      <p:sp>
        <p:nvSpPr>
          <p:cNvPr id="18" name="TextBox 17"/>
          <p:cNvSpPr txBox="1"/>
          <p:nvPr/>
        </p:nvSpPr>
        <p:spPr>
          <a:xfrm>
            <a:off x="6327648" y="4105656"/>
            <a:ext cx="5166360" cy="12435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“a 38yo male on metformin + SU w/ sugar lows, fyi”</a:t>
            </a:r>
          </a:p>
          <a:p>
            <a:pPr>
              <a:spcAft>
                <a:spcPts val="500"/>
              </a:spcAft>
            </a:pPr>
            <a:r>
              <a:rPr sz="1150" b="1">
                <a:solidFill>
                  <a:srgbClr val="FF6B6B"/>
                </a:solidFill>
                <a:latin typeface="Calibri"/>
              </a:rPr>
              <a:t>▸ </a:t>
            </a:r>
            <a:r>
              <a:rPr sz="1150">
                <a:solidFill>
                  <a:srgbClr val="333333"/>
                </a:solidFill>
                <a:latin typeface="Calibri"/>
              </a:rPr>
              <a:t>“burning when urinating after starting”</a:t>
            </a:r>
          </a:p>
          <a:p>
            <a:pPr>
              <a:spcAft>
                <a:spcPts val="500"/>
              </a:spcAft>
            </a:pPr>
            <a:r>
              <a:rPr sz="1150" b="1">
                <a:solidFill>
                  <a:srgbClr val="FF6B6B"/>
                </a:solidFill>
                <a:latin typeface="Calibri"/>
              </a:rPr>
              <a:t>▸ </a:t>
            </a:r>
            <a:r>
              <a:rPr sz="1150">
                <a:solidFill>
                  <a:srgbClr val="333333"/>
                </a:solidFill>
                <a:latin typeface="Calibri"/>
              </a:rPr>
              <a:t>“N/V”, “GI issues”, “nuasea”</a:t>
            </a:r>
          </a:p>
        </p:txBody>
      </p:sp>
      <p:sp>
        <p:nvSpPr>
          <p:cNvPr id="19" name="TextBox 18"/>
          <p:cNvSpPr txBox="1"/>
          <p:nvPr/>
        </p:nvSpPr>
        <p:spPr>
          <a:xfrm>
            <a:off x="548640" y="5577840"/>
            <a:ext cx="11064240" cy="457200"/>
          </a:xfrm>
          <a:prstGeom prst="rect">
            <a:avLst/>
          </a:prstGeom>
          <a:noFill/>
        </p:spPr>
        <p:txBody>
          <a:bodyPr wrap="square" lIns="45720" rIns="45720" tIns="27432" bIns="27432" anchor="t">
            <a:spAutoFit/>
          </a:bodyPr>
          <a:lstStyle/>
          <a:p>
            <a:pPr algn="l"/>
            <a:r>
              <a:rPr sz="1250" b="1" i="0">
                <a:solidFill>
                  <a:srgbClr val="1E2761"/>
                </a:solidFill>
                <a:latin typeface="Calibri"/>
              </a:rPr>
              <a:t>The lexicon stays as the seriousness and expectedness lookup. It stops being the detector.</a:t>
            </a:r>
          </a:p>
        </p:txBody>
      </p:sp>
      <p:sp>
        <p:nvSpPr>
          <p:cNvPr id="20" name="TextBox 19"/>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Karimi et al. 2015. Numbers: notebook §3, reviewed notes.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LOGISTIC REGRESSION</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TF-IDF + logistic regression: AUC 0.99, average precision 0.94</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15 / 37</a:t>
            </a:r>
          </a:p>
        </p:txBody>
      </p:sp>
      <p:pic>
        <p:nvPicPr>
          <p:cNvPr id="7" name="Picture 6" descr="pr_curve.png"/>
          <p:cNvPicPr>
            <a:picLocks noChangeAspect="1"/>
          </p:cNvPicPr>
          <p:nvPr/>
        </p:nvPicPr>
        <p:blipFill>
          <a:blip r:embed="rId2"/>
          <a:stretch>
            <a:fillRect/>
          </a:stretch>
        </p:blipFill>
        <p:spPr>
          <a:xfrm>
            <a:off x="548640" y="1828800"/>
            <a:ext cx="5577839" cy="3749039"/>
          </a:xfrm>
          <a:prstGeom prst="rect">
            <a:avLst/>
          </a:prstGeom>
        </p:spPr>
      </p:pic>
      <p:sp>
        <p:nvSpPr>
          <p:cNvPr id="8" name="Rectangle 7"/>
          <p:cNvSpPr/>
          <p:nvPr/>
        </p:nvSpPr>
        <p:spPr>
          <a:xfrm>
            <a:off x="6400800" y="1828800"/>
            <a:ext cx="5212080" cy="164592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938528"/>
            <a:ext cx="4937760" cy="365760"/>
          </a:xfrm>
          <a:prstGeom prst="rect">
            <a:avLst/>
          </a:prstGeom>
          <a:noFill/>
        </p:spPr>
        <p:txBody>
          <a:bodyPr wrap="square" lIns="45720" rIns="45720" tIns="27432" bIns="27432" anchor="t">
            <a:spAutoFit/>
          </a:bodyPr>
          <a:lstStyle/>
          <a:p>
            <a:pPr algn="l"/>
            <a:r>
              <a:rPr sz="1400" b="1" i="0">
                <a:solidFill>
                  <a:srgbClr val="1E2761"/>
                </a:solidFill>
                <a:latin typeface="Calibri"/>
              </a:rPr>
              <a:t>Recipe</a:t>
            </a:r>
          </a:p>
        </p:txBody>
      </p:sp>
      <p:sp>
        <p:nvSpPr>
          <p:cNvPr id="10" name="TextBox 9"/>
          <p:cNvSpPr txBox="1"/>
          <p:nvPr/>
        </p:nvSpPr>
        <p:spPr>
          <a:xfrm>
            <a:off x="6510528" y="2322576"/>
            <a:ext cx="4983480" cy="106070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1–2-grams, TF-IDF, L2 logistic regression, class weights. Negation scope: the three words after “no”, “denied” or “without” get a NOT_ prefix, so “no nausea” is a different feature from “nausea”.</a:t>
            </a:r>
          </a:p>
        </p:txBody>
      </p:sp>
      <p:graphicFrame>
        <p:nvGraphicFramePr>
          <p:cNvPr id="11" name="Table 10"/>
          <p:cNvGraphicFramePr>
            <a:graphicFrameLocks noGrp="1"/>
          </p:cNvGraphicFramePr>
          <p:nvPr/>
        </p:nvGraphicFramePr>
        <p:xfrm>
          <a:off x="6400800" y="3657600"/>
          <a:ext cx="5212080" cy="1463040"/>
        </p:xfrm>
        <a:graphic>
          <a:graphicData uri="http://schemas.openxmlformats.org/drawingml/2006/table">
            <a:tbl>
              <a:tblPr firstRow="1" bandRow="1">
                <a:tableStyleId>{5C22544A-7EE6-4342-B048-85BDC9FD1C3A}</a:tableStyleId>
              </a:tblPr>
              <a:tblGrid>
                <a:gridCol w="2286000"/>
                <a:gridCol w="1005840"/>
                <a:gridCol w="914400"/>
                <a:gridCol w="1005840"/>
              </a:tblGrid>
              <a:tr h="365760">
                <a:tc>
                  <a:txBody>
                    <a:bodyPr wrap="square"/>
                    <a:lstStyle/>
                    <a:p>
                      <a:r>
                        <a:rPr sz="1100" b="1">
                          <a:solidFill>
                            <a:srgbClr val="FFFFFF"/>
                          </a:solidFill>
                          <a:latin typeface="Calibri"/>
                        </a:rPr>
                        <a:t/>
                      </a:r>
                    </a:p>
                  </a:txBody>
                  <a:tcPr marL="54864" marR="54864" marT="27432" marB="27432">
                    <a:solidFill>
                      <a:srgbClr val="1E2761"/>
                    </a:solidFill>
                  </a:tcPr>
                </a:tc>
                <a:tc>
                  <a:txBody>
                    <a:bodyPr wrap="square"/>
                    <a:lstStyle/>
                    <a:p>
                      <a:r>
                        <a:rPr sz="1100" b="1">
                          <a:solidFill>
                            <a:srgbClr val="FFFFFF"/>
                          </a:solidFill>
                          <a:latin typeface="Calibri"/>
                        </a:rPr>
                        <a:t>Precision</a:t>
                      </a:r>
                    </a:p>
                  </a:txBody>
                  <a:tcPr marL="54864" marR="54864" marT="27432" marB="27432">
                    <a:solidFill>
                      <a:srgbClr val="1E2761"/>
                    </a:solidFill>
                  </a:tcPr>
                </a:tc>
                <a:tc>
                  <a:txBody>
                    <a:bodyPr wrap="square"/>
                    <a:lstStyle/>
                    <a:p>
                      <a:r>
                        <a:rPr sz="1100" b="1">
                          <a:solidFill>
                            <a:srgbClr val="FFFFFF"/>
                          </a:solidFill>
                          <a:latin typeface="Calibri"/>
                        </a:rPr>
                        <a:t>Recall</a:t>
                      </a:r>
                    </a:p>
                  </a:txBody>
                  <a:tcPr marL="54864" marR="54864" marT="27432" marB="27432">
                    <a:solidFill>
                      <a:srgbClr val="1E2761"/>
                    </a:solidFill>
                  </a:tcPr>
                </a:tc>
                <a:tc>
                  <a:txBody>
                    <a:bodyPr wrap="square"/>
                    <a:lstStyle/>
                    <a:p>
                      <a:r>
                        <a:rPr sz="1100" b="1">
                          <a:solidFill>
                            <a:srgbClr val="FFFFFF"/>
                          </a:solidFill>
                          <a:latin typeface="Calibri"/>
                        </a:rPr>
                        <a:t>Flagged</a:t>
                      </a:r>
                    </a:p>
                  </a:txBody>
                  <a:tcPr marL="54864" marR="54864" marT="27432" marB="27432">
                    <a:solidFill>
                      <a:srgbClr val="1E2761"/>
                    </a:solidFill>
                  </a:tcPr>
                </a:tc>
              </a:tr>
              <a:tr h="365760">
                <a:tc>
                  <a:txBody>
                    <a:bodyPr wrap="square"/>
                    <a:lstStyle/>
                    <a:p>
                      <a:r>
                        <a:rPr sz="1100" b="1">
                          <a:solidFill>
                            <a:srgbClr val="1E2761"/>
                          </a:solidFill>
                          <a:latin typeface="Calibri"/>
                        </a:rPr>
                        <a:t>Lexicon</a:t>
                      </a:r>
                    </a:p>
                  </a:txBody>
                  <a:tcPr marL="54864" marR="54864" marT="27432" marB="27432">
                    <a:solidFill>
                      <a:srgbClr val="FFFFFF"/>
                    </a:solidFill>
                  </a:tcPr>
                </a:tc>
                <a:tc>
                  <a:txBody>
                    <a:bodyPr wrap="square"/>
                    <a:lstStyle/>
                    <a:p>
                      <a:r>
                        <a:rPr sz="1100" b="0">
                          <a:solidFill>
                            <a:srgbClr val="333333"/>
                          </a:solidFill>
                          <a:latin typeface="Calibri"/>
                        </a:rPr>
                        <a:t>42%</a:t>
                      </a:r>
                    </a:p>
                  </a:txBody>
                  <a:tcPr marL="54864" marR="54864" marT="27432" marB="27432">
                    <a:solidFill>
                      <a:srgbClr val="FFFFFF"/>
                    </a:solidFill>
                  </a:tcPr>
                </a:tc>
                <a:tc>
                  <a:txBody>
                    <a:bodyPr wrap="square"/>
                    <a:lstStyle/>
                    <a:p>
                      <a:r>
                        <a:rPr sz="1100" b="0">
                          <a:solidFill>
                            <a:srgbClr val="333333"/>
                          </a:solidFill>
                          <a:latin typeface="Calibri"/>
                        </a:rPr>
                        <a:t>79%</a:t>
                      </a:r>
                    </a:p>
                  </a:txBody>
                  <a:tcPr marL="54864" marR="54864" marT="27432" marB="27432">
                    <a:solidFill>
                      <a:srgbClr val="FFFFFF"/>
                    </a:solidFill>
                  </a:tcPr>
                </a:tc>
                <a:tc>
                  <a:txBody>
                    <a:bodyPr wrap="square"/>
                    <a:lstStyle/>
                    <a:p>
                      <a:r>
                        <a:rPr sz="1100" b="0">
                          <a:solidFill>
                            <a:srgbClr val="333333"/>
                          </a:solidFill>
                          <a:latin typeface="Calibri"/>
                        </a:rPr>
                        <a:t>270</a:t>
                      </a:r>
                    </a:p>
                  </a:txBody>
                  <a:tcPr marL="54864" marR="54864" marT="27432" marB="27432">
                    <a:solidFill>
                      <a:srgbClr val="FFFFFF"/>
                    </a:solidFill>
                  </a:tcPr>
                </a:tc>
              </a:tr>
              <a:tr h="365760">
                <a:tc>
                  <a:txBody>
                    <a:bodyPr wrap="square"/>
                    <a:lstStyle/>
                    <a:p>
                      <a:r>
                        <a:rPr sz="1100" b="1">
                          <a:solidFill>
                            <a:srgbClr val="1E2761"/>
                          </a:solidFill>
                          <a:latin typeface="Calibri"/>
                        </a:rPr>
                        <a:t>LR at 0.50</a:t>
                      </a:r>
                    </a:p>
                  </a:txBody>
                  <a:tcPr marL="54864" marR="54864" marT="27432" marB="27432">
                    <a:solidFill>
                      <a:srgbClr val="F3F6FC"/>
                    </a:solidFill>
                  </a:tcPr>
                </a:tc>
                <a:tc>
                  <a:txBody>
                    <a:bodyPr wrap="square"/>
                    <a:lstStyle/>
                    <a:p>
                      <a:r>
                        <a:rPr sz="1100" b="0">
                          <a:solidFill>
                            <a:srgbClr val="333333"/>
                          </a:solidFill>
                          <a:latin typeface="Calibri"/>
                        </a:rPr>
                        <a:t>94%</a:t>
                      </a:r>
                    </a:p>
                  </a:txBody>
                  <a:tcPr marL="54864" marR="54864" marT="27432" marB="27432">
                    <a:solidFill>
                      <a:srgbClr val="F3F6FC"/>
                    </a:solidFill>
                  </a:tcPr>
                </a:tc>
                <a:tc>
                  <a:txBody>
                    <a:bodyPr wrap="square"/>
                    <a:lstStyle/>
                    <a:p>
                      <a:r>
                        <a:rPr sz="1100" b="0">
                          <a:solidFill>
                            <a:srgbClr val="333333"/>
                          </a:solidFill>
                          <a:latin typeface="Calibri"/>
                        </a:rPr>
                        <a:t>93%</a:t>
                      </a:r>
                    </a:p>
                  </a:txBody>
                  <a:tcPr marL="54864" marR="54864" marT="27432" marB="27432">
                    <a:solidFill>
                      <a:srgbClr val="F3F6FC"/>
                    </a:solidFill>
                  </a:tcPr>
                </a:tc>
                <a:tc>
                  <a:txBody>
                    <a:bodyPr wrap="square"/>
                    <a:lstStyle/>
                    <a:p>
                      <a:r>
                        <a:rPr sz="1100" b="0">
                          <a:solidFill>
                            <a:srgbClr val="333333"/>
                          </a:solidFill>
                          <a:latin typeface="Calibri"/>
                        </a:rPr>
                        <a:t>—</a:t>
                      </a:r>
                    </a:p>
                  </a:txBody>
                  <a:tcPr marL="54864" marR="54864" marT="27432" marB="27432">
                    <a:solidFill>
                      <a:srgbClr val="F3F6FC"/>
                    </a:solidFill>
                  </a:tcPr>
                </a:tc>
              </a:tr>
              <a:tr h="365760">
                <a:tc>
                  <a:txBody>
                    <a:bodyPr wrap="square"/>
                    <a:lstStyle/>
                    <a:p>
                      <a:r>
                        <a:rPr sz="1100" b="1">
                          <a:solidFill>
                            <a:srgbClr val="1E2761"/>
                          </a:solidFill>
                          <a:latin typeface="Calibri"/>
                        </a:rPr>
                        <a:t>LR at 0.47 (recall ≥ 95%)</a:t>
                      </a:r>
                    </a:p>
                  </a:txBody>
                  <a:tcPr marL="54864" marR="54864" marT="27432" marB="27432">
                    <a:solidFill>
                      <a:srgbClr val="FFFFFF"/>
                    </a:solidFill>
                  </a:tcPr>
                </a:tc>
                <a:tc>
                  <a:txBody>
                    <a:bodyPr wrap="square"/>
                    <a:lstStyle/>
                    <a:p>
                      <a:r>
                        <a:rPr sz="1100" b="0">
                          <a:solidFill>
                            <a:srgbClr val="333333"/>
                          </a:solidFill>
                          <a:latin typeface="Calibri"/>
                        </a:rPr>
                        <a:t>95%</a:t>
                      </a:r>
                    </a:p>
                  </a:txBody>
                  <a:tcPr marL="54864" marR="54864" marT="27432" marB="27432">
                    <a:solidFill>
                      <a:srgbClr val="FFFFFF"/>
                    </a:solidFill>
                  </a:tcPr>
                </a:tc>
                <a:tc>
                  <a:txBody>
                    <a:bodyPr wrap="square"/>
                    <a:lstStyle/>
                    <a:p>
                      <a:r>
                        <a:rPr sz="1100" b="0">
                          <a:solidFill>
                            <a:srgbClr val="333333"/>
                          </a:solidFill>
                          <a:latin typeface="Calibri"/>
                        </a:rPr>
                        <a:t>95%</a:t>
                      </a:r>
                    </a:p>
                  </a:txBody>
                  <a:tcPr marL="54864" marR="54864" marT="27432" marB="27432">
                    <a:solidFill>
                      <a:srgbClr val="FFFFFF"/>
                    </a:solidFill>
                  </a:tcPr>
                </a:tc>
                <a:tc>
                  <a:txBody>
                    <a:bodyPr wrap="square"/>
                    <a:lstStyle/>
                    <a:p>
                      <a:r>
                        <a:rPr sz="1100" b="0">
                          <a:solidFill>
                            <a:srgbClr val="333333"/>
                          </a:solidFill>
                          <a:latin typeface="Calibri"/>
                        </a:rPr>
                        <a:t>146</a:t>
                      </a:r>
                    </a:p>
                  </a:txBody>
                  <a:tcPr marL="54864" marR="54864" marT="27432" marB="27432">
                    <a:solidFill>
                      <a:srgbClr val="FFFFFF"/>
                    </a:solidFill>
                  </a:tcPr>
                </a:tc>
              </a:tr>
            </a:tbl>
          </a:graphicData>
        </a:graphic>
      </p:graphicFrame>
      <p:sp>
        <p:nvSpPr>
          <p:cNvPr id="12" name="TextBox 11"/>
          <p:cNvSpPr txBox="1"/>
          <p:nvPr/>
        </p:nvSpPr>
        <p:spPr>
          <a:xfrm>
            <a:off x="6400800" y="5212080"/>
            <a:ext cx="5212080" cy="457200"/>
          </a:xfrm>
          <a:prstGeom prst="rect">
            <a:avLst/>
          </a:prstGeom>
          <a:noFill/>
        </p:spPr>
        <p:txBody>
          <a:bodyPr wrap="square" lIns="45720" rIns="45720" tIns="27432" bIns="27432" anchor="t">
            <a:spAutoFit/>
          </a:bodyPr>
          <a:lstStyle/>
          <a:p>
            <a:pPr algn="l"/>
            <a:r>
              <a:rPr sz="1000" b="0" i="0">
                <a:solidFill>
                  <a:srgbClr val="666666"/>
                </a:solidFill>
                <a:latin typeface="Calibri"/>
              </a:rPr>
              <a:t>Reviewed notes: 1,458, 5-fold CV. On the 2,742 unreviewed notes (instructor truth): recall 96%, precision 94%.</a:t>
            </a:r>
          </a:p>
        </p:txBody>
      </p:sp>
      <p:sp>
        <p:nvSpPr>
          <p:cNvPr id="13" name="TextBox 12"/>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Pang, Lee &amp; Vaithyanathan 2002. Numbers: notebook §4.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THRESHOLD</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The threshold is a business decision</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16 / 37</a:t>
            </a:r>
          </a:p>
        </p:txBody>
      </p:sp>
      <p:graphicFrame>
        <p:nvGraphicFramePr>
          <p:cNvPr id="7" name="Table 6"/>
          <p:cNvGraphicFramePr>
            <a:graphicFrameLocks noGrp="1"/>
          </p:cNvGraphicFramePr>
          <p:nvPr/>
        </p:nvGraphicFramePr>
        <p:xfrm>
          <a:off x="548640" y="1828800"/>
          <a:ext cx="11064240" cy="2633472"/>
        </p:xfrm>
        <a:graphic>
          <a:graphicData uri="http://schemas.openxmlformats.org/drawingml/2006/table">
            <a:tbl>
              <a:tblPr firstRow="1" bandRow="1">
                <a:tableStyleId>{5C22544A-7EE6-4342-B048-85BDC9FD1C3A}</a:tableStyleId>
              </a:tblPr>
              <a:tblGrid>
                <a:gridCol w="1920240"/>
                <a:gridCol w="1463040"/>
                <a:gridCol w="1645920"/>
                <a:gridCol w="1828800"/>
                <a:gridCol w="2377440"/>
                <a:gridCol w="1828800"/>
              </a:tblGrid>
              <a:tr h="438912">
                <a:tc>
                  <a:txBody>
                    <a:bodyPr wrap="square"/>
                    <a:lstStyle/>
                    <a:p>
                      <a:r>
                        <a:rPr sz="1250" b="1">
                          <a:solidFill>
                            <a:srgbClr val="FFFFFF"/>
                          </a:solidFill>
                          <a:latin typeface="Calibri"/>
                        </a:rPr>
                        <a:t>Threshold</a:t>
                      </a:r>
                    </a:p>
                  </a:txBody>
                  <a:tcPr marL="54864" marR="54864" marT="27432" marB="27432">
                    <a:solidFill>
                      <a:srgbClr val="1E2761"/>
                    </a:solidFill>
                  </a:tcPr>
                </a:tc>
                <a:tc>
                  <a:txBody>
                    <a:bodyPr wrap="square"/>
                    <a:lstStyle/>
                    <a:p>
                      <a:r>
                        <a:rPr sz="1250" b="1">
                          <a:solidFill>
                            <a:srgbClr val="FFFFFF"/>
                          </a:solidFill>
                          <a:latin typeface="Calibri"/>
                        </a:rPr>
                        <a:t>Recall</a:t>
                      </a:r>
                    </a:p>
                  </a:txBody>
                  <a:tcPr marL="54864" marR="54864" marT="27432" marB="27432">
                    <a:solidFill>
                      <a:srgbClr val="1E2761"/>
                    </a:solidFill>
                  </a:tcPr>
                </a:tc>
                <a:tc>
                  <a:txBody>
                    <a:bodyPr wrap="square"/>
                    <a:lstStyle/>
                    <a:p>
                      <a:r>
                        <a:rPr sz="1250" b="1">
                          <a:solidFill>
                            <a:srgbClr val="FFFFFF"/>
                          </a:solidFill>
                          <a:latin typeface="Calibri"/>
                        </a:rPr>
                        <a:t>Precision</a:t>
                      </a:r>
                    </a:p>
                  </a:txBody>
                  <a:tcPr marL="54864" marR="54864" marT="27432" marB="27432">
                    <a:solidFill>
                      <a:srgbClr val="1E2761"/>
                    </a:solidFill>
                  </a:tcPr>
                </a:tc>
                <a:tc>
                  <a:txBody>
                    <a:bodyPr wrap="square"/>
                    <a:lstStyle/>
                    <a:p>
                      <a:r>
                        <a:rPr sz="1250" b="1">
                          <a:solidFill>
                            <a:srgbClr val="FFFFFF"/>
                          </a:solidFill>
                          <a:latin typeface="Calibri"/>
                        </a:rPr>
                        <a:t>Flags / week</a:t>
                      </a:r>
                    </a:p>
                  </a:txBody>
                  <a:tcPr marL="54864" marR="54864" marT="27432" marB="27432">
                    <a:solidFill>
                      <a:srgbClr val="1E2761"/>
                    </a:solidFill>
                  </a:tcPr>
                </a:tc>
                <a:tc>
                  <a:txBody>
                    <a:bodyPr wrap="square"/>
                    <a:lstStyle/>
                    <a:p>
                      <a:r>
                        <a:rPr sz="1250" b="1">
                          <a:solidFill>
                            <a:srgbClr val="FFFFFF"/>
                          </a:solidFill>
                          <a:latin typeface="Calibri"/>
                        </a:rPr>
                        <a:t>Reviewer hours / week</a:t>
                      </a:r>
                    </a:p>
                  </a:txBody>
                  <a:tcPr marL="54864" marR="54864" marT="27432" marB="27432">
                    <a:solidFill>
                      <a:srgbClr val="1E2761"/>
                    </a:solidFill>
                  </a:tcPr>
                </a:tc>
                <a:tc>
                  <a:txBody>
                    <a:bodyPr wrap="square"/>
                    <a:lstStyle/>
                    <a:p>
                      <a:r>
                        <a:rPr sz="1250" b="1">
                          <a:solidFill>
                            <a:srgbClr val="FFFFFF"/>
                          </a:solidFill>
                          <a:latin typeface="Calibri"/>
                        </a:rPr>
                        <a:t>AEs missed / year</a:t>
                      </a:r>
                    </a:p>
                  </a:txBody>
                  <a:tcPr marL="54864" marR="54864" marT="27432" marB="27432">
                    <a:solidFill>
                      <a:srgbClr val="1E2761"/>
                    </a:solidFill>
                  </a:tcPr>
                </a:tc>
              </a:tr>
              <a:tr h="438912">
                <a:tc>
                  <a:txBody>
                    <a:bodyPr wrap="square"/>
                    <a:lstStyle/>
                    <a:p>
                      <a:r>
                        <a:rPr sz="1250" b="1">
                          <a:solidFill>
                            <a:srgbClr val="1E2761"/>
                          </a:solidFill>
                          <a:latin typeface="Calibri"/>
                        </a:rPr>
                        <a:t>0.20</a:t>
                      </a:r>
                    </a:p>
                  </a:txBody>
                  <a:tcPr marL="54864" marR="54864" marT="27432" marB="27432">
                    <a:solidFill>
                      <a:srgbClr val="FFFFFF"/>
                    </a:solidFill>
                  </a:tcPr>
                </a:tc>
                <a:tc>
                  <a:txBody>
                    <a:bodyPr wrap="square"/>
                    <a:lstStyle/>
                    <a:p>
                      <a:r>
                        <a:rPr sz="1250" b="0">
                          <a:solidFill>
                            <a:srgbClr val="333333"/>
                          </a:solidFill>
                          <a:latin typeface="Calibri"/>
                        </a:rPr>
                        <a:t>97%</a:t>
                      </a:r>
                    </a:p>
                  </a:txBody>
                  <a:tcPr marL="54864" marR="54864" marT="27432" marB="27432">
                    <a:solidFill>
                      <a:srgbClr val="FFFFFF"/>
                    </a:solidFill>
                  </a:tcPr>
                </a:tc>
                <a:tc>
                  <a:txBody>
                    <a:bodyPr wrap="square"/>
                    <a:lstStyle/>
                    <a:p>
                      <a:r>
                        <a:rPr sz="1250" b="0">
                          <a:solidFill>
                            <a:srgbClr val="333333"/>
                          </a:solidFill>
                          <a:latin typeface="Calibri"/>
                        </a:rPr>
                        <a:t>62%</a:t>
                      </a:r>
                    </a:p>
                  </a:txBody>
                  <a:tcPr marL="54864" marR="54864" marT="27432" marB="27432">
                    <a:solidFill>
                      <a:srgbClr val="FFFFFF"/>
                    </a:solidFill>
                  </a:tcPr>
                </a:tc>
                <a:tc>
                  <a:txBody>
                    <a:bodyPr wrap="square"/>
                    <a:lstStyle/>
                    <a:p>
                      <a:r>
                        <a:rPr sz="1250" b="0">
                          <a:solidFill>
                            <a:srgbClr val="333333"/>
                          </a:solidFill>
                          <a:latin typeface="Calibri"/>
                        </a:rPr>
                        <a:t>13</a:t>
                      </a:r>
                    </a:p>
                  </a:txBody>
                  <a:tcPr marL="54864" marR="54864" marT="27432" marB="27432">
                    <a:solidFill>
                      <a:srgbClr val="FFFFFF"/>
                    </a:solidFill>
                  </a:tcPr>
                </a:tc>
                <a:tc>
                  <a:txBody>
                    <a:bodyPr wrap="square"/>
                    <a:lstStyle/>
                    <a:p>
                      <a:r>
                        <a:rPr sz="1250" b="0">
                          <a:solidFill>
                            <a:srgbClr val="333333"/>
                          </a:solidFill>
                          <a:latin typeface="Calibri"/>
                        </a:rPr>
                        <a:t>1.3</a:t>
                      </a:r>
                    </a:p>
                  </a:txBody>
                  <a:tcPr marL="54864" marR="54864" marT="27432" marB="27432">
                    <a:solidFill>
                      <a:srgbClr val="FFFFFF"/>
                    </a:solidFill>
                  </a:tcPr>
                </a:tc>
                <a:tc>
                  <a:txBody>
                    <a:bodyPr wrap="square"/>
                    <a:lstStyle/>
                    <a:p>
                      <a:r>
                        <a:rPr sz="1250" b="0">
                          <a:solidFill>
                            <a:srgbClr val="333333"/>
                          </a:solidFill>
                          <a:latin typeface="Calibri"/>
                        </a:rPr>
                        <a:t>12</a:t>
                      </a:r>
                    </a:p>
                  </a:txBody>
                  <a:tcPr marL="54864" marR="54864" marT="27432" marB="27432">
                    <a:solidFill>
                      <a:srgbClr val="FFFFFF"/>
                    </a:solidFill>
                  </a:tcPr>
                </a:tc>
              </a:tr>
              <a:tr h="438912">
                <a:tc>
                  <a:txBody>
                    <a:bodyPr wrap="square"/>
                    <a:lstStyle/>
                    <a:p>
                      <a:r>
                        <a:rPr sz="1250" b="1">
                          <a:solidFill>
                            <a:srgbClr val="1E2761"/>
                          </a:solidFill>
                          <a:latin typeface="Calibri"/>
                        </a:rPr>
                        <a:t>0.30</a:t>
                      </a:r>
                    </a:p>
                  </a:txBody>
                  <a:tcPr marL="54864" marR="54864" marT="27432" marB="27432">
                    <a:solidFill>
                      <a:srgbClr val="F3F6FC"/>
                    </a:solidFill>
                  </a:tcPr>
                </a:tc>
                <a:tc>
                  <a:txBody>
                    <a:bodyPr wrap="square"/>
                    <a:lstStyle/>
                    <a:p>
                      <a:r>
                        <a:rPr sz="1250" b="0">
                          <a:solidFill>
                            <a:srgbClr val="333333"/>
                          </a:solidFill>
                          <a:latin typeface="Calibri"/>
                        </a:rPr>
                        <a:t>97%</a:t>
                      </a:r>
                    </a:p>
                  </a:txBody>
                  <a:tcPr marL="54864" marR="54864" marT="27432" marB="27432">
                    <a:solidFill>
                      <a:srgbClr val="F3F6FC"/>
                    </a:solidFill>
                  </a:tcPr>
                </a:tc>
                <a:tc>
                  <a:txBody>
                    <a:bodyPr wrap="square"/>
                    <a:lstStyle/>
                    <a:p>
                      <a:r>
                        <a:rPr sz="1250" b="0">
                          <a:solidFill>
                            <a:srgbClr val="333333"/>
                          </a:solidFill>
                          <a:latin typeface="Calibri"/>
                        </a:rPr>
                        <a:t>80%</a:t>
                      </a:r>
                    </a:p>
                  </a:txBody>
                  <a:tcPr marL="54864" marR="54864" marT="27432" marB="27432">
                    <a:solidFill>
                      <a:srgbClr val="F3F6FC"/>
                    </a:solidFill>
                  </a:tcPr>
                </a:tc>
                <a:tc>
                  <a:txBody>
                    <a:bodyPr wrap="square"/>
                    <a:lstStyle/>
                    <a:p>
                      <a:r>
                        <a:rPr sz="1250" b="0">
                          <a:solidFill>
                            <a:srgbClr val="333333"/>
                          </a:solidFill>
                          <a:latin typeface="Calibri"/>
                        </a:rPr>
                        <a:t>10</a:t>
                      </a:r>
                    </a:p>
                  </a:txBody>
                  <a:tcPr marL="54864" marR="54864" marT="27432" marB="27432">
                    <a:solidFill>
                      <a:srgbClr val="F3F6FC"/>
                    </a:solidFill>
                  </a:tcPr>
                </a:tc>
                <a:tc>
                  <a:txBody>
                    <a:bodyPr wrap="square"/>
                    <a:lstStyle/>
                    <a:p>
                      <a:r>
                        <a:rPr sz="1250" b="0">
                          <a:solidFill>
                            <a:srgbClr val="333333"/>
                          </a:solidFill>
                          <a:latin typeface="Calibri"/>
                        </a:rPr>
                        <a:t>1.0</a:t>
                      </a:r>
                    </a:p>
                  </a:txBody>
                  <a:tcPr marL="54864" marR="54864" marT="27432" marB="27432">
                    <a:solidFill>
                      <a:srgbClr val="F3F6FC"/>
                    </a:solidFill>
                  </a:tcPr>
                </a:tc>
                <a:tc>
                  <a:txBody>
                    <a:bodyPr wrap="square"/>
                    <a:lstStyle/>
                    <a:p>
                      <a:r>
                        <a:rPr sz="1250" b="0">
                          <a:solidFill>
                            <a:srgbClr val="333333"/>
                          </a:solidFill>
                          <a:latin typeface="Calibri"/>
                        </a:rPr>
                        <a:t>14</a:t>
                      </a:r>
                    </a:p>
                  </a:txBody>
                  <a:tcPr marL="54864" marR="54864" marT="27432" marB="27432">
                    <a:solidFill>
                      <a:srgbClr val="F3F6FC"/>
                    </a:solidFill>
                  </a:tcPr>
                </a:tc>
              </a:tr>
              <a:tr h="438912">
                <a:tc>
                  <a:txBody>
                    <a:bodyPr wrap="square"/>
                    <a:lstStyle/>
                    <a:p>
                      <a:r>
                        <a:rPr sz="1250" b="1">
                          <a:solidFill>
                            <a:srgbClr val="1E2761"/>
                          </a:solidFill>
                          <a:latin typeface="Calibri"/>
                        </a:rPr>
                        <a:t>0.47</a:t>
                      </a:r>
                    </a:p>
                  </a:txBody>
                  <a:tcPr marL="54864" marR="54864" marT="27432" marB="27432">
                    <a:solidFill>
                      <a:srgbClr val="FFFFFF"/>
                    </a:solidFill>
                  </a:tcPr>
                </a:tc>
                <a:tc>
                  <a:txBody>
                    <a:bodyPr wrap="square"/>
                    <a:lstStyle/>
                    <a:p>
                      <a:r>
                        <a:rPr sz="1250" b="0">
                          <a:solidFill>
                            <a:srgbClr val="333333"/>
                          </a:solidFill>
                          <a:latin typeface="Calibri"/>
                        </a:rPr>
                        <a:t>95%</a:t>
                      </a:r>
                    </a:p>
                  </a:txBody>
                  <a:tcPr marL="54864" marR="54864" marT="27432" marB="27432">
                    <a:solidFill>
                      <a:srgbClr val="FFFFFF"/>
                    </a:solidFill>
                  </a:tcPr>
                </a:tc>
                <a:tc>
                  <a:txBody>
                    <a:bodyPr wrap="square"/>
                    <a:lstStyle/>
                    <a:p>
                      <a:r>
                        <a:rPr sz="1250" b="0">
                          <a:solidFill>
                            <a:srgbClr val="333333"/>
                          </a:solidFill>
                          <a:latin typeface="Calibri"/>
                        </a:rPr>
                        <a:t>95%</a:t>
                      </a:r>
                    </a:p>
                  </a:txBody>
                  <a:tcPr marL="54864" marR="54864" marT="27432" marB="27432">
                    <a:solidFill>
                      <a:srgbClr val="FFFFFF"/>
                    </a:solidFill>
                  </a:tcPr>
                </a:tc>
                <a:tc>
                  <a:txBody>
                    <a:bodyPr wrap="square"/>
                    <a:lstStyle/>
                    <a:p>
                      <a:r>
                        <a:rPr sz="1250" b="0">
                          <a:solidFill>
                            <a:srgbClr val="333333"/>
                          </a:solidFill>
                          <a:latin typeface="Calibri"/>
                        </a:rPr>
                        <a:t>8</a:t>
                      </a:r>
                    </a:p>
                  </a:txBody>
                  <a:tcPr marL="54864" marR="54864" marT="27432" marB="27432">
                    <a:solidFill>
                      <a:srgbClr val="FFFFFF"/>
                    </a:solidFill>
                  </a:tcPr>
                </a:tc>
                <a:tc>
                  <a:txBody>
                    <a:bodyPr wrap="square"/>
                    <a:lstStyle/>
                    <a:p>
                      <a:r>
                        <a:rPr sz="1250" b="0">
                          <a:solidFill>
                            <a:srgbClr val="333333"/>
                          </a:solidFill>
                          <a:latin typeface="Calibri"/>
                        </a:rPr>
                        <a:t>0.8</a:t>
                      </a:r>
                    </a:p>
                  </a:txBody>
                  <a:tcPr marL="54864" marR="54864" marT="27432" marB="27432">
                    <a:solidFill>
                      <a:srgbClr val="FFFFFF"/>
                    </a:solidFill>
                  </a:tcPr>
                </a:tc>
                <a:tc>
                  <a:txBody>
                    <a:bodyPr wrap="square"/>
                    <a:lstStyle/>
                    <a:p>
                      <a:r>
                        <a:rPr sz="1250" b="0">
                          <a:solidFill>
                            <a:srgbClr val="333333"/>
                          </a:solidFill>
                          <a:latin typeface="Calibri"/>
                        </a:rPr>
                        <a:t>20</a:t>
                      </a:r>
                    </a:p>
                  </a:txBody>
                  <a:tcPr marL="54864" marR="54864" marT="27432" marB="27432">
                    <a:solidFill>
                      <a:srgbClr val="FFFFFF"/>
                    </a:solidFill>
                  </a:tcPr>
                </a:tc>
              </a:tr>
              <a:tr h="438912">
                <a:tc>
                  <a:txBody>
                    <a:bodyPr wrap="square"/>
                    <a:lstStyle/>
                    <a:p>
                      <a:r>
                        <a:rPr sz="1250" b="1">
                          <a:solidFill>
                            <a:srgbClr val="1E2761"/>
                          </a:solidFill>
                          <a:latin typeface="Calibri"/>
                        </a:rPr>
                        <a:t>0.50</a:t>
                      </a:r>
                    </a:p>
                  </a:txBody>
                  <a:tcPr marL="54864" marR="54864" marT="27432" marB="27432">
                    <a:solidFill>
                      <a:srgbClr val="F3F6FC"/>
                    </a:solidFill>
                  </a:tcPr>
                </a:tc>
                <a:tc>
                  <a:txBody>
                    <a:bodyPr wrap="square"/>
                    <a:lstStyle/>
                    <a:p>
                      <a:r>
                        <a:rPr sz="1250" b="0">
                          <a:solidFill>
                            <a:srgbClr val="333333"/>
                          </a:solidFill>
                          <a:latin typeface="Calibri"/>
                        </a:rPr>
                        <a:t>93%</a:t>
                      </a:r>
                    </a:p>
                  </a:txBody>
                  <a:tcPr marL="54864" marR="54864" marT="27432" marB="27432">
                    <a:solidFill>
                      <a:srgbClr val="F3F6FC"/>
                    </a:solidFill>
                  </a:tcPr>
                </a:tc>
                <a:tc>
                  <a:txBody>
                    <a:bodyPr wrap="square"/>
                    <a:lstStyle/>
                    <a:p>
                      <a:r>
                        <a:rPr sz="1250" b="0">
                          <a:solidFill>
                            <a:srgbClr val="333333"/>
                          </a:solidFill>
                          <a:latin typeface="Calibri"/>
                        </a:rPr>
                        <a:t>94%</a:t>
                      </a:r>
                    </a:p>
                  </a:txBody>
                  <a:tcPr marL="54864" marR="54864" marT="27432" marB="27432">
                    <a:solidFill>
                      <a:srgbClr val="F3F6FC"/>
                    </a:solidFill>
                  </a:tcPr>
                </a:tc>
                <a:tc>
                  <a:txBody>
                    <a:bodyPr wrap="square"/>
                    <a:lstStyle/>
                    <a:p>
                      <a:r>
                        <a:rPr sz="1250" b="0">
                          <a:solidFill>
                            <a:srgbClr val="333333"/>
                          </a:solidFill>
                          <a:latin typeface="Calibri"/>
                        </a:rPr>
                        <a:t>8</a:t>
                      </a:r>
                    </a:p>
                  </a:txBody>
                  <a:tcPr marL="54864" marR="54864" marT="27432" marB="27432">
                    <a:solidFill>
                      <a:srgbClr val="F3F6FC"/>
                    </a:solidFill>
                  </a:tcPr>
                </a:tc>
                <a:tc>
                  <a:txBody>
                    <a:bodyPr wrap="square"/>
                    <a:lstStyle/>
                    <a:p>
                      <a:r>
                        <a:rPr sz="1250" b="0">
                          <a:solidFill>
                            <a:srgbClr val="333333"/>
                          </a:solidFill>
                          <a:latin typeface="Calibri"/>
                        </a:rPr>
                        <a:t>0.8</a:t>
                      </a:r>
                    </a:p>
                  </a:txBody>
                  <a:tcPr marL="54864" marR="54864" marT="27432" marB="27432">
                    <a:solidFill>
                      <a:srgbClr val="F3F6FC"/>
                    </a:solidFill>
                  </a:tcPr>
                </a:tc>
                <a:tc>
                  <a:txBody>
                    <a:bodyPr wrap="square"/>
                    <a:lstStyle/>
                    <a:p>
                      <a:r>
                        <a:rPr sz="1250" b="0">
                          <a:solidFill>
                            <a:srgbClr val="333333"/>
                          </a:solidFill>
                          <a:latin typeface="Calibri"/>
                        </a:rPr>
                        <a:t>29</a:t>
                      </a:r>
                    </a:p>
                  </a:txBody>
                  <a:tcPr marL="54864" marR="54864" marT="27432" marB="27432">
                    <a:solidFill>
                      <a:srgbClr val="F3F6FC"/>
                    </a:solidFill>
                  </a:tcPr>
                </a:tc>
              </a:tr>
              <a:tr h="438912">
                <a:tc>
                  <a:txBody>
                    <a:bodyPr wrap="square"/>
                    <a:lstStyle/>
                    <a:p>
                      <a:r>
                        <a:rPr sz="1250" b="1">
                          <a:solidFill>
                            <a:srgbClr val="1E2761"/>
                          </a:solidFill>
                          <a:latin typeface="Calibri"/>
                        </a:rPr>
                        <a:t>0.70</a:t>
                      </a:r>
                    </a:p>
                  </a:txBody>
                  <a:tcPr marL="54864" marR="54864" marT="27432" marB="27432">
                    <a:solidFill>
                      <a:srgbClr val="FFFFFF"/>
                    </a:solidFill>
                  </a:tcPr>
                </a:tc>
                <a:tc>
                  <a:txBody>
                    <a:bodyPr wrap="square"/>
                    <a:lstStyle/>
                    <a:p>
                      <a:r>
                        <a:rPr sz="1250" b="0">
                          <a:solidFill>
                            <a:srgbClr val="333333"/>
                          </a:solidFill>
                          <a:latin typeface="Calibri"/>
                        </a:rPr>
                        <a:t>79%</a:t>
                      </a:r>
                    </a:p>
                  </a:txBody>
                  <a:tcPr marL="54864" marR="54864" marT="27432" marB="27432">
                    <a:solidFill>
                      <a:srgbClr val="FFFFFF"/>
                    </a:solidFill>
                  </a:tcPr>
                </a:tc>
                <a:tc>
                  <a:txBody>
                    <a:bodyPr wrap="square"/>
                    <a:lstStyle/>
                    <a:p>
                      <a:r>
                        <a:rPr sz="1250" b="0">
                          <a:solidFill>
                            <a:srgbClr val="333333"/>
                          </a:solidFill>
                          <a:latin typeface="Calibri"/>
                        </a:rPr>
                        <a:t>95%</a:t>
                      </a:r>
                    </a:p>
                  </a:txBody>
                  <a:tcPr marL="54864" marR="54864" marT="27432" marB="27432">
                    <a:solidFill>
                      <a:srgbClr val="FFFFFF"/>
                    </a:solidFill>
                  </a:tcPr>
                </a:tc>
                <a:tc>
                  <a:txBody>
                    <a:bodyPr wrap="square"/>
                    <a:lstStyle/>
                    <a:p>
                      <a:r>
                        <a:rPr sz="1250" b="0">
                          <a:solidFill>
                            <a:srgbClr val="333333"/>
                          </a:solidFill>
                          <a:latin typeface="Calibri"/>
                        </a:rPr>
                        <a:t>7</a:t>
                      </a:r>
                    </a:p>
                  </a:txBody>
                  <a:tcPr marL="54864" marR="54864" marT="27432" marB="27432">
                    <a:solidFill>
                      <a:srgbClr val="FFFFFF"/>
                    </a:solidFill>
                  </a:tcPr>
                </a:tc>
                <a:tc>
                  <a:txBody>
                    <a:bodyPr wrap="square"/>
                    <a:lstStyle/>
                    <a:p>
                      <a:r>
                        <a:rPr sz="1250" b="0">
                          <a:solidFill>
                            <a:srgbClr val="333333"/>
                          </a:solidFill>
                          <a:latin typeface="Calibri"/>
                        </a:rPr>
                        <a:t>0.7</a:t>
                      </a:r>
                    </a:p>
                  </a:txBody>
                  <a:tcPr marL="54864" marR="54864" marT="27432" marB="27432">
                    <a:solidFill>
                      <a:srgbClr val="FFFFFF"/>
                    </a:solidFill>
                  </a:tcPr>
                </a:tc>
                <a:tc>
                  <a:txBody>
                    <a:bodyPr wrap="square"/>
                    <a:lstStyle/>
                    <a:p>
                      <a:r>
                        <a:rPr sz="1250" b="0">
                          <a:solidFill>
                            <a:srgbClr val="333333"/>
                          </a:solidFill>
                          <a:latin typeface="Calibri"/>
                        </a:rPr>
                        <a:t>89</a:t>
                      </a:r>
                    </a:p>
                  </a:txBody>
                  <a:tcPr marL="54864" marR="54864" marT="27432" marB="27432">
                    <a:solidFill>
                      <a:srgbClr val="FFFFFF"/>
                    </a:solidFill>
                  </a:tcPr>
                </a:tc>
              </a:tr>
            </a:tbl>
          </a:graphicData>
        </a:graphic>
      </p:graphicFrame>
      <p:sp>
        <p:nvSpPr>
          <p:cNvPr id="8" name="TextBox 7"/>
          <p:cNvSpPr txBox="1"/>
          <p:nvPr/>
        </p:nvSpPr>
        <p:spPr>
          <a:xfrm>
            <a:off x="548640" y="4572000"/>
            <a:ext cx="11064240" cy="1280160"/>
          </a:xfrm>
          <a:prstGeom prst="rect">
            <a:avLst/>
          </a:prstGeom>
          <a:noFill/>
        </p:spPr>
        <p:txBody>
          <a:bodyPr wrap="square" lIns="45720" rIns="45720">
            <a:spAutoFit/>
          </a:bodyPr>
          <a:lstStyle/>
          <a:p>
            <a:pPr>
              <a:spcAft>
                <a:spcPts val="600"/>
              </a:spcAft>
            </a:pPr>
            <a:r>
              <a:rPr sz="1250" b="1">
                <a:solidFill>
                  <a:srgbClr val="FF6B6B"/>
                </a:solidFill>
                <a:latin typeface="Calibri"/>
              </a:rPr>
              <a:t>▸ </a:t>
            </a:r>
            <a:r>
              <a:rPr b="1" sz="1250">
                <a:solidFill>
                  <a:srgbClr val="1E2761"/>
                </a:solidFill>
                <a:latin typeface="Calibri"/>
              </a:rPr>
              <a:t>Assumptions: </a:t>
            </a:r>
            <a:r>
              <a:rPr sz="1250">
                <a:solidFill>
                  <a:srgbClr val="333333"/>
                </a:solidFill>
                <a:latin typeface="Calibri"/>
              </a:rPr>
              <a:t>6 minutes per note for a trained reviewer; about 84 notes a week; the reviewed sample represents the stream.</a:t>
            </a:r>
          </a:p>
          <a:p>
            <a:pPr>
              <a:spcAft>
                <a:spcPts val="600"/>
              </a:spcAft>
            </a:pPr>
            <a:r>
              <a:rPr sz="1250" b="1">
                <a:solidFill>
                  <a:srgbClr val="FF6B6B"/>
                </a:solidFill>
                <a:latin typeface="Calibri"/>
              </a:rPr>
              <a:t>▸ </a:t>
            </a:r>
            <a:r>
              <a:rPr b="1" sz="1250">
                <a:solidFill>
                  <a:srgbClr val="1E2761"/>
                </a:solidFill>
                <a:latin typeface="Calibri"/>
              </a:rPr>
              <a:t>Choice: </a:t>
            </a:r>
            <a:r>
              <a:rPr sz="1250">
                <a:solidFill>
                  <a:srgbClr val="333333"/>
                </a:solidFill>
                <a:latin typeface="Calibri"/>
              </a:rPr>
              <a:t>at 95%+ recall the reviewer spends under an hour a week. Trading recall for that hour is not worth it.</a:t>
            </a:r>
          </a:p>
          <a:p>
            <a:pPr>
              <a:spcAft>
                <a:spcPts val="600"/>
              </a:spcAft>
            </a:pPr>
            <a:r>
              <a:rPr sz="1250" b="1">
                <a:solidFill>
                  <a:srgbClr val="FF6B6B"/>
                </a:solidFill>
                <a:latin typeface="Calibri"/>
              </a:rPr>
              <a:t>▸ </a:t>
            </a:r>
            <a:r>
              <a:rPr b="1" sz="1250">
                <a:solidFill>
                  <a:srgbClr val="1E2761"/>
                </a:solidFill>
                <a:latin typeface="Calibri"/>
              </a:rPr>
              <a:t>The cost table goes into the model documentation; </a:t>
            </a:r>
            <a:r>
              <a:rPr sz="1250">
                <a:solidFill>
                  <a:srgbClr val="333333"/>
                </a:solidFill>
                <a:latin typeface="Calibri"/>
              </a:rPr>
              <a:t>it is what an inspector asks for.</a:t>
            </a:r>
          </a:p>
        </p:txBody>
      </p:sp>
      <p:sp>
        <p:nvSpPr>
          <p:cNvPr id="9" name="TextBox 8"/>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Numbers: notebook §4.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PROBES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Five sentences every retrain has to pass</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17 / 37</a:t>
            </a:r>
          </a:p>
        </p:txBody>
      </p:sp>
      <p:graphicFrame>
        <p:nvGraphicFramePr>
          <p:cNvPr id="7" name="Table 6"/>
          <p:cNvGraphicFramePr>
            <a:graphicFrameLocks noGrp="1"/>
          </p:cNvGraphicFramePr>
          <p:nvPr/>
        </p:nvGraphicFramePr>
        <p:xfrm>
          <a:off x="548640" y="1828800"/>
          <a:ext cx="11064240" cy="2852928"/>
        </p:xfrm>
        <a:graphic>
          <a:graphicData uri="http://schemas.openxmlformats.org/drawingml/2006/table">
            <a:tbl>
              <a:tblPr firstRow="1" bandRow="1">
                <a:tableStyleId>{5C22544A-7EE6-4342-B048-85BDC9FD1C3A}</a:tableStyleId>
              </a:tblPr>
              <a:tblGrid>
                <a:gridCol w="6309360"/>
                <a:gridCol w="3291840"/>
                <a:gridCol w="1463040"/>
              </a:tblGrid>
              <a:tr h="475488">
                <a:tc>
                  <a:txBody>
                    <a:bodyPr wrap="square"/>
                    <a:lstStyle/>
                    <a:p>
                      <a:r>
                        <a:rPr sz="1200" b="1">
                          <a:solidFill>
                            <a:srgbClr val="FFFFFF"/>
                          </a:solidFill>
                          <a:latin typeface="Calibri"/>
                        </a:rPr>
                        <a:t>Probe</a:t>
                      </a:r>
                    </a:p>
                  </a:txBody>
                  <a:tcPr marL="54864" marR="54864" marT="27432" marB="27432">
                    <a:solidFill>
                      <a:srgbClr val="1E2761"/>
                    </a:solidFill>
                  </a:tcPr>
                </a:tc>
                <a:tc>
                  <a:txBody>
                    <a:bodyPr wrap="square"/>
                    <a:lstStyle/>
                    <a:p>
                      <a:r>
                        <a:rPr sz="1200" b="1">
                          <a:solidFill>
                            <a:srgbClr val="FFFFFF"/>
                          </a:solidFill>
                          <a:latin typeface="Calibri"/>
                        </a:rPr>
                        <a:t>Tests</a:t>
                      </a:r>
                    </a:p>
                  </a:txBody>
                  <a:tcPr marL="54864" marR="54864" marT="27432" marB="27432">
                    <a:solidFill>
                      <a:srgbClr val="1E2761"/>
                    </a:solidFill>
                  </a:tcPr>
                </a:tc>
                <a:tc>
                  <a:txBody>
                    <a:bodyPr wrap="square"/>
                    <a:lstStyle/>
                    <a:p>
                      <a:r>
                        <a:rPr sz="1200" b="1">
                          <a:solidFill>
                            <a:srgbClr val="FFFFFF"/>
                          </a:solidFill>
                          <a:latin typeface="Calibri"/>
                        </a:rPr>
                        <a:t>p(AE)</a:t>
                      </a:r>
                    </a:p>
                  </a:txBody>
                  <a:tcPr marL="54864" marR="54864" marT="27432" marB="27432">
                    <a:solidFill>
                      <a:srgbClr val="1E2761"/>
                    </a:solidFill>
                  </a:tcPr>
                </a:tc>
              </a:tr>
              <a:tr h="475488">
                <a:tc>
                  <a:txBody>
                    <a:bodyPr wrap="square"/>
                    <a:lstStyle/>
                    <a:p>
                      <a:r>
                        <a:rPr sz="1200" b="1">
                          <a:solidFill>
                            <a:srgbClr val="1E2761"/>
                          </a:solidFill>
                          <a:latin typeface="Calibri"/>
                        </a:rPr>
                        <a:t>Patient developed nausea after starting GLUCOREN and stopped the drug.</a:t>
                      </a:r>
                    </a:p>
                  </a:txBody>
                  <a:tcPr marL="54864" marR="54864" marT="27432" marB="27432">
                    <a:solidFill>
                      <a:srgbClr val="FFFFFF"/>
                    </a:solidFill>
                  </a:tcPr>
                </a:tc>
                <a:tc>
                  <a:txBody>
                    <a:bodyPr wrap="square"/>
                    <a:lstStyle/>
                    <a:p>
                      <a:r>
                        <a:rPr sz="1200" b="0">
                          <a:solidFill>
                            <a:srgbClr val="333333"/>
                          </a:solidFill>
                          <a:latin typeface="Calibri"/>
                        </a:rPr>
                        <a:t>plain positive</a:t>
                      </a:r>
                    </a:p>
                  </a:txBody>
                  <a:tcPr marL="54864" marR="54864" marT="27432" marB="27432">
                    <a:solidFill>
                      <a:srgbClr val="FFFFFF"/>
                    </a:solidFill>
                  </a:tcPr>
                </a:tc>
                <a:tc>
                  <a:txBody>
                    <a:bodyPr wrap="square"/>
                    <a:lstStyle/>
                    <a:p>
                      <a:r>
                        <a:rPr sz="1200" b="0">
                          <a:solidFill>
                            <a:srgbClr val="333333"/>
                          </a:solidFill>
                          <a:latin typeface="Calibri"/>
                        </a:rPr>
                        <a:t>0.94</a:t>
                      </a:r>
                    </a:p>
                  </a:txBody>
                  <a:tcPr marL="54864" marR="54864" marT="27432" marB="27432">
                    <a:solidFill>
                      <a:srgbClr val="FFFFFF"/>
                    </a:solidFill>
                  </a:tcPr>
                </a:tc>
              </a:tr>
              <a:tr h="475488">
                <a:tc>
                  <a:txBody>
                    <a:bodyPr wrap="square"/>
                    <a:lstStyle/>
                    <a:p>
                      <a:r>
                        <a:rPr sz="1200" b="1">
                          <a:solidFill>
                            <a:srgbClr val="1E2761"/>
                          </a:solidFill>
                          <a:latin typeface="Calibri"/>
                        </a:rPr>
                        <a:t>Patient had no nausea after starting GLUCOREN; tolerating well.</a:t>
                      </a:r>
                    </a:p>
                  </a:txBody>
                  <a:tcPr marL="54864" marR="54864" marT="27432" marB="27432">
                    <a:solidFill>
                      <a:srgbClr val="F3F6FC"/>
                    </a:solidFill>
                  </a:tcPr>
                </a:tc>
                <a:tc>
                  <a:txBody>
                    <a:bodyPr wrap="square"/>
                    <a:lstStyle/>
                    <a:p>
                      <a:r>
                        <a:rPr sz="1200" b="0">
                          <a:solidFill>
                            <a:srgbClr val="333333"/>
                          </a:solidFill>
                          <a:latin typeface="Calibri"/>
                        </a:rPr>
                        <a:t>negation</a:t>
                      </a:r>
                    </a:p>
                  </a:txBody>
                  <a:tcPr marL="54864" marR="54864" marT="27432" marB="27432">
                    <a:solidFill>
                      <a:srgbClr val="F3F6FC"/>
                    </a:solidFill>
                  </a:tcPr>
                </a:tc>
                <a:tc>
                  <a:txBody>
                    <a:bodyPr wrap="square"/>
                    <a:lstStyle/>
                    <a:p>
                      <a:r>
                        <a:rPr sz="1200" b="0">
                          <a:solidFill>
                            <a:srgbClr val="333333"/>
                          </a:solidFill>
                          <a:latin typeface="Calibri"/>
                        </a:rPr>
                        <a:t>0.34</a:t>
                      </a:r>
                    </a:p>
                  </a:txBody>
                  <a:tcPr marL="54864" marR="54864" marT="27432" marB="27432">
                    <a:solidFill>
                      <a:srgbClr val="F3F6FC"/>
                    </a:solidFill>
                  </a:tcPr>
                </a:tc>
              </a:tr>
              <a:tr h="475488">
                <a:tc>
                  <a:txBody>
                    <a:bodyPr wrap="square"/>
                    <a:lstStyle/>
                    <a:p>
                      <a:r>
                        <a:rPr sz="1200" b="1">
                          <a:solidFill>
                            <a:srgbClr val="1E2761"/>
                          </a:solidFill>
                          <a:latin typeface="Calibri"/>
                        </a:rPr>
                        <a:t>HCP asked about the nausea rate in the label; no specific patient discussed.</a:t>
                      </a:r>
                    </a:p>
                  </a:txBody>
                  <a:tcPr marL="54864" marR="54864" marT="27432" marB="27432">
                    <a:solidFill>
                      <a:srgbClr val="FFFFFF"/>
                    </a:solidFill>
                  </a:tcPr>
                </a:tc>
                <a:tc>
                  <a:txBody>
                    <a:bodyPr wrap="square"/>
                    <a:lstStyle/>
                    <a:p>
                      <a:r>
                        <a:rPr sz="1200" b="0">
                          <a:solidFill>
                            <a:srgbClr val="333333"/>
                          </a:solidFill>
                          <a:latin typeface="Calibri"/>
                        </a:rPr>
                        <a:t>general statement, no patient</a:t>
                      </a:r>
                    </a:p>
                  </a:txBody>
                  <a:tcPr marL="54864" marR="54864" marT="27432" marB="27432">
                    <a:solidFill>
                      <a:srgbClr val="FFFFFF"/>
                    </a:solidFill>
                  </a:tcPr>
                </a:tc>
                <a:tc>
                  <a:txBody>
                    <a:bodyPr wrap="square"/>
                    <a:lstStyle/>
                    <a:p>
                      <a:r>
                        <a:rPr sz="1200" b="0">
                          <a:solidFill>
                            <a:srgbClr val="333333"/>
                          </a:solidFill>
                          <a:latin typeface="Calibri"/>
                        </a:rPr>
                        <a:t>0.07</a:t>
                      </a:r>
                    </a:p>
                  </a:txBody>
                  <a:tcPr marL="54864" marR="54864" marT="27432" marB="27432">
                    <a:solidFill>
                      <a:srgbClr val="FFFFFF"/>
                    </a:solidFill>
                  </a:tcPr>
                </a:tc>
              </a:tr>
              <a:tr h="475488">
                <a:tc>
                  <a:txBody>
                    <a:bodyPr wrap="square"/>
                    <a:lstStyle/>
                    <a:p>
                      <a:r>
                        <a:rPr sz="1200" b="1">
                          <a:solidFill>
                            <a:srgbClr val="1E2761"/>
                          </a:solidFill>
                          <a:latin typeface="Calibri"/>
                        </a:rPr>
                        <a:t>One of his pts had N/V within 2 wks of starting, dose reduced.</a:t>
                      </a:r>
                    </a:p>
                  </a:txBody>
                  <a:tcPr marL="54864" marR="54864" marT="27432" marB="27432">
                    <a:solidFill>
                      <a:srgbClr val="F3F6FC"/>
                    </a:solidFill>
                  </a:tcPr>
                </a:tc>
                <a:tc>
                  <a:txBody>
                    <a:bodyPr wrap="square"/>
                    <a:lstStyle/>
                    <a:p>
                      <a:r>
                        <a:rPr sz="1200" b="0">
                          <a:solidFill>
                            <a:srgbClr val="333333"/>
                          </a:solidFill>
                          <a:latin typeface="Calibri"/>
                        </a:rPr>
                        <a:t>abbreviations</a:t>
                      </a:r>
                    </a:p>
                  </a:txBody>
                  <a:tcPr marL="54864" marR="54864" marT="27432" marB="27432">
                    <a:solidFill>
                      <a:srgbClr val="F3F6FC"/>
                    </a:solidFill>
                  </a:tcPr>
                </a:tc>
                <a:tc>
                  <a:txBody>
                    <a:bodyPr wrap="square"/>
                    <a:lstStyle/>
                    <a:p>
                      <a:r>
                        <a:rPr sz="1200" b="0">
                          <a:solidFill>
                            <a:srgbClr val="333333"/>
                          </a:solidFill>
                          <a:latin typeface="Calibri"/>
                        </a:rPr>
                        <a:t>0.99</a:t>
                      </a:r>
                    </a:p>
                  </a:txBody>
                  <a:tcPr marL="54864" marR="54864" marT="27432" marB="27432">
                    <a:solidFill>
                      <a:srgbClr val="F3F6FC"/>
                    </a:solidFill>
                  </a:tcPr>
                </a:tc>
              </a:tr>
              <a:tr h="475488">
                <a:tc>
                  <a:txBody>
                    <a:bodyPr wrap="square"/>
                    <a:lstStyle/>
                    <a:p>
                      <a:r>
                        <a:rPr sz="1200" b="1">
                          <a:solidFill>
                            <a:srgbClr val="1E2761"/>
                          </a:solidFill>
                          <a:latin typeface="Calibri"/>
                        </a:rPr>
                        <a:t>A 61 y/o F was hospitalized with pancreatitis three weeks after starting GLUCOREN.</a:t>
                      </a:r>
                    </a:p>
                  </a:txBody>
                  <a:tcPr marL="54864" marR="54864" marT="27432" marB="27432">
                    <a:solidFill>
                      <a:srgbClr val="FFFFFF"/>
                    </a:solidFill>
                  </a:tcPr>
                </a:tc>
                <a:tc>
                  <a:txBody>
                    <a:bodyPr wrap="square"/>
                    <a:lstStyle/>
                    <a:p>
                      <a:r>
                        <a:rPr sz="1200" b="0">
                          <a:solidFill>
                            <a:srgbClr val="333333"/>
                          </a:solidFill>
                          <a:latin typeface="Calibri"/>
                        </a:rPr>
                        <a:t>serious, unexpected event</a:t>
                      </a:r>
                    </a:p>
                  </a:txBody>
                  <a:tcPr marL="54864" marR="54864" marT="27432" marB="27432">
                    <a:solidFill>
                      <a:srgbClr val="FFFFFF"/>
                    </a:solidFill>
                  </a:tcPr>
                </a:tc>
                <a:tc>
                  <a:txBody>
                    <a:bodyPr wrap="square"/>
                    <a:lstStyle/>
                    <a:p>
                      <a:r>
                        <a:rPr sz="1200" b="0">
                          <a:solidFill>
                            <a:srgbClr val="333333"/>
                          </a:solidFill>
                          <a:latin typeface="Calibri"/>
                        </a:rPr>
                        <a:t>0.87</a:t>
                      </a:r>
                    </a:p>
                  </a:txBody>
                  <a:tcPr marL="54864" marR="54864" marT="27432" marB="27432">
                    <a:solidFill>
                      <a:srgbClr val="FFFFFF"/>
                    </a:solidFill>
                  </a:tcPr>
                </a:tc>
              </a:tr>
            </a:tbl>
          </a:graphicData>
        </a:graphic>
      </p:graphicFrame>
      <p:sp>
        <p:nvSpPr>
          <p:cNvPr id="8" name="TextBox 7"/>
          <p:cNvSpPr txBox="1"/>
          <p:nvPr/>
        </p:nvSpPr>
        <p:spPr>
          <a:xfrm>
            <a:off x="548640" y="4846320"/>
            <a:ext cx="11064240" cy="457200"/>
          </a:xfrm>
          <a:prstGeom prst="rect">
            <a:avLst/>
          </a:prstGeom>
          <a:noFill/>
        </p:spPr>
        <p:txBody>
          <a:bodyPr wrap="square" lIns="45720" rIns="45720" tIns="27432" bIns="27432" anchor="t">
            <a:spAutoFit/>
          </a:bodyPr>
          <a:lstStyle/>
          <a:p>
            <a:pPr algn="l"/>
            <a:r>
              <a:rPr sz="1250" b="1" i="0">
                <a:solidFill>
                  <a:srgbClr val="1E2761"/>
                </a:solidFill>
                <a:latin typeface="Calibri"/>
              </a:rPr>
              <a:t>Keep the list in version control and run it on every retrain.</a:t>
            </a:r>
          </a:p>
        </p:txBody>
      </p:sp>
      <p:sp>
        <p:nvSpPr>
          <p:cNvPr id="9" name="TextBox 8"/>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Ribeiro et al., ACL 2020 (CheckList). Numbers: notebook §5e.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04</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Explaining the model</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A safety reviewer acts on the span, not the score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7 — NLP in Pharma Commercial: Adverse Events, Field Notes and Social Listening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18 / 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WHY</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Why explanations are required here</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19 / 37</a:t>
            </a:r>
          </a:p>
        </p:txBody>
      </p:sp>
      <p:sp>
        <p:nvSpPr>
          <p:cNvPr id="7" name="Rectangle 6"/>
          <p:cNvSpPr/>
          <p:nvPr/>
        </p:nvSpPr>
        <p:spPr>
          <a:xfrm>
            <a:off x="548640" y="1828800"/>
            <a:ext cx="5394960" cy="1828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28800"/>
            <a:ext cx="109728" cy="182880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920240"/>
            <a:ext cx="4937760" cy="1325880"/>
          </a:xfrm>
          <a:prstGeom prst="rect">
            <a:avLst/>
          </a:prstGeom>
          <a:noFill/>
        </p:spPr>
        <p:txBody>
          <a:bodyPr wrap="square" lIns="45720" rIns="45720" tIns="27432" bIns="27432" anchor="ctr">
            <a:spAutoFit/>
          </a:bodyPr>
          <a:lstStyle/>
          <a:p>
            <a:pPr algn="l"/>
            <a:r>
              <a:rPr sz="1400" b="0" i="1">
                <a:solidFill>
                  <a:srgbClr val="FFFFFF"/>
                </a:solidFill>
                <a:latin typeface="Calibri"/>
              </a:rPr>
              <a:t>“If you cannot explain how your AI came to a decision, it does not belong in a compliance system.”</a:t>
            </a:r>
          </a:p>
        </p:txBody>
      </p:sp>
      <p:sp>
        <p:nvSpPr>
          <p:cNvPr id="10" name="TextBox 9"/>
          <p:cNvSpPr txBox="1"/>
          <p:nvPr/>
        </p:nvSpPr>
        <p:spPr>
          <a:xfrm>
            <a:off x="822959" y="3246120"/>
            <a:ext cx="4937760" cy="320040"/>
          </a:xfrm>
          <a:prstGeom prst="rect">
            <a:avLst/>
          </a:prstGeom>
          <a:noFill/>
        </p:spPr>
        <p:txBody>
          <a:bodyPr wrap="square" lIns="45720" rIns="45720" tIns="27432" bIns="27432" anchor="t">
            <a:spAutoFit/>
          </a:bodyPr>
          <a:lstStyle/>
          <a:p>
            <a:pPr algn="l"/>
            <a:r>
              <a:rPr sz="1050" b="0" i="0">
                <a:solidFill>
                  <a:srgbClr val="CADCFC"/>
                </a:solidFill>
                <a:latin typeface="Calibri"/>
              </a:rPr>
              <a:t>— IQVIA, Expert Predictions for 2026 (safety and pharmacovigilance)</a:t>
            </a:r>
          </a:p>
        </p:txBody>
      </p:sp>
      <p:sp>
        <p:nvSpPr>
          <p:cNvPr id="11" name="Rectangle 10"/>
          <p:cNvSpPr/>
          <p:nvPr/>
        </p:nvSpPr>
        <p:spPr>
          <a:xfrm>
            <a:off x="6217920" y="1828800"/>
            <a:ext cx="5394960" cy="1828800"/>
          </a:xfrm>
          <a:prstGeom prst="rect">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828800"/>
            <a:ext cx="109728" cy="182880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920240"/>
            <a:ext cx="4937760" cy="1325880"/>
          </a:xfrm>
          <a:prstGeom prst="rect">
            <a:avLst/>
          </a:prstGeom>
          <a:noFill/>
        </p:spPr>
        <p:txBody>
          <a:bodyPr wrap="square" lIns="45720" rIns="45720" tIns="27432" bIns="27432" anchor="ctr">
            <a:spAutoFit/>
          </a:bodyPr>
          <a:lstStyle/>
          <a:p>
            <a:pPr algn="l"/>
            <a:r>
              <a:rPr sz="1400" b="0" i="1">
                <a:solidFill>
                  <a:srgbClr val="FFFFFF"/>
                </a:solidFill>
                <a:latin typeface="Calibri"/>
              </a:rPr>
              <a:t>“The MAH will hold the ultimate responsibility for the AI that is used in their system and will need to document all AI usage information within the PV System Master File.”</a:t>
            </a:r>
          </a:p>
        </p:txBody>
      </p:sp>
      <p:sp>
        <p:nvSpPr>
          <p:cNvPr id="14" name="TextBox 13"/>
          <p:cNvSpPr txBox="1"/>
          <p:nvPr/>
        </p:nvSpPr>
        <p:spPr>
          <a:xfrm>
            <a:off x="6492240" y="3246120"/>
            <a:ext cx="4937760" cy="320040"/>
          </a:xfrm>
          <a:prstGeom prst="rect">
            <a:avLst/>
          </a:prstGeom>
          <a:noFill/>
        </p:spPr>
        <p:txBody>
          <a:bodyPr wrap="square" lIns="45720" rIns="45720" tIns="27432" bIns="27432" anchor="t">
            <a:spAutoFit/>
          </a:bodyPr>
          <a:lstStyle/>
          <a:p>
            <a:pPr algn="l"/>
            <a:r>
              <a:rPr sz="1050" b="0" i="0">
                <a:solidFill>
                  <a:srgbClr val="CADCFC"/>
                </a:solidFill>
                <a:latin typeface="Calibri"/>
              </a:rPr>
              <a:t>— IQVIA, Demanding More from AI Governance in Drug Safety</a:t>
            </a:r>
          </a:p>
        </p:txBody>
      </p:sp>
      <p:graphicFrame>
        <p:nvGraphicFramePr>
          <p:cNvPr id="15" name="Table 14"/>
          <p:cNvGraphicFramePr>
            <a:graphicFrameLocks noGrp="1"/>
          </p:cNvGraphicFramePr>
          <p:nvPr/>
        </p:nvGraphicFramePr>
        <p:xfrm>
          <a:off x="548640" y="3931920"/>
          <a:ext cx="11064240" cy="1975104"/>
        </p:xfrm>
        <a:graphic>
          <a:graphicData uri="http://schemas.openxmlformats.org/drawingml/2006/table">
            <a:tbl>
              <a:tblPr firstRow="1" bandRow="1">
                <a:tableStyleId>{5C22544A-7EE6-4342-B048-85BDC9FD1C3A}</a:tableStyleId>
              </a:tblPr>
              <a:tblGrid>
                <a:gridCol w="3291840"/>
                <a:gridCol w="1645920"/>
                <a:gridCol w="2926080"/>
                <a:gridCol w="3200400"/>
              </a:tblGrid>
              <a:tr h="329184">
                <a:tc>
                  <a:txBody>
                    <a:bodyPr wrap="square"/>
                    <a:lstStyle/>
                    <a:p>
                      <a:r>
                        <a:rPr sz="1050" b="1">
                          <a:solidFill>
                            <a:srgbClr val="FFFFFF"/>
                          </a:solidFill>
                          <a:latin typeface="Calibri"/>
                        </a:rPr>
                        <a:t>Question</a:t>
                      </a:r>
                    </a:p>
                  </a:txBody>
                  <a:tcPr marL="54864" marR="54864" marT="27432" marB="27432">
                    <a:solidFill>
                      <a:srgbClr val="1E2761"/>
                    </a:solidFill>
                  </a:tcPr>
                </a:tc>
                <a:tc>
                  <a:txBody>
                    <a:bodyPr wrap="square"/>
                    <a:lstStyle/>
                    <a:p>
                      <a:r>
                        <a:rPr sz="1050" b="1">
                          <a:solidFill>
                            <a:srgbClr val="FFFFFF"/>
                          </a:solidFill>
                          <a:latin typeface="Calibri"/>
                        </a:rPr>
                        <a:t>Scope</a:t>
                      </a:r>
                    </a:p>
                  </a:txBody>
                  <a:tcPr marL="54864" marR="54864" marT="27432" marB="27432">
                    <a:solidFill>
                      <a:srgbClr val="1E2761"/>
                    </a:solidFill>
                  </a:tcPr>
                </a:tc>
                <a:tc>
                  <a:txBody>
                    <a:bodyPr wrap="square"/>
                    <a:lstStyle/>
                    <a:p>
                      <a:r>
                        <a:rPr sz="1050" b="1">
                          <a:solidFill>
                            <a:srgbClr val="FFFFFF"/>
                          </a:solidFill>
                          <a:latin typeface="Calibri"/>
                        </a:rPr>
                        <a:t>Method</a:t>
                      </a:r>
                    </a:p>
                  </a:txBody>
                  <a:tcPr marL="54864" marR="54864" marT="27432" marB="27432">
                    <a:solidFill>
                      <a:srgbClr val="1E2761"/>
                    </a:solidFill>
                  </a:tcPr>
                </a:tc>
                <a:tc>
                  <a:txBody>
                    <a:bodyPr wrap="square"/>
                    <a:lstStyle/>
                    <a:p>
                      <a:r>
                        <a:rPr sz="1050" b="1">
                          <a:solidFill>
                            <a:srgbClr val="FFFFFF"/>
                          </a:solidFill>
                          <a:latin typeface="Calibri"/>
                        </a:rPr>
                        <a:t>Reference</a:t>
                      </a:r>
                    </a:p>
                  </a:txBody>
                  <a:tcPr marL="54864" marR="54864" marT="27432" marB="27432">
                    <a:solidFill>
                      <a:srgbClr val="1E2761"/>
                    </a:solidFill>
                  </a:tcPr>
                </a:tc>
              </a:tr>
              <a:tr h="329184">
                <a:tc>
                  <a:txBody>
                    <a:bodyPr wrap="square"/>
                    <a:lstStyle/>
                    <a:p>
                      <a:r>
                        <a:rPr sz="1050" b="1">
                          <a:solidFill>
                            <a:srgbClr val="1E2761"/>
                          </a:solidFill>
                          <a:latin typeface="Calibri"/>
                        </a:rPr>
                        <a:t>What does the model think an AE looks like?</a:t>
                      </a:r>
                    </a:p>
                  </a:txBody>
                  <a:tcPr marL="54864" marR="54864" marT="27432" marB="27432">
                    <a:solidFill>
                      <a:srgbClr val="FFFFFF"/>
                    </a:solidFill>
                  </a:tcPr>
                </a:tc>
                <a:tc>
                  <a:txBody>
                    <a:bodyPr wrap="square"/>
                    <a:lstStyle/>
                    <a:p>
                      <a:r>
                        <a:rPr sz="1050" b="0">
                          <a:solidFill>
                            <a:srgbClr val="333333"/>
                          </a:solidFill>
                          <a:latin typeface="Calibri"/>
                        </a:rPr>
                        <a:t>global</a:t>
                      </a:r>
                    </a:p>
                  </a:txBody>
                  <a:tcPr marL="54864" marR="54864" marT="27432" marB="27432">
                    <a:solidFill>
                      <a:srgbClr val="FFFFFF"/>
                    </a:solidFill>
                  </a:tcPr>
                </a:tc>
                <a:tc>
                  <a:txBody>
                    <a:bodyPr wrap="square"/>
                    <a:lstStyle/>
                    <a:p>
                      <a:r>
                        <a:rPr sz="1050" b="0">
                          <a:solidFill>
                            <a:srgbClr val="333333"/>
                          </a:solidFill>
                          <a:latin typeface="Calibri"/>
                        </a:rPr>
                        <a:t>coefficients</a:t>
                      </a:r>
                    </a:p>
                  </a:txBody>
                  <a:tcPr marL="54864" marR="54864" marT="27432" marB="27432">
                    <a:solidFill>
                      <a:srgbClr val="FFFFFF"/>
                    </a:solidFill>
                  </a:tcPr>
                </a:tc>
                <a:tc>
                  <a:txBody>
                    <a:bodyPr wrap="square"/>
                    <a:lstStyle/>
                    <a:p>
                      <a:r>
                        <a:rPr sz="1050" b="0">
                          <a:solidFill>
                            <a:srgbClr val="333333"/>
                          </a:solidFill>
                          <a:latin typeface="Calibri"/>
                        </a:rPr>
                        <a:t>Molnar 2022</a:t>
                      </a:r>
                    </a:p>
                  </a:txBody>
                  <a:tcPr marL="54864" marR="54864" marT="27432" marB="27432">
                    <a:solidFill>
                      <a:srgbClr val="FFFFFF"/>
                    </a:solidFill>
                  </a:tcPr>
                </a:tc>
              </a:tr>
              <a:tr h="329184">
                <a:tc>
                  <a:txBody>
                    <a:bodyPr wrap="square"/>
                    <a:lstStyle/>
                    <a:p>
                      <a:r>
                        <a:rPr sz="1050" b="1">
                          <a:solidFill>
                            <a:srgbClr val="1E2761"/>
                          </a:solidFill>
                          <a:latin typeface="Calibri"/>
                        </a:rPr>
                        <a:t>Why was this note flagged?</a:t>
                      </a:r>
                    </a:p>
                  </a:txBody>
                  <a:tcPr marL="54864" marR="54864" marT="27432" marB="27432">
                    <a:solidFill>
                      <a:srgbClr val="F3F6FC"/>
                    </a:solidFill>
                  </a:tcPr>
                </a:tc>
                <a:tc>
                  <a:txBody>
                    <a:bodyPr wrap="square"/>
                    <a:lstStyle/>
                    <a:p>
                      <a:r>
                        <a:rPr sz="1050" b="0">
                          <a:solidFill>
                            <a:srgbClr val="333333"/>
                          </a:solidFill>
                          <a:latin typeface="Calibri"/>
                        </a:rPr>
                        <a:t>local, exact</a:t>
                      </a:r>
                    </a:p>
                  </a:txBody>
                  <a:tcPr marL="54864" marR="54864" marT="27432" marB="27432">
                    <a:solidFill>
                      <a:srgbClr val="F3F6FC"/>
                    </a:solidFill>
                  </a:tcPr>
                </a:tc>
                <a:tc>
                  <a:txBody>
                    <a:bodyPr wrap="square"/>
                    <a:lstStyle/>
                    <a:p>
                      <a:r>
                        <a:rPr sz="1050" b="0">
                          <a:solidFill>
                            <a:srgbClr val="333333"/>
                          </a:solidFill>
                          <a:latin typeface="Calibri"/>
                        </a:rPr>
                        <a:t>coefficient × TF-IDF weight per word</a:t>
                      </a:r>
                    </a:p>
                  </a:txBody>
                  <a:tcPr marL="54864" marR="54864" marT="27432" marB="27432">
                    <a:solidFill>
                      <a:srgbClr val="F3F6FC"/>
                    </a:solidFill>
                  </a:tcPr>
                </a:tc>
                <a:tc>
                  <a:txBody>
                    <a:bodyPr wrap="square"/>
                    <a:lstStyle/>
                    <a:p>
                      <a:r>
                        <a:rPr sz="1050" b="0">
                          <a:solidFill>
                            <a:srgbClr val="333333"/>
                          </a:solidFill>
                          <a:latin typeface="Calibri"/>
                        </a:rPr>
                        <a:t>—</a:t>
                      </a:r>
                    </a:p>
                  </a:txBody>
                  <a:tcPr marL="54864" marR="54864" marT="27432" marB="27432">
                    <a:solidFill>
                      <a:srgbClr val="F3F6FC"/>
                    </a:solidFill>
                  </a:tcPr>
                </a:tc>
              </a:tr>
              <a:tr h="329184">
                <a:tc>
                  <a:txBody>
                    <a:bodyPr wrap="square"/>
                    <a:lstStyle/>
                    <a:p>
                      <a:r>
                        <a:rPr sz="1050" b="1">
                          <a:solidFill>
                            <a:srgbClr val="1E2761"/>
                          </a:solidFill>
                          <a:latin typeface="Calibri"/>
                        </a:rPr>
                        <a:t>Same, for a black box</a:t>
                      </a:r>
                    </a:p>
                  </a:txBody>
                  <a:tcPr marL="54864" marR="54864" marT="27432" marB="27432">
                    <a:solidFill>
                      <a:srgbClr val="FFFFFF"/>
                    </a:solidFill>
                  </a:tcPr>
                </a:tc>
                <a:tc>
                  <a:txBody>
                    <a:bodyPr wrap="square"/>
                    <a:lstStyle/>
                    <a:p>
                      <a:r>
                        <a:rPr sz="1050" b="0">
                          <a:solidFill>
                            <a:srgbClr val="333333"/>
                          </a:solidFill>
                          <a:latin typeface="Calibri"/>
                        </a:rPr>
                        <a:t>local, model-agnostic</a:t>
                      </a:r>
                    </a:p>
                  </a:txBody>
                  <a:tcPr marL="54864" marR="54864" marT="27432" marB="27432">
                    <a:solidFill>
                      <a:srgbClr val="FFFFFF"/>
                    </a:solidFill>
                  </a:tcPr>
                </a:tc>
                <a:tc>
                  <a:txBody>
                    <a:bodyPr wrap="square"/>
                    <a:lstStyle/>
                    <a:p>
                      <a:r>
                        <a:rPr sz="1050" b="0">
                          <a:solidFill>
                            <a:srgbClr val="333333"/>
                          </a:solidFill>
                          <a:latin typeface="Calibri"/>
                        </a:rPr>
                        <a:t>LIME</a:t>
                      </a:r>
                    </a:p>
                  </a:txBody>
                  <a:tcPr marL="54864" marR="54864" marT="27432" marB="27432">
                    <a:solidFill>
                      <a:srgbClr val="FFFFFF"/>
                    </a:solidFill>
                  </a:tcPr>
                </a:tc>
                <a:tc>
                  <a:txBody>
                    <a:bodyPr wrap="square"/>
                    <a:lstStyle/>
                    <a:p>
                      <a:r>
                        <a:rPr sz="1050" b="0">
                          <a:solidFill>
                            <a:srgbClr val="333333"/>
                          </a:solidFill>
                          <a:latin typeface="Calibri"/>
                        </a:rPr>
                        <a:t>Ribeiro et al. 2016</a:t>
                      </a:r>
                    </a:p>
                  </a:txBody>
                  <a:tcPr marL="54864" marR="54864" marT="27432" marB="27432">
                    <a:solidFill>
                      <a:srgbClr val="FFFFFF"/>
                    </a:solidFill>
                  </a:tcPr>
                </a:tc>
              </a:tr>
              <a:tr h="329184">
                <a:tc>
                  <a:txBody>
                    <a:bodyPr wrap="square"/>
                    <a:lstStyle/>
                    <a:p>
                      <a:r>
                        <a:rPr sz="1050" b="1">
                          <a:solidFill>
                            <a:srgbClr val="1E2761"/>
                          </a:solidFill>
                          <a:latin typeface="Calibri"/>
                        </a:rPr>
                        <a:t>Same, with consistent credit</a:t>
                      </a:r>
                    </a:p>
                  </a:txBody>
                  <a:tcPr marL="54864" marR="54864" marT="27432" marB="27432">
                    <a:solidFill>
                      <a:srgbClr val="F3F6FC"/>
                    </a:solidFill>
                  </a:tcPr>
                </a:tc>
                <a:tc>
                  <a:txBody>
                    <a:bodyPr wrap="square"/>
                    <a:lstStyle/>
                    <a:p>
                      <a:r>
                        <a:rPr sz="1050" b="0">
                          <a:solidFill>
                            <a:srgbClr val="333333"/>
                          </a:solidFill>
                          <a:latin typeface="Calibri"/>
                        </a:rPr>
                        <a:t>local and global</a:t>
                      </a:r>
                    </a:p>
                  </a:txBody>
                  <a:tcPr marL="54864" marR="54864" marT="27432" marB="27432">
                    <a:solidFill>
                      <a:srgbClr val="F3F6FC"/>
                    </a:solidFill>
                  </a:tcPr>
                </a:tc>
                <a:tc>
                  <a:txBody>
                    <a:bodyPr wrap="square"/>
                    <a:lstStyle/>
                    <a:p>
                      <a:r>
                        <a:rPr sz="1050" b="0">
                          <a:solidFill>
                            <a:srgbClr val="333333"/>
                          </a:solidFill>
                          <a:latin typeface="Calibri"/>
                        </a:rPr>
                        <a:t>SHAP</a:t>
                      </a:r>
                    </a:p>
                  </a:txBody>
                  <a:tcPr marL="54864" marR="54864" marT="27432" marB="27432">
                    <a:solidFill>
                      <a:srgbClr val="F3F6FC"/>
                    </a:solidFill>
                  </a:tcPr>
                </a:tc>
                <a:tc>
                  <a:txBody>
                    <a:bodyPr wrap="square"/>
                    <a:lstStyle/>
                    <a:p>
                      <a:r>
                        <a:rPr sz="1050" b="0">
                          <a:solidFill>
                            <a:srgbClr val="333333"/>
                          </a:solidFill>
                          <a:latin typeface="Calibri"/>
                        </a:rPr>
                        <a:t>Lundberg &amp; Lee 2017</a:t>
                      </a:r>
                    </a:p>
                  </a:txBody>
                  <a:tcPr marL="54864" marR="54864" marT="27432" marB="27432">
                    <a:solidFill>
                      <a:srgbClr val="F3F6FC"/>
                    </a:solidFill>
                  </a:tcPr>
                </a:tc>
              </a:tr>
              <a:tr h="329184">
                <a:tc>
                  <a:txBody>
                    <a:bodyPr wrap="square"/>
                    <a:lstStyle/>
                    <a:p>
                      <a:r>
                        <a:rPr sz="1050" b="1">
                          <a:solidFill>
                            <a:srgbClr val="1E2761"/>
                          </a:solidFill>
                          <a:latin typeface="Calibri"/>
                        </a:rPr>
                        <a:t>Which tokens, for a transformer?</a:t>
                      </a:r>
                    </a:p>
                  </a:txBody>
                  <a:tcPr marL="54864" marR="54864" marT="27432" marB="27432">
                    <a:solidFill>
                      <a:srgbClr val="FFFFFF"/>
                    </a:solidFill>
                  </a:tcPr>
                </a:tc>
                <a:tc>
                  <a:txBody>
                    <a:bodyPr wrap="square"/>
                    <a:lstStyle/>
                    <a:p>
                      <a:r>
                        <a:rPr sz="1050" b="0">
                          <a:solidFill>
                            <a:srgbClr val="333333"/>
                          </a:solidFill>
                          <a:latin typeface="Calibri"/>
                        </a:rPr>
                        <a:t>local</a:t>
                      </a:r>
                    </a:p>
                  </a:txBody>
                  <a:tcPr marL="54864" marR="54864" marT="27432" marB="27432">
                    <a:solidFill>
                      <a:srgbClr val="FFFFFF"/>
                    </a:solidFill>
                  </a:tcPr>
                </a:tc>
                <a:tc>
                  <a:txBody>
                    <a:bodyPr wrap="square"/>
                    <a:lstStyle/>
                    <a:p>
                      <a:r>
                        <a:rPr sz="1050" b="0">
                          <a:solidFill>
                            <a:srgbClr val="333333"/>
                          </a:solidFill>
                          <a:latin typeface="Calibri"/>
                        </a:rPr>
                        <a:t>Integrated Gradients</a:t>
                      </a:r>
                    </a:p>
                  </a:txBody>
                  <a:tcPr marL="54864" marR="54864" marT="27432" marB="27432">
                    <a:solidFill>
                      <a:srgbClr val="FFFFFF"/>
                    </a:solidFill>
                  </a:tcPr>
                </a:tc>
                <a:tc>
                  <a:txBody>
                    <a:bodyPr wrap="square"/>
                    <a:lstStyle/>
                    <a:p>
                      <a:r>
                        <a:rPr sz="1050" b="0">
                          <a:solidFill>
                            <a:srgbClr val="333333"/>
                          </a:solidFill>
                          <a:latin typeface="Calibri"/>
                        </a:rPr>
                        <a:t>Sundararajan et al. 2017; Jain &amp; Wallace 2019</a:t>
                      </a:r>
                    </a:p>
                  </a:txBody>
                  <a:tcPr marL="54864" marR="54864" marT="27432" marB="27432">
                    <a:solidFill>
                      <a:srgbClr val="FFFFFF"/>
                    </a:solidFill>
                  </a:tcPr>
                </a:tc>
              </a:tr>
            </a:tbl>
          </a:graphicData>
        </a:graphic>
      </p:graphicFrame>
      <p:sp>
        <p:nvSpPr>
          <p:cNvPr id="16" name="TextBox 15"/>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IQVIA 2025 (both papers); Rudin 2019 on preferring interpretable models for high-stakes decisions.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GLOBAL</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What the model learned</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20 / 37</a:t>
            </a:r>
          </a:p>
        </p:txBody>
      </p:sp>
      <p:pic>
        <p:nvPicPr>
          <p:cNvPr id="7" name="Picture 6" descr="coefficients.png"/>
          <p:cNvPicPr>
            <a:picLocks noChangeAspect="1"/>
          </p:cNvPicPr>
          <p:nvPr/>
        </p:nvPicPr>
        <p:blipFill>
          <a:blip r:embed="rId2"/>
          <a:stretch>
            <a:fillRect/>
          </a:stretch>
        </p:blipFill>
        <p:spPr>
          <a:xfrm>
            <a:off x="548640" y="1828800"/>
            <a:ext cx="7863840" cy="2957958"/>
          </a:xfrm>
          <a:prstGeom prst="rect">
            <a:avLst/>
          </a:prstGeom>
        </p:spPr>
      </p:pic>
      <p:sp>
        <p:nvSpPr>
          <p:cNvPr id="8" name="Rectangle 7"/>
          <p:cNvSpPr/>
          <p:nvPr/>
        </p:nvSpPr>
        <p:spPr>
          <a:xfrm>
            <a:off x="8686800" y="1828800"/>
            <a:ext cx="2926080" cy="35661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1938528"/>
            <a:ext cx="2651760" cy="365760"/>
          </a:xfrm>
          <a:prstGeom prst="rect">
            <a:avLst/>
          </a:prstGeom>
          <a:noFill/>
        </p:spPr>
        <p:txBody>
          <a:bodyPr wrap="square" lIns="45720" rIns="45720" tIns="27432" bIns="27432" anchor="t">
            <a:spAutoFit/>
          </a:bodyPr>
          <a:lstStyle/>
          <a:p>
            <a:pPr algn="l"/>
            <a:r>
              <a:rPr sz="1400" b="1" i="0">
                <a:solidFill>
                  <a:srgbClr val="1E2761"/>
                </a:solidFill>
                <a:latin typeface="Calibri"/>
              </a:rPr>
              <a:t>Reading it</a:t>
            </a:r>
          </a:p>
        </p:txBody>
      </p:sp>
      <p:sp>
        <p:nvSpPr>
          <p:cNvPr id="10" name="TextBox 9"/>
          <p:cNvSpPr txBox="1"/>
          <p:nvPr/>
        </p:nvSpPr>
        <p:spPr>
          <a:xfrm>
            <a:off x="8796528" y="2322576"/>
            <a:ext cx="2697480" cy="2980944"/>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Toward AE: event words and case words (“hcp noted”, “noted”, “female”, “starting”).</a:t>
            </a:r>
          </a:p>
          <a:p>
            <a:pPr>
              <a:spcAft>
                <a:spcPts val="500"/>
              </a:spcAft>
            </a:pPr>
            <a:r>
              <a:rPr sz="1100" b="1">
                <a:solidFill>
                  <a:srgbClr val="FF6B6B"/>
                </a:solidFill>
                <a:latin typeface="Calibri"/>
              </a:rPr>
              <a:t>▸ </a:t>
            </a:r>
            <a:r>
              <a:rPr sz="1100">
                <a:solidFill>
                  <a:srgbClr val="333333"/>
                </a:solidFill>
                <a:latin typeface="Calibri"/>
              </a:rPr>
              <a:t>Away: negation and generality (“cardivex”, “hcp says”, “about”, “says”).</a:t>
            </a:r>
          </a:p>
          <a:p>
            <a:pPr>
              <a:spcAft>
                <a:spcPts val="500"/>
              </a:spcAft>
            </a:pPr>
            <a:r>
              <a:rPr sz="1100" b="1">
                <a:solidFill>
                  <a:srgbClr val="FF6B6B"/>
                </a:solidFill>
                <a:latin typeface="Calibri"/>
              </a:rPr>
              <a:t>▸ </a:t>
            </a:r>
            <a:r>
              <a:rPr sz="1100">
                <a:solidFill>
                  <a:srgbClr val="333333"/>
                </a:solidFill>
                <a:latin typeface="Calibri"/>
              </a:rPr>
              <a:t>A payer, a region or a rep's habit in these panels is a shortcut to remove.</a:t>
            </a:r>
          </a:p>
        </p:txBody>
      </p:sp>
      <p:sp>
        <p:nvSpPr>
          <p:cNvPr id="11" name="TextBox 10"/>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Notebook §5a; pure function words hidden from the chart, kept in the model.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LOCAL</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Why this note was flagged</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21 / 37</a:t>
            </a:r>
          </a:p>
        </p:txBody>
      </p:sp>
      <p:sp>
        <p:nvSpPr>
          <p:cNvPr id="7" name="Rectangle 6"/>
          <p:cNvSpPr/>
          <p:nvPr/>
        </p:nvSpPr>
        <p:spPr>
          <a:xfrm>
            <a:off x="548640" y="1828800"/>
            <a:ext cx="11064240" cy="12344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74519"/>
            <a:ext cx="10789920" cy="274320"/>
          </a:xfrm>
          <a:prstGeom prst="rect">
            <a:avLst/>
          </a:prstGeom>
          <a:noFill/>
        </p:spPr>
        <p:txBody>
          <a:bodyPr wrap="square" lIns="45720" rIns="45720" tIns="27432" bIns="27432" anchor="t">
            <a:spAutoFit/>
          </a:bodyPr>
          <a:lstStyle/>
          <a:p>
            <a:pPr algn="l"/>
            <a:r>
              <a:rPr sz="1000" b="0" i="0">
                <a:solidFill>
                  <a:srgbClr val="666666"/>
                </a:solidFill>
                <a:latin typeface="Calibri"/>
              </a:rPr>
              <a:t>N01992 · p(AE) = 0.97 · flagged = 1 · lexicon = 1</a:t>
            </a:r>
          </a:p>
        </p:txBody>
      </p:sp>
      <p:sp>
        <p:nvSpPr>
          <p:cNvPr id="9" name="TextBox 8"/>
          <p:cNvSpPr txBox="1"/>
          <p:nvPr/>
        </p:nvSpPr>
        <p:spPr>
          <a:xfrm>
            <a:off x="685800" y="2148840"/>
            <a:ext cx="10789920" cy="868680"/>
          </a:xfrm>
          <a:prstGeom prst="rect">
            <a:avLst/>
          </a:prstGeom>
          <a:noFill/>
        </p:spPr>
        <p:txBody>
          <a:bodyPr wrap="square">
            <a:spAutoFit/>
          </a:bodyPr>
          <a:lstStyle/>
          <a:p>
            <a:r>
              <a:rPr sz="1400">
                <a:solidFill>
                  <a:srgbClr val="333333"/>
                </a:solidFill>
                <a:latin typeface="Calibri"/>
              </a:rPr>
              <a:t>Dr. </a:t>
            </a:r>
            <a:r>
              <a:rPr sz="1400" b="1">
                <a:solidFill>
                  <a:srgbClr val="A11E1E"/>
                </a:solidFill>
                <a:latin typeface="Calibri"/>
              </a:rPr>
              <a:t>reports </a:t>
            </a:r>
            <a:r>
              <a:rPr sz="1400">
                <a:solidFill>
                  <a:srgbClr val="333333"/>
                </a:solidFill>
                <a:latin typeface="Calibri"/>
              </a:rPr>
              <a:t>Express </a:t>
            </a:r>
            <a:r>
              <a:rPr sz="1400">
                <a:solidFill>
                  <a:srgbClr val="333333"/>
                </a:solidFill>
                <a:latin typeface="Calibri"/>
              </a:rPr>
              <a:t>Scripts </a:t>
            </a:r>
            <a:r>
              <a:rPr sz="1400">
                <a:solidFill>
                  <a:srgbClr val="333333"/>
                </a:solidFill>
                <a:latin typeface="Calibri"/>
              </a:rPr>
              <a:t>is </a:t>
            </a:r>
            <a:r>
              <a:rPr sz="1400">
                <a:solidFill>
                  <a:srgbClr val="333333"/>
                </a:solidFill>
                <a:latin typeface="Calibri"/>
              </a:rPr>
              <a:t>requiring </a:t>
            </a:r>
            <a:r>
              <a:rPr sz="1400">
                <a:solidFill>
                  <a:srgbClr val="333333"/>
                </a:solidFill>
                <a:latin typeface="Calibri"/>
              </a:rPr>
              <a:t>prior </a:t>
            </a:r>
            <a:r>
              <a:rPr sz="1400">
                <a:solidFill>
                  <a:srgbClr val="333333"/>
                </a:solidFill>
                <a:latin typeface="Calibri"/>
              </a:rPr>
              <a:t>authorization </a:t>
            </a:r>
            <a:r>
              <a:rPr sz="1400">
                <a:solidFill>
                  <a:srgbClr val="333333"/>
                </a:solidFill>
                <a:latin typeface="Calibri"/>
              </a:rPr>
              <a:t>for </a:t>
            </a:r>
            <a:r>
              <a:rPr sz="1400">
                <a:solidFill>
                  <a:srgbClr val="333333"/>
                </a:solidFill>
                <a:latin typeface="Calibri"/>
              </a:rPr>
              <a:t>GLUCOREN; </a:t>
            </a:r>
            <a:r>
              <a:rPr sz="1400">
                <a:solidFill>
                  <a:srgbClr val="333333"/>
                </a:solidFill>
                <a:latin typeface="Calibri"/>
              </a:rPr>
              <a:t>two </a:t>
            </a:r>
            <a:r>
              <a:rPr sz="1400" b="1">
                <a:solidFill>
                  <a:srgbClr val="A11E1E"/>
                </a:solidFill>
                <a:latin typeface="Calibri"/>
              </a:rPr>
              <a:t>pts </a:t>
            </a:r>
            <a:r>
              <a:rPr sz="1400">
                <a:solidFill>
                  <a:srgbClr val="333333"/>
                </a:solidFill>
                <a:latin typeface="Calibri"/>
              </a:rPr>
              <a:t>waiting </a:t>
            </a:r>
            <a:r>
              <a:rPr sz="1400">
                <a:solidFill>
                  <a:srgbClr val="333333"/>
                </a:solidFill>
                <a:latin typeface="Calibri"/>
              </a:rPr>
              <a:t>over </a:t>
            </a:r>
            <a:r>
              <a:rPr sz="1400">
                <a:solidFill>
                  <a:srgbClr val="333333"/>
                </a:solidFill>
                <a:latin typeface="Calibri"/>
              </a:rPr>
              <a:t>a </a:t>
            </a:r>
            <a:r>
              <a:rPr sz="1400">
                <a:solidFill>
                  <a:srgbClr val="333333"/>
                </a:solidFill>
                <a:latin typeface="Calibri"/>
              </a:rPr>
              <a:t>week. </a:t>
            </a:r>
            <a:r>
              <a:rPr sz="1400">
                <a:solidFill>
                  <a:srgbClr val="333333"/>
                </a:solidFill>
                <a:latin typeface="Calibri"/>
              </a:rPr>
              <a:t>Left </a:t>
            </a:r>
            <a:r>
              <a:rPr sz="1400">
                <a:solidFill>
                  <a:srgbClr val="333333"/>
                </a:solidFill>
                <a:latin typeface="Calibri"/>
              </a:rPr>
              <a:t>PA </a:t>
            </a:r>
            <a:r>
              <a:rPr sz="1400">
                <a:solidFill>
                  <a:srgbClr val="333333"/>
                </a:solidFill>
                <a:latin typeface="Calibri"/>
              </a:rPr>
              <a:t>form </a:t>
            </a:r>
            <a:r>
              <a:rPr sz="1400">
                <a:solidFill>
                  <a:srgbClr val="333333"/>
                </a:solidFill>
                <a:latin typeface="Calibri"/>
              </a:rPr>
              <a:t>and </a:t>
            </a:r>
            <a:r>
              <a:rPr sz="1400">
                <a:solidFill>
                  <a:srgbClr val="333333"/>
                </a:solidFill>
                <a:latin typeface="Calibri"/>
              </a:rPr>
              <a:t>hub </a:t>
            </a:r>
            <a:r>
              <a:rPr sz="1400">
                <a:solidFill>
                  <a:srgbClr val="333333"/>
                </a:solidFill>
                <a:latin typeface="Calibri"/>
              </a:rPr>
              <a:t>phone </a:t>
            </a:r>
            <a:r>
              <a:rPr sz="1400">
                <a:solidFill>
                  <a:srgbClr val="333333"/>
                </a:solidFill>
                <a:latin typeface="Calibri"/>
              </a:rPr>
              <a:t>number. </a:t>
            </a:r>
            <a:r>
              <a:rPr sz="1400" b="1">
                <a:solidFill>
                  <a:srgbClr val="A11E1E"/>
                </a:solidFill>
                <a:latin typeface="Calibri"/>
              </a:rPr>
              <a:t>Also </a:t>
            </a:r>
            <a:r>
              <a:rPr sz="1400">
                <a:solidFill>
                  <a:srgbClr val="333333"/>
                </a:solidFill>
                <a:latin typeface="Calibri"/>
              </a:rPr>
              <a:t>metnioned </a:t>
            </a:r>
            <a:r>
              <a:rPr sz="1400" b="1">
                <a:solidFill>
                  <a:srgbClr val="A11E1E"/>
                </a:solidFill>
                <a:latin typeface="Calibri"/>
              </a:rPr>
              <a:t>one </a:t>
            </a:r>
            <a:r>
              <a:rPr sz="1400" b="1">
                <a:solidFill>
                  <a:srgbClr val="A11E1E"/>
                </a:solidFill>
                <a:latin typeface="Calibri"/>
              </a:rPr>
              <a:t>of </a:t>
            </a:r>
            <a:r>
              <a:rPr sz="1400" b="1">
                <a:solidFill>
                  <a:srgbClr val="A11E1E"/>
                </a:solidFill>
                <a:latin typeface="Calibri"/>
              </a:rPr>
              <a:t>her </a:t>
            </a:r>
            <a:r>
              <a:rPr sz="1400" b="1">
                <a:solidFill>
                  <a:srgbClr val="A11E1E"/>
                </a:solidFill>
                <a:latin typeface="Calibri"/>
              </a:rPr>
              <a:t>pts </a:t>
            </a:r>
            <a:r>
              <a:rPr sz="1400" b="1">
                <a:solidFill>
                  <a:srgbClr val="A11E1E"/>
                </a:solidFill>
                <a:latin typeface="Calibri"/>
              </a:rPr>
              <a:t>dropped </a:t>
            </a:r>
            <a:r>
              <a:rPr sz="1400">
                <a:solidFill>
                  <a:srgbClr val="333333"/>
                </a:solidFill>
                <a:latin typeface="Calibri"/>
              </a:rPr>
              <a:t>off </a:t>
            </a:r>
            <a:r>
              <a:rPr sz="1400">
                <a:solidFill>
                  <a:srgbClr val="333333"/>
                </a:solidFill>
                <a:latin typeface="Calibri"/>
              </a:rPr>
              <a:t>GLUCOREN </a:t>
            </a:r>
            <a:r>
              <a:rPr sz="1400" b="1">
                <a:solidFill>
                  <a:srgbClr val="A11E1E"/>
                </a:solidFill>
                <a:latin typeface="Calibri"/>
              </a:rPr>
              <a:t>due </a:t>
            </a:r>
            <a:r>
              <a:rPr sz="1400">
                <a:solidFill>
                  <a:srgbClr val="333333"/>
                </a:solidFill>
                <a:latin typeface="Calibri"/>
              </a:rPr>
              <a:t>to </a:t>
            </a:r>
            <a:r>
              <a:rPr sz="1400" b="1">
                <a:solidFill>
                  <a:srgbClr val="A11E1E"/>
                </a:solidFill>
                <a:latin typeface="Calibri"/>
              </a:rPr>
              <a:t>headache </a:t>
            </a:r>
            <a:r>
              <a:rPr sz="1400" b="1">
                <a:solidFill>
                  <a:srgbClr val="A11E1E"/>
                </a:solidFill>
                <a:latin typeface="Calibri"/>
              </a:rPr>
              <a:t>w/in </a:t>
            </a:r>
            <a:r>
              <a:rPr sz="1400" b="1">
                <a:solidFill>
                  <a:srgbClr val="A11E1E"/>
                </a:solidFill>
                <a:latin typeface="Calibri"/>
              </a:rPr>
              <a:t>48 </a:t>
            </a:r>
            <a:r>
              <a:rPr sz="1400" b="1">
                <a:solidFill>
                  <a:srgbClr val="A11E1E"/>
                </a:solidFill>
                <a:latin typeface="Calibri"/>
              </a:rPr>
              <a:t>hours </a:t>
            </a:r>
            <a:r>
              <a:rPr sz="1400" b="1">
                <a:solidFill>
                  <a:srgbClr val="A11E1E"/>
                </a:solidFill>
                <a:latin typeface="Calibri"/>
              </a:rPr>
              <a:t>of </a:t>
            </a:r>
            <a:r>
              <a:rPr sz="1400" b="1">
                <a:solidFill>
                  <a:srgbClr val="A11E1E"/>
                </a:solidFill>
                <a:latin typeface="Calibri"/>
              </a:rPr>
              <a:t>starting. </a:t>
            </a:r>
          </a:p>
        </p:txBody>
      </p:sp>
      <p:sp>
        <p:nvSpPr>
          <p:cNvPr id="10" name="Rectangle 9"/>
          <p:cNvSpPr/>
          <p:nvPr/>
        </p:nvSpPr>
        <p:spPr>
          <a:xfrm>
            <a:off x="548640" y="3200400"/>
            <a:ext cx="11064240" cy="12344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246120"/>
            <a:ext cx="10789920" cy="274320"/>
          </a:xfrm>
          <a:prstGeom prst="rect">
            <a:avLst/>
          </a:prstGeom>
          <a:noFill/>
        </p:spPr>
        <p:txBody>
          <a:bodyPr wrap="square" lIns="45720" rIns="45720" tIns="27432" bIns="27432" anchor="t">
            <a:spAutoFit/>
          </a:bodyPr>
          <a:lstStyle/>
          <a:p>
            <a:pPr algn="l"/>
            <a:r>
              <a:rPr sz="1000" b="0" i="0">
                <a:solidFill>
                  <a:srgbClr val="666666"/>
                </a:solidFill>
                <a:latin typeface="Calibri"/>
              </a:rPr>
              <a:t>N03087 · p(AE) = 0.11 · flagged = 0 · lexicon = 1</a:t>
            </a:r>
          </a:p>
        </p:txBody>
      </p:sp>
      <p:sp>
        <p:nvSpPr>
          <p:cNvPr id="12" name="TextBox 11"/>
          <p:cNvSpPr txBox="1"/>
          <p:nvPr/>
        </p:nvSpPr>
        <p:spPr>
          <a:xfrm>
            <a:off x="685800" y="3520440"/>
            <a:ext cx="10789920" cy="868680"/>
          </a:xfrm>
          <a:prstGeom prst="rect">
            <a:avLst/>
          </a:prstGeom>
          <a:noFill/>
        </p:spPr>
        <p:txBody>
          <a:bodyPr wrap="square">
            <a:spAutoFit/>
          </a:bodyPr>
          <a:lstStyle/>
          <a:p>
            <a:r>
              <a:rPr sz="1400">
                <a:solidFill>
                  <a:srgbClr val="333333"/>
                </a:solidFill>
                <a:latin typeface="Calibri"/>
              </a:rPr>
              <a:t>HCP </a:t>
            </a:r>
            <a:r>
              <a:rPr sz="1400">
                <a:solidFill>
                  <a:srgbClr val="333333"/>
                </a:solidFill>
                <a:latin typeface="Calibri"/>
              </a:rPr>
              <a:t>asked </a:t>
            </a:r>
            <a:r>
              <a:rPr sz="1400">
                <a:solidFill>
                  <a:srgbClr val="333333"/>
                </a:solidFill>
                <a:latin typeface="Calibri"/>
              </a:rPr>
              <a:t>whether </a:t>
            </a:r>
            <a:r>
              <a:rPr sz="1400">
                <a:solidFill>
                  <a:srgbClr val="333333"/>
                </a:solidFill>
                <a:latin typeface="Calibri"/>
              </a:rPr>
              <a:t>hypo </a:t>
            </a:r>
            <a:r>
              <a:rPr sz="1400">
                <a:solidFill>
                  <a:srgbClr val="333333"/>
                </a:solidFill>
                <a:latin typeface="Calibri"/>
              </a:rPr>
              <a:t>is </a:t>
            </a:r>
            <a:r>
              <a:rPr sz="1400">
                <a:solidFill>
                  <a:srgbClr val="333333"/>
                </a:solidFill>
                <a:latin typeface="Calibri"/>
              </a:rPr>
              <a:t>dose-related </a:t>
            </a:r>
            <a:r>
              <a:rPr sz="1400">
                <a:solidFill>
                  <a:srgbClr val="333333"/>
                </a:solidFill>
                <a:latin typeface="Calibri"/>
              </a:rPr>
              <a:t>and </a:t>
            </a:r>
            <a:r>
              <a:rPr sz="1400">
                <a:solidFill>
                  <a:srgbClr val="333333"/>
                </a:solidFill>
                <a:latin typeface="Calibri"/>
              </a:rPr>
              <a:t>whether </a:t>
            </a:r>
            <a:r>
              <a:rPr sz="1400" b="1">
                <a:solidFill>
                  <a:srgbClr val="1E2761"/>
                </a:solidFill>
                <a:latin typeface="Calibri"/>
              </a:rPr>
              <a:t>titration </a:t>
            </a:r>
            <a:r>
              <a:rPr sz="1400">
                <a:solidFill>
                  <a:srgbClr val="333333"/>
                </a:solidFill>
                <a:latin typeface="Calibri"/>
              </a:rPr>
              <a:t>helps. </a:t>
            </a:r>
            <a:r>
              <a:rPr sz="1400" b="1">
                <a:solidFill>
                  <a:srgbClr val="1E2761"/>
                </a:solidFill>
                <a:latin typeface="Calibri"/>
              </a:rPr>
              <a:t>Shared </a:t>
            </a:r>
            <a:r>
              <a:rPr sz="1400">
                <a:solidFill>
                  <a:srgbClr val="333333"/>
                </a:solidFill>
                <a:latin typeface="Calibri"/>
              </a:rPr>
              <a:t>the </a:t>
            </a:r>
            <a:r>
              <a:rPr sz="1400">
                <a:solidFill>
                  <a:srgbClr val="333333"/>
                </a:solidFill>
                <a:latin typeface="Calibri"/>
              </a:rPr>
              <a:t>dosing </a:t>
            </a:r>
            <a:r>
              <a:rPr sz="1400" b="1">
                <a:solidFill>
                  <a:srgbClr val="1E2761"/>
                </a:solidFill>
                <a:latin typeface="Calibri"/>
              </a:rPr>
              <a:t>section </a:t>
            </a:r>
            <a:r>
              <a:rPr sz="1400" b="1">
                <a:solidFill>
                  <a:srgbClr val="A11E1E"/>
                </a:solidFill>
                <a:latin typeface="Calibri"/>
              </a:rPr>
              <a:t>of </a:t>
            </a:r>
            <a:r>
              <a:rPr sz="1400">
                <a:solidFill>
                  <a:srgbClr val="333333"/>
                </a:solidFill>
                <a:latin typeface="Calibri"/>
              </a:rPr>
              <a:t>the </a:t>
            </a:r>
            <a:r>
              <a:rPr sz="1400">
                <a:solidFill>
                  <a:srgbClr val="333333"/>
                </a:solidFill>
                <a:latin typeface="Calibri"/>
              </a:rPr>
              <a:t>PI. </a:t>
            </a:r>
            <a:r>
              <a:rPr sz="1400">
                <a:solidFill>
                  <a:srgbClr val="333333"/>
                </a:solidFill>
                <a:latin typeface="Calibri"/>
              </a:rPr>
              <a:t>Office </a:t>
            </a:r>
            <a:r>
              <a:rPr sz="1400">
                <a:solidFill>
                  <a:srgbClr val="333333"/>
                </a:solidFill>
                <a:latin typeface="Calibri"/>
              </a:rPr>
              <a:t>staff </a:t>
            </a:r>
            <a:r>
              <a:rPr sz="1400">
                <a:solidFill>
                  <a:srgbClr val="333333"/>
                </a:solidFill>
                <a:latin typeface="Calibri"/>
              </a:rPr>
              <a:t>friendly </a:t>
            </a:r>
            <a:r>
              <a:rPr sz="1400">
                <a:solidFill>
                  <a:srgbClr val="333333"/>
                </a:solidFill>
                <a:latin typeface="Calibri"/>
              </a:rPr>
              <a:t>as </a:t>
            </a:r>
            <a:r>
              <a:rPr sz="1400">
                <a:solidFill>
                  <a:srgbClr val="333333"/>
                </a:solidFill>
                <a:latin typeface="Calibri"/>
              </a:rPr>
              <a:t>always. </a:t>
            </a:r>
          </a:p>
        </p:txBody>
      </p:sp>
      <p:sp>
        <p:nvSpPr>
          <p:cNvPr id="13" name="TextBox 12"/>
          <p:cNvSpPr txBox="1"/>
          <p:nvPr/>
        </p:nvSpPr>
        <p:spPr>
          <a:xfrm>
            <a:off x="548640" y="4617720"/>
            <a:ext cx="11064240" cy="274320"/>
          </a:xfrm>
          <a:prstGeom prst="rect">
            <a:avLst/>
          </a:prstGeom>
          <a:noFill/>
        </p:spPr>
        <p:txBody>
          <a:bodyPr wrap="square" lIns="45720" rIns="45720" tIns="27432" bIns="27432" anchor="t">
            <a:spAutoFit/>
          </a:bodyPr>
          <a:lstStyle/>
          <a:p>
            <a:pPr algn="l"/>
            <a:r>
              <a:rPr sz="1050" b="0" i="1">
                <a:solidFill>
                  <a:srgbClr val="666666"/>
                </a:solidFill>
                <a:latin typeface="Calibri"/>
              </a:rPr>
              <a:t>Coral pushes toward AE, navy away. Contribution = coefficient × TF-IDF weight, so the highlights are exact.</a:t>
            </a:r>
          </a:p>
        </p:txBody>
      </p:sp>
      <p:sp>
        <p:nvSpPr>
          <p:cNvPr id="14" name="TextBox 13"/>
          <p:cNvSpPr txBox="1"/>
          <p:nvPr/>
        </p:nvSpPr>
        <p:spPr>
          <a:xfrm>
            <a:off x="548640" y="5029200"/>
            <a:ext cx="11064240" cy="457200"/>
          </a:xfrm>
          <a:prstGeom prst="rect">
            <a:avLst/>
          </a:prstGeom>
          <a:noFill/>
        </p:spPr>
        <p:txBody>
          <a:bodyPr wrap="square" lIns="45720" rIns="45720" tIns="27432" bIns="27432" anchor="t">
            <a:spAutoFit/>
          </a:bodyPr>
          <a:lstStyle/>
          <a:p>
            <a:pPr algn="l"/>
            <a:r>
              <a:rPr sz="1250" b="1" i="0">
                <a:solidFill>
                  <a:srgbClr val="1E2761"/>
                </a:solidFill>
                <a:latin typeface="Calibri"/>
              </a:rPr>
              <a:t>This is what goes in the reviewer's queue: the note with the span, not a probability.</a:t>
            </a:r>
          </a:p>
        </p:txBody>
      </p:sp>
      <p:sp>
        <p:nvSpPr>
          <p:cNvPr id="15" name="TextBox 14"/>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Notebook §5b.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LIME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LIME in four steps</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22 / 37</a:t>
            </a:r>
          </a:p>
        </p:txBody>
      </p:sp>
      <p:sp>
        <p:nvSpPr>
          <p:cNvPr id="7" name="Rounded Rectangle 6"/>
          <p:cNvSpPr/>
          <p:nvPr/>
        </p:nvSpPr>
        <p:spPr>
          <a:xfrm>
            <a:off x="548640" y="1920240"/>
            <a:ext cx="2560320" cy="109728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1 · Perturb</a:t>
            </a:r>
          </a:p>
          <a:p>
            <a:pPr algn="ctr"/>
            <a:r>
              <a:rPr sz="1000">
                <a:solidFill>
                  <a:srgbClr val="CADCFC"/>
                </a:solidFill>
                <a:latin typeface="Calibri"/>
              </a:rPr>
              <a:t>switch words off at random; 400 neighbours</a:t>
            </a:r>
          </a:p>
        </p:txBody>
      </p:sp>
      <p:cxnSp>
        <p:nvCxnSpPr>
          <p:cNvPr id="8" name="Connector 7"/>
          <p:cNvCxnSpPr/>
          <p:nvPr/>
        </p:nvCxnSpPr>
        <p:spPr>
          <a:xfrm>
            <a:off x="3136391" y="2468880"/>
            <a:ext cx="219457"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83279" y="1920240"/>
            <a:ext cx="2560320" cy="1097280"/>
          </a:xfrm>
          <a:prstGeom prst="roundRect">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2 · Query</a:t>
            </a:r>
          </a:p>
          <a:p>
            <a:pPr algn="ctr"/>
            <a:r>
              <a:rPr sz="1000">
                <a:solidFill>
                  <a:srgbClr val="CADCFC"/>
                </a:solidFill>
                <a:latin typeface="Calibri"/>
              </a:rPr>
              <a:t>ask the model for p(AE) on each</a:t>
            </a:r>
          </a:p>
        </p:txBody>
      </p:sp>
      <p:cxnSp>
        <p:nvCxnSpPr>
          <p:cNvPr id="10" name="Connector 9"/>
          <p:cNvCxnSpPr/>
          <p:nvPr/>
        </p:nvCxnSpPr>
        <p:spPr>
          <a:xfrm>
            <a:off x="5971031" y="2468880"/>
            <a:ext cx="219456"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7919" y="1920240"/>
            <a:ext cx="2560320" cy="1097280"/>
          </a:xfrm>
          <a:prstGeom prst="roundRect">
            <a:avLst/>
          </a:prstGeom>
          <a:solidFill>
            <a:srgbClr val="1F7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3 · Weight</a:t>
            </a:r>
          </a:p>
          <a:p>
            <a:pPr algn="ctr"/>
            <a:r>
              <a:rPr sz="1000">
                <a:solidFill>
                  <a:srgbClr val="CADCFC"/>
                </a:solidFill>
                <a:latin typeface="Calibri"/>
              </a:rPr>
              <a:t>closer neighbours count more</a:t>
            </a:r>
          </a:p>
        </p:txBody>
      </p:sp>
      <p:cxnSp>
        <p:nvCxnSpPr>
          <p:cNvPr id="12" name="Connector 11"/>
          <p:cNvCxnSpPr/>
          <p:nvPr/>
        </p:nvCxnSpPr>
        <p:spPr>
          <a:xfrm>
            <a:off x="8805671" y="2468880"/>
            <a:ext cx="219457"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052559" y="1920240"/>
            <a:ext cx="2560320" cy="1097280"/>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4 · Fit</a:t>
            </a:r>
          </a:p>
          <a:p>
            <a:pPr algn="ctr"/>
            <a:r>
              <a:rPr sz="1000">
                <a:solidFill>
                  <a:srgbClr val="CADCFC"/>
                </a:solidFill>
                <a:latin typeface="Calibri"/>
              </a:rPr>
              <a:t>a weighted linear model; read its weights</a:t>
            </a:r>
          </a:p>
        </p:txBody>
      </p:sp>
      <p:sp>
        <p:nvSpPr>
          <p:cNvPr id="14" name="Rectangle 13"/>
          <p:cNvSpPr/>
          <p:nvPr/>
        </p:nvSpPr>
        <p:spPr>
          <a:xfrm>
            <a:off x="548640" y="3291840"/>
            <a:ext cx="6035040" cy="21945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37560"/>
            <a:ext cx="5669280" cy="548640"/>
          </a:xfrm>
          <a:prstGeom prst="rect">
            <a:avLst/>
          </a:prstGeom>
          <a:noFill/>
        </p:spPr>
        <p:txBody>
          <a:bodyPr wrap="square" lIns="45720" rIns="45720" tIns="27432" bIns="27432" anchor="t">
            <a:spAutoFit/>
          </a:bodyPr>
          <a:lstStyle/>
          <a:p>
            <a:pPr algn="l"/>
            <a:r>
              <a:rPr sz="1250" b="0" i="1">
                <a:solidFill>
                  <a:srgbClr val="333333"/>
                </a:solidFill>
                <a:latin typeface="Calibri"/>
              </a:rPr>
              <a:t>“A 49 y/o m — constipated. Dose held, HCP to reassess.”  → p(AE) = 0.95</a:t>
            </a:r>
          </a:p>
        </p:txBody>
      </p:sp>
      <p:graphicFrame>
        <p:nvGraphicFramePr>
          <p:cNvPr id="16" name="Table 15"/>
          <p:cNvGraphicFramePr>
            <a:graphicFrameLocks noGrp="1"/>
          </p:cNvGraphicFramePr>
          <p:nvPr/>
        </p:nvGraphicFramePr>
        <p:xfrm>
          <a:off x="731520" y="3931920"/>
          <a:ext cx="3291840" cy="1609344"/>
        </p:xfrm>
        <a:graphic>
          <a:graphicData uri="http://schemas.openxmlformats.org/drawingml/2006/table">
            <a:tbl>
              <a:tblPr firstRow="1" bandRow="1">
                <a:tableStyleId>{5C22544A-7EE6-4342-B048-85BDC9FD1C3A}</a:tableStyleId>
              </a:tblPr>
              <a:tblGrid>
                <a:gridCol w="2194560"/>
                <a:gridCol w="1097280"/>
              </a:tblGrid>
              <a:tr h="201168">
                <a:tc>
                  <a:txBody>
                    <a:bodyPr wrap="square"/>
                    <a:lstStyle/>
                    <a:p>
                      <a:r>
                        <a:rPr sz="1050" b="1">
                          <a:solidFill>
                            <a:srgbClr val="FFFFFF"/>
                          </a:solidFill>
                          <a:latin typeface="Calibri"/>
                        </a:rPr>
                        <a:t>word</a:t>
                      </a:r>
                    </a:p>
                  </a:txBody>
                  <a:tcPr marL="54864" marR="54864" marT="27432" marB="27432">
                    <a:solidFill>
                      <a:srgbClr val="1E2761"/>
                    </a:solidFill>
                  </a:tcPr>
                </a:tc>
                <a:tc>
                  <a:txBody>
                    <a:bodyPr wrap="square"/>
                    <a:lstStyle/>
                    <a:p>
                      <a:r>
                        <a:rPr sz="1050" b="1">
                          <a:solidFill>
                            <a:srgbClr val="FFFFFF"/>
                          </a:solidFill>
                          <a:latin typeface="Calibri"/>
                        </a:rPr>
                        <a:t>weight</a:t>
                      </a:r>
                    </a:p>
                  </a:txBody>
                  <a:tcPr marL="54864" marR="54864" marT="27432" marB="27432">
                    <a:solidFill>
                      <a:srgbClr val="1E2761"/>
                    </a:solidFill>
                  </a:tcPr>
                </a:tc>
              </a:tr>
              <a:tr h="201168">
                <a:tc>
                  <a:txBody>
                    <a:bodyPr wrap="square"/>
                    <a:lstStyle/>
                    <a:p>
                      <a:r>
                        <a:rPr sz="1050" b="1">
                          <a:solidFill>
                            <a:srgbClr val="1E2761"/>
                          </a:solidFill>
                          <a:latin typeface="Calibri"/>
                        </a:rPr>
                        <a:t>held,</a:t>
                      </a:r>
                    </a:p>
                  </a:txBody>
                  <a:tcPr marL="54864" marR="54864" marT="27432" marB="27432">
                    <a:solidFill>
                      <a:srgbClr val="FFFFFF"/>
                    </a:solidFill>
                  </a:tcPr>
                </a:tc>
                <a:tc>
                  <a:txBody>
                    <a:bodyPr wrap="square"/>
                    <a:lstStyle/>
                    <a:p>
                      <a:r>
                        <a:rPr sz="1050" b="0">
                          <a:solidFill>
                            <a:srgbClr val="333333"/>
                          </a:solidFill>
                          <a:latin typeface="Calibri"/>
                        </a:rPr>
                        <a:t>+0.132</a:t>
                      </a:r>
                    </a:p>
                  </a:txBody>
                  <a:tcPr marL="54864" marR="54864" marT="27432" marB="27432">
                    <a:solidFill>
                      <a:srgbClr val="FFFFFF"/>
                    </a:solidFill>
                  </a:tcPr>
                </a:tc>
              </a:tr>
              <a:tr h="201168">
                <a:tc>
                  <a:txBody>
                    <a:bodyPr wrap="square"/>
                    <a:lstStyle/>
                    <a:p>
                      <a:r>
                        <a:rPr sz="1050" b="1">
                          <a:solidFill>
                            <a:srgbClr val="1E2761"/>
                          </a:solidFill>
                          <a:latin typeface="Calibri"/>
                        </a:rPr>
                        <a:t>reassess.</a:t>
                      </a:r>
                    </a:p>
                  </a:txBody>
                  <a:tcPr marL="54864" marR="54864" marT="27432" marB="27432">
                    <a:solidFill>
                      <a:srgbClr val="F3F6FC"/>
                    </a:solidFill>
                  </a:tcPr>
                </a:tc>
                <a:tc>
                  <a:txBody>
                    <a:bodyPr wrap="square"/>
                    <a:lstStyle/>
                    <a:p>
                      <a:r>
                        <a:rPr sz="1050" b="0">
                          <a:solidFill>
                            <a:srgbClr val="333333"/>
                          </a:solidFill>
                          <a:latin typeface="Calibri"/>
                        </a:rPr>
                        <a:t>+0.097</a:t>
                      </a:r>
                    </a:p>
                  </a:txBody>
                  <a:tcPr marL="54864" marR="54864" marT="27432" marB="27432">
                    <a:solidFill>
                      <a:srgbClr val="F3F6FC"/>
                    </a:solidFill>
                  </a:tcPr>
                </a:tc>
              </a:tr>
              <a:tr h="201168">
                <a:tc>
                  <a:txBody>
                    <a:bodyPr wrap="square"/>
                    <a:lstStyle/>
                    <a:p>
                      <a:r>
                        <a:rPr sz="1050" b="1">
                          <a:solidFill>
                            <a:srgbClr val="1E2761"/>
                          </a:solidFill>
                          <a:latin typeface="Calibri"/>
                        </a:rPr>
                        <a:t>Dose</a:t>
                      </a:r>
                    </a:p>
                  </a:txBody>
                  <a:tcPr marL="54864" marR="54864" marT="27432" marB="27432">
                    <a:solidFill>
                      <a:srgbClr val="FFFFFF"/>
                    </a:solidFill>
                  </a:tcPr>
                </a:tc>
                <a:tc>
                  <a:txBody>
                    <a:bodyPr wrap="square"/>
                    <a:lstStyle/>
                    <a:p>
                      <a:r>
                        <a:rPr sz="1050" b="0">
                          <a:solidFill>
                            <a:srgbClr val="333333"/>
                          </a:solidFill>
                          <a:latin typeface="Calibri"/>
                        </a:rPr>
                        <a:t>+0.095</a:t>
                      </a:r>
                    </a:p>
                  </a:txBody>
                  <a:tcPr marL="54864" marR="54864" marT="27432" marB="27432">
                    <a:solidFill>
                      <a:srgbClr val="FFFFFF"/>
                    </a:solidFill>
                  </a:tcPr>
                </a:tc>
              </a:tr>
              <a:tr h="201168">
                <a:tc>
                  <a:txBody>
                    <a:bodyPr wrap="square"/>
                    <a:lstStyle/>
                    <a:p>
                      <a:r>
                        <a:rPr sz="1050" b="1">
                          <a:solidFill>
                            <a:srgbClr val="1E2761"/>
                          </a:solidFill>
                          <a:latin typeface="Calibri"/>
                        </a:rPr>
                        <a:t>to</a:t>
                      </a:r>
                    </a:p>
                  </a:txBody>
                  <a:tcPr marL="54864" marR="54864" marT="27432" marB="27432">
                    <a:solidFill>
                      <a:srgbClr val="F3F6FC"/>
                    </a:solidFill>
                  </a:tcPr>
                </a:tc>
                <a:tc>
                  <a:txBody>
                    <a:bodyPr wrap="square"/>
                    <a:lstStyle/>
                    <a:p>
                      <a:r>
                        <a:rPr sz="1050" b="0">
                          <a:solidFill>
                            <a:srgbClr val="333333"/>
                          </a:solidFill>
                          <a:latin typeface="Calibri"/>
                        </a:rPr>
                        <a:t>+0.063</a:t>
                      </a:r>
                    </a:p>
                  </a:txBody>
                  <a:tcPr marL="54864" marR="54864" marT="27432" marB="27432">
                    <a:solidFill>
                      <a:srgbClr val="F3F6FC"/>
                    </a:solidFill>
                  </a:tcPr>
                </a:tc>
              </a:tr>
              <a:tr h="201168">
                <a:tc>
                  <a:txBody>
                    <a:bodyPr wrap="square"/>
                    <a:lstStyle/>
                    <a:p>
                      <a:r>
                        <a:rPr sz="1050" b="1">
                          <a:solidFill>
                            <a:srgbClr val="1E2761"/>
                          </a:solidFill>
                          <a:latin typeface="Calibri"/>
                        </a:rPr>
                        <a:t>HCP</a:t>
                      </a:r>
                    </a:p>
                  </a:txBody>
                  <a:tcPr marL="54864" marR="54864" marT="27432" marB="27432">
                    <a:solidFill>
                      <a:srgbClr val="FFFFFF"/>
                    </a:solidFill>
                  </a:tcPr>
                </a:tc>
                <a:tc>
                  <a:txBody>
                    <a:bodyPr wrap="square"/>
                    <a:lstStyle/>
                    <a:p>
                      <a:r>
                        <a:rPr sz="1050" b="0">
                          <a:solidFill>
                            <a:srgbClr val="333333"/>
                          </a:solidFill>
                          <a:latin typeface="Calibri"/>
                        </a:rPr>
                        <a:t>+0.046</a:t>
                      </a:r>
                    </a:p>
                  </a:txBody>
                  <a:tcPr marL="54864" marR="54864" marT="27432" marB="27432">
                    <a:solidFill>
                      <a:srgbClr val="FFFFFF"/>
                    </a:solidFill>
                  </a:tcPr>
                </a:tc>
              </a:tr>
              <a:tr h="201168">
                <a:tc>
                  <a:txBody>
                    <a:bodyPr wrap="square"/>
                    <a:lstStyle/>
                    <a:p>
                      <a:r>
                        <a:rPr sz="1050" b="1">
                          <a:solidFill>
                            <a:srgbClr val="1E2761"/>
                          </a:solidFill>
                          <a:latin typeface="Calibri"/>
                        </a:rPr>
                        <a:t>49</a:t>
                      </a:r>
                    </a:p>
                  </a:txBody>
                  <a:tcPr marL="54864" marR="54864" marT="27432" marB="27432">
                    <a:solidFill>
                      <a:srgbClr val="F3F6FC"/>
                    </a:solidFill>
                  </a:tcPr>
                </a:tc>
                <a:tc>
                  <a:txBody>
                    <a:bodyPr wrap="square"/>
                    <a:lstStyle/>
                    <a:p>
                      <a:r>
                        <a:rPr sz="1050" b="0">
                          <a:solidFill>
                            <a:srgbClr val="333333"/>
                          </a:solidFill>
                          <a:latin typeface="Calibri"/>
                        </a:rPr>
                        <a:t>-0.056</a:t>
                      </a:r>
                    </a:p>
                  </a:txBody>
                  <a:tcPr marL="54864" marR="54864" marT="27432" marB="27432">
                    <a:solidFill>
                      <a:srgbClr val="F3F6FC"/>
                    </a:solidFill>
                  </a:tcPr>
                </a:tc>
              </a:tr>
              <a:tr h="201168">
                <a:tc>
                  <a:txBody>
                    <a:bodyPr wrap="square"/>
                    <a:lstStyle/>
                    <a:p>
                      <a:r>
                        <a:rPr sz="1050" b="1">
                          <a:solidFill>
                            <a:srgbClr val="1E2761"/>
                          </a:solidFill>
                          <a:latin typeface="Calibri"/>
                        </a:rPr>
                        <a:t>y/o</a:t>
                      </a:r>
                    </a:p>
                  </a:txBody>
                  <a:tcPr marL="54864" marR="54864" marT="27432" marB="27432">
                    <a:solidFill>
                      <a:srgbClr val="FFFFFF"/>
                    </a:solidFill>
                  </a:tcPr>
                </a:tc>
                <a:tc>
                  <a:txBody>
                    <a:bodyPr wrap="square"/>
                    <a:lstStyle/>
                    <a:p>
                      <a:r>
                        <a:rPr sz="1050" b="0">
                          <a:solidFill>
                            <a:srgbClr val="333333"/>
                          </a:solidFill>
                          <a:latin typeface="Calibri"/>
                        </a:rPr>
                        <a:t>-0.013</a:t>
                      </a:r>
                    </a:p>
                  </a:txBody>
                  <a:tcPr marL="54864" marR="54864" marT="27432" marB="27432">
                    <a:solidFill>
                      <a:srgbClr val="FFFFFF"/>
                    </a:solidFill>
                  </a:tcPr>
                </a:tc>
              </a:tr>
            </a:tbl>
          </a:graphicData>
        </a:graphic>
      </p:graphicFrame>
      <p:sp>
        <p:nvSpPr>
          <p:cNvPr id="17" name="Rectangle 16"/>
          <p:cNvSpPr/>
          <p:nvPr/>
        </p:nvSpPr>
        <p:spPr>
          <a:xfrm>
            <a:off x="6858000" y="3291840"/>
            <a:ext cx="4754880" cy="2194560"/>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3401568"/>
            <a:ext cx="4480560" cy="365760"/>
          </a:xfrm>
          <a:prstGeom prst="rect">
            <a:avLst/>
          </a:prstGeom>
          <a:noFill/>
        </p:spPr>
        <p:txBody>
          <a:bodyPr wrap="square" lIns="45720" rIns="45720" tIns="27432" bIns="27432" anchor="t">
            <a:spAutoFit/>
          </a:bodyPr>
          <a:lstStyle/>
          <a:p>
            <a:pPr algn="l"/>
            <a:r>
              <a:rPr sz="1400" b="1" i="0">
                <a:solidFill>
                  <a:srgbClr val="1E2761"/>
                </a:solidFill>
                <a:latin typeface="Calibri"/>
              </a:rPr>
              <a:t>Cautions</a:t>
            </a:r>
          </a:p>
        </p:txBody>
      </p:sp>
      <p:sp>
        <p:nvSpPr>
          <p:cNvPr id="19" name="TextBox 18"/>
          <p:cNvSpPr txBox="1"/>
          <p:nvPr/>
        </p:nvSpPr>
        <p:spPr>
          <a:xfrm>
            <a:off x="6967728" y="3785616"/>
            <a:ext cx="4526280" cy="1609343"/>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Local and unstable: change the seed and compare.</a:t>
            </a:r>
          </a:p>
          <a:p>
            <a:pPr>
              <a:spcAft>
                <a:spcPts val="500"/>
              </a:spcAft>
            </a:pPr>
            <a:r>
              <a:rPr sz="1150" b="1">
                <a:solidFill>
                  <a:srgbClr val="FF6B6B"/>
                </a:solidFill>
                <a:latin typeface="Calibri"/>
              </a:rPr>
              <a:t>▸ </a:t>
            </a:r>
            <a:r>
              <a:rPr sz="1150">
                <a:solidFill>
                  <a:srgbClr val="333333"/>
                </a:solidFill>
                <a:latin typeface="Calibri"/>
              </a:rPr>
              <a:t>Perturbed sentences are ones nobody writes; the model is being asked about inputs off its data.</a:t>
            </a:r>
          </a:p>
          <a:p>
            <a:pPr>
              <a:spcAft>
                <a:spcPts val="500"/>
              </a:spcAft>
            </a:pPr>
            <a:r>
              <a:rPr sz="1150" b="1">
                <a:solidFill>
                  <a:srgbClr val="FF6B6B"/>
                </a:solidFill>
                <a:latin typeface="Calibri"/>
              </a:rPr>
              <a:t>▸ </a:t>
            </a:r>
            <a:r>
              <a:rPr sz="1150">
                <a:solidFill>
                  <a:srgbClr val="333333"/>
                </a:solidFill>
                <a:latin typeface="Calibri"/>
              </a:rPr>
              <a:t>Works on any model, which is the point.</a:t>
            </a:r>
          </a:p>
        </p:txBody>
      </p:sp>
      <p:sp>
        <p:nvSpPr>
          <p:cNvPr id="20" name="TextBox 19"/>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Ribeiro, Singh &amp; Guestrin, KDD 2016. Example: notebook §5c, fifteen lines of code.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SHAP AND THE LEAK CHECK</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SHAP, and a sanity check that found a shortcut</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23 / 37</a:t>
            </a:r>
          </a:p>
        </p:txBody>
      </p:sp>
      <p:pic>
        <p:nvPicPr>
          <p:cNvPr id="7" name="Picture 6" descr="shap_global.png"/>
          <p:cNvPicPr>
            <a:picLocks noChangeAspect="1"/>
          </p:cNvPicPr>
          <p:nvPr/>
        </p:nvPicPr>
        <p:blipFill>
          <a:blip r:embed="rId2"/>
          <a:stretch>
            <a:fillRect/>
          </a:stretch>
        </p:blipFill>
        <p:spPr>
          <a:xfrm>
            <a:off x="548640" y="1828800"/>
            <a:ext cx="5138482" cy="3291840"/>
          </a:xfrm>
          <a:prstGeom prst="rect">
            <a:avLst/>
          </a:prstGeom>
        </p:spPr>
      </p:pic>
      <p:sp>
        <p:nvSpPr>
          <p:cNvPr id="8" name="Rectangle 7"/>
          <p:cNvSpPr/>
          <p:nvPr/>
        </p:nvSpPr>
        <p:spPr>
          <a:xfrm>
            <a:off x="6035040" y="1828800"/>
            <a:ext cx="5577840" cy="164592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938528"/>
            <a:ext cx="5303520" cy="365760"/>
          </a:xfrm>
          <a:prstGeom prst="rect">
            <a:avLst/>
          </a:prstGeom>
          <a:noFill/>
        </p:spPr>
        <p:txBody>
          <a:bodyPr wrap="square" lIns="45720" rIns="45720" tIns="27432" bIns="27432" anchor="t">
            <a:spAutoFit/>
          </a:bodyPr>
          <a:lstStyle/>
          <a:p>
            <a:pPr algn="l"/>
            <a:r>
              <a:rPr sz="1400" b="1" i="0">
                <a:solidFill>
                  <a:srgbClr val="1E2761"/>
                </a:solidFill>
                <a:latin typeface="Calibri"/>
              </a:rPr>
              <a:t>SHAP</a:t>
            </a:r>
          </a:p>
        </p:txBody>
      </p:sp>
      <p:sp>
        <p:nvSpPr>
          <p:cNvPr id="10" name="TextBox 9"/>
          <p:cNvSpPr txBox="1"/>
          <p:nvPr/>
        </p:nvSpPr>
        <p:spPr>
          <a:xfrm>
            <a:off x="6144768" y="2322576"/>
            <a:ext cx="5349240" cy="106070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Shapley values: each feature's share of the prediction, with consistency guarantees. Mean |SHAP| ranks by how often a term matters as well as how strongly, so the ranking differs from the coefficients.</a:t>
            </a:r>
          </a:p>
        </p:txBody>
      </p:sp>
      <p:sp>
        <p:nvSpPr>
          <p:cNvPr id="11" name="Rectangle 10"/>
          <p:cNvSpPr/>
          <p:nvPr/>
        </p:nvSpPr>
        <p:spPr>
          <a:xfrm>
            <a:off x="6035040" y="3611880"/>
            <a:ext cx="5577840" cy="1783080"/>
          </a:xfrm>
          <a:prstGeom prst="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3721608"/>
            <a:ext cx="5303520" cy="365760"/>
          </a:xfrm>
          <a:prstGeom prst="rect">
            <a:avLst/>
          </a:prstGeom>
          <a:noFill/>
        </p:spPr>
        <p:txBody>
          <a:bodyPr wrap="square" lIns="45720" rIns="45720" tIns="27432" bIns="27432" anchor="t">
            <a:spAutoFit/>
          </a:bodyPr>
          <a:lstStyle/>
          <a:p>
            <a:pPr algn="l"/>
            <a:r>
              <a:rPr sz="1400" b="1" i="0">
                <a:solidFill>
                  <a:srgbClr val="A11E1E"/>
                </a:solidFill>
                <a:latin typeface="Calibri"/>
              </a:rPr>
              <a:t>Payer names in the vocabulary</a:t>
            </a:r>
          </a:p>
        </p:txBody>
      </p:sp>
      <p:sp>
        <p:nvSpPr>
          <p:cNvPr id="13" name="TextBox 12"/>
          <p:cNvSpPr txBox="1"/>
          <p:nvPr/>
        </p:nvSpPr>
        <p:spPr>
          <a:xfrm>
            <a:off x="6144768" y="4105656"/>
            <a:ext cx="5349240" cy="1197863"/>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|coef| &gt; 0.5: “optumrx moved” (+2.0), “cigna is” (+1.8), “reports cigna” (+1.8), “optumrx” (+1.1).</a:t>
            </a:r>
          </a:p>
          <a:p>
            <a:pPr>
              <a:spcAft>
                <a:spcPts val="500"/>
              </a:spcAft>
            </a:pPr>
            <a:r>
              <a:rPr sz="1100" b="1">
                <a:solidFill>
                  <a:srgbClr val="FF6B6B"/>
                </a:solidFill>
                <a:latin typeface="Calibri"/>
              </a:rPr>
              <a:t>▸ </a:t>
            </a:r>
            <a:r>
              <a:rPr sz="1100">
                <a:solidFill>
                  <a:srgbClr val="333333"/>
                </a:solidFill>
                <a:latin typeface="Calibri"/>
              </a:rPr>
              <a:t>A shortcut from the training sample. Mask payer names → “payer”, refit: accuracy unchanged, vocabulary clean.</a:t>
            </a:r>
          </a:p>
        </p:txBody>
      </p:sp>
      <p:sp>
        <p:nvSpPr>
          <p:cNvPr id="14" name="TextBox 13"/>
          <p:cNvSpPr txBox="1"/>
          <p:nvPr/>
        </p:nvSpPr>
        <p:spPr>
          <a:xfrm>
            <a:off x="548640" y="5532120"/>
            <a:ext cx="11064240" cy="457200"/>
          </a:xfrm>
          <a:prstGeom prst="rect">
            <a:avLst/>
          </a:prstGeom>
          <a:noFill/>
        </p:spPr>
        <p:txBody>
          <a:bodyPr wrap="square" lIns="45720" rIns="45720" tIns="27432" bIns="27432" anchor="t">
            <a:spAutoFit/>
          </a:bodyPr>
          <a:lstStyle/>
          <a:p>
            <a:pPr algn="l"/>
            <a:r>
              <a:rPr sz="1250" b="1" i="0">
                <a:solidFill>
                  <a:srgbClr val="1E2761"/>
                </a:solidFill>
                <a:latin typeface="Calibri"/>
              </a:rPr>
              <a:t>Explanations are for finding problems. Mask entities, refit, re-check.</a:t>
            </a:r>
          </a:p>
        </p:txBody>
      </p:sp>
      <p:sp>
        <p:nvSpPr>
          <p:cNvPr id="15" name="TextBox 14"/>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Lundberg &amp; Lee, NeurIPS 2017. Notebook §5d–5e. For transformers: Jain &amp; Wallace 2019 (attention is not explanation); Sundararajan et al. 2017 (Integrated Gradients).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05</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From flag to case</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Rules after the model</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7 — NLP in Pharma Commercial: Adverse Events, Field Notes and Social Listening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24 / 37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5 · THE RULES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Rules on top of the classifier</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25 / 37</a:t>
            </a:r>
          </a:p>
        </p:txBody>
      </p:sp>
      <p:sp>
        <p:nvSpPr>
          <p:cNvPr id="7" name="Rounded Rectangle 6"/>
          <p:cNvSpPr/>
          <p:nvPr/>
        </p:nvSpPr>
        <p:spPr>
          <a:xfrm>
            <a:off x="548640" y="1920240"/>
            <a:ext cx="2029967" cy="100584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p(AE) ≥ threshold</a:t>
            </a:r>
          </a:p>
          <a:p>
            <a:pPr algn="ctr"/>
            <a:r>
              <a:rPr sz="1000">
                <a:solidFill>
                  <a:srgbClr val="CADCFC"/>
                </a:solidFill>
                <a:latin typeface="Calibri"/>
              </a:rPr>
              <a:t>458 notes</a:t>
            </a:r>
          </a:p>
        </p:txBody>
      </p:sp>
      <p:cxnSp>
        <p:nvCxnSpPr>
          <p:cNvPr id="8" name="Connector 7"/>
          <p:cNvCxnSpPr/>
          <p:nvPr/>
        </p:nvCxnSpPr>
        <p:spPr>
          <a:xfrm>
            <a:off x="2606039" y="2423160"/>
            <a:ext cx="173737"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07208" y="1920240"/>
            <a:ext cx="2029967" cy="100584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Identifiable patient?</a:t>
            </a:r>
          </a:p>
          <a:p>
            <a:pPr algn="ctr"/>
            <a:r>
              <a:rPr sz="1000">
                <a:solidFill>
                  <a:srgbClr val="CADCFC"/>
                </a:solidFill>
                <a:latin typeface="Calibri"/>
              </a:rPr>
              <a:t>418 valid cases</a:t>
            </a:r>
          </a:p>
        </p:txBody>
      </p:sp>
      <p:cxnSp>
        <p:nvCxnSpPr>
          <p:cNvPr id="10" name="Connector 9"/>
          <p:cNvCxnSpPr/>
          <p:nvPr/>
        </p:nvCxnSpPr>
        <p:spPr>
          <a:xfrm>
            <a:off x="4864607" y="2423160"/>
            <a:ext cx="173736"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65775" y="1920240"/>
            <a:ext cx="2029967" cy="100584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Serious terms?</a:t>
            </a:r>
          </a:p>
          <a:p>
            <a:pPr algn="ctr"/>
            <a:r>
              <a:rPr sz="1000">
                <a:solidFill>
                  <a:srgbClr val="CADCFC"/>
                </a:solidFill>
                <a:latin typeface="Calibri"/>
              </a:rPr>
              <a:t>51</a:t>
            </a:r>
          </a:p>
        </p:txBody>
      </p:sp>
      <p:cxnSp>
        <p:nvCxnSpPr>
          <p:cNvPr id="12" name="Connector 11"/>
          <p:cNvCxnSpPr/>
          <p:nvPr/>
        </p:nvCxnSpPr>
        <p:spPr>
          <a:xfrm>
            <a:off x="7123175" y="2423160"/>
            <a:ext cx="173737"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24344" y="1920240"/>
            <a:ext cx="2029967" cy="1005840"/>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Not in label?</a:t>
            </a:r>
          </a:p>
          <a:p>
            <a:pPr algn="ctr"/>
            <a:r>
              <a:rPr sz="1000">
                <a:solidFill>
                  <a:srgbClr val="CADCFC"/>
                </a:solidFill>
                <a:latin typeface="Calibri"/>
              </a:rPr>
              <a:t>50 15-day candidates</a:t>
            </a:r>
          </a:p>
        </p:txBody>
      </p:sp>
      <p:cxnSp>
        <p:nvCxnSpPr>
          <p:cNvPr id="14" name="Connector 13"/>
          <p:cNvCxnSpPr/>
          <p:nvPr/>
        </p:nvCxnSpPr>
        <p:spPr>
          <a:xfrm>
            <a:off x="9381743" y="2423160"/>
            <a:ext cx="173737"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582911" y="1920240"/>
            <a:ext cx="2029967" cy="1005840"/>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Due date</a:t>
            </a:r>
          </a:p>
          <a:p>
            <a:pPr algn="ctr"/>
            <a:r>
              <a:rPr sz="1000">
                <a:solidFill>
                  <a:srgbClr val="CADCFC"/>
                </a:solidFill>
                <a:latin typeface="Calibri"/>
              </a:rPr>
              <a:t>awareness + 15 days</a:t>
            </a:r>
          </a:p>
        </p:txBody>
      </p:sp>
      <p:graphicFrame>
        <p:nvGraphicFramePr>
          <p:cNvPr id="16" name="Table 15"/>
          <p:cNvGraphicFramePr>
            <a:graphicFrameLocks noGrp="1"/>
          </p:cNvGraphicFramePr>
          <p:nvPr/>
        </p:nvGraphicFramePr>
        <p:xfrm>
          <a:off x="548640" y="3200400"/>
          <a:ext cx="11064239" cy="2304288"/>
        </p:xfrm>
        <a:graphic>
          <a:graphicData uri="http://schemas.openxmlformats.org/drawingml/2006/table">
            <a:tbl>
              <a:tblPr firstRow="1" bandRow="1">
                <a:tableStyleId>{5C22544A-7EE6-4342-B048-85BDC9FD1C3A}</a:tableStyleId>
              </a:tblPr>
              <a:tblGrid>
                <a:gridCol w="2194560"/>
                <a:gridCol w="5120640"/>
                <a:gridCol w="3749039"/>
              </a:tblGrid>
              <a:tr h="384048">
                <a:tc>
                  <a:txBody>
                    <a:bodyPr wrap="square"/>
                    <a:lstStyle/>
                    <a:p>
                      <a:r>
                        <a:rPr sz="1100" b="1">
                          <a:solidFill>
                            <a:srgbClr val="FFFFFF"/>
                          </a:solidFill>
                          <a:latin typeface="Calibri"/>
                        </a:rPr>
                        <a:t>Rule</a:t>
                      </a:r>
                    </a:p>
                  </a:txBody>
                  <a:tcPr marL="54864" marR="54864" marT="27432" marB="27432">
                    <a:solidFill>
                      <a:srgbClr val="1E2761"/>
                    </a:solidFill>
                  </a:tcPr>
                </a:tc>
                <a:tc>
                  <a:txBody>
                    <a:bodyPr wrap="square"/>
                    <a:lstStyle/>
                    <a:p>
                      <a:r>
                        <a:rPr sz="1100" b="1">
                          <a:solidFill>
                            <a:srgbClr val="FFFFFF"/>
                          </a:solidFill>
                          <a:latin typeface="Calibri"/>
                        </a:rPr>
                        <a:t>How</a:t>
                      </a:r>
                    </a:p>
                  </a:txBody>
                  <a:tcPr marL="54864" marR="54864" marT="27432" marB="27432">
                    <a:solidFill>
                      <a:srgbClr val="1E2761"/>
                    </a:solidFill>
                  </a:tcPr>
                </a:tc>
                <a:tc>
                  <a:txBody>
                    <a:bodyPr wrap="square"/>
                    <a:lstStyle/>
                    <a:p>
                      <a:r>
                        <a:rPr sz="1100" b="1">
                          <a:solidFill>
                            <a:srgbClr val="FFFFFF"/>
                          </a:solidFill>
                          <a:latin typeface="Calibri"/>
                        </a:rPr>
                        <a:t>Against instructor truth</a:t>
                      </a:r>
                    </a:p>
                  </a:txBody>
                  <a:tcPr marL="54864" marR="54864" marT="27432" marB="27432">
                    <a:solidFill>
                      <a:srgbClr val="1E2761"/>
                    </a:solidFill>
                  </a:tcPr>
                </a:tc>
              </a:tr>
              <a:tr h="384048">
                <a:tc>
                  <a:txBody>
                    <a:bodyPr wrap="square"/>
                    <a:lstStyle/>
                    <a:p>
                      <a:r>
                        <a:rPr sz="1100" b="1">
                          <a:solidFill>
                            <a:srgbClr val="1E2761"/>
                          </a:solidFill>
                          <a:latin typeface="Calibri"/>
                        </a:rPr>
                        <a:t>Identifiable patient</a:t>
                      </a:r>
                    </a:p>
                  </a:txBody>
                  <a:tcPr marL="54864" marR="54864" marT="27432" marB="27432">
                    <a:solidFill>
                      <a:srgbClr val="FFFFFF"/>
                    </a:solidFill>
                  </a:tcPr>
                </a:tc>
                <a:tc>
                  <a:txBody>
                    <a:bodyPr wrap="square"/>
                    <a:lstStyle/>
                    <a:p>
                      <a:r>
                        <a:rPr sz="1100" b="0">
                          <a:solidFill>
                            <a:srgbClr val="333333"/>
                          </a:solidFill>
                          <a:latin typeface="Calibri"/>
                        </a:rPr>
                        <a:t>regex: age/sex, “one of his patients”, a name, an MRN</a:t>
                      </a:r>
                    </a:p>
                  </a:txBody>
                  <a:tcPr marL="54864" marR="54864" marT="27432" marB="27432">
                    <a:solidFill>
                      <a:srgbClr val="FFFFFF"/>
                    </a:solidFill>
                  </a:tcPr>
                </a:tc>
                <a:tc>
                  <a:txBody>
                    <a:bodyPr wrap="square"/>
                    <a:lstStyle/>
                    <a:p>
                      <a:r>
                        <a:rPr sz="1100" b="0">
                          <a:solidFill>
                            <a:srgbClr val="333333"/>
                          </a:solidFill>
                          <a:latin typeface="Calibri"/>
                        </a:rPr>
                        <a:t>precision 1.00, recall 0.93</a:t>
                      </a:r>
                    </a:p>
                  </a:txBody>
                  <a:tcPr marL="54864" marR="54864" marT="27432" marB="27432">
                    <a:solidFill>
                      <a:srgbClr val="FFFFFF"/>
                    </a:solidFill>
                  </a:tcPr>
                </a:tc>
              </a:tr>
              <a:tr h="384048">
                <a:tc>
                  <a:txBody>
                    <a:bodyPr wrap="square"/>
                    <a:lstStyle/>
                    <a:p>
                      <a:r>
                        <a:rPr sz="1100" b="1">
                          <a:solidFill>
                            <a:srgbClr val="1E2761"/>
                          </a:solidFill>
                          <a:latin typeface="Calibri"/>
                        </a:rPr>
                        <a:t>Seriousness</a:t>
                      </a:r>
                    </a:p>
                  </a:txBody>
                  <a:tcPr marL="54864" marR="54864" marT="27432" marB="27432">
                    <a:solidFill>
                      <a:srgbClr val="F3F6FC"/>
                    </a:solidFill>
                  </a:tcPr>
                </a:tc>
                <a:tc>
                  <a:txBody>
                    <a:bodyPr wrap="square"/>
                    <a:lstStyle/>
                    <a:p>
                      <a:r>
                        <a:rPr sz="1100" b="0">
                          <a:solidFill>
                            <a:srgbClr val="333333"/>
                          </a:solidFill>
                          <a:latin typeface="Calibri"/>
                        </a:rPr>
                        <a:t>lexicon: hospitalized, ER, ICU, died, pancreatitis…</a:t>
                      </a:r>
                    </a:p>
                  </a:txBody>
                  <a:tcPr marL="54864" marR="54864" marT="27432" marB="27432">
                    <a:solidFill>
                      <a:srgbClr val="F3F6FC"/>
                    </a:solidFill>
                  </a:tcPr>
                </a:tc>
                <a:tc>
                  <a:txBody>
                    <a:bodyPr wrap="square"/>
                    <a:lstStyle/>
                    <a:p>
                      <a:r>
                        <a:rPr sz="1100" b="0">
                          <a:solidFill>
                            <a:srgbClr val="333333"/>
                          </a:solidFill>
                          <a:latin typeface="Calibri"/>
                        </a:rPr>
                        <a:t>—</a:t>
                      </a:r>
                    </a:p>
                  </a:txBody>
                  <a:tcPr marL="54864" marR="54864" marT="27432" marB="27432">
                    <a:solidFill>
                      <a:srgbClr val="F3F6FC"/>
                    </a:solidFill>
                  </a:tcPr>
                </a:tc>
              </a:tr>
              <a:tr h="384048">
                <a:tc>
                  <a:txBody>
                    <a:bodyPr wrap="square"/>
                    <a:lstStyle/>
                    <a:p>
                      <a:r>
                        <a:rPr sz="1100" b="1">
                          <a:solidFill>
                            <a:srgbClr val="1E2761"/>
                          </a:solidFill>
                          <a:latin typeface="Calibri"/>
                        </a:rPr>
                        <a:t>Unexpected</a:t>
                      </a:r>
                    </a:p>
                  </a:txBody>
                  <a:tcPr marL="54864" marR="54864" marT="27432" marB="27432">
                    <a:solidFill>
                      <a:srgbClr val="FFFFFF"/>
                    </a:solidFill>
                  </a:tcPr>
                </a:tc>
                <a:tc>
                  <a:txBody>
                    <a:bodyPr wrap="square"/>
                    <a:lstStyle/>
                    <a:p>
                      <a:r>
                        <a:rPr sz="1100" b="0">
                          <a:solidFill>
                            <a:srgbClr val="333333"/>
                          </a:solidFill>
                          <a:latin typeface="Calibri"/>
                        </a:rPr>
                        <a:t>lexicon column in_label = N</a:t>
                      </a:r>
                    </a:p>
                  </a:txBody>
                  <a:tcPr marL="54864" marR="54864" marT="27432" marB="27432">
                    <a:solidFill>
                      <a:srgbClr val="FFFFFF"/>
                    </a:solidFill>
                  </a:tcPr>
                </a:tc>
                <a:tc>
                  <a:txBody>
                    <a:bodyPr wrap="square"/>
                    <a:lstStyle/>
                    <a:p>
                      <a:r>
                        <a:rPr sz="1100" b="0">
                          <a:solidFill>
                            <a:srgbClr val="333333"/>
                          </a:solidFill>
                          <a:latin typeface="Calibri"/>
                        </a:rPr>
                        <a:t>—</a:t>
                      </a:r>
                    </a:p>
                  </a:txBody>
                  <a:tcPr marL="54864" marR="54864" marT="27432" marB="27432">
                    <a:solidFill>
                      <a:srgbClr val="FFFFFF"/>
                    </a:solidFill>
                  </a:tcPr>
                </a:tc>
              </a:tr>
              <a:tr h="384048">
                <a:tc>
                  <a:txBody>
                    <a:bodyPr wrap="square"/>
                    <a:lstStyle/>
                    <a:p>
                      <a:r>
                        <a:rPr sz="1100" b="1">
                          <a:solidFill>
                            <a:srgbClr val="1E2761"/>
                          </a:solidFill>
                          <a:latin typeface="Calibri"/>
                        </a:rPr>
                        <a:t>15-day candidate</a:t>
                      </a:r>
                    </a:p>
                  </a:txBody>
                  <a:tcPr marL="54864" marR="54864" marT="27432" marB="27432">
                    <a:solidFill>
                      <a:srgbClr val="F3F6FC"/>
                    </a:solidFill>
                  </a:tcPr>
                </a:tc>
                <a:tc>
                  <a:txBody>
                    <a:bodyPr wrap="square"/>
                    <a:lstStyle/>
                    <a:p>
                      <a:r>
                        <a:rPr sz="1100" b="0">
                          <a:solidFill>
                            <a:srgbClr val="333333"/>
                          </a:solidFill>
                          <a:latin typeface="Calibri"/>
                        </a:rPr>
                        <a:t>valid and serious and unexpected</a:t>
                      </a:r>
                    </a:p>
                  </a:txBody>
                  <a:tcPr marL="54864" marR="54864" marT="27432" marB="27432">
                    <a:solidFill>
                      <a:srgbClr val="F3F6FC"/>
                    </a:solidFill>
                  </a:tcPr>
                </a:tc>
                <a:tc>
                  <a:txBody>
                    <a:bodyPr wrap="square"/>
                    <a:lstStyle/>
                    <a:p>
                      <a:r>
                        <a:rPr sz="1100" b="0">
                          <a:solidFill>
                            <a:srgbClr val="333333"/>
                          </a:solidFill>
                          <a:latin typeface="Calibri"/>
                        </a:rPr>
                        <a:t>precision 1.00, recall 0.93 (50 of 51)</a:t>
                      </a:r>
                    </a:p>
                  </a:txBody>
                  <a:tcPr marL="54864" marR="54864" marT="27432" marB="27432">
                    <a:solidFill>
                      <a:srgbClr val="F3F6FC"/>
                    </a:solidFill>
                  </a:tcPr>
                </a:tc>
              </a:tr>
              <a:tr h="384048">
                <a:tc>
                  <a:txBody>
                    <a:bodyPr wrap="square"/>
                    <a:lstStyle/>
                    <a:p>
                      <a:r>
                        <a:rPr sz="1100" b="1">
                          <a:solidFill>
                            <a:srgbClr val="1E2761"/>
                          </a:solidFill>
                          <a:latin typeface="Calibri"/>
                        </a:rPr>
                        <a:t>PHI in note</a:t>
                      </a:r>
                    </a:p>
                  </a:txBody>
                  <a:tcPr marL="54864" marR="54864" marT="27432" marB="27432">
                    <a:solidFill>
                      <a:srgbClr val="FFFFFF"/>
                    </a:solidFill>
                  </a:tcPr>
                </a:tc>
                <a:tc>
                  <a:txBody>
                    <a:bodyPr wrap="square"/>
                    <a:lstStyle/>
                    <a:p>
                      <a:r>
                        <a:rPr sz="1100" b="0">
                          <a:solidFill>
                            <a:srgbClr val="333333"/>
                          </a:solidFill>
                          <a:latin typeface="Calibri"/>
                        </a:rPr>
                        <a:t>DOB, MRN, Mr./Mrs. + name, “patient First Last”</a:t>
                      </a:r>
                    </a:p>
                  </a:txBody>
                  <a:tcPr marL="54864" marR="54864" marT="27432" marB="27432">
                    <a:solidFill>
                      <a:srgbClr val="FFFFFF"/>
                    </a:solidFill>
                  </a:tcPr>
                </a:tc>
                <a:tc>
                  <a:txBody>
                    <a:bodyPr wrap="square"/>
                    <a:lstStyle/>
                    <a:p>
                      <a:r>
                        <a:rPr sz="1100" b="0">
                          <a:solidFill>
                            <a:srgbClr val="333333"/>
                          </a:solidFill>
                          <a:latin typeface="Calibri"/>
                        </a:rPr>
                        <a:t>precision 1.00, recall 1.00</a:t>
                      </a:r>
                    </a:p>
                  </a:txBody>
                  <a:tcPr marL="54864" marR="54864" marT="27432" marB="27432">
                    <a:solidFill>
                      <a:srgbClr val="FFFFFF"/>
                    </a:solidFill>
                  </a:tcPr>
                </a:tc>
              </a:tr>
            </a:tbl>
          </a:graphicData>
        </a:graphic>
      </p:graphicFrame>
      <p:sp>
        <p:nvSpPr>
          <p:cNvPr id="17" name="TextBox 16"/>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Notebook §6. The missed 15-day cases were missed by the classifier upstream.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5 · THE QUEUE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The intake queue, by week</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26 / 37</a:t>
            </a:r>
          </a:p>
        </p:txBody>
      </p:sp>
      <p:pic>
        <p:nvPicPr>
          <p:cNvPr id="7" name="Picture 6" descr="intake_queue.png"/>
          <p:cNvPicPr>
            <a:picLocks noChangeAspect="1"/>
          </p:cNvPicPr>
          <p:nvPr/>
        </p:nvPicPr>
        <p:blipFill>
          <a:blip r:embed="rId2"/>
          <a:stretch>
            <a:fillRect/>
          </a:stretch>
        </p:blipFill>
        <p:spPr>
          <a:xfrm>
            <a:off x="548640" y="1828800"/>
            <a:ext cx="7680960" cy="2722993"/>
          </a:xfrm>
          <a:prstGeom prst="rect">
            <a:avLst/>
          </a:prstGeom>
        </p:spPr>
      </p:pic>
      <p:sp>
        <p:nvSpPr>
          <p:cNvPr id="8" name="Rectangle 7"/>
          <p:cNvSpPr/>
          <p:nvPr/>
        </p:nvSpPr>
        <p:spPr>
          <a:xfrm>
            <a:off x="8412480" y="1828800"/>
            <a:ext cx="3200400" cy="32004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1938528"/>
            <a:ext cx="2926080" cy="365760"/>
          </a:xfrm>
          <a:prstGeom prst="rect">
            <a:avLst/>
          </a:prstGeom>
          <a:noFill/>
        </p:spPr>
        <p:txBody>
          <a:bodyPr wrap="square" lIns="45720" rIns="45720" tIns="27432" bIns="27432" anchor="t">
            <a:spAutoFit/>
          </a:bodyPr>
          <a:lstStyle/>
          <a:p>
            <a:pPr algn="l"/>
            <a:r>
              <a:rPr sz="1400" b="1" i="0">
                <a:solidFill>
                  <a:srgbClr val="1E2761"/>
                </a:solidFill>
                <a:latin typeface="Calibri"/>
              </a:rPr>
              <a:t>Reading it</a:t>
            </a:r>
          </a:p>
        </p:txBody>
      </p:sp>
      <p:sp>
        <p:nvSpPr>
          <p:cNvPr id="10" name="TextBox 9"/>
          <p:cNvSpPr txBox="1"/>
          <p:nvPr/>
        </p:nvSpPr>
        <p:spPr>
          <a:xfrm>
            <a:off x="8522207" y="2322576"/>
            <a:ext cx="2971800" cy="26151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About 9 flags a week, 0.9 reviewer-hours.</a:t>
            </a:r>
          </a:p>
          <a:p>
            <a:pPr>
              <a:spcAft>
                <a:spcPts val="500"/>
              </a:spcAft>
            </a:pPr>
            <a:r>
              <a:rPr sz="1150" b="1">
                <a:solidFill>
                  <a:srgbClr val="FF6B6B"/>
                </a:solidFill>
                <a:latin typeface="Calibri"/>
              </a:rPr>
              <a:t>▸ </a:t>
            </a:r>
            <a:r>
              <a:rPr sz="1150">
                <a:solidFill>
                  <a:srgbClr val="333333"/>
                </a:solidFill>
                <a:latin typeface="Calibri"/>
              </a:rPr>
              <a:t>50 15-day candidates over the year.</a:t>
            </a:r>
          </a:p>
          <a:p>
            <a:pPr>
              <a:spcAft>
                <a:spcPts val="500"/>
              </a:spcAft>
            </a:pPr>
            <a:r>
              <a:rPr sz="1150" b="1">
                <a:solidFill>
                  <a:srgbClr val="FF6B6B"/>
                </a:solidFill>
                <a:latin typeface="Calibri"/>
              </a:rPr>
              <a:t>▸ </a:t>
            </a:r>
            <a:r>
              <a:rPr sz="1150">
                <a:solidFill>
                  <a:srgbClr val="333333"/>
                </a:solidFill>
                <a:latin typeface="Calibri"/>
              </a:rPr>
              <a:t>Safety mentions rise from June 2026.</a:t>
            </a:r>
          </a:p>
          <a:p>
            <a:pPr>
              <a:spcAft>
                <a:spcPts val="500"/>
              </a:spcAft>
            </a:pPr>
            <a:r>
              <a:rPr sz="1150" b="1">
                <a:solidFill>
                  <a:srgbClr val="FF6B6B"/>
                </a:solidFill>
                <a:latin typeface="Calibri"/>
              </a:rPr>
              <a:t>▸ </a:t>
            </a:r>
            <a:r>
              <a:rPr sz="1150">
                <a:solidFill>
                  <a:srgbClr val="333333"/>
                </a:solidFill>
                <a:latin typeface="Calibri"/>
              </a:rPr>
              <a:t>Reps are trained to report within one business day; the queue catches what the SOP missed, with the clock already running.</a:t>
            </a:r>
          </a:p>
        </p:txBody>
      </p:sp>
      <p:sp>
        <p:nvSpPr>
          <p:cNvPr id="11" name="TextBox 10"/>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Notebook §6.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5 · SIDE EFFECTS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Two rules the text brings with it</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27 / 37</a:t>
            </a:r>
          </a:p>
        </p:txBody>
      </p:sp>
      <p:sp>
        <p:nvSpPr>
          <p:cNvPr id="7" name="Rectangle 6"/>
          <p:cNvSpPr/>
          <p:nvPr/>
        </p:nvSpPr>
        <p:spPr>
          <a:xfrm>
            <a:off x="548640" y="1828800"/>
            <a:ext cx="5394960" cy="29260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3852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PHI in free text</a:t>
            </a:r>
          </a:p>
        </p:txBody>
      </p:sp>
      <p:sp>
        <p:nvSpPr>
          <p:cNvPr id="9" name="TextBox 8"/>
          <p:cNvSpPr txBox="1"/>
          <p:nvPr/>
        </p:nvSpPr>
        <p:spPr>
          <a:xfrm>
            <a:off x="658368" y="2322576"/>
            <a:ext cx="5166360" cy="2340864"/>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b="1" sz="1200">
                <a:solidFill>
                  <a:srgbClr val="1E2761"/>
                </a:solidFill>
                <a:latin typeface="Calibri"/>
              </a:rPr>
              <a:t>Found: </a:t>
            </a:r>
            <a:r>
              <a:rPr sz="1200">
                <a:solidFill>
                  <a:srgbClr val="333333"/>
                </a:solidFill>
                <a:latin typeface="Calibri"/>
              </a:rPr>
              <a:t>28 flagged notes with a name, DOB or MRN.</a:t>
            </a:r>
          </a:p>
          <a:p>
            <a:pPr>
              <a:spcAft>
                <a:spcPts val="500"/>
              </a:spcAft>
            </a:pPr>
            <a:r>
              <a:rPr sz="1200" b="1">
                <a:solidFill>
                  <a:srgbClr val="FF6B6B"/>
                </a:solidFill>
                <a:latin typeface="Calibri"/>
              </a:rPr>
              <a:t>▸ </a:t>
            </a:r>
            <a:r>
              <a:rPr b="1" sz="1200">
                <a:solidFill>
                  <a:srgbClr val="1E2761"/>
                </a:solidFill>
                <a:latin typeface="Calibri"/>
              </a:rPr>
              <a:t>Rule: </a:t>
            </a:r>
            <a:r>
              <a:rPr sz="1200">
                <a:solidFill>
                  <a:srgbClr val="333333"/>
                </a:solidFill>
                <a:latin typeface="Calibri"/>
              </a:rPr>
              <a:t>HIPAA Safe Harbor lists 18 identifiers to remove before text is de-identified (45 CFR 164.514(b)).</a:t>
            </a:r>
          </a:p>
          <a:p>
            <a:pPr>
              <a:spcAft>
                <a:spcPts val="500"/>
              </a:spcAft>
            </a:pPr>
            <a:r>
              <a:rPr sz="1200" b="1">
                <a:solidFill>
                  <a:srgbClr val="FF6B6B"/>
                </a:solidFill>
                <a:latin typeface="Calibri"/>
              </a:rPr>
              <a:t>▸ </a:t>
            </a:r>
            <a:r>
              <a:rPr b="1" sz="1200">
                <a:solidFill>
                  <a:srgbClr val="1E2761"/>
                </a:solidFill>
                <a:latin typeface="Calibri"/>
              </a:rPr>
              <a:t>Practice: </a:t>
            </a:r>
            <a:r>
              <a:rPr sz="1200">
                <a:solidFill>
                  <a:srgbClr val="333333"/>
                </a:solidFill>
                <a:latin typeface="Calibri"/>
              </a:rPr>
              <a:t>scrub at ingestion, and before any text leaves the firewall.</a:t>
            </a:r>
          </a:p>
        </p:txBody>
      </p:sp>
      <p:sp>
        <p:nvSpPr>
          <p:cNvPr id="10" name="Rectangle 9"/>
          <p:cNvSpPr/>
          <p:nvPr/>
        </p:nvSpPr>
        <p:spPr>
          <a:xfrm>
            <a:off x="6217920" y="1828800"/>
            <a:ext cx="5394960" cy="2926080"/>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93852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Off-label mentions</a:t>
            </a:r>
          </a:p>
        </p:txBody>
      </p:sp>
      <p:sp>
        <p:nvSpPr>
          <p:cNvPr id="12" name="TextBox 11"/>
          <p:cNvSpPr txBox="1"/>
          <p:nvPr/>
        </p:nvSpPr>
        <p:spPr>
          <a:xfrm>
            <a:off x="6327648" y="2322576"/>
            <a:ext cx="5166360" cy="2340864"/>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b="1" sz="1200">
                <a:solidFill>
                  <a:srgbClr val="1E2761"/>
                </a:solidFill>
                <a:latin typeface="Calibri"/>
              </a:rPr>
              <a:t>What: </a:t>
            </a:r>
            <a:r>
              <a:rPr sz="1200">
                <a:solidFill>
                  <a:srgbClr val="333333"/>
                </a:solidFill>
                <a:latin typeface="Calibri"/>
              </a:rPr>
              <a:t>unsolicited HCP questions about unapproved uses.</a:t>
            </a:r>
          </a:p>
          <a:p>
            <a:pPr>
              <a:spcAft>
                <a:spcPts val="500"/>
              </a:spcAft>
            </a:pPr>
            <a:r>
              <a:rPr sz="1200" b="1">
                <a:solidFill>
                  <a:srgbClr val="FF6B6B"/>
                </a:solidFill>
                <a:latin typeface="Calibri"/>
              </a:rPr>
              <a:t>▸ </a:t>
            </a:r>
            <a:r>
              <a:rPr b="1" sz="1200">
                <a:solidFill>
                  <a:srgbClr val="1E2761"/>
                </a:solidFill>
                <a:latin typeface="Calibri"/>
              </a:rPr>
              <a:t>Rule: </a:t>
            </a:r>
            <a:r>
              <a:rPr sz="1200">
                <a:solidFill>
                  <a:srgbClr val="333333"/>
                </a:solidFill>
                <a:latin typeface="Calibri"/>
              </a:rPr>
              <a:t>document, route to Medical Information; the rep does not engage.</a:t>
            </a:r>
          </a:p>
          <a:p>
            <a:pPr>
              <a:spcAft>
                <a:spcPts val="500"/>
              </a:spcAft>
            </a:pPr>
            <a:r>
              <a:rPr sz="1200" b="1">
                <a:solidFill>
                  <a:srgbClr val="FF6B6B"/>
                </a:solidFill>
                <a:latin typeface="Calibri"/>
              </a:rPr>
              <a:t>▸ </a:t>
            </a:r>
            <a:r>
              <a:rPr b="1" sz="1200">
                <a:solidFill>
                  <a:srgbClr val="1E2761"/>
                </a:solidFill>
                <a:latin typeface="Calibri"/>
              </a:rPr>
              <a:t>Model: </a:t>
            </a:r>
            <a:r>
              <a:rPr sz="1200">
                <a:solidFill>
                  <a:srgbClr val="333333"/>
                </a:solidFill>
                <a:latin typeface="Calibri"/>
              </a:rPr>
              <a:t>the same classifier family detects them (Field Guide exercise).</a:t>
            </a:r>
          </a:p>
        </p:txBody>
      </p:sp>
      <p:sp>
        <p:nvSpPr>
          <p:cNvPr id="13" name="TextBox 12"/>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45 CFR §164.514(b).</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06</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Other uses of the same tools</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Topics, social listening, routing, signals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7 — NLP in Pharma Commercial: Adverse Events, Field Notes and Social Listening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28 / 37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6 · THE MAP</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NLP use cases in pharma commercial</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29 / 37</a:t>
            </a:r>
          </a:p>
        </p:txBody>
      </p:sp>
      <p:graphicFrame>
        <p:nvGraphicFramePr>
          <p:cNvPr id="7" name="Table 6"/>
          <p:cNvGraphicFramePr>
            <a:graphicFrameLocks noGrp="1"/>
          </p:cNvGraphicFramePr>
          <p:nvPr/>
        </p:nvGraphicFramePr>
        <p:xfrm>
          <a:off x="548640" y="1828800"/>
          <a:ext cx="11064240" cy="3840480"/>
        </p:xfrm>
        <a:graphic>
          <a:graphicData uri="http://schemas.openxmlformats.org/drawingml/2006/table">
            <a:tbl>
              <a:tblPr firstRow="1" bandRow="1">
                <a:tableStyleId>{5C22544A-7EE6-4342-B048-85BDC9FD1C3A}</a:tableStyleId>
              </a:tblPr>
              <a:tblGrid>
                <a:gridCol w="2286000"/>
                <a:gridCol w="2011680"/>
                <a:gridCol w="2286000"/>
                <a:gridCol w="2743200"/>
                <a:gridCol w="1737360"/>
              </a:tblGrid>
              <a:tr h="384048">
                <a:tc>
                  <a:txBody>
                    <a:bodyPr wrap="square"/>
                    <a:lstStyle/>
                    <a:p>
                      <a:r>
                        <a:rPr sz="1050" b="1">
                          <a:solidFill>
                            <a:srgbClr val="FFFFFF"/>
                          </a:solidFill>
                          <a:latin typeface="Calibri"/>
                        </a:rPr>
                        <a:t>Use case</a:t>
                      </a:r>
                    </a:p>
                  </a:txBody>
                  <a:tcPr marL="54864" marR="54864" marT="27432" marB="27432">
                    <a:solidFill>
                      <a:srgbClr val="1E2761"/>
                    </a:solidFill>
                  </a:tcPr>
                </a:tc>
                <a:tc>
                  <a:txBody>
                    <a:bodyPr wrap="square"/>
                    <a:lstStyle/>
                    <a:p>
                      <a:r>
                        <a:rPr sz="1050" b="1">
                          <a:solidFill>
                            <a:srgbClr val="FFFFFF"/>
                          </a:solidFill>
                          <a:latin typeface="Calibri"/>
                        </a:rPr>
                        <a:t>Text</a:t>
                      </a:r>
                    </a:p>
                  </a:txBody>
                  <a:tcPr marL="54864" marR="54864" marT="27432" marB="27432">
                    <a:solidFill>
                      <a:srgbClr val="1E2761"/>
                    </a:solidFill>
                  </a:tcPr>
                </a:tc>
                <a:tc>
                  <a:txBody>
                    <a:bodyPr wrap="square"/>
                    <a:lstStyle/>
                    <a:p>
                      <a:r>
                        <a:rPr sz="1050" b="1">
                          <a:solidFill>
                            <a:srgbClr val="FFFFFF"/>
                          </a:solidFill>
                          <a:latin typeface="Calibri"/>
                        </a:rPr>
                        <a:t>Method</a:t>
                      </a:r>
                    </a:p>
                  </a:txBody>
                  <a:tcPr marL="54864" marR="54864" marT="27432" marB="27432">
                    <a:solidFill>
                      <a:srgbClr val="1E2761"/>
                    </a:solidFill>
                  </a:tcPr>
                </a:tc>
                <a:tc>
                  <a:txBody>
                    <a:bodyPr wrap="square"/>
                    <a:lstStyle/>
                    <a:p>
                      <a:r>
                        <a:rPr sz="1050" b="1">
                          <a:solidFill>
                            <a:srgbClr val="FFFFFF"/>
                          </a:solidFill>
                          <a:latin typeface="Calibri"/>
                        </a:rPr>
                        <a:t>Output</a:t>
                      </a:r>
                    </a:p>
                  </a:txBody>
                  <a:tcPr marL="54864" marR="54864" marT="27432" marB="27432">
                    <a:solidFill>
                      <a:srgbClr val="1E2761"/>
                    </a:solidFill>
                  </a:tcPr>
                </a:tc>
                <a:tc>
                  <a:txBody>
                    <a:bodyPr wrap="square"/>
                    <a:lstStyle/>
                    <a:p>
                      <a:r>
                        <a:rPr sz="1050" b="1">
                          <a:solidFill>
                            <a:srgbClr val="FFFFFF"/>
                          </a:solidFill>
                          <a:latin typeface="Calibri"/>
                        </a:rPr>
                        <a:t>Owner</a:t>
                      </a:r>
                    </a:p>
                  </a:txBody>
                  <a:tcPr marL="54864" marR="54864" marT="27432" marB="27432">
                    <a:solidFill>
                      <a:srgbClr val="1E2761"/>
                    </a:solidFill>
                  </a:tcPr>
                </a:tc>
              </a:tr>
              <a:tr h="384048">
                <a:tc>
                  <a:txBody>
                    <a:bodyPr wrap="square"/>
                    <a:lstStyle/>
                    <a:p>
                      <a:r>
                        <a:rPr sz="1050" b="1">
                          <a:solidFill>
                            <a:srgbClr val="1E2761"/>
                          </a:solidFill>
                          <a:latin typeface="Calibri"/>
                        </a:rPr>
                        <a:t>AE detection</a:t>
                      </a:r>
                    </a:p>
                  </a:txBody>
                  <a:tcPr marL="54864" marR="54864" marT="27432" marB="27432">
                    <a:solidFill>
                      <a:srgbClr val="FFFFFF"/>
                    </a:solidFill>
                  </a:tcPr>
                </a:tc>
                <a:tc>
                  <a:txBody>
                    <a:bodyPr wrap="square"/>
                    <a:lstStyle/>
                    <a:p>
                      <a:r>
                        <a:rPr sz="1050" b="0">
                          <a:solidFill>
                            <a:srgbClr val="333333"/>
                          </a:solidFill>
                          <a:latin typeface="Calibri"/>
                        </a:rPr>
                        <a:t>notes, posts, MI</a:t>
                      </a:r>
                    </a:p>
                  </a:txBody>
                  <a:tcPr marL="54864" marR="54864" marT="27432" marB="27432">
                    <a:solidFill>
                      <a:srgbClr val="FFFFFF"/>
                    </a:solidFill>
                  </a:tcPr>
                </a:tc>
                <a:tc>
                  <a:txBody>
                    <a:bodyPr wrap="square"/>
                    <a:lstStyle/>
                    <a:p>
                      <a:r>
                        <a:rPr sz="1050" b="0">
                          <a:solidFill>
                            <a:srgbClr val="333333"/>
                          </a:solidFill>
                          <a:latin typeface="Calibri"/>
                        </a:rPr>
                        <a:t>classifier + rules</a:t>
                      </a:r>
                    </a:p>
                  </a:txBody>
                  <a:tcPr marL="54864" marR="54864" marT="27432" marB="27432">
                    <a:solidFill>
                      <a:srgbClr val="FFFFFF"/>
                    </a:solidFill>
                  </a:tcPr>
                </a:tc>
                <a:tc>
                  <a:txBody>
                    <a:bodyPr wrap="square"/>
                    <a:lstStyle/>
                    <a:p>
                      <a:r>
                        <a:rPr sz="1050" b="0">
                          <a:solidFill>
                            <a:srgbClr val="333333"/>
                          </a:solidFill>
                          <a:latin typeface="Calibri"/>
                        </a:rPr>
                        <a:t>cases with due dates</a:t>
                      </a:r>
                    </a:p>
                  </a:txBody>
                  <a:tcPr marL="54864" marR="54864" marT="27432" marB="27432">
                    <a:solidFill>
                      <a:srgbClr val="FFFFFF"/>
                    </a:solidFill>
                  </a:tcPr>
                </a:tc>
                <a:tc>
                  <a:txBody>
                    <a:bodyPr wrap="square"/>
                    <a:lstStyle/>
                    <a:p>
                      <a:r>
                        <a:rPr sz="1050" b="0">
                          <a:solidFill>
                            <a:srgbClr val="333333"/>
                          </a:solidFill>
                          <a:latin typeface="Calibri"/>
                        </a:rPr>
                        <a:t>Safety</a:t>
                      </a:r>
                    </a:p>
                  </a:txBody>
                  <a:tcPr marL="54864" marR="54864" marT="27432" marB="27432">
                    <a:solidFill>
                      <a:srgbClr val="FFFFFF"/>
                    </a:solidFill>
                  </a:tcPr>
                </a:tc>
              </a:tr>
              <a:tr h="384048">
                <a:tc>
                  <a:txBody>
                    <a:bodyPr wrap="square"/>
                    <a:lstStyle/>
                    <a:p>
                      <a:r>
                        <a:rPr sz="1050" b="1">
                          <a:solidFill>
                            <a:srgbClr val="1E2761"/>
                          </a:solidFill>
                          <a:latin typeface="Calibri"/>
                        </a:rPr>
                        <a:t>What the field hears</a:t>
                      </a:r>
                    </a:p>
                  </a:txBody>
                  <a:tcPr marL="54864" marR="54864" marT="27432" marB="27432">
                    <a:solidFill>
                      <a:srgbClr val="F3F6FC"/>
                    </a:solidFill>
                  </a:tcPr>
                </a:tc>
                <a:tc>
                  <a:txBody>
                    <a:bodyPr wrap="square"/>
                    <a:lstStyle/>
                    <a:p>
                      <a:r>
                        <a:rPr sz="1050" b="0">
                          <a:solidFill>
                            <a:srgbClr val="333333"/>
                          </a:solidFill>
                          <a:latin typeface="Calibri"/>
                        </a:rPr>
                        <a:t>call notes</a:t>
                      </a:r>
                    </a:p>
                  </a:txBody>
                  <a:tcPr marL="54864" marR="54864" marT="27432" marB="27432">
                    <a:solidFill>
                      <a:srgbClr val="F3F6FC"/>
                    </a:solidFill>
                  </a:tcPr>
                </a:tc>
                <a:tc>
                  <a:txBody>
                    <a:bodyPr wrap="square"/>
                    <a:lstStyle/>
                    <a:p>
                      <a:r>
                        <a:rPr sz="1050" b="0">
                          <a:solidFill>
                            <a:srgbClr val="333333"/>
                          </a:solidFill>
                          <a:latin typeface="Calibri"/>
                        </a:rPr>
                        <a:t>topic model, rolled up</a:t>
                      </a:r>
                    </a:p>
                  </a:txBody>
                  <a:tcPr marL="54864" marR="54864" marT="27432" marB="27432">
                    <a:solidFill>
                      <a:srgbClr val="F3F6FC"/>
                    </a:solidFill>
                  </a:tcPr>
                </a:tc>
                <a:tc>
                  <a:txBody>
                    <a:bodyPr wrap="square"/>
                    <a:lstStyle/>
                    <a:p>
                      <a:r>
                        <a:rPr sz="1050" b="0">
                          <a:solidFill>
                            <a:srgbClr val="333333"/>
                          </a:solidFill>
                          <a:latin typeface="Calibri"/>
                        </a:rPr>
                        <a:t>theme share by month, segment</a:t>
                      </a:r>
                    </a:p>
                  </a:txBody>
                  <a:tcPr marL="54864" marR="54864" marT="27432" marB="27432">
                    <a:solidFill>
                      <a:srgbClr val="F3F6FC"/>
                    </a:solidFill>
                  </a:tcPr>
                </a:tc>
                <a:tc>
                  <a:txBody>
                    <a:bodyPr wrap="square"/>
                    <a:lstStyle/>
                    <a:p>
                      <a:r>
                        <a:rPr sz="1050" b="0">
                          <a:solidFill>
                            <a:srgbClr val="333333"/>
                          </a:solidFill>
                          <a:latin typeface="Calibri"/>
                        </a:rPr>
                        <a:t>Brand, insights</a:t>
                      </a:r>
                    </a:p>
                  </a:txBody>
                  <a:tcPr marL="54864" marR="54864" marT="27432" marB="27432">
                    <a:solidFill>
                      <a:srgbClr val="F3F6FC"/>
                    </a:solidFill>
                  </a:tcPr>
                </a:tc>
              </a:tr>
              <a:tr h="384048">
                <a:tc>
                  <a:txBody>
                    <a:bodyPr wrap="square"/>
                    <a:lstStyle/>
                    <a:p>
                      <a:r>
                        <a:rPr sz="1050" b="1">
                          <a:solidFill>
                            <a:srgbClr val="1E2761"/>
                          </a:solidFill>
                          <a:latin typeface="Calibri"/>
                        </a:rPr>
                        <a:t>HCP sentiment</a:t>
                      </a:r>
                    </a:p>
                  </a:txBody>
                  <a:tcPr marL="54864" marR="54864" marT="27432" marB="27432">
                    <a:solidFill>
                      <a:srgbClr val="FFFFFF"/>
                    </a:solidFill>
                  </a:tcPr>
                </a:tc>
                <a:tc>
                  <a:txBody>
                    <a:bodyPr wrap="square"/>
                    <a:lstStyle/>
                    <a:p>
                      <a:r>
                        <a:rPr sz="1050" b="0">
                          <a:solidFill>
                            <a:srgbClr val="333333"/>
                          </a:solidFill>
                          <a:latin typeface="Calibri"/>
                        </a:rPr>
                        <a:t>notes, surveys, ad boards</a:t>
                      </a:r>
                    </a:p>
                  </a:txBody>
                  <a:tcPr marL="54864" marR="54864" marT="27432" marB="27432">
                    <a:solidFill>
                      <a:srgbClr val="FFFFFF"/>
                    </a:solidFill>
                  </a:tcPr>
                </a:tc>
                <a:tc>
                  <a:txBody>
                    <a:bodyPr wrap="square"/>
                    <a:lstStyle/>
                    <a:p>
                      <a:r>
                        <a:rPr sz="1050" b="0">
                          <a:solidFill>
                            <a:srgbClr val="333333"/>
                          </a:solidFill>
                          <a:latin typeface="Calibri"/>
                        </a:rPr>
                        <a:t>lexicon or classifier</a:t>
                      </a:r>
                    </a:p>
                  </a:txBody>
                  <a:tcPr marL="54864" marR="54864" marT="27432" marB="27432">
                    <a:solidFill>
                      <a:srgbClr val="FFFFFF"/>
                    </a:solidFill>
                  </a:tcPr>
                </a:tc>
                <a:tc>
                  <a:txBody>
                    <a:bodyPr wrap="square"/>
                    <a:lstStyle/>
                    <a:p>
                      <a:r>
                        <a:rPr sz="1050" b="0">
                          <a:solidFill>
                            <a:srgbClr val="333333"/>
                          </a:solidFill>
                          <a:latin typeface="Calibri"/>
                        </a:rPr>
                        <a:t>negative share, drivers</a:t>
                      </a:r>
                    </a:p>
                  </a:txBody>
                  <a:tcPr marL="54864" marR="54864" marT="27432" marB="27432">
                    <a:solidFill>
                      <a:srgbClr val="FFFFFF"/>
                    </a:solidFill>
                  </a:tcPr>
                </a:tc>
                <a:tc>
                  <a:txBody>
                    <a:bodyPr wrap="square"/>
                    <a:lstStyle/>
                    <a:p>
                      <a:r>
                        <a:rPr sz="1050" b="0">
                          <a:solidFill>
                            <a:srgbClr val="333333"/>
                          </a:solidFill>
                          <a:latin typeface="Calibri"/>
                        </a:rPr>
                        <a:t>Brand</a:t>
                      </a:r>
                    </a:p>
                  </a:txBody>
                  <a:tcPr marL="54864" marR="54864" marT="27432" marB="27432">
                    <a:solidFill>
                      <a:srgbClr val="FFFFFF"/>
                    </a:solidFill>
                  </a:tcPr>
                </a:tc>
              </a:tr>
              <a:tr h="384048">
                <a:tc>
                  <a:txBody>
                    <a:bodyPr wrap="square"/>
                    <a:lstStyle/>
                    <a:p>
                      <a:r>
                        <a:rPr sz="1050" b="1">
                          <a:solidFill>
                            <a:srgbClr val="1E2761"/>
                          </a:solidFill>
                          <a:latin typeface="Calibri"/>
                        </a:rPr>
                        <a:t>Social listening</a:t>
                      </a:r>
                    </a:p>
                  </a:txBody>
                  <a:tcPr marL="54864" marR="54864" marT="27432" marB="27432">
                    <a:solidFill>
                      <a:srgbClr val="F3F6FC"/>
                    </a:solidFill>
                  </a:tcPr>
                </a:tc>
                <a:tc>
                  <a:txBody>
                    <a:bodyPr wrap="square"/>
                    <a:lstStyle/>
                    <a:p>
                      <a:r>
                        <a:rPr sz="1050" b="0">
                          <a:solidFill>
                            <a:srgbClr val="333333"/>
                          </a:solidFill>
                          <a:latin typeface="Calibri"/>
                        </a:rPr>
                        <a:t>forums, social</a:t>
                      </a:r>
                    </a:p>
                  </a:txBody>
                  <a:tcPr marL="54864" marR="54864" marT="27432" marB="27432">
                    <a:solidFill>
                      <a:srgbClr val="F3F6FC"/>
                    </a:solidFill>
                  </a:tcPr>
                </a:tc>
                <a:tc>
                  <a:txBody>
                    <a:bodyPr wrap="square"/>
                    <a:lstStyle/>
                    <a:p>
                      <a:r>
                        <a:rPr sz="1050" b="0">
                          <a:solidFill>
                            <a:srgbClr val="333333"/>
                          </a:solidFill>
                          <a:latin typeface="Calibri"/>
                        </a:rPr>
                        <a:t>classifier with own labels</a:t>
                      </a:r>
                    </a:p>
                  </a:txBody>
                  <a:tcPr marL="54864" marR="54864" marT="27432" marB="27432">
                    <a:solidFill>
                      <a:srgbClr val="F3F6FC"/>
                    </a:solidFill>
                  </a:tcPr>
                </a:tc>
                <a:tc>
                  <a:txBody>
                    <a:bodyPr wrap="square"/>
                    <a:lstStyle/>
                    <a:p>
                      <a:r>
                        <a:rPr sz="1050" b="0">
                          <a:solidFill>
                            <a:srgbClr val="333333"/>
                          </a:solidFill>
                          <a:latin typeface="Calibri"/>
                        </a:rPr>
                        <a:t>tolerability themes, patient language</a:t>
                      </a:r>
                    </a:p>
                  </a:txBody>
                  <a:tcPr marL="54864" marR="54864" marT="27432" marB="27432">
                    <a:solidFill>
                      <a:srgbClr val="F3F6FC"/>
                    </a:solidFill>
                  </a:tcPr>
                </a:tc>
                <a:tc>
                  <a:txBody>
                    <a:bodyPr wrap="square"/>
                    <a:lstStyle/>
                    <a:p>
                      <a:r>
                        <a:rPr sz="1050" b="0">
                          <a:solidFill>
                            <a:srgbClr val="333333"/>
                          </a:solidFill>
                          <a:latin typeface="Calibri"/>
                        </a:rPr>
                        <a:t>Insights, Safety</a:t>
                      </a:r>
                    </a:p>
                  </a:txBody>
                  <a:tcPr marL="54864" marR="54864" marT="27432" marB="27432">
                    <a:solidFill>
                      <a:srgbClr val="F3F6FC"/>
                    </a:solidFill>
                  </a:tcPr>
                </a:tc>
              </a:tr>
              <a:tr h="384048">
                <a:tc>
                  <a:txBody>
                    <a:bodyPr wrap="square"/>
                    <a:lstStyle/>
                    <a:p>
                      <a:r>
                        <a:rPr sz="1050" b="1">
                          <a:solidFill>
                            <a:srgbClr val="1E2761"/>
                          </a:solidFill>
                          <a:latin typeface="Calibri"/>
                        </a:rPr>
                        <a:t>MI routing</a:t>
                      </a:r>
                    </a:p>
                  </a:txBody>
                  <a:tcPr marL="54864" marR="54864" marT="27432" marB="27432">
                    <a:solidFill>
                      <a:srgbClr val="FFFFFF"/>
                    </a:solidFill>
                  </a:tcPr>
                </a:tc>
                <a:tc>
                  <a:txBody>
                    <a:bodyPr wrap="square"/>
                    <a:lstStyle/>
                    <a:p>
                      <a:r>
                        <a:rPr sz="1050" b="0">
                          <a:solidFill>
                            <a:srgbClr val="333333"/>
                          </a:solidFill>
                          <a:latin typeface="Calibri"/>
                        </a:rPr>
                        <a:t>inquiries</a:t>
                      </a:r>
                    </a:p>
                  </a:txBody>
                  <a:tcPr marL="54864" marR="54864" marT="27432" marB="27432">
                    <a:solidFill>
                      <a:srgbClr val="FFFFFF"/>
                    </a:solidFill>
                  </a:tcPr>
                </a:tc>
                <a:tc>
                  <a:txBody>
                    <a:bodyPr wrap="square"/>
                    <a:lstStyle/>
                    <a:p>
                      <a:r>
                        <a:rPr sz="1050" b="0">
                          <a:solidFill>
                            <a:srgbClr val="333333"/>
                          </a:solidFill>
                          <a:latin typeface="Calibri"/>
                        </a:rPr>
                        <a:t>intent classifier</a:t>
                      </a:r>
                    </a:p>
                  </a:txBody>
                  <a:tcPr marL="54864" marR="54864" marT="27432" marB="27432">
                    <a:solidFill>
                      <a:srgbClr val="FFFFFF"/>
                    </a:solidFill>
                  </a:tcPr>
                </a:tc>
                <a:tc>
                  <a:txBody>
                    <a:bodyPr wrap="square"/>
                    <a:lstStyle/>
                    <a:p>
                      <a:r>
                        <a:rPr sz="1050" b="0">
                          <a:solidFill>
                            <a:srgbClr val="333333"/>
                          </a:solidFill>
                          <a:latin typeface="Calibri"/>
                        </a:rPr>
                        <a:t>queue assignment</a:t>
                      </a:r>
                    </a:p>
                  </a:txBody>
                  <a:tcPr marL="54864" marR="54864" marT="27432" marB="27432">
                    <a:solidFill>
                      <a:srgbClr val="FFFFFF"/>
                    </a:solidFill>
                  </a:tcPr>
                </a:tc>
                <a:tc>
                  <a:txBody>
                    <a:bodyPr wrap="square"/>
                    <a:lstStyle/>
                    <a:p>
                      <a:r>
                        <a:rPr sz="1050" b="0">
                          <a:solidFill>
                            <a:srgbClr val="333333"/>
                          </a:solidFill>
                          <a:latin typeface="Calibri"/>
                        </a:rPr>
                        <a:t>Medical Information</a:t>
                      </a:r>
                    </a:p>
                  </a:txBody>
                  <a:tcPr marL="54864" marR="54864" marT="27432" marB="27432">
                    <a:solidFill>
                      <a:srgbClr val="FFFFFF"/>
                    </a:solidFill>
                  </a:tcPr>
                </a:tc>
              </a:tr>
              <a:tr h="384048">
                <a:tc>
                  <a:txBody>
                    <a:bodyPr wrap="square"/>
                    <a:lstStyle/>
                    <a:p>
                      <a:r>
                        <a:rPr sz="1050" b="1">
                          <a:solidFill>
                            <a:srgbClr val="1E2761"/>
                          </a:solidFill>
                          <a:latin typeface="Calibri"/>
                        </a:rPr>
                        <a:t>Semantic search</a:t>
                      </a:r>
                    </a:p>
                  </a:txBody>
                  <a:tcPr marL="54864" marR="54864" marT="27432" marB="27432">
                    <a:solidFill>
                      <a:srgbClr val="F3F6FC"/>
                    </a:solidFill>
                  </a:tcPr>
                </a:tc>
                <a:tc>
                  <a:txBody>
                    <a:bodyPr wrap="square"/>
                    <a:lstStyle/>
                    <a:p>
                      <a:r>
                        <a:rPr sz="1050" b="0">
                          <a:solidFill>
                            <a:srgbClr val="333333"/>
                          </a:solidFill>
                          <a:latin typeface="Calibri"/>
                        </a:rPr>
                        <a:t>approved content, notes</a:t>
                      </a:r>
                    </a:p>
                  </a:txBody>
                  <a:tcPr marL="54864" marR="54864" marT="27432" marB="27432">
                    <a:solidFill>
                      <a:srgbClr val="F3F6FC"/>
                    </a:solidFill>
                  </a:tcPr>
                </a:tc>
                <a:tc>
                  <a:txBody>
                    <a:bodyPr wrap="square"/>
                    <a:lstStyle/>
                    <a:p>
                      <a:r>
                        <a:rPr sz="1050" b="0">
                          <a:solidFill>
                            <a:srgbClr val="333333"/>
                          </a:solidFill>
                          <a:latin typeface="Calibri"/>
                        </a:rPr>
                        <a:t>embeddings</a:t>
                      </a:r>
                    </a:p>
                  </a:txBody>
                  <a:tcPr marL="54864" marR="54864" marT="27432" marB="27432">
                    <a:solidFill>
                      <a:srgbClr val="F3F6FC"/>
                    </a:solidFill>
                  </a:tcPr>
                </a:tc>
                <a:tc>
                  <a:txBody>
                    <a:bodyPr wrap="square"/>
                    <a:lstStyle/>
                    <a:p>
                      <a:r>
                        <a:rPr sz="1050" b="0">
                          <a:solidFill>
                            <a:srgbClr val="333333"/>
                          </a:solidFill>
                          <a:latin typeface="Calibri"/>
                        </a:rPr>
                        <a:t>retrieval for reps, MSLs, MI</a:t>
                      </a:r>
                    </a:p>
                  </a:txBody>
                  <a:tcPr marL="54864" marR="54864" marT="27432" marB="27432">
                    <a:solidFill>
                      <a:srgbClr val="F3F6FC"/>
                    </a:solidFill>
                  </a:tcPr>
                </a:tc>
                <a:tc>
                  <a:txBody>
                    <a:bodyPr wrap="square"/>
                    <a:lstStyle/>
                    <a:p>
                      <a:r>
                        <a:rPr sz="1050" b="0">
                          <a:solidFill>
                            <a:srgbClr val="333333"/>
                          </a:solidFill>
                          <a:latin typeface="Calibri"/>
                        </a:rPr>
                        <a:t>Medical, commercial ops</a:t>
                      </a:r>
                    </a:p>
                  </a:txBody>
                  <a:tcPr marL="54864" marR="54864" marT="27432" marB="27432">
                    <a:solidFill>
                      <a:srgbClr val="F3F6FC"/>
                    </a:solidFill>
                  </a:tcPr>
                </a:tc>
              </a:tr>
              <a:tr h="384048">
                <a:tc>
                  <a:txBody>
                    <a:bodyPr wrap="square"/>
                    <a:lstStyle/>
                    <a:p>
                      <a:r>
                        <a:rPr sz="1050" b="1">
                          <a:solidFill>
                            <a:srgbClr val="1E2761"/>
                          </a:solidFill>
                          <a:latin typeface="Calibri"/>
                        </a:rPr>
                        <a:t>Literature and chart review</a:t>
                      </a:r>
                    </a:p>
                  </a:txBody>
                  <a:tcPr marL="54864" marR="54864" marT="27432" marB="27432">
                    <a:solidFill>
                      <a:srgbClr val="FFFFFF"/>
                    </a:solidFill>
                  </a:tcPr>
                </a:tc>
                <a:tc>
                  <a:txBody>
                    <a:bodyPr wrap="square"/>
                    <a:lstStyle/>
                    <a:p>
                      <a:r>
                        <a:rPr sz="1050" b="0">
                          <a:solidFill>
                            <a:srgbClr val="333333"/>
                          </a:solidFill>
                          <a:latin typeface="Calibri"/>
                        </a:rPr>
                        <a:t>papers, EMR notes</a:t>
                      </a:r>
                    </a:p>
                  </a:txBody>
                  <a:tcPr marL="54864" marR="54864" marT="27432" marB="27432">
                    <a:solidFill>
                      <a:srgbClr val="FFFFFF"/>
                    </a:solidFill>
                  </a:tcPr>
                </a:tc>
                <a:tc>
                  <a:txBody>
                    <a:bodyPr wrap="square"/>
                    <a:lstStyle/>
                    <a:p>
                      <a:r>
                        <a:rPr sz="1050" b="0">
                          <a:solidFill>
                            <a:srgbClr val="333333"/>
                          </a:solidFill>
                          <a:latin typeface="Calibri"/>
                        </a:rPr>
                        <a:t>screening models, NER</a:t>
                      </a:r>
                    </a:p>
                  </a:txBody>
                  <a:tcPr marL="54864" marR="54864" marT="27432" marB="27432">
                    <a:solidFill>
                      <a:srgbClr val="FFFFFF"/>
                    </a:solidFill>
                  </a:tcPr>
                </a:tc>
                <a:tc>
                  <a:txBody>
                    <a:bodyPr wrap="square"/>
                    <a:lstStyle/>
                    <a:p>
                      <a:r>
                        <a:rPr sz="1050" b="0">
                          <a:solidFill>
                            <a:srgbClr val="333333"/>
                          </a:solidFill>
                          <a:latin typeface="Calibri"/>
                        </a:rPr>
                        <a:t>evidence tables, RWE variables</a:t>
                      </a:r>
                    </a:p>
                  </a:txBody>
                  <a:tcPr marL="54864" marR="54864" marT="27432" marB="27432">
                    <a:solidFill>
                      <a:srgbClr val="FFFFFF"/>
                    </a:solidFill>
                  </a:tcPr>
                </a:tc>
                <a:tc>
                  <a:txBody>
                    <a:bodyPr wrap="square"/>
                    <a:lstStyle/>
                    <a:p>
                      <a:r>
                        <a:rPr sz="1050" b="0">
                          <a:solidFill>
                            <a:srgbClr val="333333"/>
                          </a:solidFill>
                          <a:latin typeface="Calibri"/>
                        </a:rPr>
                        <a:t>Medical Affairs</a:t>
                      </a:r>
                    </a:p>
                  </a:txBody>
                  <a:tcPr marL="54864" marR="54864" marT="27432" marB="27432">
                    <a:solidFill>
                      <a:srgbClr val="FFFFFF"/>
                    </a:solidFill>
                  </a:tcPr>
                </a:tc>
              </a:tr>
              <a:tr h="384048">
                <a:tc>
                  <a:txBody>
                    <a:bodyPr wrap="square"/>
                    <a:lstStyle/>
                    <a:p>
                      <a:r>
                        <a:rPr sz="1050" b="1">
                          <a:solidFill>
                            <a:srgbClr val="1E2761"/>
                          </a:solidFill>
                          <a:latin typeface="Calibri"/>
                        </a:rPr>
                        <a:t>KOL profiling</a:t>
                      </a:r>
                    </a:p>
                  </a:txBody>
                  <a:tcPr marL="54864" marR="54864" marT="27432" marB="27432">
                    <a:solidFill>
                      <a:srgbClr val="F3F6FC"/>
                    </a:solidFill>
                  </a:tcPr>
                </a:tc>
                <a:tc>
                  <a:txBody>
                    <a:bodyPr wrap="square"/>
                    <a:lstStyle/>
                    <a:p>
                      <a:r>
                        <a:rPr sz="1050" b="0">
                          <a:solidFill>
                            <a:srgbClr val="333333"/>
                          </a:solidFill>
                          <a:latin typeface="Calibri"/>
                        </a:rPr>
                        <a:t>publications, abstracts</a:t>
                      </a:r>
                    </a:p>
                  </a:txBody>
                  <a:tcPr marL="54864" marR="54864" marT="27432" marB="27432">
                    <a:solidFill>
                      <a:srgbClr val="F3F6FC"/>
                    </a:solidFill>
                  </a:tcPr>
                </a:tc>
                <a:tc>
                  <a:txBody>
                    <a:bodyPr wrap="square"/>
                    <a:lstStyle/>
                    <a:p>
                      <a:r>
                        <a:rPr sz="1050" b="0">
                          <a:solidFill>
                            <a:srgbClr val="333333"/>
                          </a:solidFill>
                          <a:latin typeface="Calibri"/>
                        </a:rPr>
                        <a:t>NER, topics, networks</a:t>
                      </a:r>
                    </a:p>
                  </a:txBody>
                  <a:tcPr marL="54864" marR="54864" marT="27432" marB="27432">
                    <a:solidFill>
                      <a:srgbClr val="F3F6FC"/>
                    </a:solidFill>
                  </a:tcPr>
                </a:tc>
                <a:tc>
                  <a:txBody>
                    <a:bodyPr wrap="square"/>
                    <a:lstStyle/>
                    <a:p>
                      <a:r>
                        <a:rPr sz="1050" b="0">
                          <a:solidFill>
                            <a:srgbClr val="333333"/>
                          </a:solidFill>
                          <a:latin typeface="Calibri"/>
                        </a:rPr>
                        <a:t>expert maps</a:t>
                      </a:r>
                    </a:p>
                  </a:txBody>
                  <a:tcPr marL="54864" marR="54864" marT="27432" marB="27432">
                    <a:solidFill>
                      <a:srgbClr val="F3F6FC"/>
                    </a:solidFill>
                  </a:tcPr>
                </a:tc>
                <a:tc>
                  <a:txBody>
                    <a:bodyPr wrap="square"/>
                    <a:lstStyle/>
                    <a:p>
                      <a:r>
                        <a:rPr sz="1050" b="0">
                          <a:solidFill>
                            <a:srgbClr val="333333"/>
                          </a:solidFill>
                          <a:latin typeface="Calibri"/>
                        </a:rPr>
                        <a:t>Medical Affairs</a:t>
                      </a:r>
                    </a:p>
                  </a:txBody>
                  <a:tcPr marL="54864" marR="54864" marT="27432" marB="27432">
                    <a:solidFill>
                      <a:srgbClr val="F3F6FC"/>
                    </a:solidFill>
                  </a:tcPr>
                </a:tc>
              </a:tr>
              <a:tr h="384048">
                <a:tc>
                  <a:txBody>
                    <a:bodyPr wrap="square"/>
                    <a:lstStyle/>
                    <a:p>
                      <a:r>
                        <a:rPr sz="1050" b="1">
                          <a:solidFill>
                            <a:srgbClr val="1E2761"/>
                          </a:solidFill>
                          <a:latin typeface="Calibri"/>
                        </a:rPr>
                        <a:t>Signal detection</a:t>
                      </a:r>
                    </a:p>
                  </a:txBody>
                  <a:tcPr marL="54864" marR="54864" marT="27432" marB="27432">
                    <a:solidFill>
                      <a:srgbClr val="FFFFFF"/>
                    </a:solidFill>
                  </a:tcPr>
                </a:tc>
                <a:tc>
                  <a:txBody>
                    <a:bodyPr wrap="square"/>
                    <a:lstStyle/>
                    <a:p>
                      <a:r>
                        <a:rPr sz="1050" b="0">
                          <a:solidFill>
                            <a:srgbClr val="333333"/>
                          </a:solidFill>
                          <a:latin typeface="Calibri"/>
                        </a:rPr>
                        <a:t>the safety database</a:t>
                      </a:r>
                    </a:p>
                  </a:txBody>
                  <a:tcPr marL="54864" marR="54864" marT="27432" marB="27432">
                    <a:solidFill>
                      <a:srgbClr val="FFFFFF"/>
                    </a:solidFill>
                  </a:tcPr>
                </a:tc>
                <a:tc>
                  <a:txBody>
                    <a:bodyPr wrap="square"/>
                    <a:lstStyle/>
                    <a:p>
                      <a:r>
                        <a:rPr sz="1050" b="0">
                          <a:solidFill>
                            <a:srgbClr val="333333"/>
                          </a:solidFill>
                          <a:latin typeface="Calibri"/>
                        </a:rPr>
                        <a:t>disproportionality</a:t>
                      </a:r>
                    </a:p>
                  </a:txBody>
                  <a:tcPr marL="54864" marR="54864" marT="27432" marB="27432">
                    <a:solidFill>
                      <a:srgbClr val="FFFFFF"/>
                    </a:solidFill>
                  </a:tcPr>
                </a:tc>
                <a:tc>
                  <a:txBody>
                    <a:bodyPr wrap="square"/>
                    <a:lstStyle/>
                    <a:p>
                      <a:r>
                        <a:rPr sz="1050" b="0">
                          <a:solidFill>
                            <a:srgbClr val="333333"/>
                          </a:solidFill>
                          <a:latin typeface="Calibri"/>
                        </a:rPr>
                        <a:t>signals for committee review</a:t>
                      </a:r>
                    </a:p>
                  </a:txBody>
                  <a:tcPr marL="54864" marR="54864" marT="27432" marB="27432">
                    <a:solidFill>
                      <a:srgbClr val="FFFFFF"/>
                    </a:solidFill>
                  </a:tcPr>
                </a:tc>
                <a:tc>
                  <a:txBody>
                    <a:bodyPr wrap="square"/>
                    <a:lstStyle/>
                    <a:p>
                      <a:r>
                        <a:rPr sz="1050" b="0">
                          <a:solidFill>
                            <a:srgbClr val="333333"/>
                          </a:solidFill>
                          <a:latin typeface="Calibri"/>
                        </a:rPr>
                        <a:t>PV</a:t>
                      </a:r>
                    </a:p>
                  </a:txBody>
                  <a:tcPr marL="54864" marR="54864" marT="27432" marB="27432">
                    <a:solidFill>
                      <a:srgbClr val="FFFFFF"/>
                    </a:solidFill>
                  </a:tcPr>
                </a:tc>
              </a:tr>
            </a:tbl>
          </a:graphicData>
        </a:graphic>
      </p:graphicFrame>
      <p:sp>
        <p:nvSpPr>
          <p:cNvPr id="8" name="TextBox 7"/>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IQVIA, AI in Medical Affairs (2025); IQVIA, Harnessing AI to Innovate Medical Information (2025).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6 · WHAT THE FIELD HEARS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Theme share by month</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30 / 37</a:t>
            </a:r>
          </a:p>
        </p:txBody>
      </p:sp>
      <p:pic>
        <p:nvPicPr>
          <p:cNvPr id="7" name="Picture 6" descr="topic_share.png"/>
          <p:cNvPicPr>
            <a:picLocks noChangeAspect="1"/>
          </p:cNvPicPr>
          <p:nvPr/>
        </p:nvPicPr>
        <p:blipFill>
          <a:blip r:embed="rId2"/>
          <a:stretch>
            <a:fillRect/>
          </a:stretch>
        </p:blipFill>
        <p:spPr>
          <a:xfrm>
            <a:off x="548640" y="1828800"/>
            <a:ext cx="7315200" cy="2881745"/>
          </a:xfrm>
          <a:prstGeom prst="rect">
            <a:avLst/>
          </a:prstGeom>
        </p:spPr>
      </p:pic>
      <p:sp>
        <p:nvSpPr>
          <p:cNvPr id="8" name="Rectangle 7"/>
          <p:cNvSpPr/>
          <p:nvPr/>
        </p:nvSpPr>
        <p:spPr>
          <a:xfrm>
            <a:off x="8046720" y="1828800"/>
            <a:ext cx="3566160" cy="35661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80" y="1938528"/>
            <a:ext cx="3291840" cy="365760"/>
          </a:xfrm>
          <a:prstGeom prst="rect">
            <a:avLst/>
          </a:prstGeom>
          <a:noFill/>
        </p:spPr>
        <p:txBody>
          <a:bodyPr wrap="square" lIns="45720" rIns="45720" tIns="27432" bIns="27432" anchor="t">
            <a:spAutoFit/>
          </a:bodyPr>
          <a:lstStyle/>
          <a:p>
            <a:pPr algn="l"/>
            <a:r>
              <a:rPr sz="1400" b="1" i="0">
                <a:solidFill>
                  <a:srgbClr val="1E2761"/>
                </a:solidFill>
                <a:latin typeface="Calibri"/>
              </a:rPr>
              <a:t>Reading it</a:t>
            </a:r>
          </a:p>
        </p:txBody>
      </p:sp>
      <p:sp>
        <p:nvSpPr>
          <p:cNvPr id="10" name="TextBox 9"/>
          <p:cNvSpPr txBox="1"/>
          <p:nvPr/>
        </p:nvSpPr>
        <p:spPr>
          <a:xfrm>
            <a:off x="8156448" y="2322576"/>
            <a:ext cx="3337560" cy="2980944"/>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Safety share 18% before June, 25% after.</a:t>
            </a:r>
          </a:p>
          <a:p>
            <a:pPr>
              <a:spcAft>
                <a:spcPts val="500"/>
              </a:spcAft>
            </a:pPr>
            <a:r>
              <a:rPr sz="1100" b="1">
                <a:solidFill>
                  <a:srgbClr val="FF6B6B"/>
                </a:solidFill>
                <a:latin typeface="Calibri"/>
              </a:rPr>
              <a:t>▸ </a:t>
            </a:r>
            <a:r>
              <a:rPr sz="1100">
                <a:solidFill>
                  <a:srgbClr val="333333"/>
                </a:solidFill>
                <a:latin typeface="Calibri"/>
              </a:rPr>
              <a:t>Access is the largest theme (945 notes), 37% negative.</a:t>
            </a:r>
          </a:p>
          <a:p>
            <a:pPr>
              <a:spcAft>
                <a:spcPts val="500"/>
              </a:spcAft>
            </a:pPr>
            <a:r>
              <a:rPr sz="1100" b="1">
                <a:solidFill>
                  <a:srgbClr val="FF6B6B"/>
                </a:solidFill>
                <a:latin typeface="Calibri"/>
              </a:rPr>
              <a:t>▸ </a:t>
            </a:r>
            <a:r>
              <a:rPr sz="1100">
                <a:solidFill>
                  <a:srgbClr val="333333"/>
                </a:solidFill>
                <a:latin typeface="Calibri"/>
              </a:rPr>
              <a:t>NMF finds sub-themes (PA, copay, Medicare gap); we roll them up and assign safety with the detector.</a:t>
            </a:r>
          </a:p>
          <a:p>
            <a:pPr>
              <a:spcAft>
                <a:spcPts val="500"/>
              </a:spcAft>
            </a:pPr>
            <a:r>
              <a:rPr sz="1100" b="1">
                <a:solidFill>
                  <a:srgbClr val="FF6B6B"/>
                </a:solidFill>
                <a:latin typeface="Calibri"/>
              </a:rPr>
              <a:t>▸ </a:t>
            </a:r>
            <a:r>
              <a:rPr sz="1100">
                <a:solidFill>
                  <a:srgbClr val="333333"/>
                </a:solidFill>
                <a:latin typeface="Calibri"/>
              </a:rPr>
              <a:t>Competitor mentions track the CARDIVEX label update (notebook §7).</a:t>
            </a:r>
          </a:p>
        </p:txBody>
      </p:sp>
      <p:sp>
        <p:nvSpPr>
          <p:cNvPr id="11" name="TextBox 10"/>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Lee &amp; Seung 1999 (NMF); Blei, Ng &amp; Jordan 2003 (LDA); Grootendorst 2022 (BERTopic); Hutto &amp; Gilbert 2014 (sentiment lexicon). Notebook §7.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6 · SOCIAL LISTENING</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The same detector on patient posts</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31 / 37</a:t>
            </a:r>
          </a:p>
        </p:txBody>
      </p:sp>
      <p:graphicFrame>
        <p:nvGraphicFramePr>
          <p:cNvPr id="7" name="Table 6"/>
          <p:cNvGraphicFramePr>
            <a:graphicFrameLocks noGrp="1"/>
          </p:cNvGraphicFramePr>
          <p:nvPr/>
        </p:nvGraphicFramePr>
        <p:xfrm>
          <a:off x="548640" y="1828800"/>
          <a:ext cx="5852160" cy="1645920"/>
        </p:xfrm>
        <a:graphic>
          <a:graphicData uri="http://schemas.openxmlformats.org/drawingml/2006/table">
            <a:tbl>
              <a:tblPr firstRow="1" bandRow="1">
                <a:tableStyleId>{5C22544A-7EE6-4342-B048-85BDC9FD1C3A}</a:tableStyleId>
              </a:tblPr>
              <a:tblGrid>
                <a:gridCol w="3566160"/>
                <a:gridCol w="1143000"/>
                <a:gridCol w="1143000"/>
              </a:tblGrid>
              <a:tr h="411480">
                <a:tc>
                  <a:txBody>
                    <a:bodyPr wrap="square"/>
                    <a:lstStyle/>
                    <a:p>
                      <a:r>
                        <a:rPr sz="1200" b="1">
                          <a:solidFill>
                            <a:srgbClr val="FFFFFF"/>
                          </a:solidFill>
                          <a:latin typeface="Calibri"/>
                        </a:rPr>
                        <a:t>Model</a:t>
                      </a:r>
                    </a:p>
                  </a:txBody>
                  <a:tcPr marL="54864" marR="54864" marT="27432" marB="27432">
                    <a:solidFill>
                      <a:srgbClr val="1E2761"/>
                    </a:solidFill>
                  </a:tcPr>
                </a:tc>
                <a:tc>
                  <a:txBody>
                    <a:bodyPr wrap="square"/>
                    <a:lstStyle/>
                    <a:p>
                      <a:r>
                        <a:rPr sz="1200" b="1">
                          <a:solidFill>
                            <a:srgbClr val="FFFFFF"/>
                          </a:solidFill>
                          <a:latin typeface="Calibri"/>
                        </a:rPr>
                        <a:t>Precision</a:t>
                      </a:r>
                    </a:p>
                  </a:txBody>
                  <a:tcPr marL="54864" marR="54864" marT="27432" marB="27432">
                    <a:solidFill>
                      <a:srgbClr val="1E2761"/>
                    </a:solidFill>
                  </a:tcPr>
                </a:tc>
                <a:tc>
                  <a:txBody>
                    <a:bodyPr wrap="square"/>
                    <a:lstStyle/>
                    <a:p>
                      <a:r>
                        <a:rPr sz="1200" b="1">
                          <a:solidFill>
                            <a:srgbClr val="FFFFFF"/>
                          </a:solidFill>
                          <a:latin typeface="Calibri"/>
                        </a:rPr>
                        <a:t>Recall</a:t>
                      </a:r>
                    </a:p>
                  </a:txBody>
                  <a:tcPr marL="54864" marR="54864" marT="27432" marB="27432">
                    <a:solidFill>
                      <a:srgbClr val="1E2761"/>
                    </a:solidFill>
                  </a:tcPr>
                </a:tc>
              </a:tr>
              <a:tr h="411480">
                <a:tc>
                  <a:txBody>
                    <a:bodyPr wrap="square"/>
                    <a:lstStyle/>
                    <a:p>
                      <a:r>
                        <a:rPr sz="1200" b="1">
                          <a:solidFill>
                            <a:srgbClr val="1E2761"/>
                          </a:solidFill>
                          <a:latin typeface="Calibri"/>
                        </a:rPr>
                        <a:t>Trained on rep notes, scored on posts</a:t>
                      </a:r>
                    </a:p>
                  </a:txBody>
                  <a:tcPr marL="54864" marR="54864" marT="27432" marB="27432">
                    <a:solidFill>
                      <a:srgbClr val="FFFFFF"/>
                    </a:solidFill>
                  </a:tcPr>
                </a:tc>
                <a:tc>
                  <a:txBody>
                    <a:bodyPr wrap="square"/>
                    <a:lstStyle/>
                    <a:p>
                      <a:r>
                        <a:rPr sz="1200" b="0">
                          <a:solidFill>
                            <a:srgbClr val="333333"/>
                          </a:solidFill>
                          <a:latin typeface="Calibri"/>
                        </a:rPr>
                        <a:t>64%</a:t>
                      </a:r>
                    </a:p>
                  </a:txBody>
                  <a:tcPr marL="54864" marR="54864" marT="27432" marB="27432">
                    <a:solidFill>
                      <a:srgbClr val="FFFFFF"/>
                    </a:solidFill>
                  </a:tcPr>
                </a:tc>
                <a:tc>
                  <a:txBody>
                    <a:bodyPr wrap="square"/>
                    <a:lstStyle/>
                    <a:p>
                      <a:r>
                        <a:rPr sz="1200" b="0">
                          <a:solidFill>
                            <a:srgbClr val="333333"/>
                          </a:solidFill>
                          <a:latin typeface="Calibri"/>
                        </a:rPr>
                        <a:t>91%</a:t>
                      </a:r>
                    </a:p>
                  </a:txBody>
                  <a:tcPr marL="54864" marR="54864" marT="27432" marB="27432">
                    <a:solidFill>
                      <a:srgbClr val="FFFFFF"/>
                    </a:solidFill>
                  </a:tcPr>
                </a:tc>
              </a:tr>
              <a:tr h="411480">
                <a:tc>
                  <a:txBody>
                    <a:bodyPr wrap="square"/>
                    <a:lstStyle/>
                    <a:p>
                      <a:r>
                        <a:rPr sz="1200" b="1">
                          <a:solidFill>
                            <a:srgbClr val="1E2761"/>
                          </a:solidFill>
                          <a:latin typeface="Calibri"/>
                        </a:rPr>
                        <a:t>Lexicon on posts</a:t>
                      </a:r>
                    </a:p>
                  </a:txBody>
                  <a:tcPr marL="54864" marR="54864" marT="27432" marB="27432">
                    <a:solidFill>
                      <a:srgbClr val="F3F6FC"/>
                    </a:solidFill>
                  </a:tcPr>
                </a:tc>
                <a:tc>
                  <a:txBody>
                    <a:bodyPr wrap="square"/>
                    <a:lstStyle/>
                    <a:p>
                      <a:r>
                        <a:rPr sz="1200" b="0">
                          <a:solidFill>
                            <a:srgbClr val="333333"/>
                          </a:solidFill>
                          <a:latin typeface="Calibri"/>
                        </a:rPr>
                        <a:t>64%</a:t>
                      </a:r>
                    </a:p>
                  </a:txBody>
                  <a:tcPr marL="54864" marR="54864" marT="27432" marB="27432">
                    <a:solidFill>
                      <a:srgbClr val="F3F6FC"/>
                    </a:solidFill>
                  </a:tcPr>
                </a:tc>
                <a:tc>
                  <a:txBody>
                    <a:bodyPr wrap="square"/>
                    <a:lstStyle/>
                    <a:p>
                      <a:r>
                        <a:rPr sz="1200" b="0">
                          <a:solidFill>
                            <a:srgbClr val="333333"/>
                          </a:solidFill>
                          <a:latin typeface="Calibri"/>
                        </a:rPr>
                        <a:t>85%</a:t>
                      </a:r>
                    </a:p>
                  </a:txBody>
                  <a:tcPr marL="54864" marR="54864" marT="27432" marB="27432">
                    <a:solidFill>
                      <a:srgbClr val="F3F6FC"/>
                    </a:solidFill>
                  </a:tcPr>
                </a:tc>
              </a:tr>
              <a:tr h="411480">
                <a:tc>
                  <a:txBody>
                    <a:bodyPr wrap="square"/>
                    <a:lstStyle/>
                    <a:p>
                      <a:r>
                        <a:rPr sz="1200" b="1">
                          <a:solidFill>
                            <a:srgbClr val="1E2761"/>
                          </a:solidFill>
                          <a:latin typeface="Calibri"/>
                        </a:rPr>
                        <a:t>Trained on post labels (5-fold CV)</a:t>
                      </a:r>
                    </a:p>
                  </a:txBody>
                  <a:tcPr marL="54864" marR="54864" marT="27432" marB="27432">
                    <a:solidFill>
                      <a:srgbClr val="FFFFFF"/>
                    </a:solidFill>
                  </a:tcPr>
                </a:tc>
                <a:tc>
                  <a:txBody>
                    <a:bodyPr wrap="square"/>
                    <a:lstStyle/>
                    <a:p>
                      <a:r>
                        <a:rPr sz="1200" b="0">
                          <a:solidFill>
                            <a:srgbClr val="333333"/>
                          </a:solidFill>
                          <a:latin typeface="Calibri"/>
                        </a:rPr>
                        <a:t>94%</a:t>
                      </a:r>
                    </a:p>
                  </a:txBody>
                  <a:tcPr marL="54864" marR="54864" marT="27432" marB="27432">
                    <a:solidFill>
                      <a:srgbClr val="FFFFFF"/>
                    </a:solidFill>
                  </a:tcPr>
                </a:tc>
                <a:tc>
                  <a:txBody>
                    <a:bodyPr wrap="square"/>
                    <a:lstStyle/>
                    <a:p>
                      <a:r>
                        <a:rPr sz="1200" b="0">
                          <a:solidFill>
                            <a:srgbClr val="333333"/>
                          </a:solidFill>
                          <a:latin typeface="Calibri"/>
                        </a:rPr>
                        <a:t>99%</a:t>
                      </a:r>
                    </a:p>
                  </a:txBody>
                  <a:tcPr marL="54864" marR="54864" marT="27432" marB="27432">
                    <a:solidFill>
                      <a:srgbClr val="FFFFFF"/>
                    </a:solidFill>
                  </a:tcPr>
                </a:tc>
              </a:tr>
            </a:tbl>
          </a:graphicData>
        </a:graphic>
      </p:graphicFrame>
      <p:graphicFrame>
        <p:nvGraphicFramePr>
          <p:cNvPr id="8" name="Table 7"/>
          <p:cNvGraphicFramePr>
            <a:graphicFrameLocks noGrp="1"/>
          </p:cNvGraphicFramePr>
          <p:nvPr/>
        </p:nvGraphicFramePr>
        <p:xfrm>
          <a:off x="548640" y="3749039"/>
          <a:ext cx="5852160" cy="1097280"/>
        </p:xfrm>
        <a:graphic>
          <a:graphicData uri="http://schemas.openxmlformats.org/drawingml/2006/table">
            <a:tbl>
              <a:tblPr firstRow="1" bandRow="1">
                <a:tableStyleId>{5C22544A-7EE6-4342-B048-85BDC9FD1C3A}</a:tableStyleId>
              </a:tblPr>
              <a:tblGrid>
                <a:gridCol w="2194560"/>
                <a:gridCol w="731520"/>
                <a:gridCol w="822960"/>
                <a:gridCol w="1005840"/>
                <a:gridCol w="1097280"/>
              </a:tblGrid>
              <a:tr h="365760">
                <a:tc>
                  <a:txBody>
                    <a:bodyPr wrap="square"/>
                    <a:lstStyle/>
                    <a:p>
                      <a:r>
                        <a:rPr sz="1050" b="1">
                          <a:solidFill>
                            <a:srgbClr val="FFFFFF"/>
                          </a:solidFill>
                          <a:latin typeface="Calibri"/>
                        </a:rPr>
                        <a:t>Source</a:t>
                      </a:r>
                    </a:p>
                  </a:txBody>
                  <a:tcPr marL="54864" marR="54864" marT="27432" marB="27432">
                    <a:solidFill>
                      <a:srgbClr val="1E2761"/>
                    </a:solidFill>
                  </a:tcPr>
                </a:tc>
                <a:tc>
                  <a:txBody>
                    <a:bodyPr wrap="square"/>
                    <a:lstStyle/>
                    <a:p>
                      <a:r>
                        <a:rPr sz="1050" b="1">
                          <a:solidFill>
                            <a:srgbClr val="FFFFFF"/>
                          </a:solidFill>
                          <a:latin typeface="Calibri"/>
                        </a:rPr>
                        <a:t>Posts</a:t>
                      </a:r>
                    </a:p>
                  </a:txBody>
                  <a:tcPr marL="54864" marR="54864" marT="27432" marB="27432">
                    <a:solidFill>
                      <a:srgbClr val="1E2761"/>
                    </a:solidFill>
                  </a:tcPr>
                </a:tc>
                <a:tc>
                  <a:txBody>
                    <a:bodyPr wrap="square"/>
                    <a:lstStyle/>
                    <a:p>
                      <a:r>
                        <a:rPr sz="1050" b="1">
                          <a:solidFill>
                            <a:srgbClr val="FFFFFF"/>
                          </a:solidFill>
                          <a:latin typeface="Calibri"/>
                        </a:rPr>
                        <a:t>Flagged</a:t>
                      </a:r>
                    </a:p>
                  </a:txBody>
                  <a:tcPr marL="54864" marR="54864" marT="27432" marB="27432">
                    <a:solidFill>
                      <a:srgbClr val="1E2761"/>
                    </a:solidFill>
                  </a:tcPr>
                </a:tc>
                <a:tc>
                  <a:txBody>
                    <a:bodyPr wrap="square"/>
                    <a:lstStyle/>
                    <a:p>
                      <a:r>
                        <a:rPr sz="1050" b="1">
                          <a:solidFill>
                            <a:srgbClr val="FFFFFF"/>
                          </a:solidFill>
                          <a:latin typeface="Calibri"/>
                        </a:rPr>
                        <a:t>Serious terms</a:t>
                      </a:r>
                    </a:p>
                  </a:txBody>
                  <a:tcPr marL="54864" marR="54864" marT="27432" marB="27432">
                    <a:solidFill>
                      <a:srgbClr val="1E2761"/>
                    </a:solidFill>
                  </a:tcPr>
                </a:tc>
                <a:tc>
                  <a:txBody>
                    <a:bodyPr wrap="square"/>
                    <a:lstStyle/>
                    <a:p>
                      <a:r>
                        <a:rPr sz="1050" b="1">
                          <a:solidFill>
                            <a:srgbClr val="FFFFFF"/>
                          </a:solidFill>
                          <a:latin typeface="Calibri"/>
                        </a:rPr>
                        <a:t>Duty</a:t>
                      </a:r>
                    </a:p>
                  </a:txBody>
                  <a:tcPr marL="54864" marR="54864" marT="27432" marB="27432">
                    <a:solidFill>
                      <a:srgbClr val="1E2761"/>
                    </a:solidFill>
                  </a:tcPr>
                </a:tc>
              </a:tr>
              <a:tr h="365760">
                <a:tc>
                  <a:txBody>
                    <a:bodyPr wrap="square"/>
                    <a:lstStyle/>
                    <a:p>
                      <a:r>
                        <a:rPr sz="1050" b="1">
                          <a:solidFill>
                            <a:srgbClr val="1E2761"/>
                          </a:solidFill>
                          <a:latin typeface="Calibri"/>
                        </a:rPr>
                        <a:t>Aspen community (sponsored)</a:t>
                      </a:r>
                    </a:p>
                  </a:txBody>
                  <a:tcPr marL="54864" marR="54864" marT="27432" marB="27432">
                    <a:solidFill>
                      <a:srgbClr val="FFFFFF"/>
                    </a:solidFill>
                  </a:tcPr>
                </a:tc>
                <a:tc>
                  <a:txBody>
                    <a:bodyPr wrap="square"/>
                    <a:lstStyle/>
                    <a:p>
                      <a:r>
                        <a:rPr sz="1050" b="0">
                          <a:solidFill>
                            <a:srgbClr val="333333"/>
                          </a:solidFill>
                          <a:latin typeface="Calibri"/>
                        </a:rPr>
                        <a:t>1,201</a:t>
                      </a:r>
                    </a:p>
                  </a:txBody>
                  <a:tcPr marL="54864" marR="54864" marT="27432" marB="27432">
                    <a:solidFill>
                      <a:srgbClr val="FFFFFF"/>
                    </a:solidFill>
                  </a:tcPr>
                </a:tc>
                <a:tc>
                  <a:txBody>
                    <a:bodyPr wrap="square"/>
                    <a:lstStyle/>
                    <a:p>
                      <a:r>
                        <a:rPr sz="1050" b="0">
                          <a:solidFill>
                            <a:srgbClr val="333333"/>
                          </a:solidFill>
                          <a:latin typeface="Calibri"/>
                        </a:rPr>
                        <a:t>311</a:t>
                      </a:r>
                    </a:p>
                  </a:txBody>
                  <a:tcPr marL="54864" marR="54864" marT="27432" marB="27432">
                    <a:solidFill>
                      <a:srgbClr val="FFFFFF"/>
                    </a:solidFill>
                  </a:tcPr>
                </a:tc>
                <a:tc>
                  <a:txBody>
                    <a:bodyPr wrap="square"/>
                    <a:lstStyle/>
                    <a:p>
                      <a:r>
                        <a:rPr sz="1050" b="0">
                          <a:solidFill>
                            <a:srgbClr val="333333"/>
                          </a:solidFill>
                          <a:latin typeface="Calibri"/>
                        </a:rPr>
                        <a:t>43</a:t>
                      </a:r>
                    </a:p>
                  </a:txBody>
                  <a:tcPr marL="54864" marR="54864" marT="27432" marB="27432">
                    <a:solidFill>
                      <a:srgbClr val="FFFFFF"/>
                    </a:solidFill>
                  </a:tcPr>
                </a:tc>
                <a:tc>
                  <a:txBody>
                    <a:bodyPr wrap="square"/>
                    <a:lstStyle/>
                    <a:p>
                      <a:r>
                        <a:rPr sz="1050" b="0">
                          <a:solidFill>
                            <a:srgbClr val="333333"/>
                          </a:solidFill>
                          <a:latin typeface="Calibri"/>
                        </a:rPr>
                        <a:t>screen regularly</a:t>
                      </a:r>
                    </a:p>
                  </a:txBody>
                  <a:tcPr marL="54864" marR="54864" marT="27432" marB="27432">
                    <a:solidFill>
                      <a:srgbClr val="FFFFFF"/>
                    </a:solidFill>
                  </a:tcPr>
                </a:tc>
              </a:tr>
              <a:tr h="365760">
                <a:tc>
                  <a:txBody>
                    <a:bodyPr wrap="square"/>
                    <a:lstStyle/>
                    <a:p>
                      <a:r>
                        <a:rPr sz="1050" b="1">
                          <a:solidFill>
                            <a:srgbClr val="1E2761"/>
                          </a:solidFill>
                          <a:latin typeface="Calibri"/>
                        </a:rPr>
                        <a:t>T2D Circle forum</a:t>
                      </a:r>
                    </a:p>
                  </a:txBody>
                  <a:tcPr marL="54864" marR="54864" marT="27432" marB="27432">
                    <a:solidFill>
                      <a:srgbClr val="F3F6FC"/>
                    </a:solidFill>
                  </a:tcPr>
                </a:tc>
                <a:tc>
                  <a:txBody>
                    <a:bodyPr wrap="square"/>
                    <a:lstStyle/>
                    <a:p>
                      <a:r>
                        <a:rPr sz="1050" b="0">
                          <a:solidFill>
                            <a:srgbClr val="333333"/>
                          </a:solidFill>
                          <a:latin typeface="Calibri"/>
                        </a:rPr>
                        <a:t>1,799</a:t>
                      </a:r>
                    </a:p>
                  </a:txBody>
                  <a:tcPr marL="54864" marR="54864" marT="27432" marB="27432">
                    <a:solidFill>
                      <a:srgbClr val="F3F6FC"/>
                    </a:solidFill>
                  </a:tcPr>
                </a:tc>
                <a:tc>
                  <a:txBody>
                    <a:bodyPr wrap="square"/>
                    <a:lstStyle/>
                    <a:p>
                      <a:r>
                        <a:rPr sz="1050" b="0">
                          <a:solidFill>
                            <a:srgbClr val="333333"/>
                          </a:solidFill>
                          <a:latin typeface="Calibri"/>
                        </a:rPr>
                        <a:t>452</a:t>
                      </a:r>
                    </a:p>
                  </a:txBody>
                  <a:tcPr marL="54864" marR="54864" marT="27432" marB="27432">
                    <a:solidFill>
                      <a:srgbClr val="F3F6FC"/>
                    </a:solidFill>
                  </a:tcPr>
                </a:tc>
                <a:tc>
                  <a:txBody>
                    <a:bodyPr wrap="square"/>
                    <a:lstStyle/>
                    <a:p>
                      <a:r>
                        <a:rPr sz="1050" b="0">
                          <a:solidFill>
                            <a:srgbClr val="333333"/>
                          </a:solidFill>
                          <a:latin typeface="Calibri"/>
                        </a:rPr>
                        <a:t>90</a:t>
                      </a:r>
                    </a:p>
                  </a:txBody>
                  <a:tcPr marL="54864" marR="54864" marT="27432" marB="27432">
                    <a:solidFill>
                      <a:srgbClr val="F3F6FC"/>
                    </a:solidFill>
                  </a:tcPr>
                </a:tc>
                <a:tc>
                  <a:txBody>
                    <a:bodyPr wrap="square"/>
                    <a:lstStyle/>
                    <a:p>
                      <a:r>
                        <a:rPr sz="1050" b="0">
                          <a:solidFill>
                            <a:srgbClr val="333333"/>
                          </a:solidFill>
                          <a:latin typeface="Calibri"/>
                        </a:rPr>
                        <a:t>act on awareness</a:t>
                      </a:r>
                    </a:p>
                  </a:txBody>
                  <a:tcPr marL="54864" marR="54864" marT="27432" marB="27432">
                    <a:solidFill>
                      <a:srgbClr val="F3F6FC"/>
                    </a:solidFill>
                  </a:tcPr>
                </a:tc>
              </a:tr>
            </a:tbl>
          </a:graphicData>
        </a:graphic>
      </p:graphicFrame>
      <p:sp>
        <p:nvSpPr>
          <p:cNvPr id="9" name="Rectangle 8"/>
          <p:cNvSpPr/>
          <p:nvPr/>
        </p:nvSpPr>
        <p:spPr>
          <a:xfrm>
            <a:off x="6675120" y="1828800"/>
            <a:ext cx="4937760" cy="3200400"/>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1938528"/>
            <a:ext cx="4663440" cy="365760"/>
          </a:xfrm>
          <a:prstGeom prst="rect">
            <a:avLst/>
          </a:prstGeom>
          <a:noFill/>
        </p:spPr>
        <p:txBody>
          <a:bodyPr wrap="square" lIns="45720" rIns="45720" tIns="27432" bIns="27432" anchor="t">
            <a:spAutoFit/>
          </a:bodyPr>
          <a:lstStyle/>
          <a:p>
            <a:pPr algn="l"/>
            <a:r>
              <a:rPr sz="1400" b="1" i="0">
                <a:solidFill>
                  <a:srgbClr val="1E2761"/>
                </a:solidFill>
                <a:latin typeface="Calibri"/>
              </a:rPr>
              <a:t>From the literature</a:t>
            </a:r>
          </a:p>
        </p:txBody>
      </p:sp>
      <p:sp>
        <p:nvSpPr>
          <p:cNvPr id="11" name="TextBox 10"/>
          <p:cNvSpPr txBox="1"/>
          <p:nvPr/>
        </p:nvSpPr>
        <p:spPr>
          <a:xfrm>
            <a:off x="6784848" y="2322576"/>
            <a:ext cx="4709160" cy="2615184"/>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Social-media AEs skew to mild, symptom-level events and under-represent serious ones (Golder et al. 2015).</a:t>
            </a:r>
          </a:p>
          <a:p>
            <a:pPr>
              <a:spcAft>
                <a:spcPts val="500"/>
              </a:spcAft>
            </a:pPr>
            <a:r>
              <a:rPr sz="1100" b="1">
                <a:solidFill>
                  <a:srgbClr val="FF6B6B"/>
                </a:solidFill>
                <a:latin typeface="Calibri"/>
              </a:rPr>
              <a:t>▸ </a:t>
            </a:r>
            <a:r>
              <a:rPr sz="1100">
                <a:solidFill>
                  <a:srgbClr val="333333"/>
                </a:solidFill>
                <a:latin typeface="Calibri"/>
              </a:rPr>
              <a:t>Twitter event rankings correlated with FAERS; counts did not (Freifeld et al. 2014).</a:t>
            </a:r>
          </a:p>
          <a:p>
            <a:pPr>
              <a:spcAft>
                <a:spcPts val="500"/>
              </a:spcAft>
            </a:pPr>
            <a:r>
              <a:rPr sz="1100" b="1">
                <a:solidFill>
                  <a:srgbClr val="FF6B6B"/>
                </a:solidFill>
                <a:latin typeface="Calibri"/>
              </a:rPr>
              <a:t>▸ </a:t>
            </a:r>
            <a:r>
              <a:rPr sz="1100">
                <a:solidFill>
                  <a:srgbClr val="333333"/>
                </a:solidFill>
                <a:latin typeface="Calibri"/>
              </a:rPr>
              <a:t>Lay language is the main difficulty; embeddings help (Nikfarjam et al. 2015).</a:t>
            </a:r>
          </a:p>
        </p:txBody>
      </p:sp>
      <p:sp>
        <p:nvSpPr>
          <p:cNvPr id="12" name="TextBox 11"/>
          <p:cNvSpPr txBox="1"/>
          <p:nvPr/>
        </p:nvSpPr>
        <p:spPr>
          <a:xfrm>
            <a:off x="548640" y="5303520"/>
            <a:ext cx="11064240" cy="457200"/>
          </a:xfrm>
          <a:prstGeom prst="rect">
            <a:avLst/>
          </a:prstGeom>
          <a:noFill/>
        </p:spPr>
        <p:txBody>
          <a:bodyPr wrap="square" lIns="45720" rIns="45720" tIns="27432" bIns="27432" anchor="t">
            <a:spAutoFit/>
          </a:bodyPr>
          <a:lstStyle/>
          <a:p>
            <a:pPr algn="l"/>
            <a:r>
              <a:rPr sz="1250" b="1" i="0">
                <a:solidFill>
                  <a:srgbClr val="1E2761"/>
                </a:solidFill>
                <a:latin typeface="Calibri"/>
              </a:rPr>
              <a:t>Label the new stream before trusting a model trained on another one.</a:t>
            </a:r>
          </a:p>
        </p:txBody>
      </p:sp>
      <p:sp>
        <p:nvSpPr>
          <p:cNvPr id="13" name="TextBox 12"/>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Golder, Norman &amp; Loke 2015; Freifeld et al. 2014; Nikfarjam et al. 2015; Sarker et al. 2015.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6 · MI ROUTING</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Medical-information routing</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32 / 37</a:t>
            </a:r>
          </a:p>
        </p:txBody>
      </p:sp>
      <p:sp>
        <p:nvSpPr>
          <p:cNvPr id="7" name="Rounded Rectangle 6"/>
          <p:cNvSpPr/>
          <p:nvPr/>
        </p:nvSpPr>
        <p:spPr>
          <a:xfrm>
            <a:off x="548640" y="1920240"/>
            <a:ext cx="2560320" cy="91440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Inquiry</a:t>
            </a:r>
          </a:p>
          <a:p>
            <a:pPr algn="ctr"/>
            <a:r>
              <a:rPr sz="1000">
                <a:solidFill>
                  <a:srgbClr val="CADCFC"/>
                </a:solidFill>
                <a:latin typeface="Calibri"/>
              </a:rPr>
              <a:t>phone, email, web form</a:t>
            </a:r>
          </a:p>
        </p:txBody>
      </p:sp>
      <p:cxnSp>
        <p:nvCxnSpPr>
          <p:cNvPr id="8" name="Connector 7"/>
          <p:cNvCxnSpPr/>
          <p:nvPr/>
        </p:nvCxnSpPr>
        <p:spPr>
          <a:xfrm>
            <a:off x="3136391" y="2377440"/>
            <a:ext cx="219457"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83279" y="1920240"/>
            <a:ext cx="2560320" cy="91440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Intent classifier</a:t>
            </a:r>
          </a:p>
          <a:p>
            <a:pPr algn="ctr"/>
            <a:r>
              <a:rPr sz="1000">
                <a:solidFill>
                  <a:srgbClr val="CADCFC"/>
                </a:solidFill>
                <a:latin typeface="Calibri"/>
              </a:rPr>
              <a:t>8 intents, accuracy 92%</a:t>
            </a:r>
          </a:p>
        </p:txBody>
      </p:sp>
      <p:cxnSp>
        <p:nvCxnSpPr>
          <p:cNvPr id="10" name="Connector 9"/>
          <p:cNvCxnSpPr/>
          <p:nvPr/>
        </p:nvCxnSpPr>
        <p:spPr>
          <a:xfrm>
            <a:off x="5971031" y="2377440"/>
            <a:ext cx="219456"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7919" y="1920240"/>
            <a:ext cx="2560320" cy="91440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Route</a:t>
            </a:r>
          </a:p>
          <a:p>
            <a:pPr algn="ctr"/>
            <a:r>
              <a:rPr sz="1000">
                <a:solidFill>
                  <a:srgbClr val="CADCFC"/>
                </a:solidFill>
                <a:latin typeface="Calibri"/>
              </a:rPr>
              <a:t>MI specialist, Safety, Quality, Access</a:t>
            </a:r>
          </a:p>
        </p:txBody>
      </p:sp>
      <p:cxnSp>
        <p:nvCxnSpPr>
          <p:cNvPr id="12" name="Connector 11"/>
          <p:cNvCxnSpPr/>
          <p:nvPr/>
        </p:nvCxnSpPr>
        <p:spPr>
          <a:xfrm>
            <a:off x="8805671" y="2377440"/>
            <a:ext cx="219457"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052559" y="1920240"/>
            <a:ext cx="2560320" cy="914400"/>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Safety detector on all</a:t>
            </a:r>
          </a:p>
          <a:p>
            <a:pPr algn="ctr"/>
            <a:r>
              <a:rPr sz="1000">
                <a:solidFill>
                  <a:srgbClr val="CADCFC"/>
                </a:solidFill>
                <a:latin typeface="Calibri"/>
              </a:rPr>
              <a:t>111 of 333 AE mentions were in non-AE intents</a:t>
            </a:r>
          </a:p>
        </p:txBody>
      </p:sp>
      <p:sp>
        <p:nvSpPr>
          <p:cNvPr id="14" name="Rectangle 13"/>
          <p:cNvSpPr/>
          <p:nvPr/>
        </p:nvSpPr>
        <p:spPr>
          <a:xfrm>
            <a:off x="548640" y="3200400"/>
            <a:ext cx="5394960" cy="17373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200400"/>
            <a:ext cx="109728" cy="173736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3291840"/>
            <a:ext cx="4937760" cy="1234439"/>
          </a:xfrm>
          <a:prstGeom prst="rect">
            <a:avLst/>
          </a:prstGeom>
          <a:noFill/>
        </p:spPr>
        <p:txBody>
          <a:bodyPr wrap="square" lIns="45720" rIns="45720" tIns="27432" bIns="27432" anchor="ctr">
            <a:spAutoFit/>
          </a:bodyPr>
          <a:lstStyle/>
          <a:p>
            <a:pPr algn="l"/>
            <a:r>
              <a:rPr sz="1400" b="0" i="1">
                <a:solidFill>
                  <a:srgbClr val="FFFFFF"/>
                </a:solidFill>
                <a:latin typeface="Calibri"/>
              </a:rPr>
              <a:t>“…the automatic transfer of adverse events (AEs) and product complaints (PQCs) to their requisite systems, which helps maintain compliance amid spikes.”</a:t>
            </a:r>
          </a:p>
        </p:txBody>
      </p:sp>
      <p:sp>
        <p:nvSpPr>
          <p:cNvPr id="17" name="TextBox 16"/>
          <p:cNvSpPr txBox="1"/>
          <p:nvPr/>
        </p:nvSpPr>
        <p:spPr>
          <a:xfrm>
            <a:off x="822959" y="4526280"/>
            <a:ext cx="4937760" cy="320040"/>
          </a:xfrm>
          <a:prstGeom prst="rect">
            <a:avLst/>
          </a:prstGeom>
          <a:noFill/>
        </p:spPr>
        <p:txBody>
          <a:bodyPr wrap="square" lIns="45720" rIns="45720" tIns="27432" bIns="27432" anchor="t">
            <a:spAutoFit/>
          </a:bodyPr>
          <a:lstStyle/>
          <a:p>
            <a:pPr algn="l"/>
            <a:r>
              <a:rPr sz="1050" b="0" i="0">
                <a:solidFill>
                  <a:srgbClr val="CADCFC"/>
                </a:solidFill>
                <a:latin typeface="Calibri"/>
              </a:rPr>
              <a:t>— IQVIA, Harnessing AI to Innovate Medical Information (2025)</a:t>
            </a:r>
          </a:p>
        </p:txBody>
      </p:sp>
      <p:sp>
        <p:nvSpPr>
          <p:cNvPr id="18" name="Rectangle 17"/>
          <p:cNvSpPr/>
          <p:nvPr/>
        </p:nvSpPr>
        <p:spPr>
          <a:xfrm>
            <a:off x="6217920" y="3200400"/>
            <a:ext cx="5394960" cy="1737360"/>
          </a:xfrm>
          <a:prstGeom prst="rect">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200400"/>
            <a:ext cx="109728" cy="173736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291840"/>
            <a:ext cx="4937760" cy="1234439"/>
          </a:xfrm>
          <a:prstGeom prst="rect">
            <a:avLst/>
          </a:prstGeom>
          <a:noFill/>
        </p:spPr>
        <p:txBody>
          <a:bodyPr wrap="square" lIns="45720" rIns="45720" tIns="27432" bIns="27432" anchor="ctr">
            <a:spAutoFit/>
          </a:bodyPr>
          <a:lstStyle/>
          <a:p>
            <a:pPr algn="l"/>
            <a:r>
              <a:rPr sz="1400" b="0" i="1">
                <a:solidFill>
                  <a:srgbClr val="FFFFFF"/>
                </a:solidFill>
                <a:latin typeface="Calibri"/>
              </a:rPr>
              <a:t>“In medical information, most data is spontaneous and unstructured. That implies a huge responsibility for our confidentiality and how we handle that data.”</a:t>
            </a:r>
          </a:p>
        </p:txBody>
      </p:sp>
      <p:sp>
        <p:nvSpPr>
          <p:cNvPr id="21" name="TextBox 20"/>
          <p:cNvSpPr txBox="1"/>
          <p:nvPr/>
        </p:nvSpPr>
        <p:spPr>
          <a:xfrm>
            <a:off x="6492240" y="4526280"/>
            <a:ext cx="4937760" cy="320040"/>
          </a:xfrm>
          <a:prstGeom prst="rect">
            <a:avLst/>
          </a:prstGeom>
          <a:noFill/>
        </p:spPr>
        <p:txBody>
          <a:bodyPr wrap="square" lIns="45720" rIns="45720" tIns="27432" bIns="27432" anchor="t">
            <a:spAutoFit/>
          </a:bodyPr>
          <a:lstStyle/>
          <a:p>
            <a:pPr algn="l"/>
            <a:r>
              <a:rPr sz="1050" b="0" i="0">
                <a:solidFill>
                  <a:srgbClr val="CADCFC"/>
                </a:solidFill>
                <a:latin typeface="Calibri"/>
              </a:rPr>
              <a:t>— IQVIA, Expert Predictions for 2026</a:t>
            </a:r>
          </a:p>
        </p:txBody>
      </p:sp>
      <p:sp>
        <p:nvSpPr>
          <p:cNvPr id="22" name="TextBox 21"/>
          <p:cNvSpPr txBox="1"/>
          <p:nvPr/>
        </p:nvSpPr>
        <p:spPr>
          <a:xfrm>
            <a:off x="548640" y="5212080"/>
            <a:ext cx="11064240" cy="457200"/>
          </a:xfrm>
          <a:prstGeom prst="rect">
            <a:avLst/>
          </a:prstGeom>
          <a:noFill/>
        </p:spPr>
        <p:txBody>
          <a:bodyPr wrap="square" lIns="45720" rIns="45720" tIns="27432" bIns="27432" anchor="t">
            <a:spAutoFit/>
          </a:bodyPr>
          <a:lstStyle/>
          <a:p>
            <a:pPr algn="l"/>
            <a:r>
              <a:rPr sz="1250" b="1" i="0">
                <a:solidFill>
                  <a:srgbClr val="1E2761"/>
                </a:solidFill>
                <a:latin typeface="Calibri"/>
              </a:rPr>
              <a:t>A dosing call that mentions nausea is a dosing call and a case.</a:t>
            </a:r>
          </a:p>
        </p:txBody>
      </p:sp>
      <p:sp>
        <p:nvSpPr>
          <p:cNvPr id="23" name="TextBox 22"/>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Notebook §9.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6 · SIGNALS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From cases to a signal</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33 / 37</a:t>
            </a:r>
          </a:p>
        </p:txBody>
      </p:sp>
      <p:pic>
        <p:nvPicPr>
          <p:cNvPr id="7" name="Picture 6" descr="disproportionality.png"/>
          <p:cNvPicPr>
            <a:picLocks noChangeAspect="1"/>
          </p:cNvPicPr>
          <p:nvPr/>
        </p:nvPicPr>
        <p:blipFill>
          <a:blip r:embed="rId2"/>
          <a:stretch>
            <a:fillRect/>
          </a:stretch>
        </p:blipFill>
        <p:spPr>
          <a:xfrm>
            <a:off x="548640" y="1828800"/>
            <a:ext cx="6270171" cy="3657600"/>
          </a:xfrm>
          <a:prstGeom prst="rect">
            <a:avLst/>
          </a:prstGeom>
        </p:spPr>
      </p:pic>
      <p:sp>
        <p:nvSpPr>
          <p:cNvPr id="8" name="Rectangle 7"/>
          <p:cNvSpPr/>
          <p:nvPr/>
        </p:nvSpPr>
        <p:spPr>
          <a:xfrm>
            <a:off x="6949440" y="1828800"/>
            <a:ext cx="4663440" cy="14630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1938528"/>
            <a:ext cx="4389120" cy="365760"/>
          </a:xfrm>
          <a:prstGeom prst="rect">
            <a:avLst/>
          </a:prstGeom>
          <a:noFill/>
        </p:spPr>
        <p:txBody>
          <a:bodyPr wrap="square" lIns="45720" rIns="45720" tIns="27432" bIns="27432" anchor="t">
            <a:spAutoFit/>
          </a:bodyPr>
          <a:lstStyle/>
          <a:p>
            <a:pPr algn="l"/>
            <a:r>
              <a:rPr sz="1400" b="1" i="0">
                <a:solidFill>
                  <a:srgbClr val="1E2761"/>
                </a:solidFill>
                <a:latin typeface="Calibri"/>
              </a:rPr>
              <a:t>PRR and ROR</a:t>
            </a:r>
          </a:p>
        </p:txBody>
      </p:sp>
      <p:sp>
        <p:nvSpPr>
          <p:cNvPr id="10" name="TextBox 9"/>
          <p:cNvSpPr txBox="1"/>
          <p:nvPr/>
        </p:nvSpPr>
        <p:spPr>
          <a:xfrm>
            <a:off x="7059168" y="2322576"/>
            <a:ext cx="4434840" cy="877824"/>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PRR = (a/(a+b)) ÷ (c/(c+d)); ROR = ad/bc with a 95% CI. Evans's screen: PRR ≥ 2, χ² ≥ 4, n ≥ 3. Bayesian shrinkage (BCPNN) for sparse cells.</a:t>
            </a:r>
          </a:p>
        </p:txBody>
      </p:sp>
      <p:sp>
        <p:nvSpPr>
          <p:cNvPr id="11" name="Rectangle 10"/>
          <p:cNvSpPr/>
          <p:nvPr/>
        </p:nvSpPr>
        <p:spPr>
          <a:xfrm>
            <a:off x="6949440" y="3429000"/>
            <a:ext cx="4663440" cy="2057400"/>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3538728"/>
            <a:ext cx="4389120" cy="365760"/>
          </a:xfrm>
          <a:prstGeom prst="rect">
            <a:avLst/>
          </a:prstGeom>
          <a:noFill/>
        </p:spPr>
        <p:txBody>
          <a:bodyPr wrap="square" lIns="45720" rIns="45720" tIns="27432" bIns="27432" anchor="t">
            <a:spAutoFit/>
          </a:bodyPr>
          <a:lstStyle/>
          <a:p>
            <a:pPr algn="l"/>
            <a:r>
              <a:rPr sz="1400" b="1" i="0">
                <a:solidFill>
                  <a:srgbClr val="1E2761"/>
                </a:solidFill>
                <a:latin typeface="Calibri"/>
              </a:rPr>
              <a:t>Synthetic FAERS-style counts</a:t>
            </a:r>
          </a:p>
        </p:txBody>
      </p:sp>
      <p:sp>
        <p:nvSpPr>
          <p:cNvPr id="13" name="TextBox 12"/>
          <p:cNvSpPr txBox="1"/>
          <p:nvPr/>
        </p:nvSpPr>
        <p:spPr>
          <a:xfrm>
            <a:off x="7059168" y="3922776"/>
            <a:ext cx="4434840" cy="1472184"/>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Signals: Pancreatitis, Hypoglycaemia, Nausea.</a:t>
            </a:r>
          </a:p>
          <a:p>
            <a:pPr>
              <a:spcAft>
                <a:spcPts val="500"/>
              </a:spcAft>
            </a:pPr>
            <a:r>
              <a:rPr sz="1100" b="1">
                <a:solidFill>
                  <a:srgbClr val="FF6B6B"/>
                </a:solidFill>
                <a:latin typeface="Calibri"/>
              </a:rPr>
              <a:t>▸ </a:t>
            </a:r>
            <a:r>
              <a:rPr sz="1100">
                <a:solidFill>
                  <a:srgbClr val="333333"/>
                </a:solidFill>
                <a:latin typeface="Calibri"/>
              </a:rPr>
              <a:t>Pancreatitis, PRR 3.6, not in the label: signal-review committee.</a:t>
            </a:r>
          </a:p>
          <a:p>
            <a:pPr>
              <a:spcAft>
                <a:spcPts val="500"/>
              </a:spcAft>
            </a:pPr>
            <a:r>
              <a:rPr sz="1100" b="1">
                <a:solidFill>
                  <a:srgbClr val="FF6B6B"/>
                </a:solidFill>
                <a:latin typeface="Calibri"/>
              </a:rPr>
              <a:t>▸ </a:t>
            </a:r>
            <a:r>
              <a:rPr sz="1100">
                <a:solidFill>
                  <a:srgbClr val="333333"/>
                </a:solidFill>
                <a:latin typeface="Calibri"/>
              </a:rPr>
              <a:t>No exposure denominator and heavy under-reporting: a hypothesis, not a rate.</a:t>
            </a:r>
          </a:p>
        </p:txBody>
      </p:sp>
      <p:sp>
        <p:nvSpPr>
          <p:cNvPr id="14" name="TextBox 13"/>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Evans, Waller &amp; Davis 2001; Bate et al. 1998; Harpaz et al. 2012. Notebook §10; search with LSA/embeddings in §11.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07</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Close</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GenAI in one slide, governance, exercise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7 — NLP in Pharma Commercial: Adverse Events, Field Notes and Social Listening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34 / 37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7 · GENAI</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Large language models change the cost of this pipeline, not its logic</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35 / 37</a:t>
            </a:r>
          </a:p>
        </p:txBody>
      </p:sp>
      <p:sp>
        <p:nvSpPr>
          <p:cNvPr id="7" name="Rectangle 6"/>
          <p:cNvSpPr/>
          <p:nvPr/>
        </p:nvSpPr>
        <p:spPr>
          <a:xfrm>
            <a:off x="548640" y="1828800"/>
            <a:ext cx="5394960" cy="301752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3852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What changes</a:t>
            </a:r>
          </a:p>
        </p:txBody>
      </p:sp>
      <p:sp>
        <p:nvSpPr>
          <p:cNvPr id="9" name="TextBox 8"/>
          <p:cNvSpPr txBox="1"/>
          <p:nvPr/>
        </p:nvSpPr>
        <p:spPr>
          <a:xfrm>
            <a:off x="658368" y="2322576"/>
            <a:ext cx="5166360" cy="2432303"/>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b="1" sz="1150">
                <a:solidFill>
                  <a:srgbClr val="1E2761"/>
                </a:solidFill>
                <a:latin typeface="Calibri"/>
              </a:rPr>
              <a:t>Zero-shot extraction: </a:t>
            </a:r>
            <a:r>
              <a:rPr sz="1150">
                <a:solidFill>
                  <a:srgbClr val="333333"/>
                </a:solidFill>
                <a:latin typeface="Calibri"/>
              </a:rPr>
              <a:t>a prompt returns the four elements from a note with no training set.</a:t>
            </a:r>
          </a:p>
          <a:p>
            <a:pPr>
              <a:spcAft>
                <a:spcPts val="500"/>
              </a:spcAft>
            </a:pPr>
            <a:r>
              <a:rPr sz="1150" b="1">
                <a:solidFill>
                  <a:srgbClr val="FF6B6B"/>
                </a:solidFill>
                <a:latin typeface="Calibri"/>
              </a:rPr>
              <a:t>▸ </a:t>
            </a:r>
            <a:r>
              <a:rPr b="1" sz="1150">
                <a:solidFill>
                  <a:srgbClr val="1E2761"/>
                </a:solidFill>
                <a:latin typeface="Calibri"/>
              </a:rPr>
              <a:t>Normalization and narrative: </a:t>
            </a:r>
            <a:r>
              <a:rPr sz="1150">
                <a:solidFill>
                  <a:srgbClr val="333333"/>
                </a:solidFill>
                <a:latin typeface="Calibri"/>
              </a:rPr>
              <a:t>lay term to coding dictionary; case narratives; weekly summaries of field notes.</a:t>
            </a:r>
          </a:p>
          <a:p>
            <a:pPr>
              <a:spcAft>
                <a:spcPts val="500"/>
              </a:spcAft>
            </a:pPr>
            <a:r>
              <a:rPr sz="1150" b="1">
                <a:solidFill>
                  <a:srgbClr val="FF6B6B"/>
                </a:solidFill>
                <a:latin typeface="Calibri"/>
              </a:rPr>
              <a:t>▸ </a:t>
            </a:r>
            <a:r>
              <a:rPr b="1" sz="1150">
                <a:solidFill>
                  <a:srgbClr val="1E2761"/>
                </a:solidFill>
                <a:latin typeface="Calibri"/>
              </a:rPr>
              <a:t>Retrieval plus generation: </a:t>
            </a:r>
            <a:r>
              <a:rPr sz="1150">
                <a:solidFill>
                  <a:srgbClr val="333333"/>
                </a:solidFill>
                <a:latin typeface="Calibri"/>
              </a:rPr>
              <a:t>answers grounded in approved content.</a:t>
            </a:r>
          </a:p>
        </p:txBody>
      </p:sp>
      <p:sp>
        <p:nvSpPr>
          <p:cNvPr id="10" name="Rectangle 9"/>
          <p:cNvSpPr/>
          <p:nvPr/>
        </p:nvSpPr>
        <p:spPr>
          <a:xfrm>
            <a:off x="6217920" y="1828800"/>
            <a:ext cx="5394960" cy="3017520"/>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93852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What does not</a:t>
            </a:r>
          </a:p>
        </p:txBody>
      </p:sp>
      <p:sp>
        <p:nvSpPr>
          <p:cNvPr id="12" name="TextBox 11"/>
          <p:cNvSpPr txBox="1"/>
          <p:nvPr/>
        </p:nvSpPr>
        <p:spPr>
          <a:xfrm>
            <a:off x="6327648" y="2322576"/>
            <a:ext cx="5166360" cy="2432303"/>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b="1" sz="1150">
                <a:solidFill>
                  <a:srgbClr val="1E2761"/>
                </a:solidFill>
                <a:latin typeface="Calibri"/>
              </a:rPr>
              <a:t>The target: </a:t>
            </a:r>
            <a:r>
              <a:rPr sz="1150">
                <a:solidFill>
                  <a:srgbClr val="333333"/>
                </a:solidFill>
                <a:latin typeface="Calibri"/>
              </a:rPr>
              <a:t>four elements, seriousness, the 15-day clock.</a:t>
            </a:r>
          </a:p>
          <a:p>
            <a:pPr>
              <a:spcAft>
                <a:spcPts val="500"/>
              </a:spcAft>
            </a:pPr>
            <a:r>
              <a:rPr sz="1150" b="1">
                <a:solidFill>
                  <a:srgbClr val="FF6B6B"/>
                </a:solidFill>
                <a:latin typeface="Calibri"/>
              </a:rPr>
              <a:t>▸ </a:t>
            </a:r>
            <a:r>
              <a:rPr b="1" sz="1150">
                <a:solidFill>
                  <a:srgbClr val="1E2761"/>
                </a:solidFill>
                <a:latin typeface="Calibri"/>
              </a:rPr>
              <a:t>The human: </a:t>
            </a:r>
            <a:r>
              <a:rPr sz="1150">
                <a:solidFill>
                  <a:srgbClr val="333333"/>
                </a:solidFill>
                <a:latin typeface="Calibri"/>
              </a:rPr>
              <a:t>every case is reviewed.</a:t>
            </a:r>
          </a:p>
          <a:p>
            <a:pPr>
              <a:spcAft>
                <a:spcPts val="500"/>
              </a:spcAft>
            </a:pPr>
            <a:r>
              <a:rPr sz="1150" b="1">
                <a:solidFill>
                  <a:srgbClr val="FF6B6B"/>
                </a:solidFill>
                <a:latin typeface="Calibri"/>
              </a:rPr>
              <a:t>▸ </a:t>
            </a:r>
            <a:r>
              <a:rPr b="1" sz="1150">
                <a:solidFill>
                  <a:srgbClr val="1E2761"/>
                </a:solidFill>
                <a:latin typeface="Calibri"/>
              </a:rPr>
              <a:t>The data rules: </a:t>
            </a:r>
            <a:r>
              <a:rPr sz="1150">
                <a:solidFill>
                  <a:srgbClr val="333333"/>
                </a:solidFill>
                <a:latin typeface="Calibri"/>
              </a:rPr>
              <a:t>PHI scrubbed before text leaves the firewall.</a:t>
            </a:r>
          </a:p>
          <a:p>
            <a:pPr>
              <a:spcAft>
                <a:spcPts val="500"/>
              </a:spcAft>
            </a:pPr>
            <a:r>
              <a:rPr sz="1150" b="1">
                <a:solidFill>
                  <a:srgbClr val="FF6B6B"/>
                </a:solidFill>
                <a:latin typeface="Calibri"/>
              </a:rPr>
              <a:t>▸ </a:t>
            </a:r>
            <a:r>
              <a:rPr b="1" sz="1150">
                <a:solidFill>
                  <a:srgbClr val="1E2761"/>
                </a:solidFill>
                <a:latin typeface="Calibri"/>
              </a:rPr>
              <a:t>The evidence: </a:t>
            </a:r>
            <a:r>
              <a:rPr sz="1150">
                <a:solidFill>
                  <a:srgbClr val="333333"/>
                </a:solidFill>
                <a:latin typeface="Calibri"/>
              </a:rPr>
              <a:t>precision, recall and workload on your own labelled data.</a:t>
            </a:r>
          </a:p>
        </p:txBody>
      </p:sp>
      <p:sp>
        <p:nvSpPr>
          <p:cNvPr id="13" name="Rectangle 12"/>
          <p:cNvSpPr/>
          <p:nvPr/>
        </p:nvSpPr>
        <p:spPr>
          <a:xfrm>
            <a:off x="548640" y="5029200"/>
            <a:ext cx="2743200" cy="86868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166360"/>
            <a:ext cx="2560320" cy="434340"/>
          </a:xfrm>
          <a:prstGeom prst="rect">
            <a:avLst/>
          </a:prstGeom>
          <a:noFill/>
        </p:spPr>
        <p:txBody>
          <a:bodyPr wrap="square" lIns="45720" rIns="45720" tIns="27432" bIns="27432" anchor="ctr">
            <a:spAutoFit/>
          </a:bodyPr>
          <a:lstStyle/>
          <a:p>
            <a:pPr algn="ctr"/>
            <a:r>
              <a:rPr sz="2200" b="1" i="0">
                <a:solidFill>
                  <a:srgbClr val="FFFFFF"/>
                </a:solidFill>
                <a:latin typeface="Calibri"/>
              </a:rPr>
              <a:t>&gt;70%</a:t>
            </a:r>
          </a:p>
        </p:txBody>
      </p:sp>
      <p:sp>
        <p:nvSpPr>
          <p:cNvPr id="15" name="TextBox 14"/>
          <p:cNvSpPr txBox="1"/>
          <p:nvPr/>
        </p:nvSpPr>
        <p:spPr>
          <a:xfrm>
            <a:off x="685800" y="5506974"/>
            <a:ext cx="2468880" cy="364845"/>
          </a:xfrm>
          <a:prstGeom prst="rect">
            <a:avLst/>
          </a:prstGeom>
          <a:noFill/>
        </p:spPr>
        <p:txBody>
          <a:bodyPr wrap="square" lIns="45720" rIns="45720" tIns="27432" bIns="27432" anchor="t">
            <a:spAutoFit/>
          </a:bodyPr>
          <a:lstStyle/>
          <a:p>
            <a:pPr algn="ctr"/>
            <a:r>
              <a:rPr sz="1100" b="0" i="0">
                <a:solidFill>
                  <a:srgbClr val="CADCFC"/>
                </a:solidFill>
                <a:latin typeface="Calibri"/>
              </a:rPr>
              <a:t>of GenAI experiments never reach production</a:t>
            </a:r>
          </a:p>
        </p:txBody>
      </p:sp>
      <p:sp>
        <p:nvSpPr>
          <p:cNvPr id="16" name="TextBox 15"/>
          <p:cNvSpPr txBox="1"/>
          <p:nvPr/>
        </p:nvSpPr>
        <p:spPr>
          <a:xfrm>
            <a:off x="3474720" y="5074920"/>
            <a:ext cx="8138160" cy="822960"/>
          </a:xfrm>
          <a:prstGeom prst="rect">
            <a:avLst/>
          </a:prstGeom>
          <a:noFill/>
        </p:spPr>
        <p:txBody>
          <a:bodyPr wrap="square" lIns="45720" rIns="45720" tIns="27432" bIns="27432" anchor="t">
            <a:spAutoFit/>
          </a:bodyPr>
          <a:lstStyle/>
          <a:p>
            <a:pPr algn="l"/>
            <a:r>
              <a:rPr sz="1150" b="0" i="0">
                <a:solidFill>
                  <a:srgbClr val="333333"/>
                </a:solidFill>
                <a:latin typeface="Calibri"/>
              </a:rPr>
              <a:t>The GenAI session covers prompting and evaluation, hallucination, RAG over MLR-approved content, cost, and the FDA's 2025 draft guidance on AI credibility. Tonight's detector is the baseline.</a:t>
            </a:r>
          </a:p>
        </p:txBody>
      </p:sp>
      <p:sp>
        <p:nvSpPr>
          <p:cNvPr id="17" name="TextBox 16"/>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IQVIA, Where to Deploy Generative AI Solutions in Life Sciences (2025); FDA draft guidance, January 2025.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7 · GOVERNANCE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What the PV lead will ask for</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36 / 37</a:t>
            </a:r>
          </a:p>
        </p:txBody>
      </p:sp>
      <p:graphicFrame>
        <p:nvGraphicFramePr>
          <p:cNvPr id="7" name="Table 6"/>
          <p:cNvGraphicFramePr>
            <a:graphicFrameLocks noGrp="1"/>
          </p:cNvGraphicFramePr>
          <p:nvPr/>
        </p:nvGraphicFramePr>
        <p:xfrm>
          <a:off x="548640" y="1828800"/>
          <a:ext cx="11064240" cy="3511296"/>
        </p:xfrm>
        <a:graphic>
          <a:graphicData uri="http://schemas.openxmlformats.org/drawingml/2006/table">
            <a:tbl>
              <a:tblPr firstRow="1" bandRow="1">
                <a:tableStyleId>{5C22544A-7EE6-4342-B048-85BDC9FD1C3A}</a:tableStyleId>
              </a:tblPr>
              <a:tblGrid>
                <a:gridCol w="2194560"/>
                <a:gridCol w="8869680"/>
              </a:tblGrid>
              <a:tr h="438912">
                <a:tc>
                  <a:txBody>
                    <a:bodyPr wrap="square"/>
                    <a:lstStyle/>
                    <a:p>
                      <a:r>
                        <a:rPr sz="1150" b="1">
                          <a:solidFill>
                            <a:srgbClr val="FFFFFF"/>
                          </a:solidFill>
                          <a:latin typeface="Calibri"/>
                        </a:rPr>
                        <a:t>Item</a:t>
                      </a:r>
                    </a:p>
                  </a:txBody>
                  <a:tcPr marL="54864" marR="54864" marT="27432" marB="27432">
                    <a:solidFill>
                      <a:srgbClr val="1E2761"/>
                    </a:solidFill>
                  </a:tcPr>
                </a:tc>
                <a:tc>
                  <a:txBody>
                    <a:bodyPr wrap="square"/>
                    <a:lstStyle/>
                    <a:p>
                      <a:r>
                        <a:rPr sz="1150" b="1">
                          <a:solidFill>
                            <a:srgbClr val="FFFFFF"/>
                          </a:solidFill>
                          <a:latin typeface="Calibri"/>
                        </a:rPr>
                        <a:t>Write down</a:t>
                      </a:r>
                    </a:p>
                  </a:txBody>
                  <a:tcPr marL="54864" marR="54864" marT="27432" marB="27432">
                    <a:solidFill>
                      <a:srgbClr val="1E2761"/>
                    </a:solidFill>
                  </a:tcPr>
                </a:tc>
              </a:tr>
              <a:tr h="438912">
                <a:tc>
                  <a:txBody>
                    <a:bodyPr wrap="square"/>
                    <a:lstStyle/>
                    <a:p>
                      <a:r>
                        <a:rPr sz="1150" b="1">
                          <a:solidFill>
                            <a:srgbClr val="1E2761"/>
                          </a:solidFill>
                          <a:latin typeface="Calibri"/>
                        </a:rPr>
                        <a:t>Context of use</a:t>
                      </a:r>
                    </a:p>
                  </a:txBody>
                  <a:tcPr marL="54864" marR="54864" marT="27432" marB="27432">
                    <a:solidFill>
                      <a:srgbClr val="FFFFFF"/>
                    </a:solidFill>
                  </a:tcPr>
                </a:tc>
                <a:tc>
                  <a:txBody>
                    <a:bodyPr wrap="square"/>
                    <a:lstStyle/>
                    <a:p>
                      <a:r>
                        <a:rPr sz="1150" b="0">
                          <a:solidFill>
                            <a:srgbClr val="333333"/>
                          </a:solidFill>
                          <a:latin typeface="Calibri"/>
                        </a:rPr>
                        <a:t>which stream, which decision, who acts, what happens on error</a:t>
                      </a:r>
                    </a:p>
                  </a:txBody>
                  <a:tcPr marL="54864" marR="54864" marT="27432" marB="27432">
                    <a:solidFill>
                      <a:srgbClr val="FFFFFF"/>
                    </a:solidFill>
                  </a:tcPr>
                </a:tc>
              </a:tr>
              <a:tr h="438912">
                <a:tc>
                  <a:txBody>
                    <a:bodyPr wrap="square"/>
                    <a:lstStyle/>
                    <a:p>
                      <a:r>
                        <a:rPr sz="1150" b="1">
                          <a:solidFill>
                            <a:srgbClr val="1E2761"/>
                          </a:solidFill>
                          <a:latin typeface="Calibri"/>
                        </a:rPr>
                        <a:t>Data</a:t>
                      </a:r>
                    </a:p>
                  </a:txBody>
                  <a:tcPr marL="54864" marR="54864" marT="27432" marB="27432">
                    <a:solidFill>
                      <a:srgbClr val="F3F6FC"/>
                    </a:solidFill>
                  </a:tcPr>
                </a:tc>
                <a:tc>
                  <a:txBody>
                    <a:bodyPr wrap="square"/>
                    <a:lstStyle/>
                    <a:p>
                      <a:r>
                        <a:rPr sz="1150" b="0">
                          <a:solidFill>
                            <a:srgbClr val="333333"/>
                          </a:solidFill>
                          <a:latin typeface="Calibri"/>
                        </a:rPr>
                        <a:t>source, period, reviewer labels and their noise, PHI handling</a:t>
                      </a:r>
                    </a:p>
                  </a:txBody>
                  <a:tcPr marL="54864" marR="54864" marT="27432" marB="27432">
                    <a:solidFill>
                      <a:srgbClr val="F3F6FC"/>
                    </a:solidFill>
                  </a:tcPr>
                </a:tc>
              </a:tr>
              <a:tr h="438912">
                <a:tc>
                  <a:txBody>
                    <a:bodyPr wrap="square"/>
                    <a:lstStyle/>
                    <a:p>
                      <a:r>
                        <a:rPr sz="1150" b="1">
                          <a:solidFill>
                            <a:srgbClr val="1E2761"/>
                          </a:solidFill>
                          <a:latin typeface="Calibri"/>
                        </a:rPr>
                        <a:t>Performance</a:t>
                      </a:r>
                    </a:p>
                  </a:txBody>
                  <a:tcPr marL="54864" marR="54864" marT="27432" marB="27432">
                    <a:solidFill>
                      <a:srgbClr val="FFFFFF"/>
                    </a:solidFill>
                  </a:tcPr>
                </a:tc>
                <a:tc>
                  <a:txBody>
                    <a:bodyPr wrap="square"/>
                    <a:lstStyle/>
                    <a:p>
                      <a:r>
                        <a:rPr sz="1150" b="0">
                          <a:solidFill>
                            <a:srgbClr val="333333"/>
                          </a:solidFill>
                          <a:latin typeface="Calibri"/>
                        </a:rPr>
                        <a:t>AUC and AP for comparison; the operating point with recall, precision, workload; held-out and behavioural tests</a:t>
                      </a:r>
                    </a:p>
                  </a:txBody>
                  <a:tcPr marL="54864" marR="54864" marT="27432" marB="27432">
                    <a:solidFill>
                      <a:srgbClr val="FFFFFF"/>
                    </a:solidFill>
                  </a:tcPr>
                </a:tc>
              </a:tr>
              <a:tr h="438912">
                <a:tc>
                  <a:txBody>
                    <a:bodyPr wrap="square"/>
                    <a:lstStyle/>
                    <a:p>
                      <a:r>
                        <a:rPr sz="1150" b="1">
                          <a:solidFill>
                            <a:srgbClr val="1E2761"/>
                          </a:solidFill>
                          <a:latin typeface="Calibri"/>
                        </a:rPr>
                        <a:t>Explanations</a:t>
                      </a:r>
                    </a:p>
                  </a:txBody>
                  <a:tcPr marL="54864" marR="54864" marT="27432" marB="27432">
                    <a:solidFill>
                      <a:srgbClr val="F3F6FC"/>
                    </a:solidFill>
                  </a:tcPr>
                </a:tc>
                <a:tc>
                  <a:txBody>
                    <a:bodyPr wrap="square"/>
                    <a:lstStyle/>
                    <a:p>
                      <a:r>
                        <a:rPr sz="1150" b="0">
                          <a:solidFill>
                            <a:srgbClr val="333333"/>
                          </a:solidFill>
                          <a:latin typeface="Calibri"/>
                        </a:rPr>
                        <a:t>global review, per-flag spans, leak checks</a:t>
                      </a:r>
                    </a:p>
                  </a:txBody>
                  <a:tcPr marL="54864" marR="54864" marT="27432" marB="27432">
                    <a:solidFill>
                      <a:srgbClr val="F3F6FC"/>
                    </a:solidFill>
                  </a:tcPr>
                </a:tc>
              </a:tr>
              <a:tr h="438912">
                <a:tc>
                  <a:txBody>
                    <a:bodyPr wrap="square"/>
                    <a:lstStyle/>
                    <a:p>
                      <a:r>
                        <a:rPr sz="1150" b="1">
                          <a:solidFill>
                            <a:srgbClr val="1E2761"/>
                          </a:solidFill>
                          <a:latin typeface="Calibri"/>
                        </a:rPr>
                        <a:t>Human oversight</a:t>
                      </a:r>
                    </a:p>
                  </a:txBody>
                  <a:tcPr marL="54864" marR="54864" marT="27432" marB="27432">
                    <a:solidFill>
                      <a:srgbClr val="FFFFFF"/>
                    </a:solidFill>
                  </a:tcPr>
                </a:tc>
                <a:tc>
                  <a:txBody>
                    <a:bodyPr wrap="square"/>
                    <a:lstStyle/>
                    <a:p>
                      <a:r>
                        <a:rPr sz="1150" b="0">
                          <a:solidFill>
                            <a:srgbClr val="333333"/>
                          </a:solidFill>
                          <a:latin typeface="Calibri"/>
                        </a:rPr>
                        <a:t>who reviews every flag; escalation; the SOP it sits beside</a:t>
                      </a:r>
                    </a:p>
                  </a:txBody>
                  <a:tcPr marL="54864" marR="54864" marT="27432" marB="27432">
                    <a:solidFill>
                      <a:srgbClr val="FFFFFF"/>
                    </a:solidFill>
                  </a:tcPr>
                </a:tc>
              </a:tr>
              <a:tr h="438912">
                <a:tc>
                  <a:txBody>
                    <a:bodyPr wrap="square"/>
                    <a:lstStyle/>
                    <a:p>
                      <a:r>
                        <a:rPr sz="1150" b="1">
                          <a:solidFill>
                            <a:srgbClr val="1E2761"/>
                          </a:solidFill>
                          <a:latin typeface="Calibri"/>
                        </a:rPr>
                        <a:t>Monitoring</a:t>
                      </a:r>
                    </a:p>
                  </a:txBody>
                  <a:tcPr marL="54864" marR="54864" marT="27432" marB="27432">
                    <a:solidFill>
                      <a:srgbClr val="F3F6FC"/>
                    </a:solidFill>
                  </a:tcPr>
                </a:tc>
                <a:tc>
                  <a:txBody>
                    <a:bodyPr wrap="square"/>
                    <a:lstStyle/>
                    <a:p>
                      <a:r>
                        <a:rPr sz="1150" b="0">
                          <a:solidFill>
                            <a:srgbClr val="333333"/>
                          </a:solidFill>
                          <a:latin typeface="Calibri"/>
                        </a:rPr>
                        <a:t>flag-rate drift, probes on every retrain, domain shift on new streams</a:t>
                      </a:r>
                    </a:p>
                  </a:txBody>
                  <a:tcPr marL="54864" marR="54864" marT="27432" marB="27432">
                    <a:solidFill>
                      <a:srgbClr val="F3F6FC"/>
                    </a:solidFill>
                  </a:tcPr>
                </a:tc>
              </a:tr>
              <a:tr h="438912">
                <a:tc>
                  <a:txBody>
                    <a:bodyPr wrap="square"/>
                    <a:lstStyle/>
                    <a:p>
                      <a:r>
                        <a:rPr sz="1150" b="1">
                          <a:solidFill>
                            <a:srgbClr val="1E2761"/>
                          </a:solidFill>
                          <a:latin typeface="Calibri"/>
                        </a:rPr>
                        <a:t>Record</a:t>
                      </a:r>
                    </a:p>
                  </a:txBody>
                  <a:tcPr marL="54864" marR="54864" marT="27432" marB="27432">
                    <a:solidFill>
                      <a:srgbClr val="FFFFFF"/>
                    </a:solidFill>
                  </a:tcPr>
                </a:tc>
                <a:tc>
                  <a:txBody>
                    <a:bodyPr wrap="square"/>
                    <a:lstStyle/>
                    <a:p>
                      <a:r>
                        <a:rPr sz="1150" b="0">
                          <a:solidFill>
                            <a:srgbClr val="333333"/>
                          </a:solidFill>
                          <a:latin typeface="Calibri"/>
                        </a:rPr>
                        <a:t>the PV System Master File</a:t>
                      </a:r>
                    </a:p>
                  </a:txBody>
                  <a:tcPr marL="54864" marR="54864" marT="27432" marB="27432">
                    <a:solidFill>
                      <a:srgbClr val="FFFFFF"/>
                    </a:solidFill>
                  </a:tcPr>
                </a:tc>
              </a:tr>
            </a:tbl>
          </a:graphicData>
        </a:graphic>
      </p:graphicFrame>
      <p:sp>
        <p:nvSpPr>
          <p:cNvPr id="8" name="TextBox 7"/>
          <p:cNvSpPr txBox="1"/>
          <p:nvPr/>
        </p:nvSpPr>
        <p:spPr>
          <a:xfrm>
            <a:off x="548640" y="6199632"/>
            <a:ext cx="11064240" cy="256032"/>
          </a:xfrm>
          <a:prstGeom prst="rect">
            <a:avLst/>
          </a:prstGeom>
          <a:noFill/>
        </p:spPr>
        <p:txBody>
          <a:bodyPr wrap="square" lIns="45720" rIns="45720" tIns="27432" bIns="27432" anchor="t">
            <a:spAutoFit/>
          </a:bodyPr>
          <a:lstStyle/>
          <a:p>
            <a:pPr algn="l"/>
            <a:r>
              <a:rPr sz="850" b="0" i="1">
                <a:solidFill>
                  <a:srgbClr val="666666"/>
                </a:solidFill>
                <a:latin typeface="Calibri"/>
              </a:rPr>
              <a:t>Source: FDA / Health Canada / MHRA, Good Machine Learning Practice (2021); FDA draft guidance (Jan 2025); IQVIA (Raizada) 2025.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7 · EXERCISE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In-class exercise, 25 minutes, pairs</a:t>
            </a:r>
          </a:p>
        </p:txBody>
      </p:sp>
      <p:sp>
        <p:nvSpPr>
          <p:cNvPr id="5" name="TextBox 4"/>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7 — NLP in Pharma Commercial: Adverse Events, Field Notes and Social Listening  ·  Pharma DS&amp;AI · Fall 2026</a:t>
            </a:r>
          </a:p>
        </p:txBody>
      </p:sp>
      <p:sp>
        <p:nvSpPr>
          <p:cNvPr id="6" name="TextBox 5"/>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37 / 37</a:t>
            </a:r>
          </a:p>
        </p:txBody>
      </p:sp>
      <p:sp>
        <p:nvSpPr>
          <p:cNvPr id="7" name="Rectangle 6"/>
          <p:cNvSpPr/>
          <p:nvPr/>
        </p:nvSpPr>
        <p:spPr>
          <a:xfrm>
            <a:off x="548640" y="1828800"/>
            <a:ext cx="3566160" cy="31089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96596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A</a:t>
            </a:r>
          </a:p>
        </p:txBody>
      </p:sp>
      <p:sp>
        <p:nvSpPr>
          <p:cNvPr id="9" name="TextBox 8"/>
          <p:cNvSpPr txBox="1"/>
          <p:nvPr/>
        </p:nvSpPr>
        <p:spPr>
          <a:xfrm>
            <a:off x="1143000" y="1956816"/>
            <a:ext cx="2880360" cy="411480"/>
          </a:xfrm>
          <a:prstGeom prst="rect">
            <a:avLst/>
          </a:prstGeom>
          <a:noFill/>
        </p:spPr>
        <p:txBody>
          <a:bodyPr wrap="square" lIns="45720" rIns="45720" tIns="27432" bIns="27432" anchor="ctr">
            <a:spAutoFit/>
          </a:bodyPr>
          <a:lstStyle/>
          <a:p>
            <a:pPr algn="l"/>
            <a:r>
              <a:rPr sz="1400" b="1" i="0">
                <a:solidFill>
                  <a:srgbClr val="1E2761"/>
                </a:solidFill>
                <a:latin typeface="Calibri"/>
              </a:rPr>
              <a:t>A · Eight notes by hand (10 min)</a:t>
            </a:r>
          </a:p>
        </p:txBody>
      </p:sp>
      <p:sp>
        <p:nvSpPr>
          <p:cNvPr id="10" name="TextBox 9"/>
          <p:cNvSpPr txBox="1"/>
          <p:nvPr/>
        </p:nvSpPr>
        <p:spPr>
          <a:xfrm>
            <a:off x="658368" y="2450592"/>
            <a:ext cx="3337560" cy="2395727"/>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sz="1200">
                <a:solidFill>
                  <a:srgbClr val="333333"/>
                </a:solidFill>
                <a:latin typeface="Calibri"/>
              </a:rPr>
              <a:t>AE? four elements? serious? unexpected? due date? Write the phrase that decided it.</a:t>
            </a:r>
          </a:p>
        </p:txBody>
      </p:sp>
      <p:sp>
        <p:nvSpPr>
          <p:cNvPr id="11" name="Rectangle 10"/>
          <p:cNvSpPr/>
          <p:nvPr/>
        </p:nvSpPr>
        <p:spPr>
          <a:xfrm>
            <a:off x="4297680" y="1828800"/>
            <a:ext cx="3566160" cy="3108960"/>
          </a:xfrm>
          <a:prstGeom prst="rect">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434840" y="196596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B</a:t>
            </a:r>
          </a:p>
        </p:txBody>
      </p:sp>
      <p:sp>
        <p:nvSpPr>
          <p:cNvPr id="13" name="TextBox 12"/>
          <p:cNvSpPr txBox="1"/>
          <p:nvPr/>
        </p:nvSpPr>
        <p:spPr>
          <a:xfrm>
            <a:off x="4892040" y="1956816"/>
            <a:ext cx="2880360" cy="411480"/>
          </a:xfrm>
          <a:prstGeom prst="rect">
            <a:avLst/>
          </a:prstGeom>
          <a:noFill/>
        </p:spPr>
        <p:txBody>
          <a:bodyPr wrap="square" lIns="45720" rIns="45720" tIns="27432" bIns="27432" anchor="ctr">
            <a:spAutoFit/>
          </a:bodyPr>
          <a:lstStyle/>
          <a:p>
            <a:pPr algn="l"/>
            <a:r>
              <a:rPr sz="1400" b="1" i="0">
                <a:solidFill>
                  <a:srgbClr val="1E2761"/>
                </a:solidFill>
                <a:latin typeface="Calibri"/>
              </a:rPr>
              <a:t>B · Read an explanation (8 min)</a:t>
            </a:r>
          </a:p>
        </p:txBody>
      </p:sp>
      <p:sp>
        <p:nvSpPr>
          <p:cNvPr id="14" name="TextBox 13"/>
          <p:cNvSpPr txBox="1"/>
          <p:nvPr/>
        </p:nvSpPr>
        <p:spPr>
          <a:xfrm>
            <a:off x="4407408" y="2450592"/>
            <a:ext cx="3337560" cy="2395727"/>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sz="1200">
                <a:solidFill>
                  <a:srgbClr val="333333"/>
                </a:solidFill>
                <a:latin typeface="Calibri"/>
              </a:rPr>
              <a:t>Two word-contribution outputs. Trust the flag? Send the model back? Which probe to add?</a:t>
            </a:r>
          </a:p>
        </p:txBody>
      </p:sp>
      <p:sp>
        <p:nvSpPr>
          <p:cNvPr id="15" name="Rectangle 14"/>
          <p:cNvSpPr/>
          <p:nvPr/>
        </p:nvSpPr>
        <p:spPr>
          <a:xfrm>
            <a:off x="8046720" y="1828800"/>
            <a:ext cx="3566160" cy="31089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183880" y="196596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C</a:t>
            </a:r>
          </a:p>
        </p:txBody>
      </p:sp>
      <p:sp>
        <p:nvSpPr>
          <p:cNvPr id="17" name="TextBox 16"/>
          <p:cNvSpPr txBox="1"/>
          <p:nvPr/>
        </p:nvSpPr>
        <p:spPr>
          <a:xfrm>
            <a:off x="8641080" y="1956816"/>
            <a:ext cx="2880360" cy="411480"/>
          </a:xfrm>
          <a:prstGeom prst="rect">
            <a:avLst/>
          </a:prstGeom>
          <a:noFill/>
        </p:spPr>
        <p:txBody>
          <a:bodyPr wrap="square" lIns="45720" rIns="45720" tIns="27432" bIns="27432" anchor="ctr">
            <a:spAutoFit/>
          </a:bodyPr>
          <a:lstStyle/>
          <a:p>
            <a:pPr algn="l"/>
            <a:r>
              <a:rPr sz="1400" b="1" i="0">
                <a:solidFill>
                  <a:srgbClr val="1E2761"/>
                </a:solidFill>
                <a:latin typeface="Calibri"/>
              </a:rPr>
              <a:t>C · Set the threshold (7 min)</a:t>
            </a:r>
          </a:p>
        </p:txBody>
      </p:sp>
      <p:sp>
        <p:nvSpPr>
          <p:cNvPr id="18" name="TextBox 17"/>
          <p:cNvSpPr txBox="1"/>
          <p:nvPr/>
        </p:nvSpPr>
        <p:spPr>
          <a:xfrm>
            <a:off x="8156448" y="2450592"/>
            <a:ext cx="3337560" cy="2395727"/>
          </a:xfrm>
          <a:prstGeom prst="rect">
            <a:avLst/>
          </a:prstGeom>
          <a:noFill/>
        </p:spPr>
        <p:txBody>
          <a:bodyPr wrap="square" lIns="45720" rIns="45720">
            <a:spAutoFit/>
          </a:bodyPr>
          <a:lstStyle/>
          <a:p>
            <a:pPr>
              <a:spcAft>
                <a:spcPts val="500"/>
              </a:spcAft>
            </a:pPr>
            <a:r>
              <a:rPr sz="1200" b="1">
                <a:solidFill>
                  <a:srgbClr val="FF6B6B"/>
                </a:solidFill>
                <a:latin typeface="Calibri"/>
              </a:rPr>
              <a:t>▸ </a:t>
            </a:r>
            <a:r>
              <a:rPr sz="1200">
                <a:solidFill>
                  <a:srgbClr val="333333"/>
                </a:solidFill>
                <a:latin typeface="Calibri"/>
              </a:rPr>
              <a:t>Reviewer budget of 2 hours a week: pick the threshold, state the misses, justify it to Safety. Then triple the volume.</a:t>
            </a:r>
          </a:p>
        </p:txBody>
      </p:sp>
      <p:graphicFrame>
        <p:nvGraphicFramePr>
          <p:cNvPr id="19" name="Table 18"/>
          <p:cNvGraphicFramePr>
            <a:graphicFrameLocks noGrp="1"/>
          </p:cNvGraphicFramePr>
          <p:nvPr/>
        </p:nvGraphicFramePr>
        <p:xfrm>
          <a:off x="548640" y="5120640"/>
          <a:ext cx="11064240" cy="1170432"/>
        </p:xfrm>
        <a:graphic>
          <a:graphicData uri="http://schemas.openxmlformats.org/drawingml/2006/table">
            <a:tbl>
              <a:tblPr firstRow="1" bandRow="1">
                <a:tableStyleId>{5C22544A-7EE6-4342-B048-85BDC9FD1C3A}</a:tableStyleId>
              </a:tblPr>
              <a:tblGrid>
                <a:gridCol w="1645920"/>
                <a:gridCol w="9418320"/>
              </a:tblGrid>
              <a:tr h="292608">
                <a:tc>
                  <a:txBody>
                    <a:bodyPr wrap="square"/>
                    <a:lstStyle/>
                    <a:p>
                      <a:r>
                        <a:rPr sz="1150" b="1">
                          <a:solidFill>
                            <a:srgbClr val="FFFFFF"/>
                          </a:solidFill>
                          <a:latin typeface="Calibri"/>
                        </a:rPr>
                        <a:t>When</a:t>
                      </a:r>
                    </a:p>
                  </a:txBody>
                  <a:tcPr marL="54864" marR="54864" marT="27432" marB="27432">
                    <a:solidFill>
                      <a:srgbClr val="1E2761"/>
                    </a:solidFill>
                  </a:tcPr>
                </a:tc>
                <a:tc>
                  <a:txBody>
                    <a:bodyPr wrap="square"/>
                    <a:lstStyle/>
                    <a:p>
                      <a:r>
                        <a:rPr sz="1150" b="1">
                          <a:solidFill>
                            <a:srgbClr val="FFFFFF"/>
                          </a:solidFill>
                          <a:latin typeface="Calibri"/>
                        </a:rPr>
                        <a:t>What</a:t>
                      </a:r>
                    </a:p>
                  </a:txBody>
                  <a:tcPr marL="54864" marR="54864" marT="27432" marB="27432">
                    <a:solidFill>
                      <a:srgbClr val="1E2761"/>
                    </a:solidFill>
                  </a:tcPr>
                </a:tc>
              </a:tr>
              <a:tr h="292608">
                <a:tc>
                  <a:txBody>
                    <a:bodyPr wrap="square"/>
                    <a:lstStyle/>
                    <a:p>
                      <a:r>
                        <a:rPr sz="1150" b="1">
                          <a:solidFill>
                            <a:srgbClr val="1E2761"/>
                          </a:solidFill>
                          <a:latin typeface="Calibri"/>
                        </a:rPr>
                        <a:t>Mon Nov 2</a:t>
                      </a:r>
                    </a:p>
                  </a:txBody>
                  <a:tcPr marL="54864" marR="54864" marT="27432" marB="27432">
                    <a:solidFill>
                      <a:srgbClr val="FFFFFF"/>
                    </a:solidFill>
                  </a:tcPr>
                </a:tc>
                <a:tc>
                  <a:txBody>
                    <a:bodyPr wrap="square"/>
                    <a:lstStyle/>
                    <a:p>
                      <a:r>
                        <a:rPr sz="1150" b="0">
                          <a:solidFill>
                            <a:srgbClr val="333333"/>
                          </a:solidFill>
                          <a:latin typeface="Calibri"/>
                        </a:rPr>
                        <a:t>Academic holiday. Homework 2 due 11:59 PM ET</a:t>
                      </a:r>
                    </a:p>
                  </a:txBody>
                  <a:tcPr marL="54864" marR="54864" marT="27432" marB="27432">
                    <a:solidFill>
                      <a:srgbClr val="FFFFFF"/>
                    </a:solidFill>
                  </a:tcPr>
                </a:tc>
              </a:tr>
              <a:tr h="292608">
                <a:tc>
                  <a:txBody>
                    <a:bodyPr wrap="square"/>
                    <a:lstStyle/>
                    <a:p>
                      <a:r>
                        <a:rPr sz="1150" b="1">
                          <a:solidFill>
                            <a:srgbClr val="1E2761"/>
                          </a:solidFill>
                          <a:latin typeface="Calibri"/>
                        </a:rPr>
                        <a:t>Mon Nov 9</a:t>
                      </a:r>
                    </a:p>
                  </a:txBody>
                  <a:tcPr marL="54864" marR="54864" marT="27432" marB="27432">
                    <a:solidFill>
                      <a:srgbClr val="F3F6FC"/>
                    </a:solidFill>
                  </a:tcPr>
                </a:tc>
                <a:tc>
                  <a:txBody>
                    <a:bodyPr wrap="square"/>
                    <a:lstStyle/>
                    <a:p>
                      <a:r>
                        <a:rPr sz="1150" b="0">
                          <a:solidFill>
                            <a:srgbClr val="333333"/>
                          </a:solidFill>
                          <a:latin typeface="Calibri"/>
                        </a:rPr>
                        <a:t>Midterm, closed book, Weeks 1–7. Study guide posted a week ahead</a:t>
                      </a:r>
                    </a:p>
                  </a:txBody>
                  <a:tcPr marL="54864" marR="54864" marT="27432" marB="27432">
                    <a:solidFill>
                      <a:srgbClr val="F3F6FC"/>
                    </a:solidFill>
                  </a:tcPr>
                </a:tc>
              </a:tr>
              <a:tr h="292608">
                <a:tc>
                  <a:txBody>
                    <a:bodyPr wrap="square"/>
                    <a:lstStyle/>
                    <a:p>
                      <a:r>
                        <a:rPr sz="1150" b="1">
                          <a:solidFill>
                            <a:srgbClr val="1E2761"/>
                          </a:solidFill>
                          <a:latin typeface="Calibri"/>
                        </a:rPr>
                        <a:t>Mon Nov 16</a:t>
                      </a:r>
                    </a:p>
                  </a:txBody>
                  <a:tcPr marL="54864" marR="54864" marT="27432" marB="27432">
                    <a:solidFill>
                      <a:srgbClr val="FFFFFF"/>
                    </a:solidFill>
                  </a:tcPr>
                </a:tc>
                <a:tc>
                  <a:txBody>
                    <a:bodyPr wrap="square"/>
                    <a:lstStyle/>
                    <a:p>
                      <a:r>
                        <a:rPr sz="1150" b="0">
                          <a:solidFill>
                            <a:srgbClr val="333333"/>
                          </a:solidFill>
                          <a:latin typeface="Calibri"/>
                        </a:rPr>
                        <a:t>Guest speaker: agentic AI in pharma commercial. Two questions in advance</a:t>
                      </a:r>
                    </a:p>
                  </a:txBody>
                  <a:tcPr marL="54864" marR="54864" marT="27432" marB="27432">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7: NLP in Pharma Commercial</dc:title>
  <dc:subject/>
  <dc:creator>Andi Cupallari</dc:creator>
  <cp:keywords/>
  <dc:description>generated using python-pptx</dc:description>
  <cp:lastModifiedBy>Andi Cupallari</cp:lastModifiedBy>
  <cp:revision>1</cp:revision>
  <dcterms:created xsi:type="dcterms:W3CDTF">2026-10-24T19:44:21Z</dcterms:created>
  <dcterms:modified xsi:type="dcterms:W3CDTF">2026-10-24T19:44:21Z</dcterms:modified>
  <cp:category/>
</cp:coreProperties>
</file>