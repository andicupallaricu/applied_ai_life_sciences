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2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Fourth coding night. One notebook in two halves around the break. Homework 1 is due tonight 11:59 PM; nothing released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nothing — HW1 is online. Ask who brought one HCP per segment from Week 4; keep them for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slide to come back to all night. Hale and Bakshi are exercise Part A HCPs.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right: data → one customer view → segmentation and affinity → the NBA layer → an action → an outcome → the red loop. Say now: the log must record the probability with which the action was chosen — §8 runs on that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from the exercise Part A. The point: the decision depends on the state, and the state depends on last week's decision. That is why fatigue (§6) is a feature in the model and a rule in front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causal tonight comes from the 25%. The most common way NBA programs die is switching this off after the first good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minute. Two terms are not pharma vocabulary — contextual bandit and offline policy evaluation come from online advertising. Say which, and students can read a vendor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§1–2. Right panel: P(call) rises with decile — the targeting rule a model would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§3. The 10× gap is the targeting rule, not the rep. Industry name for the model family: promotion response modeling (Axtria).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§4 opening. The names are the exercise HCPs. Make the point that the blanks are not random — they are the channels nobody has tried on that HCP, which is exactly where the engine wants to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§4a. Alternating ridge least squares, 30 iterations, k=2, strong shrinkage on the HCP side (1–2 cells per HCP) and almost none on the channel side (thousands of rows). causalml is not involved; this is the Netflix-prize method. Two uses: the segment × channel view, and the affinity floor in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§4b. The correlation with revealed engagement is modest and should be: engagement in the log is a noisy binary over a handful of touches. Most 'NBA' platforms ship this layer and call it NBA.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the two potential outcomes slowly. Students have seen prediction (one outcome, one label). This is the first time the target is a quantity that does not exist in any row. Everything in the section follows from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DAG is the one slide of causal-graph language. Point at the gold arrow into Rep call: randomization deletes it. Adjustment leaves it but blocks the path — only if you have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 question: 'we have a great propensity model, why build another?' Answer with the 'ranks first' row and the decile chart four slides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Künzel et al. (2019) for the X-learner; the S/T names are theirs too. causalml and econml wrap all three; writing them once is how you know what the two lines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that settles the 'why not our propensity model' argument. Both rankings are evaluated on randomized outcomes, so the bars are honest for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§5. causalml / econml do all three in two lines; writing them once is how you know what the two lines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§6. Entrenched = sleeping dogs. The cap is estimated, not guessed — and re-estimated every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§7. Dr. Eng is exercise Part A. 'Model-estimated' is the operative word — §8 checks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§8. Net value per HCP-week = $1,200 × NBRx − cost. Effective n is the price of OPE: a policy far from the logger is scored on a fraction of the rows. +$100 × 6,000 × 52 ≈ $31M a year modeled — quote the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§10. PDC and refill gaps dominate importance (near-tautological); copay and PSP are the actionable ones. Calibration by payer is the fairness check — sits on the diagonal for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Omnichannel Optimization, Next Best Action,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and Patient Predictive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One decision per prescriber per week: call, email, digital, or nothing.</a:t>
            </a:r>
          </a:p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an NBA engine makes it — and how you know it worked.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Andi Cupallari · Applied Data Science and AI in Pharma Commercial · Fall 2026 · Monday, October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2.5 hours · one notebook in two halves · one exercise · Homework 1 due tonight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48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question, and the 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7685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Response vs. uplift — 15 min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9689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How an NBA engine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4378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Three components, one loop, one design choice — 15 min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9125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6382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Live 1 — the data, the trap, affinity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1071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Notebook §1–4 — 35 min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758183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30751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Live 2 — causal inference and uplift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77639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Potential outcomes · confounding · S/T/X-learners · notebook §5 — 35 min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Saturation, rules,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544568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Notebook §6–7 — 15 min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64607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Evaluating a policy: OPE and bandits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1149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Notebook §8–9 — 15 min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58968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31536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Patients, orchestration, exercise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78424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Notebook §10–11 — 20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question, and the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Week 4 said who the prescribers are. Tonight: what to do with each one, this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FROM WEEKS 3–4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tonight inherits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566160" cy="1554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Week 4 segments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Core · Movers · Access-constrained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Entrenched · Long 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94560"/>
            <a:ext cx="3566160" cy="1554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$ per script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1 incremental NBRx ≈ $1,200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Call $180 · email $2 · digital $6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2194560"/>
            <a:ext cx="3566160" cy="1554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Hold-out discipline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Measure on data the model never saw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Tonight: randomize 25% of decisions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794760"/>
            <a:ext cx="3154680" cy="7772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794760"/>
            <a:ext cx="0" cy="7772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675120" y="3794760"/>
            <a:ext cx="3154680" cy="7772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4760" y="4617720"/>
            <a:ext cx="4572000" cy="10058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The NBA engine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context · value · measurement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91616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Break-even for a $180 call: 0.15 incremental NBRx in two weeks. Most calls don't clear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Omnichannel Lead, every Monday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GLUCOREN · 6,000 targeted HCPs · four possible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1106424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“For each prescriber, this week: a rep call, an approved email, a digital placement, or nothing — and how will we know it worked?”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2651760" cy="10972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 call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$180 per touch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566160"/>
            <a:ext cx="2651760" cy="10972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Approved email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$2 per touch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3566160"/>
            <a:ext cx="2651760" cy="10972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Digital placement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$6 per touch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399" y="3566160"/>
            <a:ext cx="2651760" cy="109728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Nothing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$0 per 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6,000 HCPs × 26 weeks = 156,000 of these decisions in H1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5394960" cy="11887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We owe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14416"/>
            <a:ext cx="5166360" cy="6035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One action per HCP per week, with the expected incremental value behind it — and 'nothing' as a real 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120640"/>
            <a:ext cx="5394960" cy="11887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52303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We will not pretend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614416"/>
            <a:ext cx="5166360" cy="6035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That 'who prescribes after a call' tells us whom to call — it tells us who prescribes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Response vs. uplift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Response = what happens after the action. Uplift = that, minus what would have happened anyway.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Dr. Hale —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Dr. Bakshi — Movers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if called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77440"/>
            <a:ext cx="356616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6.3 NBRx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if not called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834640"/>
            <a:ext cx="3511296" cy="384048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6.2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7296" y="2377440"/>
            <a:ext cx="54864" cy="3840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32918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A11E1E"/>
                </a:solidFill>
                <a:latin typeface="Calibri"/>
              </a:rPr>
              <a:t>uplift +0.1 → −$60 net. A sure 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if called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2377440"/>
            <a:ext cx="164592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  <a:latin typeface="Calibri"/>
              </a:rPr>
              <a:t>if not called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834640"/>
            <a:ext cx="1133856" cy="384048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</a:rPr>
              <a:t>2.0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377440"/>
            <a:ext cx="512064" cy="3840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3291840"/>
            <a:ext cx="3657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B6E3A"/>
                </a:solidFill>
                <a:latin typeface="Calibri"/>
              </a:rPr>
              <a:t>uplift +0.9 → +$900 net. A persuadable.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822192"/>
            <a:ext cx="2011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prescribes anyway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22192"/>
            <a:ext cx="2011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Calibri"/>
              </a:rPr>
              <a:t>wouldn't anyway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" y="4114800"/>
            <a:ext cx="1371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prescribes
if touched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" y="4983480"/>
            <a:ext cx="1371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doesn't
if touched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4114800"/>
            <a:ext cx="1965960" cy="8229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Sure things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Core · uplift ≈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4114800"/>
            <a:ext cx="1965960" cy="82296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Persuadables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Movers · worth the touch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4983480"/>
            <a:ext cx="1965960" cy="8229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Sleeping dogs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over-touched Entrenched · uplift &lt;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31920" y="4983480"/>
            <a:ext cx="1965960" cy="82296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Lost causes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Long tail · nothing moves them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9502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a response model fails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334256"/>
            <a:ext cx="5166360" cy="1426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It ranks Dr. Hale first — he prescribes most.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Only persuadables return the $180.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Finding them needs the difference, and the difference needs randomization.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91616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Model the difference, not the level. The four types: Radcliffe &amp; Surry (2011).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How an NBA engine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Three components — segmentation, affinity, NBA — one weekly loop, one design choice that makes it learnable.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An NBA engine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Three components: segmentation → affinity → NBA. Terms: suggestions (Veeva), orchestration (IQVIA), business rules (Axtria), single customer view (McKinsey)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Rx panel (Week 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67128" y="2231136"/>
            <a:ext cx="320040" cy="1152144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56032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CRM activity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779776"/>
            <a:ext cx="320040" cy="603504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10896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Email / web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67128" y="3328415"/>
            <a:ext cx="320040" cy="54865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365760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Consent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67128" y="3383280"/>
            <a:ext cx="320040" cy="493776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20624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Access (rejects)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167128" y="3383280"/>
            <a:ext cx="320040" cy="1042416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4754880"/>
            <a:ext cx="1600200" cy="438912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Calibri"/>
              </a:rPr>
              <a:t>Preference survey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67128" y="3383280"/>
            <a:ext cx="320040" cy="1591056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14600" y="2834640"/>
            <a:ext cx="1325880" cy="109728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Single customer view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CDP · identity · consent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58768" y="3383280"/>
            <a:ext cx="30175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06240" y="2103120"/>
            <a:ext cx="1737360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 · Segmentation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micro-segments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Week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611880"/>
            <a:ext cx="1737360" cy="10972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 · Affinity prediction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observed for a subset →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collaborative filtering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3218688"/>
            <a:ext cx="0" cy="374904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2651760"/>
            <a:ext cx="393192" cy="22860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961888" y="3931920"/>
            <a:ext cx="393192" cy="22860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309360" y="2103120"/>
            <a:ext cx="2011680" cy="28346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30552"/>
            <a:ext cx="2011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 i="0">
                <a:solidFill>
                  <a:srgbClr val="1E2761"/>
                </a:solidFill>
                <a:latin typeface="Calibri"/>
              </a:rPr>
              <a:t>3 · NBA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468880"/>
            <a:ext cx="1828800" cy="71323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Eligibility</a:t>
            </a:r>
          </a:p>
          <a:p>
            <a:pPr algn="ctr"/>
            <a:r>
              <a:rPr sz="800">
                <a:solidFill>
                  <a:srgbClr val="CADCFC"/>
                </a:solidFill>
                <a:latin typeface="Calibri"/>
              </a:rPr>
              <a:t>business rules · affinity floor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273552"/>
            <a:ext cx="1828800" cy="71323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Scoring</a:t>
            </a:r>
          </a:p>
          <a:p>
            <a:pPr algn="ctr"/>
            <a:r>
              <a:rPr sz="800">
                <a:solidFill>
                  <a:srgbClr val="CADCFC"/>
                </a:solidFill>
                <a:latin typeface="Calibri"/>
              </a:rPr>
              <a:t>uplift × $ − 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078224"/>
            <a:ext cx="1828800" cy="713232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Selection</a:t>
            </a:r>
          </a:p>
          <a:p>
            <a:pPr algn="ctr"/>
            <a:r>
              <a:rPr sz="800">
                <a:solidFill>
                  <a:srgbClr val="CADCFC"/>
                </a:solidFill>
                <a:latin typeface="Calibri"/>
              </a:rPr>
              <a:t>argmax + explore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39327" y="3657600"/>
            <a:ext cx="347473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732520" y="2194560"/>
            <a:ext cx="1417320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Suggestion → rep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68128" y="2478024"/>
            <a:ext cx="301752" cy="1042416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732520" y="2926080"/>
            <a:ext cx="1417320" cy="56692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Approved email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68128" y="3209544"/>
            <a:ext cx="301752" cy="310896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32520" y="3657600"/>
            <a:ext cx="1417320" cy="56692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0168128" y="3520440"/>
            <a:ext cx="301752" cy="420624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32520" y="4389120"/>
            <a:ext cx="1417320" cy="566928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0168128" y="3520440"/>
            <a:ext cx="301752" cy="1152144"/>
          </a:xfrm>
          <a:prstGeom prst="line">
            <a:avLst/>
          </a:prstGeom>
          <a:ln w="127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15600" y="3017520"/>
            <a:ext cx="1097280" cy="100584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Calibri"/>
              </a:rPr>
              <a:t>Outcome</a:t>
            </a:r>
          </a:p>
          <a:p>
            <a:pPr algn="ctr"/>
            <a:r>
              <a:rPr sz="750">
                <a:solidFill>
                  <a:srgbClr val="333333"/>
                </a:solidFill>
                <a:latin typeface="Calibri"/>
              </a:rPr>
              <a:t>NBRx · engaged · complaint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064240" y="4041648"/>
            <a:ext cx="0" cy="1307592"/>
          </a:xfrm>
          <a:prstGeom prst="line">
            <a:avLst/>
          </a:prstGeom>
          <a:ln w="3175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371600" y="5349240"/>
            <a:ext cx="9692640" cy="0"/>
          </a:xfrm>
          <a:prstGeom prst="line">
            <a:avLst/>
          </a:prstGeom>
          <a:ln w="3175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71600" y="5230368"/>
            <a:ext cx="0" cy="118872"/>
          </a:xfrm>
          <a:prstGeom prst="line">
            <a:avLst/>
          </a:prstGeom>
          <a:ln w="3175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43200" y="5367528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 i="0">
                <a:solidFill>
                  <a:srgbClr val="FF6B6B"/>
                </a:solidFill>
                <a:latin typeface="Calibri"/>
              </a:rPr>
              <a:t>the log: context · action · probability · outcome → next week's segments, affinities and uplift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Segmentation says who. Affinity says how to reach them. The NBA layer says whether it pays, under the rules. The log feeds all three.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THREE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Segmentation → affinity → NBA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What each answers, what it needs, where tonight builds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1 · Segmentation / micro-segmentation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 · Affinity prediction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3 · NBA layer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Who is this HCP?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Which channels reach them?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Which action pays this week?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Rx, patient mix, switching, channel response (Week 4)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Observed engagement on a subset of HCP × channel cells; a preference survey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Randomized touch log; rules; affinities; value per script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k-means, two-stage; supervised growth score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Collaborative filtering (matrix factorization) + segment prior for cold start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Uplift model (X-learner); business rules; argmax with exploration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Segment and growth group per HCP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Affinity per HCP per channel (full matrix)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One action per HCP per week, with its probability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Fails when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Unstable across refreshes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Cold start with no prior; stated ≠ revealed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No randomization; engagement used as the outcome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Tonight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Inherited from Week 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Notebook §4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Notebook §5–8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6188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IQVIA's NBA engine: 'dynamic micro-segmentation and AI/ML-based scoring' on a '360-degree view of HCP preferences' — the same three parts.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One HCP, one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The same cycle, 6,000 times every Monday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6306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Monday: state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segment · baseline · touches in last 4 wks · last action · consent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6752" y="2880360"/>
            <a:ext cx="201168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35352" y="2194560"/>
            <a:ext cx="16306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Eligible actions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rules remove call / email / digital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3464" y="2880360"/>
            <a:ext cx="201168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22064" y="2194560"/>
            <a:ext cx="16306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Score each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τ̂ₐ(x) × $1,200 − cost(a)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0176" y="2880360"/>
            <a:ext cx="201168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8776" y="2194560"/>
            <a:ext cx="1630680" cy="13716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Pick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argmax — or random in 25% of weeks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6887" y="2880360"/>
            <a:ext cx="201169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5488" y="2194560"/>
            <a:ext cx="16306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Act + log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action, probability, 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53600" y="2880360"/>
            <a:ext cx="201168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82200" y="2194560"/>
            <a:ext cx="163068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 weeks later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NBRx, engagement, complaints → the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10642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Example — Dr. Bakshi (Movers), week of Mar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630680" cy="100584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333333"/>
                </a:solidFill>
                <a:latin typeface="Calibri"/>
              </a:rPr>
              <a:t>Movers · 2.0 NBRx/2w · 1 touch · last: none · consent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35352" y="4251960"/>
            <a:ext cx="1630680" cy="100584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333333"/>
                </a:solidFill>
                <a:latin typeface="Calibri"/>
              </a:rPr>
              <a:t>call ✓ email ✓ digital ✓ none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251960"/>
            <a:ext cx="1630680" cy="100584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333333"/>
                </a:solidFill>
                <a:latin typeface="Calibri"/>
              </a:rPr>
              <a:t>call +0.90 → +$900 · email +0.30 → +$358 · digital +0.45 → +$534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251960"/>
            <a:ext cx="1630680" cy="10058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5488" y="4251960"/>
            <a:ext cx="1630680" cy="100584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333333"/>
                </a:solidFill>
                <a:latin typeface="Calibri"/>
              </a:rPr>
              <a:t>logged: call, p = 0.62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82200" y="4251960"/>
            <a:ext cx="1630680" cy="100584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333333"/>
                </a:solidFill>
                <a:latin typeface="Calibri"/>
              </a:rPr>
              <a:t>2.9 NBRx · call completed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59612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Next week the state has changed (2 touches, last action = call) — and so does the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THE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Randomize a share of the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Industry: a test-and-control design (ZS); McKinsey: 'A/B testing in the field'. Bandit language: the exploration 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10642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156,000 HCP-weeks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743200" y="3035808"/>
            <a:ext cx="914400" cy="530352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3035808"/>
            <a:ext cx="914400" cy="530352"/>
          </a:xfrm>
          <a:prstGeom prst="line">
            <a:avLst/>
          </a:prstGeom>
          <a:ln w="2540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611880"/>
            <a:ext cx="6766560" cy="15544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75% — legacy rules engine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Call frequency by decile · fortnightly email to consented HCPs · digital on rotation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Who gets called depends on decile — the same thing that drives prescribing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611880"/>
            <a:ext cx="4023360" cy="15544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25% — randomized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none · call · email · digital, each with probability 0.25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regardless of who the HCP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03520"/>
            <a:ext cx="6766560" cy="1005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413248"/>
            <a:ext cx="6492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Learns the targeting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97296"/>
            <a:ext cx="653796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Any model fit here learns 'high decile → call → high NBRx'. Useful for affinity (§4); useless for uplift.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5303520"/>
            <a:ext cx="4023360" cy="1005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80" y="5413248"/>
            <a:ext cx="3749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Learns the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5797296"/>
            <a:ext cx="379476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Uplift (§5), the fatigue curve (§6), OPE (§8) all come from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vocabulary, and where it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Definitions in the Field Guide (Part 11); sources in the Reading Pack (Part 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40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Who uses it this way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Next Best Action (NBA)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2025; Veeva Systems 2015; EY 2023; McKinsey 2022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Suggestions / triggers / signals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Veeva Systems 2015; Axtria 2020; ZS 2024; IQVIA 2026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Next Best Experience (NBX)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ZS 2026; Axtria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Omnichannel orchestration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2026; IQVIA 2024; Axtria 2025; McKinsey 2022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Micro-segmentation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2025; McKinsey 2022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Channel preference / affinity; affinity prediction (collaborative filtering)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2024; IQVIA 2018; IQVIA 2023; IQVIA 2025; Koren, Bell &amp; Volinsky, IEEE Computer 2009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Saturation / fatigue; frequency 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2018; IQVIA 2023; Axtria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Business rules / suppression rules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Axtria 2025; IQVIA 2026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Promotion response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Axtria 2021; ZS 2024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Uplift / incremental lift; persuadables, sure things, lost causes, sleeping dogs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Stochastic Solutions (N. Radcliffe &amp; P. Surry) 2011; Athey &amp; Imbens, PNAS 2016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Test and control; holdout; randomized test cell (the 'exploration arm')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ZS 2026; McKinsey 2022; IQVIA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Engagement vs. impact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ZS 2026; IQVIA 2025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Single customer view / customer 360 / common data spine / CDP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IQVIA 2026; IQVIA 2024; McKinsey 2022; EY 2023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Closed-loop learning; suggestion acceptance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ZS 2026; IQVIA 2025; Axtria 2025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Human in the loop; guardrails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McKinsey 2025; ZS 2026; IQVIA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Patient journey; closed patients; provider behavior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Komodo Health 2023; IQVIA 2025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761"/>
                          </a:solidFill>
                          <a:latin typeface="Calibri"/>
                        </a:rPr>
                        <a:t>Contextual bandit; offline policy evaluation (IPS, SNIPS, doubly robust)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Li, Chu, Langford &amp; Schapire (WWW); Dudík, Langford &amp; Li (ICML) 2010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Live, part 1 — the data, the trap, affinity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Notebook §1–4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One row = one HCP, one week, one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glucoren_touch_log.csv · 156,000 rows · plus the Week 4 segments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3291840" cy="1737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Context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segment · decile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trailing NBRx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calls / emails / digital in 4 wks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weeks since call · last action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consent · reject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057400"/>
            <a:ext cx="2468880" cy="1737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none · call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email · 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2057400"/>
            <a:ext cx="2468880" cy="173736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Probability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Calibri"/>
              </a:rPr>
              <a:t>p(action | context)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Calibri"/>
              </a:rPr>
              <a:t>0.25 if randomized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Calibri"/>
              </a:rPr>
              <a:t>the rules' prob. otherwise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2057400"/>
            <a:ext cx="2468880" cy="173736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Outcome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NBRx next 2 weeks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engaged (open / click / completed)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complaint</a:t>
            </a:r>
          </a:p>
        </p:txBody>
      </p:sp>
      <p:pic>
        <p:nvPicPr>
          <p:cNvPr id="12" name="Picture 11" descr="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7589520" cy="20056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412480" y="3931920"/>
            <a:ext cx="32004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19" y="4069080"/>
            <a:ext cx="3017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1.83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485132"/>
            <a:ext cx="2926080" cy="4224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touches per HCP per 4 weeks (legacy)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5029200"/>
            <a:ext cx="32004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5166360"/>
            <a:ext cx="30175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2,450 → 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582412"/>
            <a:ext cx="2926080" cy="4224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emails without consent → complaints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TRAP,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Called vs. not called: +1.06 NBRx on the legacy arm, +0.10 randomized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48</a:t>
            </a:r>
          </a:p>
        </p:txBody>
      </p:sp>
      <p:pic>
        <p:nvPicPr>
          <p:cNvPr id="7" name="Picture 6" descr="naive_vs_r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949440" cy="22619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2011680"/>
            <a:ext cx="393192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12140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Response model, top decile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505456"/>
            <a:ext cx="3703320" cy="15179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62% Core · 30% Movers · 0% Entrenched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It learned the call plan and called it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206240"/>
            <a:ext cx="3931920" cy="1554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431596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Honest average effect of a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4700016"/>
            <a:ext cx="3703320" cy="9692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+0.10 NBRx = $120 for $180. On average, a call loses money.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91616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Not 'does a call work' but 'for whom does a call pay' — a heterogeneous-effect question.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AFFINITY,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Affinity is known for a subset — 44% of the HCP × channel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Six channels. History where the brand has touched the HCP on that channel; a 600-HCP preference survey covers all six.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rep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webinar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conf.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566928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remote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Adler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33172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.61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233172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05456" y="23317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72384" y="233172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9312" y="23317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23317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06039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Bakshi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06039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26060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05456" y="26060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72384" y="2606039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.55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9312" y="26060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26060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Costa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28803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38528" y="288036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05456" y="288036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2384" y="288036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39312" y="288036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06240" y="288036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154679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Dunn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38528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505456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72384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39312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206240" y="31546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2900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Eng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38528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05456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72384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39312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42900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7033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Farah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370332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.58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8528" y="370332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05456" y="37033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72384" y="37033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39312" y="37033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206240" y="3703320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977639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Goyal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39776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6B6B"/>
                </a:solidFill>
                <a:latin typeface="Calibri"/>
              </a:rPr>
              <a:t>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38528" y="39776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505456" y="39776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072384" y="3977639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.47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39312" y="39776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206240" y="397763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25196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Dr. Hale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.66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38528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.31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05456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.49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72384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.29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39312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.57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4251960"/>
            <a:ext cx="530352" cy="23774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.40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526279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850" b="1" i="0">
                <a:solidFill>
                  <a:srgbClr val="1E2761"/>
                </a:solidFill>
                <a:latin typeface="Calibri"/>
              </a:rPr>
              <a:t>…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0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938528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505456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072384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639312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206240" y="4526279"/>
            <a:ext cx="530352" cy="237744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4846320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Calibri"/>
              </a:rPr>
              <a:t>navy = observed engagement rate · ? = what the engine needs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074920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 i="1">
                <a:solidFill>
                  <a:srgbClr val="666666"/>
                </a:solidFill>
                <a:latin typeface="Calibri"/>
              </a:rPr>
              <a:t>Dr. Eng, Dr. Hale: surveyed (all six). Dr. Dunn: cold start.</a:t>
            </a:r>
          </a:p>
        </p:txBody>
      </p:sp>
      <p:pic>
        <p:nvPicPr>
          <p:cNvPr id="79" name="Picture 78" descr="affinity_spa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011680"/>
            <a:ext cx="6492240" cy="1610704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5120640" y="3931920"/>
            <a:ext cx="6492240" cy="1737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57800" y="4041648"/>
            <a:ext cx="6217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it is sparse, and sparse in a biased way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0368" y="4425696"/>
            <a:ext cx="6263640" cy="11521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Coverage follows the legacy call plan: high-decile HCPs are 'known' on call and email; webinar, conference and remote are rarely offered to anyone.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404 HCPs have no observed channel at all. The engine must still decide for them.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 sparse HCP × channel matrix with blanks to fill is a recommender-system problem.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COLLABORATIVE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Filling the matrix with collaborative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Matrix factorization with biases (Koren et al., 2009) on the residual from the segment prior; segment prior alone for cold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103120" cy="14630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Affinity matrix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6,000 HCPs × 6 channels · 44% 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194560"/>
            <a:ext cx="365760" cy="1463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0" i="0">
                <a:solidFill>
                  <a:srgbClr val="666666"/>
                </a:solidFill>
                <a:latin typeface="Calibri"/>
              </a:rPr>
              <a:t>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94560"/>
            <a:ext cx="1920240" cy="14630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Segment × channel prior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micro-segmentation (Week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365760" cy="1463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0" i="0">
                <a:solidFill>
                  <a:srgbClr val="666666"/>
                </a:solidFill>
                <a:latin typeface="Calibri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194560"/>
            <a:ext cx="1371600" cy="14630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HCP bias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engages more / less than the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94560"/>
            <a:ext cx="365760" cy="1463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0" i="0">
                <a:solidFill>
                  <a:srgbClr val="666666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194560"/>
            <a:ext cx="1920240" cy="14630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HCP factors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2 numbers per HCP: people ↔ digital · promotional ↔ scientific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194560"/>
            <a:ext cx="365760" cy="1463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800" b="0" i="0">
                <a:solidFill>
                  <a:srgbClr val="666666"/>
                </a:solidFill>
                <a:latin typeface="Calibri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94560"/>
            <a:ext cx="1920240" cy="14630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Channel loadings</a:t>
            </a:r>
          </a:p>
          <a:p>
            <a:pPr algn="ctr"/>
            <a:r>
              <a:rPr sz="850">
                <a:solidFill>
                  <a:srgbClr val="CADCFC"/>
                </a:solidFill>
                <a:latin typeface="Calibri"/>
              </a:rPr>
              <a:t>2 numbers per channel, learned from everyone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88620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RMSE (lower is better)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Held-out cells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HCPs with ≥ 3 known cells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Cold-start HCPs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Segment × channel mean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kNN on Week 4 features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0.190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Matrix factorization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Hybrid (MF + prior) — ships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0.146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0.131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0.185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7680960" y="3886200"/>
            <a:ext cx="3931920" cy="1737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399592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379976"/>
            <a:ext cx="3703320" cy="11521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The segment prior is a strong baseline — that is what a good micro-segmentation buys.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CF improves with history: 2–3 known channels place the HCP in the latent space.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Cold start: nothing to factorize → the prior. Hybrid ships.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Correlation with the planted full matrix on the 56% of cells nobody observed: prior 0.55 → hybrid 0.68.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AFFINITY,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full matrix — and a check against revealed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Hybrid CF output, averaged by segment. Validation: predicted affinity vs. observed engagement rate in the touch log, r = 0.20 / 0.29 / 0.33 (call / email / digital)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48</a:t>
            </a:r>
          </a:p>
        </p:txBody>
      </p:sp>
      <p:pic>
        <p:nvPicPr>
          <p:cNvPr id="8" name="Picture 7" descr="af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949440" cy="41904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2011680"/>
            <a:ext cx="393192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12140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Affinity ≠ uplift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505456"/>
            <a:ext cx="370332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Core: highest affinity on five of six channels, lowest return per dollar (§5).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Movers: 0.49 digital, 0.54 webinar — affinity and uplift agree.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931920"/>
            <a:ext cx="3931920" cy="1737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4041648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How the engine uses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4425696"/>
            <a:ext cx="3703320" cy="11521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Eligibility: a channel with predicted affinity &lt; 0.15 is not offered (email blocked for 34% of HCPs, digital 25%, call 15%).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Stated preference stays the other half: IQVIA Channel Dynamics.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Affinity decides how to reach an HCP. Uplift (§5) decides whether it pays. The segmentation sits under both.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Uplift modeling — a short course in causal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'who prescribes after a call' and 'what the call did' are different questions, and how S-, T- and X-learners answer the second. Notebook §5.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POTENTIAL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Two outcomes per HCP, one of them observed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The Neyman–Rubin framework: every HCP-week has an outcome if called, Y(1), and an outcome if not, Y(0)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 / 48</a:t>
            </a:r>
          </a:p>
        </p:txBody>
      </p:sp>
      <p:pic>
        <p:nvPicPr>
          <p:cNvPr id="8" name="Picture 7" descr="counterf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6400800" cy="306421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2011680"/>
            <a:ext cx="4297680" cy="7772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τᵢ = Yᵢ(1) − Yᵢ(0)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the uplift of a call for HCP 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880360"/>
            <a:ext cx="4297680" cy="1371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2990088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fundamental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3374136"/>
            <a:ext cx="4069080" cy="786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We observe Y(1) or Y(0), never both. No row in any dataset has an uplift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343400"/>
            <a:ext cx="4297680" cy="14630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60" y="4453128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So we estimate averages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4837176"/>
            <a:ext cx="406908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ATE = E[Y(1) − Y(0)]: the average over everyone.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CATE τ(x) = E[Y(1) − Y(0) | X = x]: the average for HCPs like this one. The engine needs τ(x).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Uplift is a difference between two worlds. Only one is ever in the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CONFOUNDING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Why the naive comparison 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Called vs. not called = the effect of the call + whatever made the rep call in the first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737360" cy="73152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Decile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Calibri"/>
              </a:rPr>
              <a:t>(and segment, access…)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737360" cy="7315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931920"/>
            <a:ext cx="173736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NBRx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3035808"/>
            <a:ext cx="0" cy="877824"/>
          </a:xfrm>
          <a:prstGeom prst="line">
            <a:avLst/>
          </a:prstGeom>
          <a:ln w="317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94560" y="3035808"/>
            <a:ext cx="1554479" cy="877824"/>
          </a:xfrm>
          <a:prstGeom prst="line">
            <a:avLst/>
          </a:prstGeom>
          <a:ln w="317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04288" y="4297680"/>
            <a:ext cx="694944" cy="0"/>
          </a:xfrm>
          <a:prstGeom prst="line">
            <a:avLst/>
          </a:prstGeom>
          <a:ln w="317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800600"/>
            <a:ext cx="4297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The confounder opens a back door: decile raises both the chance of a call and the NBRx. The naive gap mixes the navy arrow with the gold path.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Pooled gap +1.06; inside a decile it is small.</a:t>
            </a:r>
          </a:p>
        </p:txBody>
      </p:sp>
      <p:pic>
        <p:nvPicPr>
          <p:cNvPr id="15" name="Picture 14" descr="two_wor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11680"/>
            <a:ext cx="6583680" cy="223482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29200" y="4389120"/>
            <a:ext cx="6583680" cy="13716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4498848"/>
            <a:ext cx="6309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Two ways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4882896"/>
            <a:ext cx="6355080" cy="7863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Adjust for the confounders — works only if you know and measure all of them (here it is decile by construction; in reality it never is).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Randomize the action — cuts the gold arrow into 'Rep call'. The exploration arm.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Observational: effect + selection. Randomized: effect. That is the whole case for the 25%.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What randomization buys: three conditions, satisfied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The conditions under which a difference in means is the effect (Rubin's assumptions, in pharma words)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1737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Exchangeability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Called and not-called HCP-weeks are alike except for the call. Coin flip ⇒ true. Legacy arm ⇒ false (decile).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3566160" cy="17373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Overlap (positivity)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Every kind of HCP had a real chance of every action. 0.25 each ⇒ true. Legacy: Long-tail HCPs are almost never called ⇒ no overlap there.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103120"/>
            <a:ext cx="3566160" cy="173736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Consistency / no interference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A 'call' means the same thing for everyone, and one HCP's call does not change another's outcome. Mostly true; peer effects are the exception.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11064240" cy="777240"/>
          </a:xfrm>
          <a:prstGeom prst="round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</a:rPr>
              <a:t>ATE = E[Y | call] − E[Y | none] on the randomized rows = +0.10 NBRx per 2 weeks ($120 of margin for $180)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5394960" cy="868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932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When you cannot randomize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77256"/>
            <a:ext cx="5166360" cy="2834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Propensity weighting, matching, difference-in-differences, synthetic controls (ZS 2026) — all rest on exchangeability you have to argue for.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983480"/>
            <a:ext cx="5394960" cy="868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50932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the exploration arm stays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477256"/>
            <a:ext cx="5166360" cy="2834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Next quarter's CATE, OPE and the fatigue curve all need rows where these three 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Randomization is not a statistics nicety. It is what makes the number mean what the brand thinks it means.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One number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The planted uplift of a call, for every hold-out HCP-week, by Week 4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23 / 48</a:t>
            </a:r>
          </a:p>
        </p:txBody>
      </p:sp>
      <p:pic>
        <p:nvPicPr>
          <p:cNvPr id="8" name="Picture 7" descr="cate_het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965960"/>
            <a:ext cx="9235440" cy="313496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074920"/>
            <a:ext cx="539496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18464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ATE hides the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68696"/>
            <a:ext cx="51663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+0.11 on average; Movers +0.6, Entrenched below zero. A call pays for Movers and loses money almost everywhere else.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074920"/>
            <a:ext cx="539496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518464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CATE τ(x) is the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5568696"/>
            <a:ext cx="51663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x = segment, baseline, touches this month, last action, consent, access. The uplift model estimates τ(x) from the randomized rows.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engine does not need the average effect. It needs the effect for this HCP, this week.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PREDICTION vs. UPLIFT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Same data, different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 response model and an uplift model can share features, algorithm and code — and answer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24 / 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Response (prediction) model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Uplift (causal) model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E[Y | x, call] — NBRx after a 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τ(x) = E[Y | x, call] − E[Y | x, none]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Label in the data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Yes: NBRx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No: never observed for any row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Rows it can use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Any — but learns the targeting rule on observational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Randomized (or credibly adjusted) rows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Ranks first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Sure things — Core, decile 10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Persuadables — Movers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Evaluated by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AUC, RMSE, R²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Uplift by decile, Qini — on groups, not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Pharma name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Promotion response; 'propensity to prescribe'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Uplift / incremental lift; heterogeneous treatment effect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50468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 high-AUC response model can rank HCPs by uplift no better than chance. Different target, different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S-LEARNER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S-learner: one model, the action is a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Single model · simplest · uses every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25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377440" cy="82296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all randomized rows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Calibri"/>
              </a:rPr>
              <a:t>x and the action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44368" y="256032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2148840"/>
            <a:ext cx="2194560" cy="82296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Calibri"/>
              </a:rPr>
              <a:t>f(x, a)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Calibri"/>
              </a:rPr>
              <a:t>one GBM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641848" y="2103120"/>
            <a:ext cx="530352" cy="27432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41848" y="2743200"/>
            <a:ext cx="530352" cy="27432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783080"/>
            <a:ext cx="201168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f(x, call)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2011680" cy="64008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f(x, none)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4572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0" i="0">
                <a:solidFill>
                  <a:srgbClr val="666666"/>
                </a:solidFill>
                <a:latin typeface="Calibri"/>
              </a:rPr>
              <a:t>−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47888" y="2103120"/>
            <a:ext cx="484632" cy="36576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247888" y="2651760"/>
            <a:ext cx="484632" cy="36576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2148840"/>
            <a:ext cx="2834640" cy="8229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τ̂_S(x)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flip the feature, subtract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394960" cy="24688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015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it under-shoots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85616"/>
            <a:ext cx="5166360" cy="18836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The action is one feature among ~40. Regularization treats it like any other: where the tree does not split on it, τ̂ = 0.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Tonight: predicted sd 0.21 vs planted 0.31 — compressed toward zero; fewer HCPs cross break-even than should.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Correlation with truth 0.74 (highest) — it gets the order right and the size wrong.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91840"/>
            <a:ext cx="5394960" cy="24688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4015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When to use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785616"/>
            <a:ext cx="5166360" cy="18836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Small data; many actions (one model, not one per arm).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When the effect is large relative to noise.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Qini tonight (call / email / digital): 133 / 75 / 74.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Simple and honest about order; biased toward 'no effect'.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T-LEARNER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T-learner: one model per arm, then subtract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Two models · no shrinkage · noisy where an arm is 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26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377440" cy="64008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called rows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44368" y="224028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920240"/>
            <a:ext cx="2194560" cy="6400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f₁(x)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GBM on called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377440" cy="64008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not-called 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44368" y="315468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29000" y="2834640"/>
            <a:ext cx="2194560" cy="64008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f₀(x)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GBM on not called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40280"/>
            <a:ext cx="45720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600" b="0" i="0">
                <a:solidFill>
                  <a:srgbClr val="666666"/>
                </a:solidFill>
                <a:latin typeface="Calibri"/>
              </a:rPr>
              <a:t>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41848" y="2240280"/>
            <a:ext cx="713232" cy="3200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41848" y="2834640"/>
            <a:ext cx="713232" cy="32004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286000"/>
            <a:ext cx="2377440" cy="8229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τ̂_T(x) = f₁(x) − f₀(x)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it over-shoots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42816"/>
            <a:ext cx="5166360" cy="1426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Each model sees only its own rows (≈ 7,000 each); the two fit the noise differently and the difference inherits both errors.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Tonight: predicted sd 0.52 vs planted 0.31 — too spread; correlation 0.50.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Digital Qini 18: a small effect drowned by two noisy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858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When to use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242816"/>
            <a:ext cx="5166360" cy="1426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Arms of similar size with plenty of rows; outcomes that differ in shape by arm.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Qini tonight: 174 / 51 / 18.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The baseline every other learner is measured against.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No bias toward zero — but the difference of two noisy models is noisier still.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X-LEARNER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X-learner: impute each row's effect, then model the effect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Two stages · built for unequal arms · the production model tonight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27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560320" cy="1234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1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T-learner: f₁ on called, f₀ on not called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6391" y="2720339"/>
            <a:ext cx="21945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79" y="2103120"/>
            <a:ext cx="2560320" cy="1234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Impute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called rows: D¹ = Y − f₀(x)
not-called rows: D⁰ = f₁(x) − 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71031" y="2720339"/>
            <a:ext cx="21945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19" y="2103120"/>
            <a:ext cx="2560320" cy="12344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Stage 2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g₁(x) on D¹ · g₀(x) on D⁰ — models of the effect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05671" y="2720339"/>
            <a:ext cx="21945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59" y="2103120"/>
            <a:ext cx="2560320" cy="1234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Blend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τ̂_X = g(x)·g₀(x) + (1−g(x))·g₁(x); g = propensity (0.5 here)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394960" cy="2148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216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the second stage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105656"/>
            <a:ext cx="5166360" cy="1563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Stage 2 fits a model of τ directly on pseudo-labels, so the effect is the target, not a leftover of two outcome fits.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Each row is used twice — once for its own arm, once imputed — so thin arms borrow strength.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Tonight: sd 0.42 vs 0.31; correlation 0.59; Qini 192 / 76 / 62 — best or tied on every channel.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11880"/>
            <a:ext cx="5394960" cy="2148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2160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When to use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4105656"/>
            <a:ext cx="5166360" cy="1563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Unequal arms — the normal case: a 90% control arm in a real log.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Small effects in noisy outcomes (the email).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The blend weight is the propensity; with a 25% exploration arm it is known, not estimated.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effect becomes the target. That is why it wins on the email and ships in §7.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WHAT EACH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same hold-out, three distributions of τ̂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Planted uplift (grey) vs. each learner's predictions; vertical lines =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28 / 48</a:t>
            </a:r>
          </a:p>
        </p:txBody>
      </p:sp>
      <p:pic>
        <p:nvPicPr>
          <p:cNvPr id="8" name="Picture 7" descr="learner_di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11064240" cy="3003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074920"/>
            <a:ext cx="361188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1846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 shrinks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68696"/>
            <a:ext cx="33832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sd 0.21 &lt; 0.31. The mass sits at 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074920"/>
            <a:ext cx="361188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51846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 spreads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5568696"/>
            <a:ext cx="33832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sd 0.52 &gt; 0.31. Long tails on both sides are noise.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5074920"/>
            <a:ext cx="3611880" cy="822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5184648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X is closest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5568696"/>
            <a:ext cx="33832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sd 0.42. Still too wide — 26 weeks of a 25% arm.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Three estimators of the same quantity disagree on its scale. The ranking is what the engine uses; the scale is what the finance case uses.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AGAINST THE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Predicted vs. planted uplift, hold-out HCP-weeks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Synthetic data's one luxury: the label that never exists in a real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29 / 48</a:t>
            </a:r>
          </a:p>
        </p:txBody>
      </p:sp>
      <p:pic>
        <p:nvPicPr>
          <p:cNvPr id="8" name="Picture 7" descr="learners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11064240" cy="31734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321808"/>
            <a:ext cx="1078991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Read the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05856"/>
            <a:ext cx="10835640" cy="100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Movers (coral) are the persuadables — every learner puts them top right. Entrenched (gold) sit at or below zero. Within a segment the spread is the state: touches this month, last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Segment order: easy. Within-segment state: harder. Individual HCP: beyond this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300" b="1" i="0">
                <a:solidFill>
                  <a:srgbClr val="1E2761"/>
                </a:solidFill>
                <a:latin typeface="Calibri"/>
              </a:rPr>
              <a:t>Rank by response, or rank by uplift — same HCPs, same randomized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Hold-out HCP-weeks cut into deciles of each ranking; bars = treated − control inside the decile (randomized, so this is the real effect)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30 / 48</a:t>
            </a:r>
          </a:p>
        </p:txBody>
      </p:sp>
      <p:pic>
        <p:nvPicPr>
          <p:cNvPr id="8" name="Picture 7" descr="decil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11064240" cy="37580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120640"/>
            <a:ext cx="5394960" cy="7772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2303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Response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14416"/>
            <a:ext cx="5166360" cy="1920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Top decile +0.45 — but decile 9 (Core) barely clears break-even and deciles 1–8 are flat: it found big baselines, not persuadables.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120640"/>
            <a:ext cx="5394960" cy="7772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52303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Uplift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5614416"/>
            <a:ext cx="5166360" cy="1920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Deciles 8–10 all above break-even and rising; the bottom deciles are sleeping dogs the engine should not touch.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response model's top decile is worth calling. The uplift model's top three are — and it knows whom to leave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THE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Meta-learners side by side — and the causal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All on the 39,000 randomized HCP-weeks, hold-out split by HCP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31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45720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S-learner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3017520" cy="7315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one model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f(x, 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0" i="0">
                <a:solidFill>
                  <a:srgbClr val="1E2761"/>
                </a:solidFill>
                <a:latin typeface="Calibri"/>
              </a:rPr>
              <a:t>τ̂ = f(x, call) − f(x, none)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simple · shrinks the effect toward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566160" cy="4572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T-learner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43200"/>
            <a:ext cx="1645920" cy="7315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 on
call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1645920" cy="73152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 on
none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56616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0" i="0">
                <a:solidFill>
                  <a:srgbClr val="1E2761"/>
                </a:solidFill>
                <a:latin typeface="Calibri"/>
              </a:rPr>
              <a:t>τ̂ = f₁(x) − f₀(x)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honest · noisy where rows are few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566160" cy="4572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X-learner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43200"/>
            <a:ext cx="1645920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T-learner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3355848"/>
            <a:ext cx="0" cy="256032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60" y="3657600"/>
            <a:ext cx="1645920" cy="5943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impute each row's effect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02368" y="3950208"/>
            <a:ext cx="210312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3657600"/>
            <a:ext cx="1554480" cy="59436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model the effect itself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34340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built for unequal arms · regularizes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663440"/>
          <a:ext cx="640080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Qini (hold-out)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response model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132320" y="4663440"/>
            <a:ext cx="4480560" cy="12344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4773168"/>
            <a:ext cx="4206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Causal forest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157216"/>
            <a:ext cx="4251960" cy="6492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FF6B6B"/>
                </a:solidFill>
                <a:latin typeface="Calibri"/>
              </a:rPr>
              <a:t>▸ </a:t>
            </a:r>
            <a:r>
              <a:rPr sz="1050">
                <a:solidFill>
                  <a:srgbClr val="333333"/>
                </a:solidFill>
                <a:latin typeface="Calibri"/>
              </a:rPr>
              <a:t>econml CausalForestDML — honest trees on the effect (Athey &amp; Imbens). Same data limits, valid intervals.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X-learner wins or ties every channel → it is the production model from §7 on. Grade on Qini, never on R².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QINI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Evaluating uplift without individual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Rank by predicted uplift → inside each decile, compare randomized treated vs. control → cumulate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32 / 48</a:t>
            </a:r>
          </a:p>
        </p:txBody>
      </p:sp>
      <p:pic>
        <p:nvPicPr>
          <p:cNvPr id="8" name="Picture 7" descr="q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11064240" cy="28973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892040"/>
            <a:ext cx="5394960" cy="1005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001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85816"/>
            <a:ext cx="516636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Every learner beats the response model. X-learner top deciles: +0.60, +0.52 observed NBRx.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892040"/>
            <a:ext cx="5394960" cy="1005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5001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5385816"/>
            <a:ext cx="5166360" cy="420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 51 → X 76: the second stage finds a small effect in noisy 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 curve that rises fast then flattens found the persuadables and ran out.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Saturation, rules, and the scoring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marginal touch has its own curve. The rules fall out of it; the score sits behind them. Notebook §6–7.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SATURATION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marginal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IQVIA (2018): digital's early success 'resulted in overkill and saturation'. Measured here on the randomized 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34 / 48</a:t>
            </a:r>
          </a:p>
        </p:txBody>
      </p:sp>
      <p:pic>
        <p:nvPicPr>
          <p:cNvPr id="8" name="Picture 7" descr="fatig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6766560" cy="296734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965960"/>
          <a:ext cx="4023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Touches already (4 wks)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Others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Entrenched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+27%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+18%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−30%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−22%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−22%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4114800"/>
            <a:ext cx="4023360" cy="16459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80" y="4224528"/>
            <a:ext cx="3749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Two more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4608576"/>
            <a:ext cx="3794760" cy="10607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Email after a quiet week +10%; after a call +2%.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No consent: 2,450 emails, 135 complaints, no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Cap: 3 touches per 4 weeks (2 for Entrenched). No email within a week of a call. Consent is a hard gate.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Rules run before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Axtria: 'AI/ML models, business rules, and governance'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35 / 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574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Consent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email without opt-in; no retargeting without cookie consent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Frequency cap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≤ 3 touches / 4 weeks (≤ 2 Entrenched)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Brand + Field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Call recency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call within 2 weeks of a call; field may override with a reason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Soft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Sequencing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email the week after a call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Soft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Omnichannel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Complaint 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 weeks of email silence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MI hold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No promotion while a medical-information request is open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Medical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Access trigger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Reject rate &gt; 25% → access content replaces efficacy content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Market Access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Affinity floor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Predicted affinity &lt; 0.15 → channel not offered (§4)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Analytics + Omnichannel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Holdout · exploration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10% of HCPs outside the engine · 25% of weeks randomized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Analytics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1616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Going into next week: cap blocks 42% of HCPs, consent 25%, recency 32%, affinity floor 50% (some channel). The engine's first job is to say no.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One HCP, four scores, one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value(a) = τ̂ₐ(x) × $1,200 − cost(a) · Dr. Eng, Access-constrained, 1 touch this month, consent ✓, last action: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36 /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τ̂ (NBRx, 2 wks)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× $1,200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−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=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03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 i="0">
                <a:solidFill>
                  <a:srgbClr val="666666"/>
                </a:solidFill>
                <a:latin typeface="Calibri"/>
              </a:rPr>
              <a:t>eligible?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1737360" cy="548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5146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+0.05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5146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5146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$180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5146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−$120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514600"/>
            <a:ext cx="1737360" cy="54864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A11E1E"/>
                </a:solidFill>
                <a:latin typeface="Calibri"/>
              </a:rPr>
              <a:t>✗ recency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1737360" cy="5486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200400"/>
            <a:ext cx="1737360" cy="5486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+0.35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00400"/>
            <a:ext cx="1737360" cy="5486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$420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00400"/>
            <a:ext cx="1737360" cy="5486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200400"/>
            <a:ext cx="1737360" cy="5486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B6E3A"/>
                </a:solidFill>
                <a:latin typeface="Calibri"/>
              </a:rPr>
              <a:t>+$418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200400"/>
            <a:ext cx="1737360" cy="5486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B6E3A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86200"/>
            <a:ext cx="1737360" cy="5486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38862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+0.08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8862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8862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8862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B6E3A"/>
                </a:solidFill>
                <a:latin typeface="Calibri"/>
              </a:rPr>
              <a:t>+$90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886200"/>
            <a:ext cx="1737360" cy="5486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B6E3A"/>
                </a:solidFill>
                <a:latin typeface="Calibri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737360" cy="54864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45720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5720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5720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$0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572000"/>
            <a:ext cx="1737360" cy="5486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$0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572000"/>
            <a:ext cx="1737360" cy="5486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1B6E3A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154680"/>
            <a:ext cx="10972800" cy="640080"/>
          </a:xfrm>
          <a:prstGeom prst="rect">
            <a:avLst/>
          </a:prstGeom>
          <a:noFill/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argmax over eligible actions → approved email (access/copay content). Suggestion to the rep: none this week.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" y="587044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Across 6,000 HCPs: calls 955 → 297 a week; 60% get nothing. Model-estimated value $838k vs $169k for the legacy mix.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THE ENGINE'S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Legacy engine vs. NBA engine — next week's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Same model scoring both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37 / 48</a:t>
            </a:r>
          </a:p>
        </p:txBody>
      </p:sp>
      <p:pic>
        <p:nvPicPr>
          <p:cNvPr id="8" name="Picture 7" descr="nba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680960" cy="22308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12480" y="1965960"/>
            <a:ext cx="3200400" cy="31089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2075688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459736"/>
            <a:ext cx="2971800" cy="2523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Calls: from Core and Entrenched to Movers.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Movers → digital (39%).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Access-constrained → the access email.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Entrenched: 97% nothing.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Top 10 by value: nine Movers, mostly digital — $6 beats $180.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 $6 placement with 0.4 NBRx of uplift beats a $180 call with 0.45.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Evaluating a policy: OPE and bandits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Score the new policy on the old log before anyone changes the call plan. Then keep learning. Notebook §8–9.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Offline policy evaluation — re-weight the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Each logged row is re-weighted by π(a|x) / p(a|x): how much more (or less) the new policy would have taken that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39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377440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Logged row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context x · action a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p(a|x) · reward 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44368" y="274320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2148840"/>
            <a:ext cx="2377440" cy="118872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New policy says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π(a|x)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274320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2148840"/>
            <a:ext cx="2377440" cy="11887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Weight</a:t>
            </a:r>
          </a:p>
          <a:p>
            <a:pPr algn="ctr"/>
            <a:r>
              <a:rPr sz="1200">
                <a:solidFill>
                  <a:srgbClr val="CADCFC"/>
                </a:solidFill>
                <a:latin typeface="Calibri"/>
              </a:rPr>
              <a:t>w = π(a|x) / p(a|x)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743200"/>
            <a:ext cx="438912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2148840"/>
            <a:ext cx="2423160" cy="118872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Estimate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V̂ = mean(w · r)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611880"/>
          <a:ext cx="6035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IPS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SNIPS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eff. 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Logging policy (sanity check)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$1,378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$1,378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$1,378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156,000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Response-model policy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$1,403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$1,411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$1,415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30,400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Uplift NBA + rules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37,000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15" descr="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566160"/>
            <a:ext cx="4846320" cy="190915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5166360"/>
            <a:ext cx="6035040" cy="7772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276088"/>
            <a:ext cx="57607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Three estimators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60136"/>
            <a:ext cx="5806440" cy="19202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6B6B"/>
                </a:solidFill>
                <a:latin typeface="Calibri"/>
              </a:rPr>
              <a:t>▸ </a:t>
            </a:r>
            <a:r>
              <a:rPr sz="1000">
                <a:solidFill>
                  <a:srgbClr val="333333"/>
                </a:solidFill>
                <a:latin typeface="Calibri"/>
              </a:rPr>
              <a:t>IPS unbiased, high variance · SNIPS normalizes the weights · DR adds a reward model and is right if either part 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NBA: +$94 per HCP-week (±$32), all three estimators agree. Enough for an A/B test — not for a rollout.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BANDITS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Keep learning: the contextual bandit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Online-advertising vocabulary (Li et al. 2010) — not a pharma term, but the mechanism behind 'exploration'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40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37744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Context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segment, state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44368" y="2532888"/>
            <a:ext cx="420624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2103120"/>
            <a:ext cx="2377440" cy="8686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Choose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ε-greedy or Thompson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79008" y="2532888"/>
            <a:ext cx="420624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2103120"/>
            <a:ext cx="237744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Reward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net value, noisy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13648" y="2532888"/>
            <a:ext cx="420624" cy="0"/>
          </a:xfrm>
          <a:prstGeom prst="line">
            <a:avLst/>
          </a:prstGeom>
          <a:ln w="2540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2103120"/>
            <a:ext cx="2377440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Update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posterior per arm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0" y="2990088"/>
            <a:ext cx="0" cy="256032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737360" y="3246120"/>
            <a:ext cx="8778240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37360" y="3008376"/>
            <a:ext cx="0" cy="237744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ban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7680960" cy="2323351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412480" y="3474720"/>
          <a:ext cx="3200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Policy (52 wks)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Regret / HCP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Fixed mix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$11,848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ε = 0.10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$1,403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ε = 0.30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$3,044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Thompson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$282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412480" y="5212080"/>
            <a:ext cx="3200400" cy="7315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5321808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22207" y="5705856"/>
            <a:ext cx="297180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6B6B"/>
                </a:solidFill>
                <a:latin typeface="Calibri"/>
              </a:rPr>
              <a:t>▸ </a:t>
            </a:r>
            <a:r>
              <a:rPr sz="1000">
                <a:solidFill>
                  <a:srgbClr val="333333"/>
                </a:solidFill>
                <a:latin typeface="Calibri"/>
              </a:rPr>
              <a:t>Thompson explores where uncertain, then stops.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exploration arm of §1 is the same thing seen from the other side.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Patients, orchestration,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same engine for patients, under stricter governance; what turns a model into a program. Notebook §10–11.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PATIENT NBA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patient-side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Week 4 patient file · discontinuation within 12 months · AUC 0.77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42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029967" cy="10972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Patient journey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claims → PDC, gaps, copay, PSP, portal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39" y="2651760"/>
            <a:ext cx="17373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2103120"/>
            <a:ext cx="2029967" cy="10972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Risk score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GBM, allowed features 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64607" y="2651760"/>
            <a:ext cx="17373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5" y="2103120"/>
            <a:ext cx="2029967" cy="10972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Rules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consent · purpose · fairness by payer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23175" y="2651760"/>
            <a:ext cx="17373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2103120"/>
            <a:ext cx="2029967" cy="10972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Outreach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PSP enrollment · copay card · nudge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1743" y="2651760"/>
            <a:ext cx="17373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1" y="2103120"/>
            <a:ext cx="2029967" cy="10972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Nurse decides</a:t>
            </a:r>
          </a:p>
          <a:p>
            <a:pPr algn="ctr"/>
            <a:r>
              <a:rPr sz="900">
                <a:solidFill>
                  <a:srgbClr val="CADCFC"/>
                </a:solidFill>
                <a:latin typeface="Calibri"/>
              </a:rPr>
              <a:t>model ranks, human acts</a:t>
            </a:r>
          </a:p>
        </p:txBody>
      </p:sp>
      <p:pic>
        <p:nvPicPr>
          <p:cNvPr id="17" name="Picture 16" descr="patien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7560"/>
            <a:ext cx="9966960" cy="260996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7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Top two risk deciles: 40% discontinue (base 18%) and hold 45% of all discontinuers. That is a nurse's call list.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A score about a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Six controls, in the order a privacy review 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43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6616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Purpose limitation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supports adherence; never deprioritizes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48840"/>
            <a:ext cx="3566160" cy="137160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minimization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the feature list, nothing else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148840"/>
            <a:ext cx="356616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Channel consent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PSP consent; HCP office as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3566160" cy="137160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Fairness before launch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calibration by payer and specialty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3749039"/>
            <a:ext cx="356616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Drift monitoring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monthly, with an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749039"/>
            <a:ext cx="3566160" cy="137160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Human in the loop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nurse decides; override rate is a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Calibri"/>
              </a:rPr>
              <a:t>IQVIA, Trustworthy AI/ML for Patient Analytics: outputs such as “risk stratification scores” undergo validation; metrics include “fairness and bias detection” and drift monitoring.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turns a model into a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IQVIA: a 'common data spine'. ZS/Axtria: next best experience, closed-loop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44 /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731520"/>
          </a:xfrm>
          <a:prstGeom prst="roundRect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Calibri"/>
              </a:rPr>
              <a:t>Measurement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Calibri"/>
              </a:rPr>
              <a:t>10% global holdout · 25% exploration · OPE quarterly · A/B of engine versions · report incremental NBRx and net value, not engagement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11064240" cy="7315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Activation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CRM suggestion to the rep · email platform · digital · patient support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79"/>
            <a:ext cx="11064240" cy="7315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Decision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segmentation → affinity prediction → business rules → uplift model → selection + exploration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59"/>
            <a:ext cx="11064240" cy="73152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(CDP)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identity · consent · touch history · Rx · segments — the single customer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23560"/>
            <a:ext cx="5394960" cy="7315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733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Triggers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17336"/>
            <a:ext cx="51663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6B6B"/>
                </a:solidFill>
                <a:latin typeface="Calibri"/>
              </a:rPr>
              <a:t>▸ </a:t>
            </a:r>
            <a:r>
              <a:rPr sz="1000">
                <a:solidFill>
                  <a:srgbClr val="333333"/>
                </a:solidFill>
                <a:latin typeface="Calibri"/>
              </a:rPr>
              <a:t>NBRx jump · reject rate &gt; 25% · Week 4 exit trigger · refill gap &gt; 30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5623560"/>
            <a:ext cx="5394960" cy="7315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5733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6117336"/>
            <a:ext cx="51663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FF6B6B"/>
                </a:solidFill>
                <a:latin typeface="Calibri"/>
              </a:rPr>
              <a:t>▸ </a:t>
            </a:r>
            <a:r>
              <a:rPr sz="1000">
                <a:solidFill>
                  <a:srgbClr val="333333"/>
                </a:solidFill>
                <a:latin typeface="Calibri"/>
              </a:rPr>
              <a:t>Rules: compliance + field · content: access + medical · model: analytics · rollout: brand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Five ways NBA programs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45 /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566160" cy="15087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Optimizing engagement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opens and clicks drift the engine toward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148840"/>
            <a:ext cx="3566160" cy="15087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Turning off exploration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by Q3 nobody can tell Movers became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2148840"/>
            <a:ext cx="3566160" cy="15087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A response model with a causal name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'propensity to prescribe' on observational rows = §3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3566160" cy="15087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Rules nobody can read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estimate the cap, then write it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886200"/>
            <a:ext cx="3566160" cy="150876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A11E1E"/>
                </a:solidFill>
                <a:latin typeface="Calibri"/>
              </a:rPr>
              <a:t>Rolling out on the OPE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it justifies the A/B, not the 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86200"/>
            <a:ext cx="3566160" cy="1508760"/>
          </a:xfrm>
          <a:prstGeom prst="round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When not to build one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&lt; 1,500 HCPs · nothing can be randomized · the constraint is access, not attention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In-class exercise — 20 minutes, groups of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Week_05_InClass_Exercise.docx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46 /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11880" cy="3291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 · Uplift by hand (7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383280" cy="2578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Eight HCPs from the randomized arm. Response, uplift, net value per action.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Who would a response model call? Who does the engine touch?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3291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484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 · Write the rules (8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383280" cy="2578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Per Week 4 segment: default action, cap, one rule, one trigger.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Which segment does the engine leave alone?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3611880" cy="32918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22402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31136"/>
            <a:ext cx="292608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 · Pick the evaluation (5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724912"/>
            <a:ext cx="3383280" cy="2578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Six scenarios: OPE, global holdout, A/B, geo test, or 'cannot be evaluated'.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Short on time: Part A only. Answer key in the instructor folder.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Week 6 —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Monday, October 19 · Homework 2 released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47 /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394960" cy="24688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Before 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88336"/>
            <a:ext cx="5166360" cy="1883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Read: </a:t>
            </a:r>
            <a:r>
              <a:rPr sz="1150">
                <a:solidFill>
                  <a:srgbClr val="333333"/>
                </a:solidFill>
                <a:latin typeface="Calibri"/>
              </a:rPr>
              <a:t>Reading Pack Parts B–D; Athey &amp; Imbens §1–3 (skim proofs).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Watch: </a:t>
            </a:r>
            <a:r>
              <a:rPr sz="1150">
                <a:solidFill>
                  <a:srgbClr val="333333"/>
                </a:solidFill>
                <a:latin typeface="Calibri"/>
              </a:rPr>
              <a:t>PMSA 'From Multichannel to Omnichannel', part 1.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Install: </a:t>
            </a:r>
            <a:r>
              <a:rPr sz="1150">
                <a:solidFill>
                  <a:srgbClr val="333333"/>
                </a:solidFill>
                <a:latin typeface="Calibri"/>
              </a:rPr>
              <a:t>statsforecast.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Submit: </a:t>
            </a:r>
            <a:r>
              <a:rPr sz="1150">
                <a:solidFill>
                  <a:srgbClr val="333333"/>
                </a:solidFill>
                <a:latin typeface="Calibri"/>
              </a:rPr>
              <a:t>Homework 1 — tonight, 11:59 PM 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5394960" cy="24688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0428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688336"/>
            <a:ext cx="5166360" cy="1883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Your Part B rule table.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One answer: </a:t>
            </a:r>
            <a:r>
              <a:rPr sz="1150">
                <a:solidFill>
                  <a:srgbClr val="333333"/>
                </a:solidFill>
                <a:latin typeface="Calibri"/>
              </a:rPr>
              <a:t>what share of weeks would your brand team accept as randomized, and what would you offer for it?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 b="1">
                <a:solidFill>
                  <a:srgbClr val="1E2761"/>
                </a:solidFill>
                <a:latin typeface="Calibri"/>
              </a:rPr>
              <a:t>Term project: </a:t>
            </a:r>
            <a:r>
              <a:rPr sz="1150">
                <a:solidFill>
                  <a:srgbClr val="333333"/>
                </a:solidFill>
                <a:latin typeface="Calibri"/>
              </a:rPr>
              <a:t>segmentation + NBA archetype → the exploration arm goes in your data plan, or your evaluation is observational and says 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Office hours Mondays 5:00–6:45 PM · ac5562@columbia.edu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51560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1 · Model the difference, not the level.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2 · Randomize a share of decisions — and keep it on.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3 · Segmentation says who; affinity (collaborative filtering) says how to reach them; uplift says whether it pays.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4 · The marginal touch has its own curve; the rules run in front of the model.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5 · Score offline, quote the interval, then A/B.</a:t>
            </a:r>
          </a:p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6 · Patients: same engine, stricter governance, a human at the point of contact.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Next week — Forecasting · Homework 2 released October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5 — Omnichannel, NBA and Patient Predictive Modeling  ·  Pharma DS&amp;AI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48 / 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8125</Words>
  <Application>Microsoft Macintosh PowerPoint</Application>
  <PresentationFormat>Widescreen</PresentationFormat>
  <Paragraphs>977</Paragraphs>
  <Slides>48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Cupallari</cp:lastModifiedBy>
  <cp:revision>1</cp:revision>
  <dcterms:created xsi:type="dcterms:W3CDTF">2013-01-27T09:14:16Z</dcterms:created>
  <dcterms:modified xsi:type="dcterms:W3CDTF">2026-10-12T23:00:16Z</dcterms:modified>
  <cp:category/>
</cp:coreProperties>
</file>