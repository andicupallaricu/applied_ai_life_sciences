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94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Third coding night. One notebook (GLUCOREN, 6,000 HCPs, 18 months, 20,000 patients) run in two halves around the break. Week 3 answered 'how much did the spend do'; tonight is 'to whom, and why the same thing to all of them'. No homework released tonight — Homework 1 is due next Monday; the term-project data plan is due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data plans. Bridge from Week 3: 'detailing has a marginal ROI of X' is an average. The whole point of tonight is that the average hides five different prescribers.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question: 'we already have deciles, why do we need segmentation?' Answer with the decile-10 range on the next section's chart. The needs-based column is what the agency will ask for; explain why the typing tool is the weak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three come back as notebook section 7. Say it now: silhouette 0.23 tonight is not a problem. A stability ARI of 0.6 would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589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pharma-specific lesson of the feature section. Every HCP-level rate has a denominator problem because most HCPs write very little of any one brand. Ask: which other feature tonight has the same issue? (NBRx share, call response.)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let the room pick k from the silhouette alone. Ask: what would marketing do with 3 segments? With 9?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0.685 run is the teaching moment: the segmentation is stable except at one boundary — core vs movers. That is exactly where stage 2 goes.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Two-stage is also how you reconcile with the decile: stage 1 is effectively the volume/value split, stage 2 is the behavior. Sales ops keeps its deciles; marketing gets its behaviors; the two agree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card has an exit trigger. That is the bridge to Week 5: a trigger is an event the NBA engine watches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Cluster 3 is the one the brand can act on cheapest: copay is the driver and a copay program exists. Cluster 1 is the one the HCP needs help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11480" cy="2377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5156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HCP and Patient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0584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From 6,000 prescribers and one call plan to five behaviors marketing can act on —</a:t>
            </a:r>
          </a:p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and the three tests a segmentation must pass before anyone builds a plan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Andi Cupallari · Applied Data Science and AI in Pharma Commercial · Fall 2026 · Monday, October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39" y="411480"/>
            <a:ext cx="5155475" cy="7406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 / 39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29968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Recap, data plans, and the Marketing Director's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76856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Deciles vs. behavior vs. needs — 15 min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96896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a segmentation is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43784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Three kinds, three tests, and the persona bridge — 15 min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91256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63824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Features from claims/Rx — live, 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1071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Four families · feature hygiene · the decile baseline · k-means and choosing k — 40 min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758183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30751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Evaluation — live, part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39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Stability · separation · interpretability · grading against the truth · two-stage — 30 min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9768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Supervised segmentation and the bridge to NBA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44568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Predict growth, then rank: Champions / Loyalists / Churners — 15 min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64607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Personas, activation, and patient segmentation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11496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Segment cards · the segment × channel matrix · patients and governance — 20 min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45896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31536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Pitfalls, in-class exercise, next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78424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Five ways segmentations fail · name the segments · Week 5 is NBA — 15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Recap and the Marketing Director's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Three weeks of 'what the manufacturer can see and what its spend did'. Tonight: to whom?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Three things from Weeks 1–3 that tonight depends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The segmentation inherits all three — and Week 5's Next Best Action engine inherits the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11880" cy="35661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payer sits between the HCP and the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24912"/>
            <a:ext cx="3383280" cy="28529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Week 1: an HCP can choose GLUCOREN and the pharmacy can still reject the claim.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Tonight it is a feature — the reject rate — and it turns out to be the one that predicts churn.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11880" cy="35661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484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HCP-level Rx is projected and longitudinal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724912"/>
            <a:ext cx="3383280" cy="28529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Week 2: Xponent-style HCP TRx/NBRx, plus patient-level claims for switching and journeys.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Every feature tonight is built from those two files the Week 2 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3611880" cy="35661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8388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Detailing works — on 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24912"/>
            <a:ext cx="3383280" cy="28529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Week 3: the MMM said HCP detailing sits on the steep part of its curve.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Average over 6,000 HCPs. Tonight: for whom? The call plan gives decile 10 the same frequency whether share is 1% or 42%.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Data plans (one page) are due tonight — hand them in before the break. Homework 1 (MMM) is due Monday, October 12.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The Marketing Director's question — asked before every brand-plan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GLUCOREN, three years after launch, 6,000 targeted prescribers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106424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“We have 6,000 targeted prescribers, one call plan, and one message. Who are they, really —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and why are we saying the same thing to all of them?”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5394960" cy="26517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76732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we owe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51376"/>
            <a:ext cx="5166360" cy="134652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150" dirty="0">
                <a:solidFill>
                  <a:srgbClr val="333333"/>
                </a:solidFill>
                <a:latin typeface="Calibri"/>
              </a:rPr>
              <a:t>A handful of segments, </a:t>
            </a:r>
            <a:r>
              <a:rPr sz="1150" b="1" dirty="0">
                <a:solidFill>
                  <a:srgbClr val="333333"/>
                </a:solidFill>
                <a:latin typeface="Calibri"/>
              </a:rPr>
              <a:t>each a behavior a marketer can recognize</a:t>
            </a:r>
            <a:endParaRPr sz="115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150" dirty="0">
                <a:solidFill>
                  <a:srgbClr val="333333"/>
                </a:solidFill>
                <a:latin typeface="Calibri"/>
              </a:rPr>
              <a:t>Evidence that the segments are stable (the field's lists will not reshuffle at the next refresh)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150" dirty="0">
                <a:solidFill>
                  <a:srgbClr val="333333"/>
                </a:solidFill>
                <a:latin typeface="Calibri"/>
              </a:rPr>
              <a:t>A different play per segment — channel, frequency, message — and the trigger that moves an HCP between them</a:t>
            </a:r>
          </a:p>
          <a:p>
            <a:pPr>
              <a:spcAft>
                <a:spcPts val="500"/>
              </a:spcAft>
            </a:pPr>
            <a:r>
              <a:rPr sz="115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150" dirty="0">
                <a:solidFill>
                  <a:srgbClr val="333333"/>
                </a:solidFill>
                <a:latin typeface="Calibri"/>
              </a:rPr>
              <a:t>The same for patient</a:t>
            </a:r>
            <a:r>
              <a:rPr lang="en-US" sz="1150" dirty="0">
                <a:solidFill>
                  <a:srgbClr val="333333"/>
                </a:solidFill>
                <a:latin typeface="Calibri"/>
              </a:rPr>
              <a:t>s </a:t>
            </a:r>
            <a:r>
              <a:rPr sz="115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n-US" sz="1150" dirty="0">
                <a:solidFill>
                  <a:srgbClr val="333333"/>
                </a:solidFill>
                <a:latin typeface="Calibri"/>
              </a:rPr>
              <a:t>(</a:t>
            </a:r>
            <a:r>
              <a:rPr sz="1150" dirty="0">
                <a:solidFill>
                  <a:srgbClr val="333333"/>
                </a:solidFill>
                <a:latin typeface="Calibri"/>
              </a:rPr>
              <a:t>with the governance that patient data demands</a:t>
            </a:r>
            <a:r>
              <a:rPr lang="en-US" sz="1150" dirty="0">
                <a:solidFill>
                  <a:srgbClr val="333333"/>
                </a:solidFill>
                <a:latin typeface="Calibri"/>
              </a:rPr>
              <a:t>)</a:t>
            </a:r>
            <a:endParaRPr sz="115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394960" cy="26517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376732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we will not pretend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151376"/>
            <a:ext cx="5166360" cy="20665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That k-means found 'the' segments — it found one partition among many that fit about as well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That a silhouette of 0.23 is bad (it is normal for behavioral data) or that 0.6 would make marketing happy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That a segment name is a fact rather than a hypothesis about a behavior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That segmenting patients is the same job as segmenting HCPs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THREE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Decile, behavioral, needs-based — the three segmentations every brand 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Tonight is behavioral. The right answer in industry is 'decile for volume, behavior for the play, needs for the message'.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 / 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28653"/>
              </p:ext>
            </p:extLst>
          </p:nvPr>
        </p:nvGraphicFramePr>
        <p:xfrm>
          <a:off x="548640" y="205740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Decile (volume) segmentation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Behavioral segmentation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Needs-based (attitudinal) segmentation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Rank HCPs by category or brand volume; cut into ten equal-count groups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33333"/>
                          </a:solidFill>
                          <a:latin typeface="Calibri"/>
                        </a:rPr>
                        <a:t>Cluster HCPs on what they do: share, trend, </a:t>
                      </a:r>
                      <a:r>
                        <a:rPr sz="1000" b="0" dirty="0" err="1">
                          <a:solidFill>
                            <a:srgbClr val="333333"/>
                          </a:solidFill>
                          <a:latin typeface="Calibri"/>
                        </a:rPr>
                        <a:t>NBRx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Calibri"/>
                        </a:rPr>
                        <a:t>, switching, patient mix, channel response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Cluster on what they believe and need: surveyed attitudes, barriers, information needs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One column of Rx data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33333"/>
                          </a:solidFill>
                          <a:latin typeface="Calibri"/>
                        </a:rPr>
                        <a:t>Rx panel + claims + CRM/digital activity (tonight's four families)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Primary market research (n = 300–800), then a typing tool to score the universe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How big?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33333"/>
                          </a:solidFill>
                          <a:latin typeface="Calibri"/>
                        </a:rPr>
                        <a:t>How big, how loyal, moving which way, reachable how?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Why? What would change their mind?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Refresh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Monthly, automatically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Quarterly or semi-annually; must be stable across refreshes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Every 2–3 years; expensive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Blind to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33333"/>
                          </a:solidFill>
                          <a:latin typeface="Calibri"/>
                        </a:rPr>
                        <a:t>Everything but volume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Motivation; anything not in the data (the 'why')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Small samples; the typing tool never reproduces the segments cleanly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Call frequency, target lists, incentive comp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33333"/>
                          </a:solidFill>
                          <a:latin typeface="Calibri"/>
                        </a:rPr>
                        <a:t>Channel mix, cadence, sequencing; the NBA context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33333"/>
                          </a:solidFill>
                          <a:latin typeface="Calibri"/>
                        </a:rPr>
                        <a:t>Creative and messaging strategy; persona language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What a segmentation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 segmentation is a decision artifact, not a model score. Three tests decide whether it survives contact with a brand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THE THREE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Stability, separation, commercial interpretability — in that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 segmentation that fails test 1 is dangerous; one that fails test 3 is useless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8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/>
          <p:cNvSpPr/>
          <p:nvPr/>
        </p:nvSpPr>
        <p:spPr>
          <a:xfrm>
            <a:off x="68580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70676"/>
            <a:ext cx="292608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1 · 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24912"/>
            <a:ext cx="3383280" cy="23519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lang="en-US" sz="1400" b="1" dirty="0">
                <a:solidFill>
                  <a:srgbClr val="FF6B6B"/>
                </a:solidFill>
                <a:latin typeface="Calibri"/>
              </a:rPr>
              <a:t>Check stability:</a:t>
            </a:r>
          </a:p>
          <a:p>
            <a:pPr marL="628650" lvl="1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3333"/>
                </a:solidFill>
                <a:latin typeface="Calibri"/>
              </a:rPr>
              <a:t>Re-run on a bootstrap resample, </a:t>
            </a:r>
            <a:endParaRPr lang="en-US" sz="1400" dirty="0">
              <a:solidFill>
                <a:srgbClr val="333333"/>
              </a:solidFill>
              <a:latin typeface="Calibri"/>
            </a:endParaRPr>
          </a:p>
          <a:p>
            <a:pPr marL="628650" lvl="1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3333"/>
                </a:solidFill>
                <a:latin typeface="Calibri"/>
              </a:rPr>
              <a:t>on another seed, </a:t>
            </a:r>
            <a:endParaRPr lang="en-US" sz="1400" dirty="0">
              <a:solidFill>
                <a:srgbClr val="333333"/>
              </a:solidFill>
              <a:latin typeface="Calibri"/>
            </a:endParaRPr>
          </a:p>
          <a:p>
            <a:pPr marL="628650" lvl="1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3333"/>
                </a:solidFill>
                <a:latin typeface="Calibri"/>
              </a:rPr>
              <a:t>on 11 months instead of 12 </a:t>
            </a:r>
            <a:endParaRPr lang="en-US" sz="1400" dirty="0">
              <a:solidFill>
                <a:srgbClr val="333333"/>
              </a:solidFill>
              <a:latin typeface="Calibri"/>
            </a:endParaRPr>
          </a:p>
          <a:p>
            <a:pPr lvl="1">
              <a:spcAft>
                <a:spcPts val="500"/>
              </a:spcAft>
            </a:pPr>
            <a:r>
              <a:rPr lang="en-US" sz="1400" dirty="0">
                <a:solidFill>
                  <a:srgbClr val="333333"/>
                </a:solidFill>
                <a:latin typeface="Calibri"/>
              </a:rPr>
              <a:t>D</a:t>
            </a:r>
            <a:r>
              <a:rPr sz="1400" dirty="0">
                <a:solidFill>
                  <a:srgbClr val="333333"/>
                </a:solidFill>
                <a:latin typeface="Calibri"/>
              </a:rPr>
              <a:t>o the same HCPs land together?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Why first: an unstable segmentation reshuffles the field's target lists every refresh. The fastest way to lose the sales force.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Oval 12"/>
          <p:cNvSpPr/>
          <p:nvPr/>
        </p:nvSpPr>
        <p:spPr>
          <a:xfrm>
            <a:off x="443484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270676"/>
            <a:ext cx="2926080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2 · Separation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724912"/>
            <a:ext cx="3383280" cy="194412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Silhouette per cluster (−1…1), Davies–Bouldin,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Calinski</a:t>
            </a:r>
            <a:r>
              <a:rPr sz="1400" dirty="0">
                <a:solidFill>
                  <a:srgbClr val="333333"/>
                </a:solidFill>
                <a:latin typeface="Calibri"/>
              </a:rPr>
              <a:t>–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Harabasz</a:t>
            </a:r>
            <a:r>
              <a:rPr sz="14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Behavioral data gives 0.2–0.35 overall. That is normal.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Why it matters: </a:t>
            </a:r>
            <a:r>
              <a:rPr sz="1400" b="1" dirty="0">
                <a:solidFill>
                  <a:srgbClr val="333333"/>
                </a:solidFill>
                <a:latin typeface="Calibri"/>
              </a:rPr>
              <a:t>one cluster with a silhouette near zero and many negative points is a leftover, not a behavior — merge it or drop the feature that made it</a:t>
            </a:r>
            <a:r>
              <a:rPr sz="140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Oval 16"/>
          <p:cNvSpPr/>
          <p:nvPr/>
        </p:nvSpPr>
        <p:spPr>
          <a:xfrm>
            <a:off x="818388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132177"/>
            <a:ext cx="292608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3 · Commercial interpretability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24912"/>
            <a:ext cx="3383280" cy="215956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</a:t>
            </a:r>
            <a:r>
              <a:rPr sz="1400">
                <a:solidFill>
                  <a:srgbClr val="333333"/>
                </a:solidFill>
                <a:latin typeface="Calibri"/>
              </a:rPr>
              <a:t>Each segment: a one-line behavior, a size, a value (brand TRx now and headroom), a reachability (a channel that works), and a different play.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</a:t>
            </a:r>
            <a:r>
              <a:rPr sz="1400">
                <a:solidFill>
                  <a:srgbClr val="333333"/>
                </a:solidFill>
                <a:latin typeface="Calibri"/>
              </a:rPr>
              <a:t>If two segments get the same play, merge them.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</a:t>
            </a:r>
            <a:r>
              <a:rPr sz="1400">
                <a:solidFill>
                  <a:srgbClr val="333333"/>
                </a:solidFill>
                <a:latin typeface="Calibri"/>
              </a:rPr>
              <a:t>Why last: you can only judge it once 1 and 2 are settled — naming an unstable cluster is fiction.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From files to a plan — what tonight's notebook does,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 dirty="0">
                <a:solidFill>
                  <a:srgbClr val="666666"/>
                </a:solidFill>
                <a:latin typeface="Calibri"/>
              </a:rPr>
              <a:t>The same steps as a real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 / 39</a:t>
            </a:r>
          </a:p>
        </p:txBody>
      </p:sp>
      <p:sp>
        <p:nvSpPr>
          <p:cNvPr id="8" name="Pentagon 7"/>
          <p:cNvSpPr/>
          <p:nvPr/>
        </p:nvSpPr>
        <p:spPr>
          <a:xfrm>
            <a:off x="548640" y="2148840"/>
            <a:ext cx="1525741" cy="822960"/>
          </a:xfrm>
          <a:prstGeom prst="homePlat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HCP master + Rx panel + activity</a:t>
            </a:r>
          </a:p>
        </p:txBody>
      </p:sp>
      <p:sp>
        <p:nvSpPr>
          <p:cNvPr id="9" name="Chevron 8"/>
          <p:cNvSpPr/>
          <p:nvPr/>
        </p:nvSpPr>
        <p:spPr>
          <a:xfrm>
            <a:off x="2129245" y="2148840"/>
            <a:ext cx="1525741" cy="82296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Feature engineering (4 families)</a:t>
            </a:r>
          </a:p>
        </p:txBody>
      </p:sp>
      <p:sp>
        <p:nvSpPr>
          <p:cNvPr id="10" name="Chevron 9"/>
          <p:cNvSpPr/>
          <p:nvPr/>
        </p:nvSpPr>
        <p:spPr>
          <a:xfrm>
            <a:off x="3709851" y="2148840"/>
            <a:ext cx="1525741" cy="8229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Hygiene · log · winsorize · scale</a:t>
            </a:r>
          </a:p>
        </p:txBody>
      </p:sp>
      <p:sp>
        <p:nvSpPr>
          <p:cNvPr id="11" name="Chevron 10"/>
          <p:cNvSpPr/>
          <p:nvPr/>
        </p:nvSpPr>
        <p:spPr>
          <a:xfrm>
            <a:off x="5290457" y="2148840"/>
            <a:ext cx="1525741" cy="82296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Cluster (k-means) · choose k</a:t>
            </a:r>
          </a:p>
        </p:txBody>
      </p:sp>
      <p:sp>
        <p:nvSpPr>
          <p:cNvPr id="12" name="Chevron 11"/>
          <p:cNvSpPr/>
          <p:nvPr/>
        </p:nvSpPr>
        <p:spPr>
          <a:xfrm>
            <a:off x="6871062" y="2148840"/>
            <a:ext cx="1525741" cy="8229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Evaluate: 3 tests</a:t>
            </a:r>
          </a:p>
        </p:txBody>
      </p:sp>
      <p:sp>
        <p:nvSpPr>
          <p:cNvPr id="13" name="Chevron 12"/>
          <p:cNvSpPr/>
          <p:nvPr/>
        </p:nvSpPr>
        <p:spPr>
          <a:xfrm>
            <a:off x="8451668" y="2148840"/>
            <a:ext cx="1525741" cy="822960"/>
          </a:xfrm>
          <a:prstGeom prst="chevron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Profile · name · persona</a:t>
            </a:r>
          </a:p>
        </p:txBody>
      </p:sp>
      <p:sp>
        <p:nvSpPr>
          <p:cNvPr id="14" name="Chevron 13"/>
          <p:cNvSpPr/>
          <p:nvPr/>
        </p:nvSpPr>
        <p:spPr>
          <a:xfrm>
            <a:off x="10032274" y="2148840"/>
            <a:ext cx="1525741" cy="8229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Activation matrix → NBA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5394960" cy="29260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685800" y="3355848"/>
            <a:ext cx="51206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Decisions you will have to defend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739896"/>
            <a:ext cx="5166360" cy="23519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Which features, and which family gets how much weight (scaling is a weighting decision)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Rates over counts</a:t>
            </a:r>
            <a:r>
              <a:rPr lang="en-US" sz="1400" dirty="0">
                <a:solidFill>
                  <a:srgbClr val="333333"/>
                </a:solidFill>
                <a:latin typeface="Calibri"/>
              </a:rPr>
              <a:t> (why?)</a:t>
            </a:r>
            <a:r>
              <a:rPr sz="1400" dirty="0">
                <a:solidFill>
                  <a:srgbClr val="333333"/>
                </a:solidFill>
                <a:latin typeface="Calibri"/>
              </a:rPr>
              <a:t>, and where a rate's denominator is too small to trust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k — with statistics, stability, and </a:t>
            </a:r>
            <a:endParaRPr lang="en-US" sz="1400" dirty="0">
              <a:solidFill>
                <a:srgbClr val="333333"/>
              </a:solidFill>
              <a:latin typeface="Calibri"/>
            </a:endParaRPr>
          </a:p>
          <a:p>
            <a:pPr marL="742950" lvl="1" indent="-285750">
              <a:spcAft>
                <a:spcPts val="500"/>
              </a:spcAft>
              <a:buFont typeface="Wingdings" pitchFamily="2" charset="2"/>
              <a:buChar char="Ø"/>
            </a:pPr>
            <a:r>
              <a:rPr sz="1400" dirty="0">
                <a:solidFill>
                  <a:srgbClr val="333333"/>
                </a:solidFill>
                <a:latin typeface="Calibri"/>
              </a:rPr>
              <a:t>'can marketing run k plays?'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One stage or two (value tier first, behavior within)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Unsupervised (behavior) vs supervised (outcome) — or, usually, both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46120"/>
            <a:ext cx="5394960" cy="29260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355080" y="3355848"/>
            <a:ext cx="51206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Feature window vs outcome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739896"/>
            <a:ext cx="5166360" cy="129779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</a:t>
            </a:r>
            <a:r>
              <a:rPr sz="1400">
                <a:solidFill>
                  <a:srgbClr val="333333"/>
                </a:solidFill>
                <a:latin typeface="Calibri"/>
              </a:rPr>
              <a:t>Months 1–12 (2025): every segmentation feature is built here.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</a:t>
            </a:r>
            <a:r>
              <a:rPr sz="1400">
                <a:solidFill>
                  <a:srgbClr val="333333"/>
                </a:solidFill>
                <a:latin typeface="Calibri"/>
              </a:rPr>
              <a:t>Months 13–18 (Jan–Jun 2026): used only to see whether a December segmentation predicted what happened next.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F6B6B"/>
                </a:solidFill>
                <a:latin typeface="Calibri"/>
              </a:rPr>
              <a:t>▸ </a:t>
            </a:r>
            <a:r>
              <a:rPr sz="1400">
                <a:solidFill>
                  <a:srgbClr val="333333"/>
                </a:solidFill>
                <a:latin typeface="Calibri"/>
              </a:rPr>
              <a:t>Outcome data in the features = leakage. This is the segmentation version of Week 3's hold-out.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Features from claims/Rx — live,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GLUCOREN: 6,000 targeted HCPs, 18 months, 20,000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 / 39</a:t>
            </a:r>
          </a:p>
        </p:txBody>
      </p:sp>
      <p:pic>
        <p:nvPicPr>
          <p:cNvPr id="8" name="Picture 7" descr="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7315200" cy="1777011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230286"/>
              </p:ext>
            </p:extLst>
          </p:nvPr>
        </p:nvGraphicFramePr>
        <p:xfrm>
          <a:off x="8046720" y="2011680"/>
          <a:ext cx="3566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glucoren_hcp_master.csv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HCP (6,000)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Specialty, region, setting, tenure; patient mix (payer shares, age, CV comorbidity); GLUCOREN pharmacy-reject rate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glucoren_hcp_monthly.csv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HCP × month (108,000)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Market TRx, GLUCOREN TRx/NBRx, competitor TRx, switches in/out, rep calls, samples, emails sent/opened, web visits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glucoren_patients.csv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Patient (20,000)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3333"/>
                          </a:solidFill>
                          <a:latin typeface="Calibri"/>
                        </a:rPr>
                        <a:t>Dx-to-first-Rx, months on therapy, prior lines, PDC, refill gaps, switches, copay, PSP, portal, comorbidity, ER visits, discontinued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416052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210312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14900"/>
            <a:ext cx="201168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of category TRx from the top 20% of HCPs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416052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297680"/>
            <a:ext cx="210312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412 / 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914900"/>
            <a:ext cx="201168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median market / GLUCOREN TRx per HCP-year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416052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4297680"/>
            <a:ext cx="210312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4.9 → 21.9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914900"/>
            <a:ext cx="201168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calls per HCP-year, lowest → highest volume quintile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DECILE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What deciles capture — and what they hide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Same call frequency for every HCP in decile 10, whether GLUCOREN share is 1% or 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 / 39</a:t>
            </a:r>
          </a:p>
        </p:txBody>
      </p:sp>
      <p:pic>
        <p:nvPicPr>
          <p:cNvPr id="8" name="Picture 7" descr="dec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11064240" cy="30210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120640"/>
            <a:ext cx="11064240" cy="63248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0" i="0" dirty="0">
                <a:solidFill>
                  <a:srgbClr val="333333"/>
                </a:solidFill>
                <a:latin typeface="Calibri"/>
              </a:rPr>
              <a:t>Left: deciles 8–10 write 60% of the category — that is why deciles exist and why they will not go away. Right: inside every decile, brand share runs from near zero to a third or more. </a:t>
            </a:r>
            <a:r>
              <a:rPr sz="1250" b="1" i="0" dirty="0">
                <a:solidFill>
                  <a:srgbClr val="333333"/>
                </a:solidFill>
                <a:latin typeface="Calibri"/>
              </a:rPr>
              <a:t>Deciles answer 'how big'; a plan needs 'how big, how loyal, moving which way, reachable how'.</a:t>
            </a:r>
          </a:p>
          <a:p>
            <a:pPr algn="l"/>
            <a:r>
              <a:rPr sz="1250" b="0" i="0" dirty="0">
                <a:solidFill>
                  <a:srgbClr val="333333"/>
                </a:solidFill>
                <a:latin typeface="Calibri"/>
              </a:rPr>
              <a:t>Keep the decile as the volume axis. Put the behavior next to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FOUR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Feature engineering from claims/Rx — the four families the syllabus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 dirty="0">
                <a:solidFill>
                  <a:srgbClr val="666666"/>
                </a:solidFill>
                <a:latin typeface="Calibri"/>
              </a:rPr>
              <a:t>One row per HCP from the 12 feature months; log the counts, prefer rates, and know where each column comes from in a real 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13 / 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Tonight's features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 in a real brand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Watch out for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Writing behavior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Market volume · GLUCOREN share · share trend (H2 − H1) · NBRx share of brand TRx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Rx panel (Xponent-style projection, Week 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Volume re-encodes decile; trend on a small base is noise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Patient mix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% Medicare · mean patient age · % CV comorbidity · GLUCOREN pharmacy-reject rate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Claims (payer of record, Dx codes); formulary / reject data (Week 2, category 4)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Reject rate is an access signal, not a behavior — but it predicts behavior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Switching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Switch-in rate (share of NBRx from a competitor) · switch-out rate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Longitudinal patient-level Rx (Week 2 LOT logic)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Switch-out rate on 5 brand TRx is a coin flip (next slide)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Channel response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Calls received · email open rate · web visits · call response (corr. of brand TRx with last month's calls)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CRM, marketing automation, web analytics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Activity ≠ response; 'calls' is a decision the brand made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Interview answer to 'what features would you use?': name the four families, then name one feature per family and where it comes from.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Feature hygiene — the step that separates a segmentation from a scatter of outliers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Notebook §4b: k-means on the raw features builds a 72-HCP cluster out of one noisy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14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39496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96896"/>
            <a:ext cx="5166360" cy="34381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k = 5 on all 14 features: cluster sizes 72 / 806 / 1,303 / 1,453 / 2,366.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The 72: median 7 brand TRx, switch-out rate 0.17 (universe 99th percentile: 0.12). One patient switching away = a 14% 'rate'.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Std of switch-out rate: 0.047 below 10 brand TRx vs 0.012 above 100 — same mean, four times the spread.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The k-means objective prefers this solution (lower inertia). More restarts make it worse, not better.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39496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21284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fixes, in order of preference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596896"/>
            <a:ext cx="5166360" cy="34381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Drop the feature </a:t>
            </a:r>
            <a:r>
              <a:rPr sz="1150">
                <a:solidFill>
                  <a:srgbClr val="333333"/>
                </a:solidFill>
                <a:latin typeface="Calibri"/>
              </a:rPr>
              <a:t>when its only information is the denominator (switch-out; switch-in carries the switching signal).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Shrink the rate </a:t>
            </a:r>
            <a:r>
              <a:rPr sz="1150">
                <a:solidFill>
                  <a:srgbClr val="333333"/>
                </a:solidFill>
                <a:latin typeface="Calibri"/>
              </a:rPr>
              <a:t>toward the universe mean with a Bayesian/empirical-Bayes prior weighted by the denominator.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Winsorize </a:t>
            </a:r>
            <a:r>
              <a:rPr sz="1150">
                <a:solidFill>
                  <a:srgbClr val="333333"/>
                </a:solidFill>
                <a:latin typeface="Calibri"/>
              </a:rPr>
              <a:t>every rate at the 1st/99th percentile (tonight, for the rest).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Log-transform counts </a:t>
            </a:r>
            <a:r>
              <a:rPr sz="1150">
                <a:solidFill>
                  <a:srgbClr val="333333"/>
                </a:solidFill>
                <a:latin typeface="Calibri"/>
              </a:rPr>
              <a:t>(volume, calls, visits) — Pareto-shaped columns dominate Euclidean distance.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Re-check the correlation matrix: </a:t>
            </a:r>
            <a:r>
              <a:rPr sz="1150">
                <a:solidFill>
                  <a:srgbClr val="333333"/>
                </a:solidFill>
                <a:latin typeface="Calibri"/>
              </a:rPr>
              <a:t>a pair above |0.5| is one behavior counted twice.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CHOOSING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Choosing k — three statistics, then the commercial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Silhouette and Calinski–Harabasz peak at k = 3; the elbow is around 4–5; marketing can run five plays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15 / 39</a:t>
            </a:r>
          </a:p>
        </p:txBody>
      </p:sp>
      <p:pic>
        <p:nvPicPr>
          <p:cNvPr id="8" name="Picture 7" descr="choose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11064240" cy="2764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Silhouette peaks at 3 (0.28) and is 0.23 at 5 — the statistics prefer fewer, rounder clusters than the business needs. Inertia keeps falling; the elbow is a judgement. GMM's BIC keeps improving to 8 because it rewards fitting the long tails.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The commercial test settles it: 4–6 segments is the range a brand team can build distinct plays for. Tonight k = 5, then we check whether 5 survives the stability test — and whether one stage is enough.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k = 5 — the profile heatmap, read family by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Centroids in standardized space; one sentence per cluster before any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 / 39</a:t>
            </a:r>
          </a:p>
        </p:txBody>
      </p:sp>
      <p:pic>
        <p:nvPicPr>
          <p:cNvPr id="8" name="Picture 7" descr="profile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863840" cy="26978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965960"/>
            <a:ext cx="3017520" cy="4297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32520" y="2075688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One sentence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459736"/>
            <a:ext cx="2788920" cy="37124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 b="1">
                <a:solidFill>
                  <a:srgbClr val="1E2761"/>
                </a:solidFill>
                <a:latin typeface="Calibri"/>
              </a:rPr>
              <a:t>0 (n=1,309): </a:t>
            </a:r>
            <a:r>
              <a:rPr sz="1050">
                <a:solidFill>
                  <a:srgbClr val="333333"/>
                </a:solidFill>
                <a:latin typeface="Calibri"/>
              </a:rPr>
              <a:t>big writers, 6% share, no NBRx, no digital — someone else's brand.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 b="1">
                <a:solidFill>
                  <a:srgbClr val="1E2761"/>
                </a:solidFill>
                <a:latin typeface="Calibri"/>
              </a:rPr>
              <a:t>1 (n=2,412): </a:t>
            </a:r>
            <a:r>
              <a:rPr sz="1050">
                <a:solidFill>
                  <a:srgbClr val="333333"/>
                </a:solidFill>
                <a:latin typeface="Calibri"/>
              </a:rPr>
              <a:t>small writers, few calls, average share — the long tail.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 b="1">
                <a:solidFill>
                  <a:srgbClr val="1E2761"/>
                </a:solidFill>
                <a:latin typeface="Calibri"/>
              </a:rPr>
              <a:t>2 (n=814): </a:t>
            </a:r>
            <a:r>
              <a:rPr sz="1050">
                <a:solidFill>
                  <a:srgbClr val="333333"/>
                </a:solidFill>
                <a:latin typeface="Calibri"/>
              </a:rPr>
              <a:t>Medicare-heavy, reject rate 2.2σ above — they try and the pharmacy says no.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 b="1">
                <a:solidFill>
                  <a:srgbClr val="1E2761"/>
                </a:solidFill>
                <a:latin typeface="Calibri"/>
              </a:rPr>
              <a:t>3 (n=547): </a:t>
            </a:r>
            <a:r>
              <a:rPr sz="1050">
                <a:solidFill>
                  <a:srgbClr val="333333"/>
                </a:solidFill>
                <a:latin typeface="Calibri"/>
              </a:rPr>
              <a:t>38% share, most calls, most responsive — the brand's core.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 b="1">
                <a:solidFill>
                  <a:srgbClr val="1E2761"/>
                </a:solidFill>
                <a:latin typeface="Calibri"/>
              </a:rPr>
              <a:t>4 (n=918): </a:t>
            </a:r>
            <a:r>
              <a:rPr sz="1050">
                <a:solidFill>
                  <a:srgbClr val="333333"/>
                </a:solidFill>
                <a:latin typeface="Calibri"/>
              </a:rPr>
              <a:t>share rising 8 pts, half of NBRx switched in, most digital — the movers.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7863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Segment 3 is 9% of HCPs and 45% of brand TRx. Segment 1 is 40% of HCPs and 8% of TRx — still a segment; it just needs a cheap play.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IN TWO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clusters in the first two principal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PC1 = engagement and share (digital, email, switch-in, share); PC2 = the patient-mix / access axis (Medicare, age, comorbidity, reject 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17 / 39</a:t>
            </a:r>
          </a:p>
        </p:txBody>
      </p:sp>
      <p:pic>
        <p:nvPicPr>
          <p:cNvPr id="8" name="Picture 7" descr="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6313217" cy="4297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49440" y="2011680"/>
            <a:ext cx="4663440" cy="4297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2121408"/>
            <a:ext cx="4389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the picture is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505456"/>
            <a:ext cx="4434840" cy="37124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Sanity, not proof: are these islands or a continuum sliced five ways? Mostly the latter — that is what behavioral data looks like.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The access segment (2) separates along PC2, not PC1: it is defined by patient mix, not by engagement. That is why a decile or an engagement score never finds it.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The core (3) and the movers (4) overlap on PC1 — the two-stage step later separates them on trend and NBRx.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UMAP (notebook §6, optional) gives a prettier picture and the same conclusion.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Evaluation — live,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Alternatives, the three tests, grading against the truth, and clustering twice.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Four alternatives to k-means — and when each earns its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All on tonight's features; agreement with k-means measured by adjusted Rand index (ARI)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19 / 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changes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Tonight's result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 it matters in pharma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Gaussian mixture (GMM)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Soft membership; ellipsoidal clusters; BIC for 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ARI vs k-means 0.48; only 0.2% of HCPs below 70% membership probability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Boundary HCPs get a probability, not a label — the NBA layer next week can use 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Hierarchical (Ward)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Dendrogram; nested segments; no k up front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ARI vs k-means 0.96 on a 3,000-HCP sample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Brand teams love nested segmentations ('high-value → loyal / contested')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HDBSCAN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Density-based; leaves noise unassigned; no 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3 dense clusters; 39% of HCPs unassigned; ARI 0.66 on the assigned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Says 'no clear behavior' out loud instead of forcing it — honest, hard to sell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UMAP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Non-linear 2-D map for looking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Same islands as PCA, sharper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Presentations; checking whether clusters are real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Industry answer: k-means (or Ward) for the segmentation everyone has to understand; a GMM or a supervised score on top for the decisions that need a probability.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STABILITY &amp;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Test 1 and test 2 — the numbers tonight's segmentation has to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Notebook §7: 12 bootstrap refits, 5 seeds, an 11-month feature window; silhouette by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 / 39</a:t>
            </a:r>
          </a:p>
        </p:txBody>
      </p:sp>
      <p:pic>
        <p:nvPicPr>
          <p:cNvPr id="8" name="Picture 7" descr="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11064240" cy="31522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Stability: bootstrap ARI mean 0.97, matched per-HCP agreement 97% — but one resample and one seed land at 0.69. That is the run where k-means swapped the movers into the core. Report the minimum, not just the mean; it tells you which boundary is fragile.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Separation: overall silhouette 0.23; clusters 0, 2 and 3 are well formed (0.27–0.40); the long tail (1) is 0.12 with 8% negative — a leftover by construction, and fine as long as its play is 'cheap and digital'.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THE CARD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Test 3 — the segment card table: who, worth,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Read across a row: who they are → what they are worth → how to reach them. If two rows get the same play, merge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21 / 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HCPs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% of brand TRx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Headroom (TRx to 35%)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Calls / HCP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Calls per brand TRx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Call resp.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Email open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Medicare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0 · entrenched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1,309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+0.6 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292k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1 · long tail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2,412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+0.3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80k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2 · access-constrained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814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128k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21.7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3 · core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547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+2.8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26.7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4 · movers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918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+7.7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84k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16.8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Headroom is a planning convention (TRx if the segment reached a 35% share ceiling), not a forecast — but it ranks the segments the way a brand plan does: the entrenched 1,309 hold the most headroom and get the least response per call. The core has no headroom and the most calls.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Calls per brand TRx is the cheapest 'are we over-serving' check a segmentation can produce: 0.39 for the entrenched vs 0.07 for the core.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GRADE VS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Because the data is synthetic — the planted behaviors vs the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Notebook §8. This never exists in a real engagement; use it to learn what k-means gets wrong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22 / 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576072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Planted behavior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→ cluster 0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Access-Constrained (809)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Brand Champions (537)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533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Entrenched Competitor (1,293)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1,287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Growers (909)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896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Occasional (2,449)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949440" y="2057400"/>
            <a:ext cx="219456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79" y="2194560"/>
            <a:ext cx="2011679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0.974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811780"/>
            <a:ext cx="192024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ARI, k-means k=5 vs planted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2057400"/>
            <a:ext cx="219456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0" y="2194560"/>
            <a:ext cx="2011679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0.48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811780"/>
            <a:ext cx="192024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ARI, GMM k=5 vs planted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611880"/>
            <a:ext cx="4663440" cy="26517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3721608"/>
            <a:ext cx="4389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it worked — and why it usually does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4105656"/>
            <a:ext cx="4434840" cy="20665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After hygiene, five planted behaviors that differ on different feature families are almost perfectly recovered. Real behaviors overlap far more.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GMM fit the long tails instead of the behaviors (BIC kept improving to k = 8). More flexible ≠ more right.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The 13 Growers in cluster 3 and the 0.69 bootstrap run are the same boundary: the movers on their way to becoming the core.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603504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Before hygiene (raw features) the ARI was 0.89 and a 72-HCP junk cluster existed. The single biggest accuracy gain tonight came from dropping one column — not from the algorithm.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TWO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Practitioners cluster twice — value tier first, behavior within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k is never known. Stop at the elbow (k = 4) and the highest-value cluster holds 1,450 HCPs, 61% of brand TRx — and two behaviors.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23 / 39</a:t>
            </a:r>
          </a:p>
        </p:txBody>
      </p:sp>
      <p:pic>
        <p:nvPicPr>
          <p:cNvPr id="8" name="Picture 7" descr="two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6801335" cy="4206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2011680"/>
            <a:ext cx="4846320" cy="42062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2121408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Stage 2 on the high-value cluster, behavior features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505456"/>
            <a:ext cx="4617720" cy="36210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 b="1">
                <a:solidFill>
                  <a:srgbClr val="1E2761"/>
                </a:solidFill>
                <a:latin typeface="Calibri"/>
              </a:rPr>
              <a:t>Silhouette by k: </a:t>
            </a:r>
            <a:r>
              <a:rPr sz="1100">
                <a:solidFill>
                  <a:srgbClr val="333333"/>
                </a:solidFill>
                <a:latin typeface="Calibri"/>
              </a:rPr>
              <a:t>2 → 0.34, 3 → 0.22, 4 → 0.20. Two behaviors.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 b="1">
                <a:solidFill>
                  <a:srgbClr val="1E2761"/>
                </a:solidFill>
                <a:latin typeface="Calibri"/>
              </a:rPr>
              <a:t>1.0 (553): </a:t>
            </a:r>
            <a:r>
              <a:rPr sz="1100">
                <a:solidFill>
                  <a:srgbClr val="333333"/>
                </a:solidFill>
                <a:latin typeface="Calibri"/>
              </a:rPr>
              <a:t>932 market TRx, 38% share, trend +2.7 pt, call response 0.16 — the core.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 b="1">
                <a:solidFill>
                  <a:srgbClr val="1E2761"/>
                </a:solidFill>
                <a:latin typeface="Calibri"/>
              </a:rPr>
              <a:t>1.1 (897): </a:t>
            </a:r>
            <a:r>
              <a:rPr sz="1100">
                <a:solidFill>
                  <a:srgbClr val="333333"/>
                </a:solidFill>
                <a:latin typeface="Calibri"/>
              </a:rPr>
              <a:t>487 market TRx, 16% share, trend +7.8 pt, 48% NBRx share, 54% switched in, 51 web visits — the movers.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 b="1">
                <a:solidFill>
                  <a:srgbClr val="1E2761"/>
                </a:solidFill>
                <a:latin typeface="Calibri"/>
              </a:rPr>
              <a:t>ARI vs planted: </a:t>
            </a:r>
            <a:r>
              <a:rPr sz="1100">
                <a:solidFill>
                  <a:srgbClr val="333333"/>
                </a:solidFill>
                <a:latin typeface="Calibri"/>
              </a:rPr>
              <a:t>k = 4 single stage 0.92 → two-stage 0.98 (k = 5 single stage 0.97).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 b="1">
                <a:solidFill>
                  <a:srgbClr val="1E2761"/>
                </a:solidFill>
                <a:latin typeface="Calibri"/>
              </a:rPr>
              <a:t>Why it is the industry default: </a:t>
            </a:r>
            <a:r>
              <a:rPr sz="1100">
                <a:solidFill>
                  <a:srgbClr val="333333"/>
                </a:solidFill>
                <a:latin typeface="Calibri"/>
              </a:rPr>
              <a:t>a brand team can explain 'value tier, then behavior' in one sentence, and the value tier is the decile they already have.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Supervised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Predict growth, then rank. A different question from 'who behaves alike' — and the bridge to Next Best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PREDICT, THEN 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2405"/>
            <a:ext cx="11064240" cy="45550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 dirty="0">
                <a:solidFill>
                  <a:srgbClr val="1E2761"/>
                </a:solidFill>
                <a:latin typeface="Calibri"/>
              </a:rPr>
              <a:t>Champions / Loyalists / Churners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Label = change in GLUCOREN share over months 13–18; features from months 1–12; 30% of HCPs held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25 / 39</a:t>
            </a:r>
          </a:p>
        </p:txBody>
      </p:sp>
      <p:pic>
        <p:nvPicPr>
          <p:cNvPr id="8" name="Picture 7" descr="supervi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11064240" cy="323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Hold-out R² 0.42 — share change at HCP level is noisy, and that is fine: the deciles of predicted growth rank the real outcome almost monotonically (decile 10: +10.8 share points; decile 1: −6.1). Ranking is what a target list needs.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What predicts growth: being a mover (cluster 4), web engagement, the share trend — and the pharmacy-reject rate, which predicts decline. The model just found the hidden churn driver: access.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TWO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Behavior is the context; the growth score is the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Unsupervised segment (rows) × supervised outcome group (share of HCPs in each)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26 / 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Two-stage segment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Champions (pred. deciles 9–10)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Loyalists / stable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Churn risk (deciles 1–2)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the cross-tab tells the brand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0 · long tail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Cheap digital play; a churn flag here is low-value — do not send a rep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1.0 · core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Protect and grow; almost no churn risk — frequency can come down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1.1 · movers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Every one is a predicted grower — sequence them, do not saturate them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2 · access-constrained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Churn is not a messaging problem; hand the list to market access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3 · entrenched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Stable and low share; test a different message, do not add calls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596128"/>
            <a:ext cx="1078991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lesson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80176"/>
            <a:ext cx="10789919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A 'churn risk' HCP inside the entrenched segment and one inside the access segment need different conversations. Next week's NBA engine takes both columns: the segment as the context, the score as the priority.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Personas, activation, and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Segment cards, the segment × channel matrix, and the same machinery on journey features — with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From cluster numbers to personas the agency and the field can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Name the behavior, never the number. The exercise asks you to name tonight's five; here is the shape of a 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28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139696" cy="43434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139696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2048256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468880"/>
            <a:ext cx="2048256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Who: </a:t>
            </a:r>
            <a:r>
              <a:rPr sz="1150">
                <a:solidFill>
                  <a:srgbClr val="333333"/>
                </a:solidFill>
                <a:latin typeface="Calibri"/>
              </a:rPr>
              <a:t>9% of HCPs · 45% of brand TRx · 38% share, rising · most responsive to calls (0.17)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Needs: </a:t>
            </a:r>
            <a:r>
              <a:rPr sz="1150">
                <a:solidFill>
                  <a:srgbClr val="333333"/>
                </a:solidFill>
                <a:latin typeface="Calibri"/>
              </a:rPr>
              <a:t>Confidence: outcomes data, peer voice, patient support that makes the next script easy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Play: </a:t>
            </a:r>
            <a:r>
              <a:rPr sz="1150">
                <a:solidFill>
                  <a:srgbClr val="333333"/>
                </a:solidFill>
                <a:latin typeface="Calibri"/>
              </a:rPr>
              <a:t>Protect: keep reps, lower frequency, add peer programs; calls per brand TRx is already 0.07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Exit trigger: </a:t>
            </a:r>
            <a:r>
              <a:rPr sz="1150">
                <a:solidFill>
                  <a:srgbClr val="333333"/>
                </a:solidFill>
                <a:latin typeface="Calibri"/>
              </a:rPr>
              <a:t>Trend turns negative for two quarters → 'at risk core'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9776" y="2011680"/>
            <a:ext cx="2139696" cy="43434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79776" y="2011680"/>
            <a:ext cx="2139696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25496" y="2029968"/>
            <a:ext cx="2048256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Movers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68880"/>
            <a:ext cx="2048256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Who: </a:t>
            </a:r>
            <a:r>
              <a:rPr sz="1150">
                <a:solidFill>
                  <a:srgbClr val="333333"/>
                </a:solidFill>
                <a:latin typeface="Calibri"/>
              </a:rPr>
              <a:t>15% · 16% · share 16% rising 8 pts/half-year · half of NBRx switched in · most digital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Needs: </a:t>
            </a:r>
            <a:r>
              <a:rPr sz="1150">
                <a:solidFill>
                  <a:srgbClr val="333333"/>
                </a:solidFill>
                <a:latin typeface="Calibri"/>
              </a:rPr>
              <a:t>Evidence for switching: head-to-head data, access wins, samples at the moment of the switch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Play: </a:t>
            </a:r>
            <a:r>
              <a:rPr sz="1150">
                <a:solidFill>
                  <a:srgbClr val="333333"/>
                </a:solidFill>
                <a:latin typeface="Calibri"/>
              </a:rPr>
              <a:t>Grow: sequence email → web → call around switching triggers; do not saturate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Exit trigger: </a:t>
            </a:r>
            <a:r>
              <a:rPr sz="1150">
                <a:solidFill>
                  <a:srgbClr val="333333"/>
                </a:solidFill>
                <a:latin typeface="Calibri"/>
              </a:rPr>
              <a:t>NBRx share falls below 30% → they have finished moving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2011680"/>
            <a:ext cx="2139696" cy="43434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10912" y="2011680"/>
            <a:ext cx="2139696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56631" y="2029968"/>
            <a:ext cx="2048256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Access-Constrained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5" y="2468880"/>
            <a:ext cx="2048256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Who: </a:t>
            </a:r>
            <a:r>
              <a:rPr sz="1150">
                <a:solidFill>
                  <a:srgbClr val="333333"/>
                </a:solidFill>
                <a:latin typeface="Calibri"/>
              </a:rPr>
              <a:t>14% · 16% · share 12%, flat · 60% Medicare · 31% of claims rejected · 86% churn risk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Needs: </a:t>
            </a:r>
            <a:r>
              <a:rPr sz="1150">
                <a:solidFill>
                  <a:srgbClr val="333333"/>
                </a:solidFill>
                <a:latin typeface="Calibri"/>
              </a:rPr>
              <a:t>Coverage: prior-auth support, copay programs, formulary status by plan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Play: </a:t>
            </a:r>
            <a:r>
              <a:rPr sz="1150">
                <a:solidFill>
                  <a:srgbClr val="333333"/>
                </a:solidFill>
                <a:latin typeface="Calibri"/>
              </a:rPr>
              <a:t>Fix access before messaging: hand the list to market access; rep carries a coverage message only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Exit trigger: </a:t>
            </a:r>
            <a:r>
              <a:rPr sz="1150">
                <a:solidFill>
                  <a:srgbClr val="333333"/>
                </a:solidFill>
                <a:latin typeface="Calibri"/>
              </a:rPr>
              <a:t>Reject rate falls below 15% → re-segment as a mover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2048" y="2011680"/>
            <a:ext cx="2139696" cy="43434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42048" y="2011680"/>
            <a:ext cx="2139696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87768" y="2029968"/>
            <a:ext cx="2048256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Entrenched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468880"/>
            <a:ext cx="2048256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Who: </a:t>
            </a:r>
            <a:r>
              <a:rPr sz="1150">
                <a:solidFill>
                  <a:srgbClr val="333333"/>
                </a:solidFill>
                <a:latin typeface="Calibri"/>
              </a:rPr>
              <a:t>22% · 15% · share 6%, flat · no NBRx · lowest email/web · 292k TRx of headroom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Needs: </a:t>
            </a:r>
            <a:r>
              <a:rPr sz="1150">
                <a:solidFill>
                  <a:srgbClr val="333333"/>
                </a:solidFill>
                <a:latin typeface="Calibri"/>
              </a:rPr>
              <a:t>A reason to try: a differentiated patient type, a new indication, a peer they trust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Play: </a:t>
            </a:r>
            <a:r>
              <a:rPr sz="1150">
                <a:solidFill>
                  <a:srgbClr val="333333"/>
                </a:solidFill>
                <a:latin typeface="Calibri"/>
              </a:rPr>
              <a:t>Test, do not add calls: 19 calls/year yields 0.39 calls per brand TRx; run a message experiment on a holdout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Exit trigger: </a:t>
            </a:r>
            <a:r>
              <a:rPr sz="1150">
                <a:solidFill>
                  <a:srgbClr val="333333"/>
                </a:solidFill>
                <a:latin typeface="Calibri"/>
              </a:rPr>
              <a:t>First NBRx in a quarter → move to 'movers' watch 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3184" y="2011680"/>
            <a:ext cx="2139696" cy="43434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73184" y="2011680"/>
            <a:ext cx="2139696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18904" y="2029968"/>
            <a:ext cx="2048256" cy="347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Long 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468880"/>
            <a:ext cx="2048256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Who: </a:t>
            </a:r>
            <a:r>
              <a:rPr sz="1150">
                <a:solidFill>
                  <a:srgbClr val="333333"/>
                </a:solidFill>
                <a:latin typeface="Calibri"/>
              </a:rPr>
              <a:t>40% · 8% · 137 market TRx/year · 5 calls · negligible response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Needs: </a:t>
            </a:r>
            <a:r>
              <a:rPr sz="1150">
                <a:solidFill>
                  <a:srgbClr val="333333"/>
                </a:solidFill>
                <a:latin typeface="Calibri"/>
              </a:rPr>
              <a:t>Nothing they have asked for; convenience if anything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Play: </a:t>
            </a:r>
            <a:r>
              <a:rPr sz="1150">
                <a:solidFill>
                  <a:srgbClr val="333333"/>
                </a:solidFill>
                <a:latin typeface="Calibri"/>
              </a:rPr>
              <a:t>Cheapest possible: digital-only, no rep, samples on request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Exit trigger: </a:t>
            </a:r>
            <a:r>
              <a:rPr sz="1150">
                <a:solidFill>
                  <a:srgbClr val="333333"/>
                </a:solidFill>
                <a:latin typeface="Calibri"/>
              </a:rPr>
              <a:t>Volume crosses decile 5 → re-evaluate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The segment × channel affinity matrix — the input to next week's Next Best Action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Affinity index = the segment's response measure relative to the universe mean (1.0 = average); two-stage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29 / 39</a:t>
            </a:r>
          </a:p>
        </p:txBody>
      </p:sp>
      <p:pic>
        <p:nvPicPr>
          <p:cNvPr id="8" name="Picture 7" descr="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6949440" cy="26435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2011680"/>
            <a:ext cx="3931920" cy="4297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2121408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Reading it as a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505456"/>
            <a:ext cx="3703320" cy="37124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Core (1.0) and movers (1.1) respond to everything — the risk is fatigue, not reach. Frequency caps come from here.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Access (2) is average on email and web, below on calls: the channel is not the problem; the coverage is.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Entrenched (3) and long tail (0) are below average on every channel — more of the same will not move them. Experiments, not frequency.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This matrix + the growth score + the exit triggers = the three inputs Week 5's NBA engine needs.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Patient segmentation — the same machinery on journey features, different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20,000 GLUCOREN patients; 13 journey features from claims and the brand's own programs; k = 4; ARI vs planted 0.84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30 / 39</a:t>
            </a:r>
          </a:p>
        </p:txBody>
      </p:sp>
      <p:pic>
        <p:nvPicPr>
          <p:cNvPr id="8" name="Picture 7" descr="patient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7223760" cy="2574543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55279" y="2011680"/>
          <a:ext cx="3657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PDC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Copay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Discontinued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Read as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E276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6,661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$21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Stable long-term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E276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3,094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$37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Complex late-line (3.3 prior lines, 3.4 comorbidities)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E276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5,568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$26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Engaged new starters (55% in PSP, 6 portal logins)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E276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4,677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$69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Cost-sensitive strugglers (69% Medicare Part D)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79" y="4937760"/>
            <a:ext cx="365760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The questions are different: who is about to stop, who needs affordability routing, which patients need HCP support. The plays are programs, not messages: copay assistance, adherence outreach, nurse support.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A patient segment is an output about a person — governance is part of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What the industry's own documents say (verbatim in the reading pack, Part 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31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1064240" cy="14173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0" i="1">
                <a:solidFill>
                  <a:srgbClr val="1E2761"/>
                </a:solidFill>
                <a:latin typeface="Calibri"/>
              </a:rPr>
              <a:t>“Outputs such as cohort scores or patient segments are labeled with metadata that restricts downstream use to a specific context and time frame. By making outputs unusable for anything but the intended application, non-reversibility enables robust enforcement of purpose limitation.”</a:t>
            </a:r>
          </a:p>
          <a:p>
            <a:pPr algn="l"/>
            <a:r>
              <a:rPr sz="1300" b="0" i="1">
                <a:solidFill>
                  <a:srgbClr val="1E2761"/>
                </a:solidFill>
                <a:latin typeface="Calibri"/>
              </a:rPr>
              <a:t>— IQVIA, “Trustworthy AI/ML for Patient Analytics and Research”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3611880" cy="26517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76732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Purpose 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51376"/>
            <a:ext cx="3383280" cy="20665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Built for adherence support → used for adherence support. Never re-purposed for HCP targeting, never joined back to a prescriber list.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Label every output: purpose, refresh date, owner.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657600"/>
            <a:ext cx="3611880" cy="26517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376732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Data minimization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4151376"/>
            <a:ext cx="3383280" cy="20665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Only features with modeling utility and low re-identification risk. Tonight's file has no names, ZIPs, or dates of birth — and does not need them.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Ages and ER visits are already sensitive in combination.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657600"/>
            <a:ext cx="3611880" cy="26517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376732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Who may act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4151376"/>
            <a:ext cx="3383280" cy="20665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A patient program (PSP, hub, copay) may. A sales rep may not know a patient's segment. Marketing may see aggregates.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If the segment would embarrass the patient in a settings page, it is not a segment you ship.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Pitfalls and pharma realities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Five ways segmentations fail, and what changes when the customer is a physician.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FIVE WAYS IT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Five ways a segmentation fails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33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1064240" cy="731520"/>
          </a:xfrm>
          <a:prstGeom prst="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92608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A11E1E"/>
                </a:solidFill>
                <a:latin typeface="Calibri"/>
              </a:rPr>
              <a:t>It re-discovers the decile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Volume and calls dominate the distance; the 'segments' are size bands with new names. Check: does one feature explain 80% of between-cluster variance?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11064240" cy="731520"/>
          </a:xfrm>
          <a:prstGeom prst="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79"/>
            <a:ext cx="292608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A11E1E"/>
                </a:solidFill>
                <a:latin typeface="Calibri"/>
              </a:rPr>
              <a:t>It is unstable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79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Refresh reshuffles 30% of HCPs; the field stops believing the lists. Check: bootstrap ARI &lt; 0.8, or a minimum run far below the mean.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11064240" cy="73152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39"/>
            <a:ext cx="292608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9A6200"/>
                </a:solidFill>
                <a:latin typeface="Calibri"/>
              </a:rPr>
              <a:t>It is not actionable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49039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Seven segments, three plays. Or one segment that is 55% of HCPs. Check: can you write a different play per row of the card table?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11064240" cy="73152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292608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9A6200"/>
                </a:solidFill>
                <a:latin typeface="Calibri"/>
              </a:rPr>
              <a:t>It leaks the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572000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Next quarter's growth was in the features; the 'growth segment' is a tautology. Check: feature window ends before anything you will evaluate 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394959"/>
            <a:ext cx="292608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300" b="1" i="0">
                <a:solidFill>
                  <a:srgbClr val="9A6200"/>
                </a:solidFill>
                <a:latin typeface="Calibri"/>
              </a:rPr>
              <a:t>It confuses activity with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394959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'Highly engaged' = 'we called them a lot'. Check: does the segment survive when you remove every column the brand controls?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PHARMA QUIRKS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Six things that change when the customer is a physician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34 / 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Quirk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does to the segmentation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to do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Most HCPs write very little of any one brand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Every rate has a small denominator; outlier clusters appear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Shrink or drop rates; two-stage with a value tier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The brand chose who to call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Activity features encode last year's plan, not response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Use response measures; hold out activity features and check the segments survive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Access varies by patient, not by HCP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The 'behavior' of an access-constrained HCP is the payer's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Reject rate as a feature; the play is market access, not messaging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Institutional prescribers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IDN/health-system HCPs move as a group (formulary, protocols)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Segment accounts as well as individuals; watch setting as a feature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 patient-level targeting of HCPs; no promotion off-label; consent for digital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Purpose limitation on every output; legal review of persona language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Refresh cadence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Rx data monthly, segments quarterly, personas yearly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Fix the segment definitions; re-score HCPs; re-cluster only on a schedule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WHEN NOT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When a behavioral segmentation is the wrong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Recognize these before you spend a quarter on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35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universe is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96896"/>
            <a:ext cx="3383280" cy="114390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200" dirty="0">
                <a:solidFill>
                  <a:srgbClr val="333333"/>
                </a:solidFill>
                <a:latin typeface="Calibri"/>
              </a:rPr>
              <a:t>A rare-disease brand with 400 treating physicians does not need five segments</a:t>
            </a:r>
            <a:endParaRPr lang="en-US" sz="12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endParaRPr sz="12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200" dirty="0">
                <a:solidFill>
                  <a:srgbClr val="333333"/>
                </a:solidFill>
                <a:latin typeface="Calibri"/>
              </a:rPr>
              <a:t>Below ~1,500 HCPs, a decile plus a KOL/non-KOL flag usually beats a cluster.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21284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question is 'who will respond'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596896"/>
            <a:ext cx="3383280" cy="34381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That is an uplift / next-best-action problem (Week 5), not a segmentation.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Segments are context for a targeting model, not a substitute for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221284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question is 'why'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596896"/>
            <a:ext cx="3383280" cy="34381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Behavioral data cannot tell you what an HCP believes. That needs primary research (needs-based) — and then a typing tool to score the universe, which is its own modeling problem.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In-class exercise and next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 dirty="0">
                <a:solidFill>
                  <a:srgbClr val="CADCFC"/>
                </a:solidFill>
                <a:latin typeface="Calibri"/>
              </a:rPr>
              <a:t>Name the segments. Then bring one HCP from each to Week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In-class exercise — 20 minutes, groups of 3–4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Worksheet in the folder: Week_04_InClass_Exercise.docx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37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Part A · Features by hand (7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24912"/>
            <a:ext cx="3383280" cy="331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Six HCPs, twelve months of numbers. Compute share, trend, NBRx share, switch-in rate, email open rate.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Assign each a decile and then a behavior. Where do the two disagree?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484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Part B · Name and activate (8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724912"/>
            <a:ext cx="3383280" cy="331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The card table from tonight's notebook, unnamed. Name the five segments as behaviors, write one play each, and one exit trigger each.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Then: which two could you merge, and what would you lose?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3611880" cy="4023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8388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Part C · Pick the tool (5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24912"/>
            <a:ext cx="3383280" cy="331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Six scenarios: decile, behavioral, needs-based, supervised score, HDBSCAN, or 'not a segmentation'.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One sentence of justification 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Debrief: 5 minutes. The answer key is in the instructor folder.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Next week — Omnichannel, Next Best Action, and patient predictive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Monday, October 12 · Homework 1 due 11:59 PM 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38 /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394960" cy="36576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Before 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88336"/>
            <a:ext cx="5166360" cy="30723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Read (reading pack): </a:t>
            </a:r>
            <a:r>
              <a:rPr sz="1150">
                <a:solidFill>
                  <a:srgbClr val="333333"/>
                </a:solidFill>
                <a:latin typeface="Calibri"/>
              </a:rPr>
              <a:t>IQVIA excerpts on customer profiling and orchestration; the PMSA segmentation items; Murphy PML §21 (clustering) — the parts on choosing k and evaluating clusters.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Watch / read (optional, PMSA): </a:t>
            </a:r>
            <a:r>
              <a:rPr sz="1150">
                <a:solidFill>
                  <a:srgbClr val="333333"/>
                </a:solidFill>
                <a:latin typeface="Calibri"/>
              </a:rPr>
              <a:t>“Pharma Marketing: The Upside of Segmentation” (webinar PDF); “HCPs Segmentation on Predicted Brand Growth”.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Submit: </a:t>
            </a:r>
            <a:r>
              <a:rPr sz="1150">
                <a:solidFill>
                  <a:srgbClr val="333333"/>
                </a:solidFill>
                <a:latin typeface="Calibri"/>
              </a:rPr>
              <a:t>Homework 1 (MMM) by Monday, October 12, 11:59 PM ET.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Install: </a:t>
            </a:r>
            <a:r>
              <a:rPr sz="1150">
                <a:solidFill>
                  <a:srgbClr val="333333"/>
                </a:solidFill>
                <a:latin typeface="Calibri"/>
              </a:rPr>
              <a:t>causalml or econml (Week 5 uplift models); keep scikit-learn.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5394960" cy="36576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0428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88336"/>
            <a:ext cx="5166360" cy="30723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Your five segment names </a:t>
            </a:r>
            <a:r>
              <a:rPr sz="1150">
                <a:solidFill>
                  <a:srgbClr val="333333"/>
                </a:solidFill>
                <a:latin typeface="Calibri"/>
              </a:rPr>
              <a:t>from exercise Part B — and one HCP from each segment (its row in the card table). The NBA engine will decide what to do with them.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Your answer to: </a:t>
            </a:r>
            <a:r>
              <a:rPr sz="1150">
                <a:solidFill>
                  <a:srgbClr val="333333"/>
                </a:solidFill>
                <a:latin typeface="Calibri"/>
              </a:rPr>
              <a:t>“what event should move an HCP out of its segment?” One trigger per segment.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For your term project: </a:t>
            </a:r>
            <a:r>
              <a:rPr sz="1150">
                <a:solidFill>
                  <a:srgbClr val="333333"/>
                </a:solidFill>
                <a:latin typeface="Calibri"/>
              </a:rPr>
              <a:t>if your archetype is segmentation + NBA, tonight's notebook is your starting structure; the data plan you handed in should say which features you can actually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Office hours Mondays 5:00–6:45 PM · ac5562@columbia.edu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11480" cy="2377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5156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 dirty="0">
                <a:solidFill>
                  <a:srgbClr val="CADCFC"/>
                </a:solidFill>
                <a:latin typeface="Calibri"/>
              </a:rPr>
              <a:t>Five things to leave with:</a:t>
            </a:r>
          </a:p>
          <a:p>
            <a:pPr algn="l"/>
            <a:r>
              <a:rPr sz="1400" b="0" i="0" dirty="0">
                <a:solidFill>
                  <a:srgbClr val="CADCFC"/>
                </a:solidFill>
                <a:latin typeface="Calibri"/>
              </a:rPr>
              <a:t>1 · Deciles rank; segments explain — keep both.   2 · The features are the model: four families, rates over counts, and a denominator for every rate.</a:t>
            </a:r>
          </a:p>
          <a:p>
            <a:pPr algn="l"/>
            <a:r>
              <a:rPr sz="1400" b="0" i="0" dirty="0">
                <a:solidFill>
                  <a:srgbClr val="CADCFC"/>
                </a:solidFill>
                <a:latin typeface="Calibri"/>
              </a:rPr>
              <a:t>3 · Stability, then separation, then interpretability — and expect to cluster twice.   4 · Behavior is the context; the growth score is the priority.   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5 · A patient segment is an output about a person — purpose limitation is part of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Next week — Omnichannel and Next Best Action · Homework 1 due October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4 — HCP and Patient Segmentation  ·  Pharma DS&amp;AI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7151</Words>
  <Application>Microsoft Macintosh PowerPoint</Application>
  <PresentationFormat>Widescreen</PresentationFormat>
  <Paragraphs>701</Paragraphs>
  <Slides>39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Cupallari</cp:lastModifiedBy>
  <cp:revision>3</cp:revision>
  <dcterms:created xsi:type="dcterms:W3CDTF">2013-01-27T09:14:16Z</dcterms:created>
  <dcterms:modified xsi:type="dcterms:W3CDTF">2026-10-04T23:16:30Z</dcterms:modified>
  <cp:category/>
</cp:coreProperties>
</file>