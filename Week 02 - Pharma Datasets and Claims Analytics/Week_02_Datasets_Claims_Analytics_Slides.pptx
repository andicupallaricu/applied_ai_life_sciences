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the first coding night. Two notebooks: a 10-minute Rx-panel projection tour and a 40-minute DLBCL cohort/LOT walkthrough. The thread from Week 1: the manufacturer has no first-party data, so every number it sees is licensed, sampled and projected. Tonight is about knowing exactly 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five questions from the room first; then reveal the table. The point is to keep the stakeholder map alive and to motivate tonight: every incentive question becomes a dataset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Interview question they will get: 'what is the difference between medical and pharmacy claims and why do you need both?' Answer: the benefit the drug is paid under. Infused/injected drugs in a clinic are billed on the medical benefit with a J-code; self-administered drugs go through the pharmacy benefit with an NDC. An oncology brand analyst who only has pharmacy claims sees almost nothing.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bridge between §3 and §4: the cohort we build later includes an enrollment criterion precisely to control patient capture.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confusion matrix in the notebook. Then ask: which of the 19 lost real patients would you rather have back — and what would it cost in impostors?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 analysts rarely submit to FDA, but the same three questions are what a VP asks before acting on your slide: is the data fit for this purpose, is the design sound, was it done properly.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411480" cy="237744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14400"/>
            <a:ext cx="10972800" cy="548640"/>
          </a:xfrm>
          <a:prstGeom prst="rect">
            <a:avLst/>
          </a:prstGeom>
          <a:noFill/>
        </p:spPr>
        <p:txBody>
          <a:bodyPr wrap="square" lIns="45720" rIns="45720" tIns="27432" bIns="27432" anchor="t">
            <a:spAutoFit/>
          </a:bodyPr>
          <a:lstStyle/>
          <a:p>
            <a:pPr algn="l"/>
            <a:r>
              <a:rPr sz="1400" b="1" i="0">
                <a:solidFill>
                  <a:srgbClr val="CADCFC"/>
                </a:solidFill>
                <a:latin typeface="Calibri"/>
              </a:rPr>
              <a:t>WEEK 2</a:t>
            </a:r>
          </a:p>
        </p:txBody>
      </p:sp>
      <p:sp>
        <p:nvSpPr>
          <p:cNvPr id="5" name="TextBox 4"/>
          <p:cNvSpPr txBox="1"/>
          <p:nvPr/>
        </p:nvSpPr>
        <p:spPr>
          <a:xfrm>
            <a:off x="868680" y="1828800"/>
            <a:ext cx="10515600" cy="2377440"/>
          </a:xfrm>
          <a:prstGeom prst="rect">
            <a:avLst/>
          </a:prstGeom>
          <a:noFill/>
        </p:spPr>
        <p:txBody>
          <a:bodyPr wrap="square" lIns="45720" rIns="45720" tIns="27432" bIns="27432" anchor="t">
            <a:spAutoFit/>
          </a:bodyPr>
          <a:lstStyle/>
          <a:p>
            <a:pPr algn="l"/>
            <a:r>
              <a:rPr sz="4400" b="1" i="0">
                <a:solidFill>
                  <a:srgbClr val="FFFFFF"/>
                </a:solidFill>
                <a:latin typeface="Calibri"/>
              </a:rPr>
              <a:t>Pharma Datasets &amp;</a:t>
            </a:r>
          </a:p>
          <a:p>
            <a:pPr algn="l"/>
            <a:r>
              <a:rPr sz="4400" b="1" i="0">
                <a:solidFill>
                  <a:srgbClr val="FFFFFF"/>
                </a:solidFill>
                <a:latin typeface="Calibri"/>
              </a:rPr>
              <a:t>Introduction to Claims Analytics</a:t>
            </a:r>
          </a:p>
        </p:txBody>
      </p:sp>
      <p:sp>
        <p:nvSpPr>
          <p:cNvPr id="6" name="TextBox 5"/>
          <p:cNvSpPr txBox="1"/>
          <p:nvPr/>
        </p:nvSpPr>
        <p:spPr>
          <a:xfrm>
            <a:off x="868680" y="4343400"/>
            <a:ext cx="10058400" cy="731520"/>
          </a:xfrm>
          <a:prstGeom prst="rect">
            <a:avLst/>
          </a:prstGeom>
          <a:noFill/>
        </p:spPr>
        <p:txBody>
          <a:bodyPr wrap="square" lIns="45720" rIns="45720" tIns="27432" bIns="27432" anchor="t">
            <a:spAutoFit/>
          </a:bodyPr>
          <a:lstStyle/>
          <a:p>
            <a:pPr algn="l"/>
            <a:r>
              <a:rPr sz="1800" b="0" i="0">
                <a:solidFill>
                  <a:srgbClr val="CADCFC"/>
                </a:solidFill>
                <a:latin typeface="Calibri"/>
              </a:rPr>
              <a:t>What the manufacturer can actually see — and how to turn codes into a cohort you can defend.</a:t>
            </a:r>
          </a:p>
        </p:txBody>
      </p:sp>
      <p:sp>
        <p:nvSpPr>
          <p:cNvPr id="7" name="TextBox 6"/>
          <p:cNvSpPr txBox="1"/>
          <p:nvPr/>
        </p:nvSpPr>
        <p:spPr>
          <a:xfrm>
            <a:off x="868680" y="5943600"/>
            <a:ext cx="10972800" cy="365760"/>
          </a:xfrm>
          <a:prstGeom prst="rect">
            <a:avLst/>
          </a:prstGeom>
          <a:noFill/>
        </p:spPr>
        <p:txBody>
          <a:bodyPr wrap="square" lIns="45720" rIns="45720" tIns="27432" bIns="27432" anchor="t">
            <a:spAutoFit/>
          </a:bodyPr>
          <a:lstStyle/>
          <a:p>
            <a:pPr algn="l"/>
            <a:r>
              <a:rPr sz="1100" b="0" i="0">
                <a:solidFill>
                  <a:srgbClr val="CADCFC"/>
                </a:solidFill>
                <a:latin typeface="Calibri"/>
              </a:rPr>
              <a:t>Andi Cupallari · Applied Data Science and AI in Pharma Commercial · Fall 2026 · Monday, September 21</a:t>
            </a:r>
          </a:p>
        </p:txBody>
      </p:sp>
      <p:sp>
        <p:nvSpPr>
          <p:cNvPr id="8" name="TextBox 7"/>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9" name="TextBox 8"/>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 / 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AGENDA</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Where we're going tonight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2.5 hours · two live notebooks · one in-class exercise · mentors introduced</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 / 44</a:t>
            </a:r>
          </a:p>
        </p:txBody>
      </p:sp>
      <p:sp>
        <p:nvSpPr>
          <p:cNvPr id="8" name="Oval 7"/>
          <p:cNvSpPr/>
          <p:nvPr/>
        </p:nvSpPr>
        <p:spPr>
          <a:xfrm>
            <a:off x="640080" y="2057400"/>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0</a:t>
            </a:r>
          </a:p>
        </p:txBody>
      </p:sp>
      <p:sp>
        <p:nvSpPr>
          <p:cNvPr id="9" name="TextBox 8"/>
          <p:cNvSpPr txBox="1"/>
          <p:nvPr/>
        </p:nvSpPr>
        <p:spPr>
          <a:xfrm>
            <a:off x="1188720" y="2029968"/>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Welcome back, mentors and teams</a:t>
            </a:r>
          </a:p>
        </p:txBody>
      </p:sp>
      <p:sp>
        <p:nvSpPr>
          <p:cNvPr id="10" name="TextBox 9"/>
          <p:cNvSpPr txBox="1"/>
          <p:nvPr/>
        </p:nvSpPr>
        <p:spPr>
          <a:xfrm>
            <a:off x="1188720" y="2276856"/>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Five incentives you found surprising · mentor introductions · team milestones — 15 min</a:t>
            </a:r>
          </a:p>
        </p:txBody>
      </p:sp>
      <p:sp>
        <p:nvSpPr>
          <p:cNvPr id="11" name="Oval 10"/>
          <p:cNvSpPr/>
          <p:nvPr/>
        </p:nvSpPr>
        <p:spPr>
          <a:xfrm>
            <a:off x="640080" y="262432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2" name="TextBox 11"/>
          <p:cNvSpPr txBox="1"/>
          <p:nvPr/>
        </p:nvSpPr>
        <p:spPr>
          <a:xfrm>
            <a:off x="1188720" y="2596896"/>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The data landscape</a:t>
            </a:r>
          </a:p>
        </p:txBody>
      </p:sp>
      <p:sp>
        <p:nvSpPr>
          <p:cNvPr id="13" name="TextBox 12"/>
          <p:cNvSpPr txBox="1"/>
          <p:nvPr/>
        </p:nvSpPr>
        <p:spPr>
          <a:xfrm>
            <a:off x="1188720" y="2843784"/>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Nine categories; medical vs. pharmacy claims vs. EHR vs. syndicated panels; open vs. closed — 20 min</a:t>
            </a:r>
          </a:p>
        </p:txBody>
      </p:sp>
      <p:sp>
        <p:nvSpPr>
          <p:cNvPr id="14" name="Oval 13"/>
          <p:cNvSpPr/>
          <p:nvPr/>
        </p:nvSpPr>
        <p:spPr>
          <a:xfrm>
            <a:off x="640080" y="3191256"/>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5" name="TextBox 14"/>
          <p:cNvSpPr txBox="1"/>
          <p:nvPr/>
        </p:nvSpPr>
        <p:spPr>
          <a:xfrm>
            <a:off x="1188720" y="3163824"/>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Claims 101</a:t>
            </a:r>
          </a:p>
        </p:txBody>
      </p:sp>
      <p:sp>
        <p:nvSpPr>
          <p:cNvPr id="16" name="TextBox 15"/>
          <p:cNvSpPr txBox="1"/>
          <p:nvPr/>
        </p:nvSpPr>
        <p:spPr>
          <a:xfrm>
            <a:off x="1188720" y="3410712"/>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Header vs. line · place of service · ICD-10, CPT, HCPCS J-codes, NDC · reading a row — 20 min</a:t>
            </a:r>
          </a:p>
        </p:txBody>
      </p:sp>
      <p:sp>
        <p:nvSpPr>
          <p:cNvPr id="17" name="Oval 16"/>
          <p:cNvSpPr/>
          <p:nvPr/>
        </p:nvSpPr>
        <p:spPr>
          <a:xfrm>
            <a:off x="640080" y="3758183"/>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18" name="TextBox 17"/>
          <p:cNvSpPr txBox="1"/>
          <p:nvPr/>
        </p:nvSpPr>
        <p:spPr>
          <a:xfrm>
            <a:off x="1188720" y="3730751"/>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Rx panel data and projection</a:t>
            </a:r>
          </a:p>
        </p:txBody>
      </p:sp>
      <p:sp>
        <p:nvSpPr>
          <p:cNvPr id="19" name="TextBox 18"/>
          <p:cNvSpPr txBox="1"/>
          <p:nvPr/>
        </p:nvSpPr>
        <p:spPr>
          <a:xfrm>
            <a:off x="1188720" y="3977639"/>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Longitudinal vs. cross-sectional · patient capture · how a panel becomes 'national' — 20 min + notebook</a:t>
            </a:r>
          </a:p>
        </p:txBody>
      </p:sp>
      <p:sp>
        <p:nvSpPr>
          <p:cNvPr id="20" name="Oval 19"/>
          <p:cNvSpPr/>
          <p:nvPr/>
        </p:nvSpPr>
        <p:spPr>
          <a:xfrm>
            <a:off x="640080" y="4325112"/>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4</a:t>
            </a:r>
          </a:p>
        </p:txBody>
      </p:sp>
      <p:sp>
        <p:nvSpPr>
          <p:cNvPr id="21" name="TextBox 20"/>
          <p:cNvSpPr txBox="1"/>
          <p:nvPr/>
        </p:nvSpPr>
        <p:spPr>
          <a:xfrm>
            <a:off x="1188720" y="4297680"/>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Building a cohort — live</a:t>
            </a:r>
          </a:p>
        </p:txBody>
      </p:sp>
      <p:sp>
        <p:nvSpPr>
          <p:cNvPr id="22" name="TextBox 21"/>
          <p:cNvSpPr txBox="1"/>
          <p:nvPr/>
        </p:nvSpPr>
        <p:spPr>
          <a:xfrm>
            <a:off x="1188720" y="4544568"/>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The ≥2-dx rule, index dates, enrollment; DuckDB; drug events → lines of therapy on 640 DLBCL patients — 40 min</a:t>
            </a:r>
          </a:p>
        </p:txBody>
      </p:sp>
      <p:sp>
        <p:nvSpPr>
          <p:cNvPr id="23" name="Oval 22"/>
          <p:cNvSpPr/>
          <p:nvPr/>
        </p:nvSpPr>
        <p:spPr>
          <a:xfrm>
            <a:off x="640080" y="4892040"/>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5</a:t>
            </a:r>
          </a:p>
        </p:txBody>
      </p:sp>
      <p:sp>
        <p:nvSpPr>
          <p:cNvPr id="24" name="TextBox 23"/>
          <p:cNvSpPr txBox="1"/>
          <p:nvPr/>
        </p:nvSpPr>
        <p:spPr>
          <a:xfrm>
            <a:off x="1188720" y="4864607"/>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RWD quality and re-identification risk</a:t>
            </a:r>
          </a:p>
        </p:txBody>
      </p:sp>
      <p:sp>
        <p:nvSpPr>
          <p:cNvPr id="25" name="TextBox 24"/>
          <p:cNvSpPr txBox="1"/>
          <p:nvPr/>
        </p:nvSpPr>
        <p:spPr>
          <a:xfrm>
            <a:off x="1188720" y="5111496"/>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FDA's RWE framework · eight failure modes · HIPAA de-identification · what you may not do — 20 min</a:t>
            </a:r>
          </a:p>
        </p:txBody>
      </p:sp>
      <p:sp>
        <p:nvSpPr>
          <p:cNvPr id="26" name="Oval 25"/>
          <p:cNvSpPr/>
          <p:nvPr/>
        </p:nvSpPr>
        <p:spPr>
          <a:xfrm>
            <a:off x="640080" y="545896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6</a:t>
            </a:r>
          </a:p>
        </p:txBody>
      </p:sp>
      <p:sp>
        <p:nvSpPr>
          <p:cNvPr id="27" name="TextBox 26"/>
          <p:cNvSpPr txBox="1"/>
          <p:nvPr/>
        </p:nvSpPr>
        <p:spPr>
          <a:xfrm>
            <a:off x="1188720" y="5431536"/>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In-class exercise and next week</a:t>
            </a:r>
          </a:p>
        </p:txBody>
      </p:sp>
      <p:sp>
        <p:nvSpPr>
          <p:cNvPr id="28" name="TextBox 27"/>
          <p:cNvSpPr txBox="1"/>
          <p:nvPr/>
        </p:nvSpPr>
        <p:spPr>
          <a:xfrm>
            <a:off x="1188720" y="5678424"/>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Dataset triage · projection by hand · cohort by hand — 25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00</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Welcome back, mentors and teams</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Ten minutes on what surprised you last week, then the people who will supervise your term project.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3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0 · RECAP</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Five incentives you found surprising — and the data that would prove each one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You were asked to bring one question about a stakeholder incentive. Let's hear five. For each: which dataset from tonight would let you test it?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 / 44</a:t>
            </a:r>
          </a:p>
        </p:txBody>
      </p:sp>
      <p:graphicFrame>
        <p:nvGraphicFramePr>
          <p:cNvPr id="8" name="Table 7"/>
          <p:cNvGraphicFramePr>
            <a:graphicFrameLocks noGrp="1"/>
          </p:cNvGraphicFramePr>
          <p:nvPr/>
        </p:nvGraphicFramePr>
        <p:xfrm>
          <a:off x="548640" y="2148840"/>
          <a:ext cx="11064239" cy="3291840"/>
        </p:xfrm>
        <a:graphic>
          <a:graphicData uri="http://schemas.openxmlformats.org/drawingml/2006/table">
            <a:tbl>
              <a:tblPr firstRow="1" bandRow="1">
                <a:tableStyleId>{5C22544A-7EE6-4342-B048-85BDC9FD1C3A}</a:tableStyleId>
              </a:tblPr>
              <a:tblGrid>
                <a:gridCol w="3657600"/>
                <a:gridCol w="3749039"/>
                <a:gridCol w="3657600"/>
              </a:tblGrid>
              <a:tr h="548640">
                <a:tc>
                  <a:txBody>
                    <a:bodyPr wrap="square"/>
                    <a:lstStyle/>
                    <a:p>
                      <a:r>
                        <a:rPr sz="1100" b="1">
                          <a:solidFill>
                            <a:srgbClr val="FFFFFF"/>
                          </a:solidFill>
                          <a:latin typeface="Calibri"/>
                        </a:rPr>
                        <a:t>Typical question from Week 1</a:t>
                      </a:r>
                    </a:p>
                  </a:txBody>
                  <a:tcPr marL="54864" marR="54864" marT="27432" marB="27432">
                    <a:solidFill>
                      <a:srgbClr val="1E2761"/>
                    </a:solidFill>
                  </a:tcPr>
                </a:tc>
                <a:tc>
                  <a:txBody>
                    <a:bodyPr wrap="square"/>
                    <a:lstStyle/>
                    <a:p>
                      <a:r>
                        <a:rPr sz="1100" b="1">
                          <a:solidFill>
                            <a:srgbClr val="FFFFFF"/>
                          </a:solidFill>
                          <a:latin typeface="Calibri"/>
                        </a:rPr>
                        <a:t>The stakeholder mechanism</a:t>
                      </a:r>
                    </a:p>
                  </a:txBody>
                  <a:tcPr marL="54864" marR="54864" marT="27432" marB="27432">
                    <a:solidFill>
                      <a:srgbClr val="1E2761"/>
                    </a:solidFill>
                  </a:tcPr>
                </a:tc>
                <a:tc>
                  <a:txBody>
                    <a:bodyPr wrap="square"/>
                    <a:lstStyle/>
                    <a:p>
                      <a:r>
                        <a:rPr sz="1100" b="1">
                          <a:solidFill>
                            <a:srgbClr val="FFFFFF"/>
                          </a:solidFill>
                          <a:latin typeface="Calibri"/>
                        </a:rPr>
                        <a:t>Tonight's dataset that would test it</a:t>
                      </a:r>
                    </a:p>
                  </a:txBody>
                  <a:tcPr marL="54864" marR="54864" marT="27432" marB="27432">
                    <a:solidFill>
                      <a:srgbClr val="1E2761"/>
                    </a:solidFill>
                  </a:tcPr>
                </a:tc>
              </a:tr>
              <a:tr h="548640">
                <a:tc>
                  <a:txBody>
                    <a:bodyPr wrap="square"/>
                    <a:lstStyle/>
                    <a:p>
                      <a:r>
                        <a:rPr sz="1100" b="1">
                          <a:solidFill>
                            <a:srgbClr val="1E2761"/>
                          </a:solidFill>
                          <a:latin typeface="Calibri"/>
                        </a:rPr>
                        <a:t>“Why would a PBM prefer a higher list price?”</a:t>
                      </a:r>
                    </a:p>
                  </a:txBody>
                  <a:tcPr marL="54864" marR="54864" marT="27432" marB="27432">
                    <a:solidFill>
                      <a:srgbClr val="FFFFFF"/>
                    </a:solidFill>
                  </a:tcPr>
                </a:tc>
                <a:tc>
                  <a:txBody>
                    <a:bodyPr wrap="square"/>
                    <a:lstStyle/>
                    <a:p>
                      <a:r>
                        <a:rPr sz="1100" b="0">
                          <a:solidFill>
                            <a:srgbClr val="333333"/>
                          </a:solidFill>
                          <a:latin typeface="Calibri"/>
                        </a:rPr>
                        <a:t>Rebates are a % of WAC; the PBM's revenue rises with list</a:t>
                      </a:r>
                    </a:p>
                  </a:txBody>
                  <a:tcPr marL="54864" marR="54864" marT="27432" marB="27432">
                    <a:solidFill>
                      <a:srgbClr val="FFFFFF"/>
                    </a:solidFill>
                  </a:tcPr>
                </a:tc>
                <a:tc>
                  <a:txBody>
                    <a:bodyPr wrap="square"/>
                    <a:lstStyle/>
                    <a:p>
                      <a:r>
                        <a:rPr sz="1100" b="0">
                          <a:solidFill>
                            <a:srgbClr val="333333"/>
                          </a:solidFill>
                          <a:latin typeface="Calibri"/>
                        </a:rPr>
                        <a:t>Plan/formulary intelligence + net-price disclosures (Wk 6)</a:t>
                      </a:r>
                    </a:p>
                  </a:txBody>
                  <a:tcPr marL="54864" marR="54864" marT="27432" marB="27432">
                    <a:solidFill>
                      <a:srgbClr val="FFFFFF"/>
                    </a:solidFill>
                  </a:tcPr>
                </a:tc>
              </a:tr>
              <a:tr h="548640">
                <a:tc>
                  <a:txBody>
                    <a:bodyPr wrap="square"/>
                    <a:lstStyle/>
                    <a:p>
                      <a:r>
                        <a:rPr sz="1100" b="1">
                          <a:solidFill>
                            <a:srgbClr val="1E2761"/>
                          </a:solidFill>
                          <a:latin typeface="Calibri"/>
                        </a:rPr>
                        <a:t>“Why does a rejected claim matter to the manufacturer?”</a:t>
                      </a:r>
                    </a:p>
                  </a:txBody>
                  <a:tcPr marL="54864" marR="54864" marT="27432" marB="27432">
                    <a:solidFill>
                      <a:srgbClr val="F3F6FC"/>
                    </a:solidFill>
                  </a:tcPr>
                </a:tc>
                <a:tc>
                  <a:txBody>
                    <a:bodyPr wrap="square"/>
                    <a:lstStyle/>
                    <a:p>
                      <a:r>
                        <a:rPr sz="1100" b="0">
                          <a:solidFill>
                            <a:srgbClr val="333333"/>
                          </a:solidFill>
                          <a:latin typeface="Calibri"/>
                        </a:rPr>
                        <a:t>Prior auth → abandonment; the fill never happens</a:t>
                      </a:r>
                    </a:p>
                  </a:txBody>
                  <a:tcPr marL="54864" marR="54864" marT="27432" marB="27432">
                    <a:solidFill>
                      <a:srgbClr val="F3F6FC"/>
                    </a:solidFill>
                  </a:tcPr>
                </a:tc>
                <a:tc>
                  <a:txBody>
                    <a:bodyPr wrap="square"/>
                    <a:lstStyle/>
                    <a:p>
                      <a:r>
                        <a:rPr sz="1100" b="0">
                          <a:solidFill>
                            <a:srgbClr val="333333"/>
                          </a:solidFill>
                          <a:latin typeface="Calibri"/>
                        </a:rPr>
                        <a:t>Pharmacy claims: REJECTED / REVERSED status, reject codes</a:t>
                      </a:r>
                    </a:p>
                  </a:txBody>
                  <a:tcPr marL="54864" marR="54864" marT="27432" marB="27432">
                    <a:solidFill>
                      <a:srgbClr val="F3F6FC"/>
                    </a:solidFill>
                  </a:tcPr>
                </a:tc>
              </a:tr>
              <a:tr h="548640">
                <a:tc>
                  <a:txBody>
                    <a:bodyPr wrap="square"/>
                    <a:lstStyle/>
                    <a:p>
                      <a:r>
                        <a:rPr sz="1100" b="1">
                          <a:solidFill>
                            <a:srgbClr val="1E2761"/>
                          </a:solidFill>
                          <a:latin typeface="Calibri"/>
                        </a:rPr>
                        <a:t>“Why is a hospital clinic cheaper for the drug but not the patient?”</a:t>
                      </a:r>
                    </a:p>
                  </a:txBody>
                  <a:tcPr marL="54864" marR="54864" marT="27432" marB="27432">
                    <a:solidFill>
                      <a:srgbClr val="FFFFFF"/>
                    </a:solidFill>
                  </a:tcPr>
                </a:tc>
                <a:tc>
                  <a:txBody>
                    <a:bodyPr wrap="square"/>
                    <a:lstStyle/>
                    <a:p>
                      <a:r>
                        <a:rPr sz="1100" b="0">
                          <a:solidFill>
                            <a:srgbClr val="333333"/>
                          </a:solidFill>
                          <a:latin typeface="Calibri"/>
                        </a:rPr>
                        <a:t>340B ceiling price to the entity; patient cost-sharing unchanged</a:t>
                      </a:r>
                    </a:p>
                  </a:txBody>
                  <a:tcPr marL="54864" marR="54864" marT="27432" marB="27432">
                    <a:solidFill>
                      <a:srgbClr val="FFFFFF"/>
                    </a:solidFill>
                  </a:tcPr>
                </a:tc>
                <a:tc>
                  <a:txBody>
                    <a:bodyPr wrap="square"/>
                    <a:lstStyle/>
                    <a:p>
                      <a:r>
                        <a:rPr sz="1100" b="0">
                          <a:solidFill>
                            <a:srgbClr val="333333"/>
                          </a:solidFill>
                          <a:latin typeface="Calibri"/>
                        </a:rPr>
                        <a:t>Medical claims: place of service 22 + billing HCO</a:t>
                      </a:r>
                    </a:p>
                  </a:txBody>
                  <a:tcPr marL="54864" marR="54864" marT="27432" marB="27432">
                    <a:solidFill>
                      <a:srgbClr val="FFFFFF"/>
                    </a:solidFill>
                  </a:tcPr>
                </a:tc>
              </a:tr>
              <a:tr h="548640">
                <a:tc>
                  <a:txBody>
                    <a:bodyPr wrap="square"/>
                    <a:lstStyle/>
                    <a:p>
                      <a:r>
                        <a:rPr sz="1100" b="1">
                          <a:solidFill>
                            <a:srgbClr val="1E2761"/>
                          </a:solidFill>
                          <a:latin typeface="Calibri"/>
                        </a:rPr>
                        <a:t>“How does the manufacturer know its own market share?”</a:t>
                      </a:r>
                    </a:p>
                  </a:txBody>
                  <a:tcPr marL="54864" marR="54864" marT="27432" marB="27432">
                    <a:solidFill>
                      <a:srgbClr val="F3F6FC"/>
                    </a:solidFill>
                  </a:tcPr>
                </a:tc>
                <a:tc>
                  <a:txBody>
                    <a:bodyPr wrap="square"/>
                    <a:lstStyle/>
                    <a:p>
                      <a:r>
                        <a:rPr sz="1100" b="0">
                          <a:solidFill>
                            <a:srgbClr val="333333"/>
                          </a:solidFill>
                          <a:latin typeface="Calibri"/>
                        </a:rPr>
                        <a:t>It doesn't — it licenses a projected panel</a:t>
                      </a:r>
                    </a:p>
                  </a:txBody>
                  <a:tcPr marL="54864" marR="54864" marT="27432" marB="27432">
                    <a:solidFill>
                      <a:srgbClr val="F3F6FC"/>
                    </a:solidFill>
                  </a:tcPr>
                </a:tc>
                <a:tc>
                  <a:txBody>
                    <a:bodyPr wrap="square"/>
                    <a:lstStyle/>
                    <a:p>
                      <a:r>
                        <a:rPr sz="1100" b="0">
                          <a:solidFill>
                            <a:srgbClr val="333333"/>
                          </a:solidFill>
                          <a:latin typeface="Calibri"/>
                        </a:rPr>
                        <a:t>Rx panel projection (tonight §3)</a:t>
                      </a:r>
                    </a:p>
                  </a:txBody>
                  <a:tcPr marL="54864" marR="54864" marT="27432" marB="27432">
                    <a:solidFill>
                      <a:srgbClr val="F3F6FC"/>
                    </a:solidFill>
                  </a:tcPr>
                </a:tc>
              </a:tr>
              <a:tr h="548640">
                <a:tc>
                  <a:txBody>
                    <a:bodyPr wrap="square"/>
                    <a:lstStyle/>
                    <a:p>
                      <a:r>
                        <a:rPr sz="1100" b="1">
                          <a:solidFill>
                            <a:srgbClr val="1E2761"/>
                          </a:solidFill>
                          <a:latin typeface="Calibri"/>
                        </a:rPr>
                        <a:t>“Does a rep visit change prescribing?”</a:t>
                      </a:r>
                    </a:p>
                  </a:txBody>
                  <a:tcPr marL="54864" marR="54864" marT="27432" marB="27432">
                    <a:solidFill>
                      <a:srgbClr val="FFFFFF"/>
                    </a:solidFill>
                  </a:tcPr>
                </a:tc>
                <a:tc>
                  <a:txBody>
                    <a:bodyPr wrap="square"/>
                    <a:lstStyle/>
                    <a:p>
                      <a:r>
                        <a:rPr sz="1100" b="0">
                          <a:solidFill>
                            <a:srgbClr val="333333"/>
                          </a:solidFill>
                          <a:latin typeface="Calibri"/>
                        </a:rPr>
                        <a:t>Only if the payer lets the script through</a:t>
                      </a:r>
                    </a:p>
                  </a:txBody>
                  <a:tcPr marL="54864" marR="54864" marT="27432" marB="27432">
                    <a:solidFill>
                      <a:srgbClr val="FFFFFF"/>
                    </a:solidFill>
                  </a:tcPr>
                </a:tc>
                <a:tc>
                  <a:txBody>
                    <a:bodyPr wrap="square"/>
                    <a:lstStyle/>
                    <a:p>
                      <a:r>
                        <a:rPr sz="1100" b="0">
                          <a:solidFill>
                            <a:srgbClr val="333333"/>
                          </a:solidFill>
                          <a:latin typeface="Calibri"/>
                        </a:rPr>
                        <a:t>CRM + projected Rx + formulary — Week 3's MMM</a:t>
                      </a:r>
                    </a:p>
                  </a:txBody>
                  <a:tcPr marL="54864" marR="54864" marT="27432" marB="27432">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0 · MENTORS &amp; TEAMS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Term project: mentors introduced tonight; team rosters confirmed</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Mentors are senior practitioners volunteering their time. The team owns scheduling, agendas and follow-ups.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5 / 44</a:t>
            </a:r>
          </a:p>
        </p:txBody>
      </p:sp>
      <p:sp>
        <p:nvSpPr>
          <p:cNvPr id="8" name="Pentagon 7"/>
          <p:cNvSpPr/>
          <p:nvPr/>
        </p:nvSpPr>
        <p:spPr>
          <a:xfrm>
            <a:off x="548640" y="2057400"/>
            <a:ext cx="1789176" cy="731520"/>
          </a:xfrm>
          <a:prstGeom prst="homePlat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Teams confirmed
Sep 21</a:t>
            </a:r>
          </a:p>
        </p:txBody>
      </p:sp>
      <p:sp>
        <p:nvSpPr>
          <p:cNvPr id="9" name="Chevron 8"/>
          <p:cNvSpPr/>
          <p:nvPr/>
        </p:nvSpPr>
        <p:spPr>
          <a:xfrm>
            <a:off x="2392680" y="2057400"/>
            <a:ext cx="1789176" cy="731520"/>
          </a:xfrm>
          <a:prstGeom prst="chevron">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First mentor meeting
by Sep 28</a:t>
            </a:r>
          </a:p>
        </p:txBody>
      </p:sp>
      <p:sp>
        <p:nvSpPr>
          <p:cNvPr id="10" name="Chevron 9"/>
          <p:cNvSpPr/>
          <p:nvPr/>
        </p:nvSpPr>
        <p:spPr>
          <a:xfrm>
            <a:off x="4236720" y="2057400"/>
            <a:ext cx="1789176" cy="731520"/>
          </a:xfrm>
          <a:prstGeom prst="chevron">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Problem statement
+ data plan · Oct 5</a:t>
            </a:r>
          </a:p>
        </p:txBody>
      </p:sp>
      <p:sp>
        <p:nvSpPr>
          <p:cNvPr id="11" name="Chevron 10"/>
          <p:cNvSpPr/>
          <p:nvPr/>
        </p:nvSpPr>
        <p:spPr>
          <a:xfrm>
            <a:off x="6080759" y="2057400"/>
            <a:ext cx="1789176" cy="731520"/>
          </a:xfrm>
          <a:prstGeom prst="chevron">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Check-in #1
Nov 23</a:t>
            </a:r>
          </a:p>
        </p:txBody>
      </p:sp>
      <p:sp>
        <p:nvSpPr>
          <p:cNvPr id="12" name="Chevron 11"/>
          <p:cNvSpPr/>
          <p:nvPr/>
        </p:nvSpPr>
        <p:spPr>
          <a:xfrm>
            <a:off x="7924799" y="2057400"/>
            <a:ext cx="1789176" cy="731520"/>
          </a:xfrm>
          <a:prstGeom prst="chevron">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Check-in #2
Dec 7</a:t>
            </a:r>
          </a:p>
        </p:txBody>
      </p:sp>
      <p:sp>
        <p:nvSpPr>
          <p:cNvPr id="13" name="Chevron 12"/>
          <p:cNvSpPr/>
          <p:nvPr/>
        </p:nvSpPr>
        <p:spPr>
          <a:xfrm>
            <a:off x="9768839" y="2057400"/>
            <a:ext cx="1789176" cy="731520"/>
          </a:xfrm>
          <a:prstGeom prst="chevron">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Final
Dec 14</a:t>
            </a:r>
          </a:p>
        </p:txBody>
      </p:sp>
      <p:sp>
        <p:nvSpPr>
          <p:cNvPr id="14" name="Rectangle 13"/>
          <p:cNvSpPr/>
          <p:nvPr/>
        </p:nvSpPr>
        <p:spPr>
          <a:xfrm>
            <a:off x="548640" y="3063240"/>
            <a:ext cx="5394960" cy="28346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7296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Your first mentor meeting (30–45 min) — an agenda that works</a:t>
            </a:r>
          </a:p>
        </p:txBody>
      </p:sp>
      <p:sp>
        <p:nvSpPr>
          <p:cNvPr id="16" name="TextBox 15"/>
          <p:cNvSpPr txBox="1"/>
          <p:nvPr/>
        </p:nvSpPr>
        <p:spPr>
          <a:xfrm>
            <a:off x="658368" y="3557016"/>
            <a:ext cx="5166360" cy="224942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Introduce the team and each member's strengths (5 min)</a:t>
            </a:r>
          </a:p>
          <a:p>
            <a:pPr>
              <a:spcAft>
                <a:spcPts val="500"/>
              </a:spcAft>
            </a:pPr>
            <a:r>
              <a:rPr sz="1150" b="1">
                <a:solidFill>
                  <a:srgbClr val="FF6B6B"/>
                </a:solidFill>
                <a:latin typeface="Calibri"/>
              </a:rPr>
              <a:t>▸ </a:t>
            </a:r>
            <a:r>
              <a:rPr sz="1150">
                <a:solidFill>
                  <a:srgbClr val="333333"/>
                </a:solidFill>
                <a:latin typeface="Calibri"/>
              </a:rPr>
              <a:t>Bring two candidate problems from the use-case catalog; ask which is more realistic (15 min)</a:t>
            </a:r>
          </a:p>
          <a:p>
            <a:pPr>
              <a:spcAft>
                <a:spcPts val="500"/>
              </a:spcAft>
            </a:pPr>
            <a:r>
              <a:rPr sz="1150" b="1">
                <a:solidFill>
                  <a:srgbClr val="FF6B6B"/>
                </a:solidFill>
                <a:latin typeface="Calibri"/>
              </a:rPr>
              <a:t>▸ </a:t>
            </a:r>
            <a:r>
              <a:rPr sz="1150">
                <a:solidFill>
                  <a:srgbClr val="333333"/>
                </a:solidFill>
                <a:latin typeface="Calibri"/>
              </a:rPr>
              <a:t>Ask: what data would a real team use for this, and what will we have to synthesize? (10 min)</a:t>
            </a:r>
          </a:p>
          <a:p>
            <a:pPr>
              <a:spcAft>
                <a:spcPts val="500"/>
              </a:spcAft>
            </a:pPr>
            <a:r>
              <a:rPr sz="1150" b="1">
                <a:solidFill>
                  <a:srgbClr val="FF6B6B"/>
                </a:solidFill>
                <a:latin typeface="Calibri"/>
              </a:rPr>
              <a:t>▸ </a:t>
            </a:r>
            <a:r>
              <a:rPr sz="1150">
                <a:solidFill>
                  <a:srgbClr val="333333"/>
                </a:solidFill>
                <a:latin typeface="Calibri"/>
              </a:rPr>
              <a:t>Agree cadence (every two weeks) and a shared channel; send a 5-line recap the same day</a:t>
            </a:r>
          </a:p>
        </p:txBody>
      </p:sp>
      <p:sp>
        <p:nvSpPr>
          <p:cNvPr id="17" name="Rectangle 16"/>
          <p:cNvSpPr/>
          <p:nvPr/>
        </p:nvSpPr>
        <p:spPr>
          <a:xfrm>
            <a:off x="6217920" y="3063240"/>
            <a:ext cx="5394960" cy="28346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17296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Problem statement + data plan (due Oct 5, one page)</a:t>
            </a:r>
          </a:p>
        </p:txBody>
      </p:sp>
      <p:sp>
        <p:nvSpPr>
          <p:cNvPr id="19" name="TextBox 18"/>
          <p:cNvSpPr txBox="1"/>
          <p:nvPr/>
        </p:nvSpPr>
        <p:spPr>
          <a:xfrm>
            <a:off x="6327648" y="3557016"/>
            <a:ext cx="5166360" cy="224942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The decision the analysis informs, and who makes it</a:t>
            </a:r>
          </a:p>
          <a:p>
            <a:pPr>
              <a:spcAft>
                <a:spcPts val="500"/>
              </a:spcAft>
            </a:pPr>
            <a:r>
              <a:rPr sz="1150" b="1">
                <a:solidFill>
                  <a:srgbClr val="FF6B6B"/>
                </a:solidFill>
                <a:latin typeface="Calibri"/>
              </a:rPr>
              <a:t>▸ </a:t>
            </a:r>
            <a:r>
              <a:rPr sz="1150">
                <a:solidFill>
                  <a:srgbClr val="333333"/>
                </a:solidFill>
                <a:latin typeface="Calibri"/>
              </a:rPr>
              <a:t>The cohort or universe: disease codes / HCP specialty / geography — using tonight's template</a:t>
            </a:r>
          </a:p>
          <a:p>
            <a:pPr>
              <a:spcAft>
                <a:spcPts val="500"/>
              </a:spcAft>
            </a:pPr>
            <a:r>
              <a:rPr sz="1150" b="1">
                <a:solidFill>
                  <a:srgbClr val="FF6B6B"/>
                </a:solidFill>
                <a:latin typeface="Calibri"/>
              </a:rPr>
              <a:t>▸ </a:t>
            </a:r>
            <a:r>
              <a:rPr sz="1150">
                <a:solidFill>
                  <a:srgbClr val="333333"/>
                </a:solidFill>
                <a:latin typeface="Calibri"/>
              </a:rPr>
              <a:t>Data: which of the nine categories, synthetic or public, grain, time window</a:t>
            </a:r>
          </a:p>
          <a:p>
            <a:pPr>
              <a:spcAft>
                <a:spcPts val="500"/>
              </a:spcAft>
            </a:pPr>
            <a:r>
              <a:rPr sz="1150" b="1">
                <a:solidFill>
                  <a:srgbClr val="FF6B6B"/>
                </a:solidFill>
                <a:latin typeface="Calibri"/>
              </a:rPr>
              <a:t>▸ </a:t>
            </a:r>
            <a:r>
              <a:rPr sz="1150">
                <a:solidFill>
                  <a:srgbClr val="333333"/>
                </a:solidFill>
                <a:latin typeface="Calibri"/>
              </a:rPr>
              <a:t>First model or analysis you will attempt; what 'good' looks like; risks</a:t>
            </a:r>
          </a:p>
        </p:txBody>
      </p:sp>
      <p:sp>
        <p:nvSpPr>
          <p:cNvPr id="20" name="TextBox 19"/>
          <p:cNvSpPr txBox="1"/>
          <p:nvPr/>
        </p:nvSpPr>
        <p:spPr>
          <a:xfrm>
            <a:off x="548640" y="6035040"/>
            <a:ext cx="11064240" cy="365760"/>
          </a:xfrm>
          <a:prstGeom prst="rect">
            <a:avLst/>
          </a:prstGeom>
          <a:noFill/>
        </p:spPr>
        <p:txBody>
          <a:bodyPr wrap="square" lIns="45720" rIns="45720" tIns="27432" bIns="27432" anchor="t">
            <a:spAutoFit/>
          </a:bodyPr>
          <a:lstStyle/>
          <a:p>
            <a:pPr algn="l"/>
            <a:r>
              <a:rPr sz="1150" b="0" i="1">
                <a:solidFill>
                  <a:srgbClr val="666666"/>
                </a:solidFill>
                <a:latin typeface="Calibri"/>
              </a:rPr>
              <a:t>Tonight's cohort-definition template (slide 27) is the format your data plan should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01</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The data landscape</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Nine categories cover everything you'll touch. Most projects use three to five. The art is choosing on purpose.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6 /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WHY IT MATTERS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The most consequential thing you do in week one: pick the dataset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Pick wrong and every model downstream inherits the error — and AI now scales that error across thousands of decisions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7 / 44</a:t>
            </a:r>
          </a:p>
        </p:txBody>
      </p:sp>
      <p:sp>
        <p:nvSpPr>
          <p:cNvPr id="8" name="Rectangle 7"/>
          <p:cNvSpPr/>
          <p:nvPr/>
        </p:nvSpPr>
        <p:spPr>
          <a:xfrm>
            <a:off x="548640" y="2011680"/>
            <a:ext cx="11064240" cy="1600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10607040" cy="1463040"/>
          </a:xfrm>
          <a:prstGeom prst="rect">
            <a:avLst/>
          </a:prstGeom>
          <a:noFill/>
        </p:spPr>
        <p:txBody>
          <a:bodyPr wrap="square" lIns="45720" rIns="45720" tIns="27432" bIns="27432" anchor="t">
            <a:spAutoFit/>
          </a:bodyPr>
          <a:lstStyle/>
          <a:p>
            <a:pPr algn="l"/>
            <a:r>
              <a:rPr sz="1250" b="0" i="1">
                <a:solidFill>
                  <a:srgbClr val="333333"/>
                </a:solidFill>
                <a:latin typeface="Calibri"/>
              </a:rPr>
              <a:t>“In life sciences, data quality has always mattered. In the agentic era, it has become a front-line commercial issue. Poor data quality is no longer simply a reporting inconvenience or remediation task. It can translate into the wrong customer being prioritized, the wrong message being delivered, the wrong channel being selected, or the wrong signal being interpreted as an opportunity. […] AI can operationalize those errors across hundreds or thousands of decisions simultaneously. The question is no longer whether bad data creates risk. The question is how quickly that risk can scale.”</a:t>
            </a:r>
          </a:p>
        </p:txBody>
      </p:sp>
      <p:sp>
        <p:nvSpPr>
          <p:cNvPr id="10" name="TextBox 9"/>
          <p:cNvSpPr txBox="1"/>
          <p:nvPr/>
        </p:nvSpPr>
        <p:spPr>
          <a:xfrm>
            <a:off x="777240" y="3429000"/>
            <a:ext cx="10607040" cy="274320"/>
          </a:xfrm>
          <a:prstGeom prst="rect">
            <a:avLst/>
          </a:prstGeom>
          <a:noFill/>
        </p:spPr>
        <p:txBody>
          <a:bodyPr wrap="square" lIns="45720" rIns="45720" tIns="27432" bIns="27432" anchor="t">
            <a:spAutoFit/>
          </a:bodyPr>
          <a:lstStyle/>
          <a:p>
            <a:pPr algn="l"/>
            <a:r>
              <a:rPr sz="1000" b="0" i="0">
                <a:solidFill>
                  <a:srgbClr val="666666"/>
                </a:solidFill>
                <a:latin typeface="Calibri"/>
              </a:rPr>
              <a:t>— IQVIA, “AI Alone Will Not Modernize the Life Sciences Enterprise” (Silvis, 2026)</a:t>
            </a:r>
          </a:p>
        </p:txBody>
      </p:sp>
      <p:sp>
        <p:nvSpPr>
          <p:cNvPr id="11" name="Rectangle 10"/>
          <p:cNvSpPr/>
          <p:nvPr/>
        </p:nvSpPr>
        <p:spPr>
          <a:xfrm>
            <a:off x="548640" y="3840480"/>
            <a:ext cx="3611880" cy="2377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397764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3" name="TextBox 12"/>
          <p:cNvSpPr txBox="1"/>
          <p:nvPr/>
        </p:nvSpPr>
        <p:spPr>
          <a:xfrm>
            <a:off x="1143000" y="396849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The Week 1 fact</a:t>
            </a:r>
          </a:p>
        </p:txBody>
      </p:sp>
      <p:sp>
        <p:nvSpPr>
          <p:cNvPr id="14" name="TextBox 13"/>
          <p:cNvSpPr txBox="1"/>
          <p:nvPr/>
        </p:nvSpPr>
        <p:spPr>
          <a:xfrm>
            <a:off x="658368" y="4462272"/>
            <a:ext cx="3383280" cy="166420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The manufacturer has first-party data on none of chooser, payer or consumer</a:t>
            </a:r>
          </a:p>
          <a:p>
            <a:pPr>
              <a:spcAft>
                <a:spcPts val="500"/>
              </a:spcAft>
            </a:pPr>
            <a:r>
              <a:rPr sz="1150" b="1">
                <a:solidFill>
                  <a:srgbClr val="FF6B6B"/>
                </a:solidFill>
                <a:latin typeface="Calibri"/>
              </a:rPr>
              <a:t>▸ </a:t>
            </a:r>
            <a:r>
              <a:rPr sz="1150">
                <a:solidFill>
                  <a:srgbClr val="333333"/>
                </a:solidFill>
                <a:latin typeface="Calibri"/>
              </a:rPr>
              <a:t>Everything it knows about its own market is licensed, sampled and projected</a:t>
            </a:r>
          </a:p>
        </p:txBody>
      </p:sp>
      <p:sp>
        <p:nvSpPr>
          <p:cNvPr id="15" name="Rectangle 14"/>
          <p:cNvSpPr/>
          <p:nvPr/>
        </p:nvSpPr>
        <p:spPr>
          <a:xfrm>
            <a:off x="4297680" y="3840480"/>
            <a:ext cx="3611880" cy="2377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397764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7" name="TextBox 16"/>
          <p:cNvSpPr txBox="1"/>
          <p:nvPr/>
        </p:nvSpPr>
        <p:spPr>
          <a:xfrm>
            <a:off x="4892040" y="396849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The consequence</a:t>
            </a:r>
          </a:p>
        </p:txBody>
      </p:sp>
      <p:sp>
        <p:nvSpPr>
          <p:cNvPr id="18" name="TextBox 17"/>
          <p:cNvSpPr txBox="1"/>
          <p:nvPr/>
        </p:nvSpPr>
        <p:spPr>
          <a:xfrm>
            <a:off x="4407408" y="4462272"/>
            <a:ext cx="3383280" cy="166420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Every dataset is a partial view with a specific blind spot</a:t>
            </a:r>
          </a:p>
          <a:p>
            <a:pPr>
              <a:spcAft>
                <a:spcPts val="500"/>
              </a:spcAft>
            </a:pPr>
            <a:r>
              <a:rPr sz="1150" b="1">
                <a:solidFill>
                  <a:srgbClr val="FF6B6B"/>
                </a:solidFill>
                <a:latin typeface="Calibri"/>
              </a:rPr>
              <a:t>▸ </a:t>
            </a:r>
            <a:r>
              <a:rPr sz="1150">
                <a:solidFill>
                  <a:srgbClr val="333333"/>
                </a:solidFill>
                <a:latin typeface="Calibri"/>
              </a:rPr>
              <a:t>The analyst's job is to know the blind spot before the model does</a:t>
            </a:r>
          </a:p>
        </p:txBody>
      </p:sp>
      <p:sp>
        <p:nvSpPr>
          <p:cNvPr id="19" name="Rectangle 18"/>
          <p:cNvSpPr/>
          <p:nvPr/>
        </p:nvSpPr>
        <p:spPr>
          <a:xfrm>
            <a:off x="8046720" y="3840480"/>
            <a:ext cx="3611880" cy="2377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83880" y="397764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21" name="TextBox 20"/>
          <p:cNvSpPr txBox="1"/>
          <p:nvPr/>
        </p:nvSpPr>
        <p:spPr>
          <a:xfrm>
            <a:off x="8641080" y="396849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Tonight's skill</a:t>
            </a:r>
          </a:p>
        </p:txBody>
      </p:sp>
      <p:sp>
        <p:nvSpPr>
          <p:cNvPr id="22" name="TextBox 21"/>
          <p:cNvSpPr txBox="1"/>
          <p:nvPr/>
        </p:nvSpPr>
        <p:spPr>
          <a:xfrm>
            <a:off x="8156448" y="4462272"/>
            <a:ext cx="3383280" cy="166420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Name the dataset that answers a question — and the one that can't</a:t>
            </a:r>
          </a:p>
          <a:p>
            <a:pPr>
              <a:spcAft>
                <a:spcPts val="500"/>
              </a:spcAft>
            </a:pPr>
            <a:r>
              <a:rPr sz="1150" b="1">
                <a:solidFill>
                  <a:srgbClr val="FF6B6B"/>
                </a:solidFill>
                <a:latin typeface="Calibri"/>
              </a:rPr>
              <a:t>▸ </a:t>
            </a:r>
            <a:r>
              <a:rPr sz="1150">
                <a:solidFill>
                  <a:srgbClr val="333333"/>
                </a:solidFill>
                <a:latin typeface="Calibri"/>
              </a:rPr>
              <a:t>Build a cohort with a rule you can write down and defend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THE TAXONOMY</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Nine categories that cover everything you'll touch in pharma commercial</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Companion reference in your folder: Pharma_Commercial_Datasets_Reference.docx — one page per category with vendors, grain, latency and gotchas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8 / 44</a:t>
            </a:r>
          </a:p>
        </p:txBody>
      </p:sp>
      <p:sp>
        <p:nvSpPr>
          <p:cNvPr id="8" name="Rectangle 7"/>
          <p:cNvSpPr/>
          <p:nvPr/>
        </p:nvSpPr>
        <p:spPr>
          <a:xfrm>
            <a:off x="548640" y="2103120"/>
            <a:ext cx="3566160" cy="1188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 Patient activity</a:t>
            </a:r>
          </a:p>
          <a:p>
            <a:pPr algn="ctr"/>
            <a:r>
              <a:rPr sz="1200" b="0">
                <a:solidFill>
                  <a:srgbClr val="FFFFFF"/>
                </a:solidFill>
                <a:latin typeface="Calibri"/>
              </a:rPr>
              <a:t>Medical claims · pharmacy claims · EHR · labs · specialty pharmacy / hub</a:t>
            </a:r>
          </a:p>
        </p:txBody>
      </p:sp>
      <p:sp>
        <p:nvSpPr>
          <p:cNvPr id="9" name="Rectangle 8"/>
          <p:cNvSpPr/>
          <p:nvPr/>
        </p:nvSpPr>
        <p:spPr>
          <a:xfrm>
            <a:off x="4297679" y="2103120"/>
            <a:ext cx="3566160" cy="118872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 Prescriber &amp; HCO reference</a:t>
            </a:r>
          </a:p>
          <a:p>
            <a:pPr algn="ctr"/>
            <a:r>
              <a:rPr sz="1200" b="0">
                <a:solidFill>
                  <a:srgbClr val="FFFFFF"/>
                </a:solidFill>
                <a:latin typeface="Calibri"/>
              </a:rPr>
              <a:t>NPI registry + commercial overlays; HCO / IDN affiliation graphs</a:t>
            </a:r>
          </a:p>
        </p:txBody>
      </p:sp>
      <p:sp>
        <p:nvSpPr>
          <p:cNvPr id="10" name="Rectangle 9"/>
          <p:cNvSpPr/>
          <p:nvPr/>
        </p:nvSpPr>
        <p:spPr>
          <a:xfrm>
            <a:off x="8046719" y="2103120"/>
            <a:ext cx="3566160" cy="1188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 Promotion, sales &amp; projection</a:t>
            </a:r>
          </a:p>
          <a:p>
            <a:pPr algn="ctr"/>
            <a:r>
              <a:rPr sz="1200" b="0">
                <a:solidFill>
                  <a:srgbClr val="FFFFFF"/>
                </a:solidFill>
                <a:latin typeface="Calibri"/>
              </a:rPr>
              <a:t>DDD / wholesaler 867 · projected Rx (Xponent-style) · NPA</a:t>
            </a:r>
          </a:p>
        </p:txBody>
      </p:sp>
      <p:sp>
        <p:nvSpPr>
          <p:cNvPr id="11" name="Rectangle 10"/>
          <p:cNvSpPr/>
          <p:nvPr/>
        </p:nvSpPr>
        <p:spPr>
          <a:xfrm>
            <a:off x="548640" y="3429000"/>
            <a:ext cx="3566160" cy="1188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4 Payer &amp; access</a:t>
            </a:r>
          </a:p>
          <a:p>
            <a:pPr algn="ctr"/>
            <a:r>
              <a:rPr sz="1200" b="0">
                <a:solidFill>
                  <a:srgbClr val="FFFFFF"/>
                </a:solidFill>
                <a:latin typeface="Calibri"/>
              </a:rPr>
              <a:t>Formulary / UM intelligence (MMIT-style) · plan-linked claims (APLD)</a:t>
            </a:r>
          </a:p>
        </p:txBody>
      </p:sp>
      <p:sp>
        <p:nvSpPr>
          <p:cNvPr id="12" name="Rectangle 11"/>
          <p:cNvSpPr/>
          <p:nvPr/>
        </p:nvSpPr>
        <p:spPr>
          <a:xfrm>
            <a:off x="4297679" y="3429000"/>
            <a:ext cx="3566160" cy="118872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5 Marketing &amp; engagement</a:t>
            </a:r>
          </a:p>
          <a:p>
            <a:pPr algn="ctr"/>
            <a:r>
              <a:rPr sz="1200" b="0">
                <a:solidFill>
                  <a:srgbClr val="FFFFFF"/>
                </a:solidFill>
                <a:latin typeface="Calibri"/>
              </a:rPr>
              <a:t>CRM / field activity · digital engagement · consent</a:t>
            </a:r>
          </a:p>
        </p:txBody>
      </p:sp>
      <p:sp>
        <p:nvSpPr>
          <p:cNvPr id="13" name="Rectangle 12"/>
          <p:cNvSpPr/>
          <p:nvPr/>
        </p:nvSpPr>
        <p:spPr>
          <a:xfrm>
            <a:off x="8046719" y="3429000"/>
            <a:ext cx="3566160" cy="1188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6 Genomics &amp; diagnostics</a:t>
            </a:r>
          </a:p>
          <a:p>
            <a:pPr algn="ctr"/>
            <a:r>
              <a:rPr sz="1200" b="0">
                <a:solidFill>
                  <a:srgbClr val="FFFFFF"/>
                </a:solidFill>
                <a:latin typeface="Calibri"/>
              </a:rPr>
              <a:t>NGS / biomarker testing; precision-medicine sizing</a:t>
            </a:r>
          </a:p>
        </p:txBody>
      </p:sp>
      <p:sp>
        <p:nvSpPr>
          <p:cNvPr id="14" name="Rectangle 13"/>
          <p:cNvSpPr/>
          <p:nvPr/>
        </p:nvSpPr>
        <p:spPr>
          <a:xfrm>
            <a:off x="548640" y="4754879"/>
            <a:ext cx="3566160" cy="1188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7 Geography, SDOH, mortality</a:t>
            </a:r>
          </a:p>
          <a:p>
            <a:pPr algn="ctr"/>
            <a:r>
              <a:rPr sz="1200" b="0">
                <a:solidFill>
                  <a:srgbClr val="FFFFFF"/>
                </a:solidFill>
                <a:latin typeface="Calibri"/>
              </a:rPr>
              <a:t>Census / SDOH overlays; death master files</a:t>
            </a:r>
          </a:p>
        </p:txBody>
      </p:sp>
      <p:sp>
        <p:nvSpPr>
          <p:cNvPr id="15" name="Rectangle 14"/>
          <p:cNvSpPr/>
          <p:nvPr/>
        </p:nvSpPr>
        <p:spPr>
          <a:xfrm>
            <a:off x="4297679" y="4754879"/>
            <a:ext cx="3566160" cy="118872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8 Market research &amp; social</a:t>
            </a:r>
          </a:p>
          <a:p>
            <a:pPr algn="ctr"/>
            <a:r>
              <a:rPr sz="1200" b="0">
                <a:solidFill>
                  <a:srgbClr val="FFFFFF"/>
                </a:solidFill>
                <a:latin typeface="Calibri"/>
              </a:rPr>
              <a:t>Surveys, ad boards, social listening (Wk 7 NLP)</a:t>
            </a:r>
          </a:p>
        </p:txBody>
      </p:sp>
      <p:sp>
        <p:nvSpPr>
          <p:cNvPr id="16" name="Rectangle 15"/>
          <p:cNvSpPr/>
          <p:nvPr/>
        </p:nvSpPr>
        <p:spPr>
          <a:xfrm>
            <a:off x="8046719" y="4754879"/>
            <a:ext cx="3566160" cy="1188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9 Internal finance &amp; ops</a:t>
            </a:r>
          </a:p>
          <a:p>
            <a:pPr algn="ctr"/>
            <a:r>
              <a:rPr sz="1200" b="0">
                <a:solidFill>
                  <a:srgbClr val="FFFFFF"/>
                </a:solidFill>
                <a:latin typeface="Calibri"/>
              </a:rPr>
              <a:t>Gross-to-net, chargebacks, contracts, inventory</a:t>
            </a:r>
          </a:p>
        </p:txBody>
      </p:sp>
      <p:sp>
        <p:nvSpPr>
          <p:cNvPr id="17" name="TextBox 16"/>
          <p:cNvSpPr txBox="1"/>
          <p:nvPr/>
        </p:nvSpPr>
        <p:spPr>
          <a:xfrm>
            <a:off x="548640" y="6126480"/>
            <a:ext cx="11064240" cy="365760"/>
          </a:xfrm>
          <a:prstGeom prst="rect">
            <a:avLst/>
          </a:prstGeom>
          <a:noFill/>
        </p:spPr>
        <p:txBody>
          <a:bodyPr wrap="square" lIns="45720" rIns="45720" tIns="27432" bIns="27432" anchor="t">
            <a:spAutoFit/>
          </a:bodyPr>
          <a:lstStyle/>
          <a:p>
            <a:pPr algn="l"/>
            <a:r>
              <a:rPr sz="1150" b="0" i="1">
                <a:solidFill>
                  <a:srgbClr val="666666"/>
                </a:solidFill>
                <a:latin typeface="Calibri"/>
              </a:rPr>
              <a:t>Tonight lives in categories 1 and 3. Weeks 3–5 add 4 and 5; Week 6 adds 7; Week 7 adds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FOUR DATA TYPES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Medical claims, pharmacy claims, EHR, syndicated panel — side by side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Learning objective 1: distinguish them. The last two rows are what interviewers actually ask.</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9 / 44</a:t>
            </a:r>
          </a:p>
        </p:txBody>
      </p:sp>
      <p:graphicFrame>
        <p:nvGraphicFramePr>
          <p:cNvPr id="8" name="Table 7"/>
          <p:cNvGraphicFramePr>
            <a:graphicFrameLocks noGrp="1"/>
          </p:cNvGraphicFramePr>
          <p:nvPr/>
        </p:nvGraphicFramePr>
        <p:xfrm>
          <a:off x="548640" y="2057400"/>
          <a:ext cx="11064240" cy="3950208"/>
        </p:xfrm>
        <a:graphic>
          <a:graphicData uri="http://schemas.openxmlformats.org/drawingml/2006/table">
            <a:tbl>
              <a:tblPr firstRow="1" bandRow="1">
                <a:tableStyleId>{5C22544A-7EE6-4342-B048-85BDC9FD1C3A}</a:tableStyleId>
              </a:tblPr>
              <a:tblGrid>
                <a:gridCol w="1554480"/>
                <a:gridCol w="2377440"/>
                <a:gridCol w="2377440"/>
                <a:gridCol w="2286000"/>
                <a:gridCol w="2468880"/>
              </a:tblGrid>
              <a:tr h="658368">
                <a:tc>
                  <a:txBody>
                    <a:bodyPr wrap="square"/>
                    <a:lstStyle/>
                    <a:p>
                      <a:r>
                        <a:rPr sz="1000" b="1">
                          <a:solidFill>
                            <a:srgbClr val="FFFFFF"/>
                          </a:solidFill>
                          <a:latin typeface="Calibri"/>
                        </a:rPr>
                        <a:t/>
                      </a:r>
                    </a:p>
                  </a:txBody>
                  <a:tcPr marL="54864" marR="54864" marT="27432" marB="27432">
                    <a:solidFill>
                      <a:srgbClr val="1E2761"/>
                    </a:solidFill>
                  </a:tcPr>
                </a:tc>
                <a:tc>
                  <a:txBody>
                    <a:bodyPr wrap="square"/>
                    <a:lstStyle/>
                    <a:p>
                      <a:r>
                        <a:rPr sz="1000" b="1">
                          <a:solidFill>
                            <a:srgbClr val="FFFFFF"/>
                          </a:solidFill>
                          <a:latin typeface="Calibri"/>
                        </a:rPr>
                        <a:t>Medical claims</a:t>
                      </a:r>
                    </a:p>
                  </a:txBody>
                  <a:tcPr marL="54864" marR="54864" marT="27432" marB="27432">
                    <a:solidFill>
                      <a:srgbClr val="1E2761"/>
                    </a:solidFill>
                  </a:tcPr>
                </a:tc>
                <a:tc>
                  <a:txBody>
                    <a:bodyPr wrap="square"/>
                    <a:lstStyle/>
                    <a:p>
                      <a:r>
                        <a:rPr sz="1000" b="1">
                          <a:solidFill>
                            <a:srgbClr val="FFFFFF"/>
                          </a:solidFill>
                          <a:latin typeface="Calibri"/>
                        </a:rPr>
                        <a:t>Pharmacy claims</a:t>
                      </a:r>
                    </a:p>
                  </a:txBody>
                  <a:tcPr marL="54864" marR="54864" marT="27432" marB="27432">
                    <a:solidFill>
                      <a:srgbClr val="1E2761"/>
                    </a:solidFill>
                  </a:tcPr>
                </a:tc>
                <a:tc>
                  <a:txBody>
                    <a:bodyPr wrap="square"/>
                    <a:lstStyle/>
                    <a:p>
                      <a:r>
                        <a:rPr sz="1000" b="1">
                          <a:solidFill>
                            <a:srgbClr val="FFFFFF"/>
                          </a:solidFill>
                          <a:latin typeface="Calibri"/>
                        </a:rPr>
                        <a:t>EHR / EMR</a:t>
                      </a:r>
                    </a:p>
                  </a:txBody>
                  <a:tcPr marL="54864" marR="54864" marT="27432" marB="27432">
                    <a:solidFill>
                      <a:srgbClr val="1E2761"/>
                    </a:solidFill>
                  </a:tcPr>
                </a:tc>
                <a:tc>
                  <a:txBody>
                    <a:bodyPr wrap="square"/>
                    <a:lstStyle/>
                    <a:p>
                      <a:r>
                        <a:rPr sz="1000" b="1">
                          <a:solidFill>
                            <a:srgbClr val="FFFFFF"/>
                          </a:solidFill>
                          <a:latin typeface="Calibri"/>
                        </a:rPr>
                        <a:t>Syndicated Rx panel</a:t>
                      </a:r>
                    </a:p>
                  </a:txBody>
                  <a:tcPr marL="54864" marR="54864" marT="27432" marB="27432">
                    <a:solidFill>
                      <a:srgbClr val="1E2761"/>
                    </a:solidFill>
                  </a:tcPr>
                </a:tc>
              </a:tr>
              <a:tr h="658368">
                <a:tc>
                  <a:txBody>
                    <a:bodyPr wrap="square"/>
                    <a:lstStyle/>
                    <a:p>
                      <a:r>
                        <a:rPr sz="1000" b="1">
                          <a:solidFill>
                            <a:srgbClr val="1E2761"/>
                          </a:solidFill>
                          <a:latin typeface="Calibri"/>
                        </a:rPr>
                        <a:t>Who generates it</a:t>
                      </a:r>
                    </a:p>
                  </a:txBody>
                  <a:tcPr marL="54864" marR="54864" marT="27432" marB="27432">
                    <a:solidFill>
                      <a:srgbClr val="FFFFFF"/>
                    </a:solidFill>
                  </a:tcPr>
                </a:tc>
                <a:tc>
                  <a:txBody>
                    <a:bodyPr wrap="square"/>
                    <a:lstStyle/>
                    <a:p>
                      <a:r>
                        <a:rPr sz="1000" b="0">
                          <a:solidFill>
                            <a:srgbClr val="333333"/>
                          </a:solidFill>
                          <a:latin typeface="Calibri"/>
                        </a:rPr>
                        <a:t>Provider bills payer (837P/837I)</a:t>
                      </a:r>
                    </a:p>
                  </a:txBody>
                  <a:tcPr marL="54864" marR="54864" marT="27432" marB="27432">
                    <a:solidFill>
                      <a:srgbClr val="FFFFFF"/>
                    </a:solidFill>
                  </a:tcPr>
                </a:tc>
                <a:tc>
                  <a:txBody>
                    <a:bodyPr wrap="square"/>
                    <a:lstStyle/>
                    <a:p>
                      <a:r>
                        <a:rPr sz="1000" b="0">
                          <a:solidFill>
                            <a:srgbClr val="333333"/>
                          </a:solidFill>
                          <a:latin typeface="Calibri"/>
                        </a:rPr>
                        <a:t>Pharmacy adjudicates with PBM (NCPDP)</a:t>
                      </a:r>
                    </a:p>
                  </a:txBody>
                  <a:tcPr marL="54864" marR="54864" marT="27432" marB="27432">
                    <a:solidFill>
                      <a:srgbClr val="FFFFFF"/>
                    </a:solidFill>
                  </a:tcPr>
                </a:tc>
                <a:tc>
                  <a:txBody>
                    <a:bodyPr wrap="square"/>
                    <a:lstStyle/>
                    <a:p>
                      <a:r>
                        <a:rPr sz="1000" b="0">
                          <a:solidFill>
                            <a:srgbClr val="333333"/>
                          </a:solidFill>
                          <a:latin typeface="Calibri"/>
                        </a:rPr>
                        <a:t>Clinician documents care</a:t>
                      </a:r>
                    </a:p>
                  </a:txBody>
                  <a:tcPr marL="54864" marR="54864" marT="27432" marB="27432">
                    <a:solidFill>
                      <a:srgbClr val="FFFFFF"/>
                    </a:solidFill>
                  </a:tcPr>
                </a:tc>
                <a:tc>
                  <a:txBody>
                    <a:bodyPr wrap="square"/>
                    <a:lstStyle/>
                    <a:p>
                      <a:r>
                        <a:rPr sz="1000" b="0">
                          <a:solidFill>
                            <a:srgbClr val="333333"/>
                          </a:solidFill>
                          <a:latin typeface="Calibri"/>
                        </a:rPr>
                        <a:t>Vendor aggregates pharmacy / clearinghouse feeds</a:t>
                      </a:r>
                    </a:p>
                  </a:txBody>
                  <a:tcPr marL="54864" marR="54864" marT="27432" marB="27432">
                    <a:solidFill>
                      <a:srgbClr val="FFFFFF"/>
                    </a:solidFill>
                  </a:tcPr>
                </a:tc>
              </a:tr>
              <a:tr h="658368">
                <a:tc>
                  <a:txBody>
                    <a:bodyPr wrap="square"/>
                    <a:lstStyle/>
                    <a:p>
                      <a:r>
                        <a:rPr sz="1000" b="1">
                          <a:solidFill>
                            <a:srgbClr val="1E2761"/>
                          </a:solidFill>
                          <a:latin typeface="Calibri"/>
                        </a:rPr>
                        <a:t>Grain</a:t>
                      </a:r>
                    </a:p>
                  </a:txBody>
                  <a:tcPr marL="54864" marR="54864" marT="27432" marB="27432">
                    <a:solidFill>
                      <a:srgbClr val="F3F6FC"/>
                    </a:solidFill>
                  </a:tcPr>
                </a:tc>
                <a:tc>
                  <a:txBody>
                    <a:bodyPr wrap="square"/>
                    <a:lstStyle/>
                    <a:p>
                      <a:r>
                        <a:rPr sz="1000" b="0">
                          <a:solidFill>
                            <a:srgbClr val="333333"/>
                          </a:solidFill>
                          <a:latin typeface="Calibri"/>
                        </a:rPr>
                        <a:t>Service line (visit × procedure × dx)</a:t>
                      </a:r>
                    </a:p>
                  </a:txBody>
                  <a:tcPr marL="54864" marR="54864" marT="27432" marB="27432">
                    <a:solidFill>
                      <a:srgbClr val="F3F6FC"/>
                    </a:solidFill>
                  </a:tcPr>
                </a:tc>
                <a:tc>
                  <a:txBody>
                    <a:bodyPr wrap="square"/>
                    <a:lstStyle/>
                    <a:p>
                      <a:r>
                        <a:rPr sz="1000" b="0">
                          <a:solidFill>
                            <a:srgbClr val="333333"/>
                          </a:solidFill>
                          <a:latin typeface="Calibri"/>
                        </a:rPr>
                        <a:t>One row per fill (paid / rejected / reversed)</a:t>
                      </a:r>
                    </a:p>
                  </a:txBody>
                  <a:tcPr marL="54864" marR="54864" marT="27432" marB="27432">
                    <a:solidFill>
                      <a:srgbClr val="F3F6FC"/>
                    </a:solidFill>
                  </a:tcPr>
                </a:tc>
                <a:tc>
                  <a:txBody>
                    <a:bodyPr wrap="square"/>
                    <a:lstStyle/>
                    <a:p>
                      <a:r>
                        <a:rPr sz="1000" b="0">
                          <a:solidFill>
                            <a:srgbClr val="333333"/>
                          </a:solidFill>
                          <a:latin typeface="Calibri"/>
                        </a:rPr>
                        <a:t>Encounter, note, lab, order</a:t>
                      </a:r>
                    </a:p>
                  </a:txBody>
                  <a:tcPr marL="54864" marR="54864" marT="27432" marB="27432">
                    <a:solidFill>
                      <a:srgbClr val="F3F6FC"/>
                    </a:solidFill>
                  </a:tcPr>
                </a:tc>
                <a:tc>
                  <a:txBody>
                    <a:bodyPr wrap="square"/>
                    <a:lstStyle/>
                    <a:p>
                      <a:r>
                        <a:rPr sz="1000" b="0">
                          <a:solidFill>
                            <a:srgbClr val="333333"/>
                          </a:solidFill>
                          <a:latin typeface="Calibri"/>
                        </a:rPr>
                        <a:t>Pharmacy × NDC × week (or prescriber × product)</a:t>
                      </a:r>
                    </a:p>
                  </a:txBody>
                  <a:tcPr marL="54864" marR="54864" marT="27432" marB="27432">
                    <a:solidFill>
                      <a:srgbClr val="F3F6FC"/>
                    </a:solidFill>
                  </a:tcPr>
                </a:tc>
              </a:tr>
              <a:tr h="658368">
                <a:tc>
                  <a:txBody>
                    <a:bodyPr wrap="square"/>
                    <a:lstStyle/>
                    <a:p>
                      <a:r>
                        <a:rPr sz="1000" b="1">
                          <a:solidFill>
                            <a:srgbClr val="1E2761"/>
                          </a:solidFill>
                          <a:latin typeface="Calibri"/>
                        </a:rPr>
                        <a:t>What it answers</a:t>
                      </a:r>
                    </a:p>
                  </a:txBody>
                  <a:tcPr marL="54864" marR="54864" marT="27432" marB="27432">
                    <a:solidFill>
                      <a:srgbClr val="FFFFFF"/>
                    </a:solidFill>
                  </a:tcPr>
                </a:tc>
                <a:tc>
                  <a:txBody>
                    <a:bodyPr wrap="square"/>
                    <a:lstStyle/>
                    <a:p>
                      <a:r>
                        <a:rPr sz="1000" b="0">
                          <a:solidFill>
                            <a:srgbClr val="333333"/>
                          </a:solidFill>
                          <a:latin typeface="Calibri"/>
                        </a:rPr>
                        <a:t>Diagnoses, procedures, infused drugs (J-codes), site of care, referral paths</a:t>
                      </a:r>
                    </a:p>
                  </a:txBody>
                  <a:tcPr marL="54864" marR="54864" marT="27432" marB="27432">
                    <a:solidFill>
                      <a:srgbClr val="FFFFFF"/>
                    </a:solidFill>
                  </a:tcPr>
                </a:tc>
                <a:tc>
                  <a:txBody>
                    <a:bodyPr wrap="square"/>
                    <a:lstStyle/>
                    <a:p>
                      <a:r>
                        <a:rPr sz="1000" b="0">
                          <a:solidFill>
                            <a:srgbClr val="333333"/>
                          </a:solidFill>
                          <a:latin typeface="Calibri"/>
                        </a:rPr>
                        <a:t>Retail/mail/specialty drugs, adherence, access rejections, patient pay</a:t>
                      </a:r>
                    </a:p>
                  </a:txBody>
                  <a:tcPr marL="54864" marR="54864" marT="27432" marB="27432">
                    <a:solidFill>
                      <a:srgbClr val="FFFFFF"/>
                    </a:solidFill>
                  </a:tcPr>
                </a:tc>
                <a:tc>
                  <a:txBody>
                    <a:bodyPr wrap="square"/>
                    <a:lstStyle/>
                    <a:p>
                      <a:r>
                        <a:rPr sz="1000" b="0">
                          <a:solidFill>
                            <a:srgbClr val="333333"/>
                          </a:solidFill>
                          <a:latin typeface="Calibri"/>
                        </a:rPr>
                        <a:t>Outcomes, biomarkers, stage, performance status, response</a:t>
                      </a:r>
                    </a:p>
                  </a:txBody>
                  <a:tcPr marL="54864" marR="54864" marT="27432" marB="27432">
                    <a:solidFill>
                      <a:srgbClr val="FFFFFF"/>
                    </a:solidFill>
                  </a:tcPr>
                </a:tc>
                <a:tc>
                  <a:txBody>
                    <a:bodyPr wrap="square"/>
                    <a:lstStyle/>
                    <a:p>
                      <a:r>
                        <a:rPr sz="1000" b="0">
                          <a:solidFill>
                            <a:srgbClr val="333333"/>
                          </a:solidFill>
                          <a:latin typeface="Calibri"/>
                        </a:rPr>
                        <a:t>Market share, prescriber ranking, trend — projected to national</a:t>
                      </a:r>
                    </a:p>
                  </a:txBody>
                  <a:tcPr marL="54864" marR="54864" marT="27432" marB="27432">
                    <a:solidFill>
                      <a:srgbClr val="FFFFFF"/>
                    </a:solidFill>
                  </a:tcPr>
                </a:tc>
              </a:tr>
              <a:tr h="658368">
                <a:tc>
                  <a:txBody>
                    <a:bodyPr wrap="square"/>
                    <a:lstStyle/>
                    <a:p>
                      <a:r>
                        <a:rPr sz="1000" b="1">
                          <a:solidFill>
                            <a:srgbClr val="1E2761"/>
                          </a:solidFill>
                          <a:latin typeface="Calibri"/>
                        </a:rPr>
                        <a:t>Blind spot</a:t>
                      </a:r>
                    </a:p>
                  </a:txBody>
                  <a:tcPr marL="54864" marR="54864" marT="27432" marB="27432">
                    <a:solidFill>
                      <a:srgbClr val="F3F6FC"/>
                    </a:solidFill>
                  </a:tcPr>
                </a:tc>
                <a:tc>
                  <a:txBody>
                    <a:bodyPr wrap="square"/>
                    <a:lstStyle/>
                    <a:p>
                      <a:r>
                        <a:rPr sz="1000" b="0">
                          <a:solidFill>
                            <a:srgbClr val="333333"/>
                          </a:solidFill>
                          <a:latin typeface="Calibri"/>
                        </a:rPr>
                        <a:t>Inpatient drugs bundled in DRG; no outcomes; open-claims gaps</a:t>
                      </a:r>
                    </a:p>
                  </a:txBody>
                  <a:tcPr marL="54864" marR="54864" marT="27432" marB="27432">
                    <a:solidFill>
                      <a:srgbClr val="F3F6FC"/>
                    </a:solidFill>
                  </a:tcPr>
                </a:tc>
                <a:tc>
                  <a:txBody>
                    <a:bodyPr wrap="square"/>
                    <a:lstStyle/>
                    <a:p>
                      <a:r>
                        <a:rPr sz="1000" b="0">
                          <a:solidFill>
                            <a:srgbClr val="333333"/>
                          </a:solidFill>
                          <a:latin typeface="Calibri"/>
                        </a:rPr>
                        <a:t>Nothing infused in clinic; cash fills; no diagnosis on the row</a:t>
                      </a:r>
                    </a:p>
                  </a:txBody>
                  <a:tcPr marL="54864" marR="54864" marT="27432" marB="27432">
                    <a:solidFill>
                      <a:srgbClr val="F3F6FC"/>
                    </a:solidFill>
                  </a:tcPr>
                </a:tc>
                <a:tc>
                  <a:txBody>
                    <a:bodyPr wrap="square"/>
                    <a:lstStyle/>
                    <a:p>
                      <a:r>
                        <a:rPr sz="1000" b="0">
                          <a:solidFill>
                            <a:srgbClr val="333333"/>
                          </a:solidFill>
                          <a:latin typeface="Calibri"/>
                        </a:rPr>
                        <a:t>Only the systems in the network; free text; not projectable</a:t>
                      </a:r>
                    </a:p>
                  </a:txBody>
                  <a:tcPr marL="54864" marR="54864" marT="27432" marB="27432">
                    <a:solidFill>
                      <a:srgbClr val="F3F6FC"/>
                    </a:solidFill>
                  </a:tcPr>
                </a:tc>
                <a:tc>
                  <a:txBody>
                    <a:bodyPr wrap="square"/>
                    <a:lstStyle/>
                    <a:p>
                      <a:r>
                        <a:rPr sz="1000" b="0">
                          <a:solidFill>
                            <a:srgbClr val="333333"/>
                          </a:solidFill>
                          <a:latin typeface="Calibri"/>
                        </a:rPr>
                        <a:t>Sample, not census; no patient link (unless longitudinal); restated</a:t>
                      </a:r>
                    </a:p>
                  </a:txBody>
                  <a:tcPr marL="54864" marR="54864" marT="27432" marB="27432">
                    <a:solidFill>
                      <a:srgbClr val="F3F6FC"/>
                    </a:solidFill>
                  </a:tcPr>
                </a:tc>
              </a:tr>
              <a:tr h="658368">
                <a:tc>
                  <a:txBody>
                    <a:bodyPr wrap="square"/>
                    <a:lstStyle/>
                    <a:p>
                      <a:r>
                        <a:rPr sz="1000" b="1">
                          <a:solidFill>
                            <a:srgbClr val="1E2761"/>
                          </a:solidFill>
                          <a:latin typeface="Calibri"/>
                        </a:rPr>
                        <a:t>Typical vendors</a:t>
                      </a:r>
                    </a:p>
                  </a:txBody>
                  <a:tcPr marL="54864" marR="54864" marT="27432" marB="27432">
                    <a:solidFill>
                      <a:srgbClr val="FFFFFF"/>
                    </a:solidFill>
                  </a:tcPr>
                </a:tc>
                <a:tc>
                  <a:txBody>
                    <a:bodyPr wrap="square"/>
                    <a:lstStyle/>
                    <a:p>
                      <a:r>
                        <a:rPr sz="1000" b="0">
                          <a:solidFill>
                            <a:srgbClr val="333333"/>
                          </a:solidFill>
                          <a:latin typeface="Calibri"/>
                        </a:rPr>
                        <a:t>IQVIA, Komodo, Symphony, HealthVerity, Optum (closed)</a:t>
                      </a:r>
                    </a:p>
                  </a:txBody>
                  <a:tcPr marL="54864" marR="54864" marT="27432" marB="27432">
                    <a:solidFill>
                      <a:srgbClr val="FFFFFF"/>
                    </a:solidFill>
                  </a:tcPr>
                </a:tc>
                <a:tc>
                  <a:txBody>
                    <a:bodyPr wrap="square"/>
                    <a:lstStyle/>
                    <a:p>
                      <a:r>
                        <a:rPr sz="1000" b="0">
                          <a:solidFill>
                            <a:srgbClr val="333333"/>
                          </a:solidFill>
                          <a:latin typeface="Calibri"/>
                        </a:rPr>
                        <a:t>IQVIA LRx, Symphony, PBM-direct</a:t>
                      </a:r>
                    </a:p>
                  </a:txBody>
                  <a:tcPr marL="54864" marR="54864" marT="27432" marB="27432">
                    <a:solidFill>
                      <a:srgbClr val="FFFFFF"/>
                    </a:solidFill>
                  </a:tcPr>
                </a:tc>
                <a:tc>
                  <a:txBody>
                    <a:bodyPr wrap="square"/>
                    <a:lstStyle/>
                    <a:p>
                      <a:r>
                        <a:rPr sz="1000" b="0">
                          <a:solidFill>
                            <a:srgbClr val="333333"/>
                          </a:solidFill>
                          <a:latin typeface="Calibri"/>
                        </a:rPr>
                        <a:t>Flatiron, ConcertAI, Tempus, Epic Cosmos</a:t>
                      </a:r>
                    </a:p>
                  </a:txBody>
                  <a:tcPr marL="54864" marR="54864" marT="27432" marB="27432">
                    <a:solidFill>
                      <a:srgbClr val="FFFFFF"/>
                    </a:solidFill>
                  </a:tcPr>
                </a:tc>
                <a:tc>
                  <a:txBody>
                    <a:bodyPr wrap="square"/>
                    <a:lstStyle/>
                    <a:p>
                      <a:r>
                        <a:rPr sz="1000" b="0">
                          <a:solidFill>
                            <a:srgbClr val="333333"/>
                          </a:solidFill>
                          <a:latin typeface="Calibri"/>
                        </a:rPr>
                        <a:t>IQVIA Xponent/NPA, Symphony PHAST</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OPEN VS. CLOSED</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Open vs. closed claims — pick on purpose, not by default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 single most common source of a confidently wrong share number: numerator from one, denominator from the other</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10 / 44</a:t>
            </a:r>
          </a:p>
        </p:txBody>
      </p:sp>
      <p:sp>
        <p:nvSpPr>
          <p:cNvPr id="8" name="Rectangle 7"/>
          <p:cNvSpPr/>
          <p:nvPr/>
        </p:nvSpPr>
        <p:spPr>
          <a:xfrm>
            <a:off x="548640" y="2103120"/>
            <a:ext cx="5394960" cy="32918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Open claims (clearinghouse / switch)</a:t>
            </a:r>
          </a:p>
        </p:txBody>
      </p:sp>
      <p:sp>
        <p:nvSpPr>
          <p:cNvPr id="10" name="TextBox 9"/>
          <p:cNvSpPr txBox="1"/>
          <p:nvPr/>
        </p:nvSpPr>
        <p:spPr>
          <a:xfrm>
            <a:off x="658368" y="2596896"/>
            <a:ext cx="5166360" cy="270662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Source: </a:t>
            </a:r>
            <a:r>
              <a:rPr sz="1150">
                <a:solidFill>
                  <a:srgbClr val="333333"/>
                </a:solidFill>
                <a:latin typeface="Calibri"/>
              </a:rPr>
              <a:t>the pipes between providers, pharmacies and payers; whichever claims pass through a partner switch</a:t>
            </a:r>
          </a:p>
          <a:p>
            <a:pPr>
              <a:spcAft>
                <a:spcPts val="500"/>
              </a:spcAft>
            </a:pPr>
            <a:r>
              <a:rPr sz="1150" b="1">
                <a:solidFill>
                  <a:srgbClr val="FF6B6B"/>
                </a:solidFill>
                <a:latin typeface="Calibri"/>
              </a:rPr>
              <a:t>▸ </a:t>
            </a:r>
            <a:r>
              <a:rPr b="1" sz="1150">
                <a:solidFill>
                  <a:srgbClr val="1E2761"/>
                </a:solidFill>
                <a:latin typeface="Calibri"/>
              </a:rPr>
              <a:t>Strength: </a:t>
            </a:r>
            <a:r>
              <a:rPr sz="1150">
                <a:solidFill>
                  <a:srgbClr val="333333"/>
                </a:solidFill>
                <a:latin typeface="Calibri"/>
              </a:rPr>
              <a:t>breadth — very large patient counts, fast (days), all payers</a:t>
            </a:r>
          </a:p>
          <a:p>
            <a:pPr>
              <a:spcAft>
                <a:spcPts val="500"/>
              </a:spcAft>
            </a:pPr>
            <a:r>
              <a:rPr sz="1150" b="1">
                <a:solidFill>
                  <a:srgbClr val="FF6B6B"/>
                </a:solidFill>
                <a:latin typeface="Calibri"/>
              </a:rPr>
              <a:t>▸ </a:t>
            </a:r>
            <a:r>
              <a:rPr b="1" sz="1150">
                <a:solidFill>
                  <a:srgbClr val="1E2761"/>
                </a:solidFill>
                <a:latin typeface="Calibri"/>
              </a:rPr>
              <a:t>Weakness: </a:t>
            </a:r>
            <a:r>
              <a:rPr sz="1150">
                <a:solidFill>
                  <a:srgbClr val="333333"/>
                </a:solidFill>
                <a:latin typeface="Calibri"/>
              </a:rPr>
              <a:t>you never know what you're missing: a patient's claims from a non-partner pipe are simply absent</a:t>
            </a:r>
          </a:p>
          <a:p>
            <a:pPr>
              <a:spcAft>
                <a:spcPts val="500"/>
              </a:spcAft>
            </a:pPr>
            <a:r>
              <a:rPr sz="1150" b="1">
                <a:solidFill>
                  <a:srgbClr val="FF6B6B"/>
                </a:solidFill>
                <a:latin typeface="Calibri"/>
              </a:rPr>
              <a:t>▸ </a:t>
            </a:r>
            <a:r>
              <a:rPr b="1" sz="1150">
                <a:solidFill>
                  <a:srgbClr val="1E2761"/>
                </a:solidFill>
                <a:latin typeface="Calibri"/>
              </a:rPr>
              <a:t>Use for: </a:t>
            </a:r>
            <a:r>
              <a:rPr sz="1150">
                <a:solidFill>
                  <a:srgbClr val="333333"/>
                </a:solidFill>
                <a:latin typeface="Calibri"/>
              </a:rPr>
              <a:t>patient finding, HCP targeting, market sizing with projection</a:t>
            </a:r>
          </a:p>
        </p:txBody>
      </p:sp>
      <p:sp>
        <p:nvSpPr>
          <p:cNvPr id="11" name="Rectangle 10"/>
          <p:cNvSpPr/>
          <p:nvPr/>
        </p:nvSpPr>
        <p:spPr>
          <a:xfrm>
            <a:off x="6217920" y="2103120"/>
            <a:ext cx="5394960" cy="32918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Closed claims (payer / enrollment-based)</a:t>
            </a:r>
          </a:p>
        </p:txBody>
      </p:sp>
      <p:sp>
        <p:nvSpPr>
          <p:cNvPr id="13" name="TextBox 12"/>
          <p:cNvSpPr txBox="1"/>
          <p:nvPr/>
        </p:nvSpPr>
        <p:spPr>
          <a:xfrm>
            <a:off x="6327648" y="2596896"/>
            <a:ext cx="5166360" cy="270662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Source: </a:t>
            </a:r>
            <a:r>
              <a:rPr sz="1150">
                <a:solidFill>
                  <a:srgbClr val="333333"/>
                </a:solidFill>
                <a:latin typeface="Calibri"/>
              </a:rPr>
              <a:t>a payer's or PBM's own adjudication file, with enrollment (eligibility) records</a:t>
            </a:r>
          </a:p>
          <a:p>
            <a:pPr>
              <a:spcAft>
                <a:spcPts val="500"/>
              </a:spcAft>
            </a:pPr>
            <a:r>
              <a:rPr sz="1150" b="1">
                <a:solidFill>
                  <a:srgbClr val="FF6B6B"/>
                </a:solidFill>
                <a:latin typeface="Calibri"/>
              </a:rPr>
              <a:t>▸ </a:t>
            </a:r>
            <a:r>
              <a:rPr b="1" sz="1150">
                <a:solidFill>
                  <a:srgbClr val="1E2761"/>
                </a:solidFill>
                <a:latin typeface="Calibri"/>
              </a:rPr>
              <a:t>Strength: </a:t>
            </a:r>
            <a:r>
              <a:rPr sz="1150">
                <a:solidFill>
                  <a:srgbClr val="333333"/>
                </a:solidFill>
                <a:latin typeface="Calibri"/>
              </a:rPr>
              <a:t>completeness — you know exactly when the patient was covered, so absence of a claim means absence of care</a:t>
            </a:r>
          </a:p>
          <a:p>
            <a:pPr>
              <a:spcAft>
                <a:spcPts val="500"/>
              </a:spcAft>
            </a:pPr>
            <a:r>
              <a:rPr sz="1150" b="1">
                <a:solidFill>
                  <a:srgbClr val="FF6B6B"/>
                </a:solidFill>
                <a:latin typeface="Calibri"/>
              </a:rPr>
              <a:t>▸ </a:t>
            </a:r>
            <a:r>
              <a:rPr b="1" sz="1150">
                <a:solidFill>
                  <a:srgbClr val="1E2761"/>
                </a:solidFill>
                <a:latin typeface="Calibri"/>
              </a:rPr>
              <a:t>Weakness: </a:t>
            </a:r>
            <a:r>
              <a:rPr sz="1150">
                <a:solidFill>
                  <a:srgbClr val="333333"/>
                </a:solidFill>
                <a:latin typeface="Calibri"/>
              </a:rPr>
              <a:t>narrower (one payer's members), slower (quarterly), skewed by that payer's mix</a:t>
            </a:r>
          </a:p>
          <a:p>
            <a:pPr>
              <a:spcAft>
                <a:spcPts val="500"/>
              </a:spcAft>
            </a:pPr>
            <a:r>
              <a:rPr sz="1150" b="1">
                <a:solidFill>
                  <a:srgbClr val="FF6B6B"/>
                </a:solidFill>
                <a:latin typeface="Calibri"/>
              </a:rPr>
              <a:t>▸ </a:t>
            </a:r>
            <a:r>
              <a:rPr b="1" sz="1150">
                <a:solidFill>
                  <a:srgbClr val="1E2761"/>
                </a:solidFill>
                <a:latin typeface="Calibri"/>
              </a:rPr>
              <a:t>Use for: </a:t>
            </a:r>
            <a:r>
              <a:rPr sz="1150">
                <a:solidFill>
                  <a:srgbClr val="333333"/>
                </a:solidFill>
                <a:latin typeface="Calibri"/>
              </a:rPr>
              <a:t>outcomes, persistence, cost, anything with a denominator</a:t>
            </a:r>
          </a:p>
        </p:txBody>
      </p:sp>
      <p:sp>
        <p:nvSpPr>
          <p:cNvPr id="14" name="TextBox 13"/>
          <p:cNvSpPr txBox="1"/>
          <p:nvPr/>
        </p:nvSpPr>
        <p:spPr>
          <a:xfrm>
            <a:off x="548640" y="5577840"/>
            <a:ext cx="11064240" cy="731520"/>
          </a:xfrm>
          <a:prstGeom prst="rect">
            <a:avLst/>
          </a:prstGeom>
          <a:noFill/>
        </p:spPr>
        <p:txBody>
          <a:bodyPr wrap="square" lIns="45720" rIns="45720" tIns="27432" bIns="27432" anchor="t">
            <a:spAutoFit/>
          </a:bodyPr>
          <a:lstStyle/>
          <a:p>
            <a:pPr algn="l"/>
            <a:r>
              <a:rPr sz="1200" b="0" i="0">
                <a:solidFill>
                  <a:srgbClr val="1E2761"/>
                </a:solidFill>
                <a:latin typeface="Calibri"/>
              </a:rPr>
              <a:t>Tonight's DLBCL file ships with an enrollment table — that is what makes it closed-claims-like. Watch what it does to the cohort (slide 30).</a:t>
            </a:r>
          </a:p>
          <a:p>
            <a:pPr algn="l"/>
            <a:r>
              <a:rPr sz="1200" b="0" i="0">
                <a:solidFill>
                  <a:srgbClr val="1E2761"/>
                </a:solidFill>
                <a:latin typeface="Calibri"/>
              </a:rPr>
              <a:t>Rule of thumb: when the question has the word “rate” in it, ask which denominator you have.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CHOOSING</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Five-question triage — run any analysis through this before licensing anything</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Reusable for the term project data plan</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11 / 44</a:t>
            </a:r>
          </a:p>
        </p:txBody>
      </p:sp>
      <p:sp>
        <p:nvSpPr>
          <p:cNvPr id="8" name="Oval 7"/>
          <p:cNvSpPr/>
          <p:nvPr/>
        </p:nvSpPr>
        <p:spPr>
          <a:xfrm>
            <a:off x="640080" y="2103120"/>
            <a:ext cx="502920" cy="50292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1</a:t>
            </a:r>
          </a:p>
        </p:txBody>
      </p:sp>
      <p:sp>
        <p:nvSpPr>
          <p:cNvPr id="9" name="TextBox 8"/>
          <p:cNvSpPr txBox="1"/>
          <p:nvPr/>
        </p:nvSpPr>
        <p:spPr>
          <a:xfrm>
            <a:off x="1325880" y="2057400"/>
            <a:ext cx="1828800" cy="365760"/>
          </a:xfrm>
          <a:prstGeom prst="rect">
            <a:avLst/>
          </a:prstGeom>
          <a:noFill/>
        </p:spPr>
        <p:txBody>
          <a:bodyPr wrap="square" lIns="45720" rIns="45720" tIns="27432" bIns="27432" anchor="t">
            <a:spAutoFit/>
          </a:bodyPr>
          <a:lstStyle/>
          <a:p>
            <a:pPr algn="l"/>
            <a:r>
              <a:rPr sz="1500" b="1" i="0">
                <a:solidFill>
                  <a:srgbClr val="1E2761"/>
                </a:solidFill>
                <a:latin typeface="Calibri"/>
              </a:rPr>
              <a:t>Decision</a:t>
            </a:r>
          </a:p>
        </p:txBody>
      </p:sp>
      <p:sp>
        <p:nvSpPr>
          <p:cNvPr id="10" name="TextBox 9"/>
          <p:cNvSpPr txBox="1"/>
          <p:nvPr/>
        </p:nvSpPr>
        <p:spPr>
          <a:xfrm>
            <a:off x="3108960" y="2084831"/>
            <a:ext cx="8503920" cy="640080"/>
          </a:xfrm>
          <a:prstGeom prst="rect">
            <a:avLst/>
          </a:prstGeom>
          <a:noFill/>
        </p:spPr>
        <p:txBody>
          <a:bodyPr wrap="square" lIns="45720" rIns="45720" tIns="27432" bIns="27432" anchor="t">
            <a:spAutoFit/>
          </a:bodyPr>
          <a:lstStyle/>
          <a:p>
            <a:pPr algn="l"/>
            <a:r>
              <a:rPr sz="1250" b="0" i="0">
                <a:solidFill>
                  <a:srgbClr val="333333"/>
                </a:solidFill>
                <a:latin typeface="Calibri"/>
              </a:rPr>
              <a:t>What decision does this inform — brand strategy, targeting, access, medical, forecasting? Who acts on it?</a:t>
            </a:r>
          </a:p>
        </p:txBody>
      </p:sp>
      <p:sp>
        <p:nvSpPr>
          <p:cNvPr id="11" name="Oval 10"/>
          <p:cNvSpPr/>
          <p:nvPr/>
        </p:nvSpPr>
        <p:spPr>
          <a:xfrm>
            <a:off x="640080" y="2880360"/>
            <a:ext cx="502920" cy="50292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2</a:t>
            </a:r>
          </a:p>
        </p:txBody>
      </p:sp>
      <p:sp>
        <p:nvSpPr>
          <p:cNvPr id="12" name="TextBox 11"/>
          <p:cNvSpPr txBox="1"/>
          <p:nvPr/>
        </p:nvSpPr>
        <p:spPr>
          <a:xfrm>
            <a:off x="1325880" y="2834640"/>
            <a:ext cx="1828800" cy="365760"/>
          </a:xfrm>
          <a:prstGeom prst="rect">
            <a:avLst/>
          </a:prstGeom>
          <a:noFill/>
        </p:spPr>
        <p:txBody>
          <a:bodyPr wrap="square" lIns="45720" rIns="45720" tIns="27432" bIns="27432" anchor="t">
            <a:spAutoFit/>
          </a:bodyPr>
          <a:lstStyle/>
          <a:p>
            <a:pPr algn="l"/>
            <a:r>
              <a:rPr sz="1500" b="1" i="0">
                <a:solidFill>
                  <a:srgbClr val="1E2761"/>
                </a:solidFill>
                <a:latin typeface="Calibri"/>
              </a:rPr>
              <a:t>Population</a:t>
            </a:r>
          </a:p>
        </p:txBody>
      </p:sp>
      <p:sp>
        <p:nvSpPr>
          <p:cNvPr id="13" name="TextBox 12"/>
          <p:cNvSpPr txBox="1"/>
          <p:nvPr/>
        </p:nvSpPr>
        <p:spPr>
          <a:xfrm>
            <a:off x="3108960" y="2862072"/>
            <a:ext cx="8503920" cy="640080"/>
          </a:xfrm>
          <a:prstGeom prst="rect">
            <a:avLst/>
          </a:prstGeom>
          <a:noFill/>
        </p:spPr>
        <p:txBody>
          <a:bodyPr wrap="square" lIns="45720" rIns="45720" tIns="27432" bIns="27432" anchor="t">
            <a:spAutoFit/>
          </a:bodyPr>
          <a:lstStyle/>
          <a:p>
            <a:pPr algn="l"/>
            <a:r>
              <a:rPr sz="1250" b="0" i="0">
                <a:solidFill>
                  <a:srgbClr val="333333"/>
                </a:solidFill>
                <a:latin typeface="Calibri"/>
              </a:rPr>
              <a:t>Sizing a universe (needs projected / open) or measuring within a defined cohort (needs observed / closed)?</a:t>
            </a:r>
          </a:p>
        </p:txBody>
      </p:sp>
      <p:sp>
        <p:nvSpPr>
          <p:cNvPr id="14" name="Oval 13"/>
          <p:cNvSpPr/>
          <p:nvPr/>
        </p:nvSpPr>
        <p:spPr>
          <a:xfrm>
            <a:off x="640080" y="3657600"/>
            <a:ext cx="502920" cy="50292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3</a:t>
            </a:r>
          </a:p>
        </p:txBody>
      </p:sp>
      <p:sp>
        <p:nvSpPr>
          <p:cNvPr id="15" name="TextBox 14"/>
          <p:cNvSpPr txBox="1"/>
          <p:nvPr/>
        </p:nvSpPr>
        <p:spPr>
          <a:xfrm>
            <a:off x="1325880" y="3611880"/>
            <a:ext cx="1828800" cy="365760"/>
          </a:xfrm>
          <a:prstGeom prst="rect">
            <a:avLst/>
          </a:prstGeom>
          <a:noFill/>
        </p:spPr>
        <p:txBody>
          <a:bodyPr wrap="square" lIns="45720" rIns="45720" tIns="27432" bIns="27432" anchor="t">
            <a:spAutoFit/>
          </a:bodyPr>
          <a:lstStyle/>
          <a:p>
            <a:pPr algn="l"/>
            <a:r>
              <a:rPr sz="1500" b="1" i="0">
                <a:solidFill>
                  <a:srgbClr val="1E2761"/>
                </a:solidFill>
                <a:latin typeface="Calibri"/>
              </a:rPr>
              <a:t>Granularity</a:t>
            </a:r>
          </a:p>
        </p:txBody>
      </p:sp>
      <p:sp>
        <p:nvSpPr>
          <p:cNvPr id="16" name="TextBox 15"/>
          <p:cNvSpPr txBox="1"/>
          <p:nvPr/>
        </p:nvSpPr>
        <p:spPr>
          <a:xfrm>
            <a:off x="3108960" y="3639312"/>
            <a:ext cx="8503920" cy="640080"/>
          </a:xfrm>
          <a:prstGeom prst="rect">
            <a:avLst/>
          </a:prstGeom>
          <a:noFill/>
        </p:spPr>
        <p:txBody>
          <a:bodyPr wrap="square" lIns="45720" rIns="45720" tIns="27432" bIns="27432" anchor="t">
            <a:spAutoFit/>
          </a:bodyPr>
          <a:lstStyle/>
          <a:p>
            <a:pPr algn="l"/>
            <a:r>
              <a:rPr sz="1250" b="0" i="0">
                <a:solidFill>
                  <a:srgbClr val="333333"/>
                </a:solidFill>
                <a:latin typeface="Calibri"/>
              </a:rPr>
              <a:t>Patient-level (claims, EHR) · HCP-level (projected Rx, CRM) · HCO-level (DDD) · geo-level (census)?</a:t>
            </a:r>
          </a:p>
        </p:txBody>
      </p:sp>
      <p:sp>
        <p:nvSpPr>
          <p:cNvPr id="17" name="Oval 16"/>
          <p:cNvSpPr/>
          <p:nvPr/>
        </p:nvSpPr>
        <p:spPr>
          <a:xfrm>
            <a:off x="640080" y="4434840"/>
            <a:ext cx="502920" cy="50292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4</a:t>
            </a:r>
          </a:p>
        </p:txBody>
      </p:sp>
      <p:sp>
        <p:nvSpPr>
          <p:cNvPr id="18" name="TextBox 17"/>
          <p:cNvSpPr txBox="1"/>
          <p:nvPr/>
        </p:nvSpPr>
        <p:spPr>
          <a:xfrm>
            <a:off x="1325880" y="4389120"/>
            <a:ext cx="1828800" cy="365760"/>
          </a:xfrm>
          <a:prstGeom prst="rect">
            <a:avLst/>
          </a:prstGeom>
          <a:noFill/>
        </p:spPr>
        <p:txBody>
          <a:bodyPr wrap="square" lIns="45720" rIns="45720" tIns="27432" bIns="27432" anchor="t">
            <a:spAutoFit/>
          </a:bodyPr>
          <a:lstStyle/>
          <a:p>
            <a:pPr algn="l"/>
            <a:r>
              <a:rPr sz="1500" b="1" i="0">
                <a:solidFill>
                  <a:srgbClr val="1E2761"/>
                </a:solidFill>
                <a:latin typeface="Calibri"/>
              </a:rPr>
              <a:t>Time</a:t>
            </a:r>
          </a:p>
        </p:txBody>
      </p:sp>
      <p:sp>
        <p:nvSpPr>
          <p:cNvPr id="19" name="TextBox 18"/>
          <p:cNvSpPr txBox="1"/>
          <p:nvPr/>
        </p:nvSpPr>
        <p:spPr>
          <a:xfrm>
            <a:off x="3108960" y="4416552"/>
            <a:ext cx="8503920" cy="640080"/>
          </a:xfrm>
          <a:prstGeom prst="rect">
            <a:avLst/>
          </a:prstGeom>
          <a:noFill/>
        </p:spPr>
        <p:txBody>
          <a:bodyPr wrap="square" lIns="45720" rIns="45720" tIns="27432" bIns="27432" anchor="t">
            <a:spAutoFit/>
          </a:bodyPr>
          <a:lstStyle/>
          <a:p>
            <a:pPr algn="l"/>
            <a:r>
              <a:rPr sz="1250" b="0" i="0">
                <a:solidFill>
                  <a:srgbClr val="333333"/>
                </a:solidFill>
                <a:latin typeface="Calibri"/>
              </a:rPr>
              <a:t>Real-time decisioning (CRM, digital) · weekly brand tracking (panels) · quarterly outcomes (closed claims)?</a:t>
            </a:r>
          </a:p>
        </p:txBody>
      </p:sp>
      <p:sp>
        <p:nvSpPr>
          <p:cNvPr id="20" name="Oval 19"/>
          <p:cNvSpPr/>
          <p:nvPr/>
        </p:nvSpPr>
        <p:spPr>
          <a:xfrm>
            <a:off x="640080" y="5212079"/>
            <a:ext cx="502920" cy="50292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5</a:t>
            </a:r>
          </a:p>
        </p:txBody>
      </p:sp>
      <p:sp>
        <p:nvSpPr>
          <p:cNvPr id="21" name="TextBox 20"/>
          <p:cNvSpPr txBox="1"/>
          <p:nvPr/>
        </p:nvSpPr>
        <p:spPr>
          <a:xfrm>
            <a:off x="1325880" y="5166359"/>
            <a:ext cx="1828800" cy="365760"/>
          </a:xfrm>
          <a:prstGeom prst="rect">
            <a:avLst/>
          </a:prstGeom>
          <a:noFill/>
        </p:spPr>
        <p:txBody>
          <a:bodyPr wrap="square" lIns="45720" rIns="45720" tIns="27432" bIns="27432" anchor="t">
            <a:spAutoFit/>
          </a:bodyPr>
          <a:lstStyle/>
          <a:p>
            <a:pPr algn="l"/>
            <a:r>
              <a:rPr sz="1500" b="1" i="0">
                <a:solidFill>
                  <a:srgbClr val="1E2761"/>
                </a:solidFill>
                <a:latin typeface="Calibri"/>
              </a:rPr>
              <a:t>Cost &amp; rights</a:t>
            </a:r>
          </a:p>
        </p:txBody>
      </p:sp>
      <p:sp>
        <p:nvSpPr>
          <p:cNvPr id="22" name="TextBox 21"/>
          <p:cNvSpPr txBox="1"/>
          <p:nvPr/>
        </p:nvSpPr>
        <p:spPr>
          <a:xfrm>
            <a:off x="3108960" y="5193792"/>
            <a:ext cx="8503920" cy="640080"/>
          </a:xfrm>
          <a:prstGeom prst="rect">
            <a:avLst/>
          </a:prstGeom>
          <a:noFill/>
        </p:spPr>
        <p:txBody>
          <a:bodyPr wrap="square" lIns="45720" rIns="45720" tIns="27432" bIns="27432" anchor="t">
            <a:spAutoFit/>
          </a:bodyPr>
          <a:lstStyle/>
          <a:p>
            <a:pPr algn="l"/>
            <a:r>
              <a:rPr sz="1250" b="0" i="0">
                <a:solidFill>
                  <a:srgbClr val="333333"/>
                </a:solidFill>
                <a:latin typeface="Calibri"/>
              </a:rPr>
              <a:t>License cost, refresh, what you may link, what you may not re-identify, and whether the vendor allows model 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02</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Claims 101</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Header vs. line, place of service, and the four code systems that join every dataset in this course.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12 /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ANATOMY</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Anatomy of a medical claim: one header, many lines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 837 professional (office) and institutional (facility) formats differ, but the shape is the same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13 / 44</a:t>
            </a:r>
          </a:p>
        </p:txBody>
      </p:sp>
      <p:sp>
        <p:nvSpPr>
          <p:cNvPr id="8" name="Rectangle 7"/>
          <p:cNvSpPr/>
          <p:nvPr/>
        </p:nvSpPr>
        <p:spPr>
          <a:xfrm>
            <a:off x="548640" y="2057400"/>
            <a:ext cx="4846320" cy="4114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4572000" cy="365760"/>
          </a:xfrm>
          <a:prstGeom prst="rect">
            <a:avLst/>
          </a:prstGeom>
          <a:noFill/>
        </p:spPr>
        <p:txBody>
          <a:bodyPr wrap="square" lIns="45720" rIns="45720" tIns="27432" bIns="27432" anchor="t">
            <a:spAutoFit/>
          </a:bodyPr>
          <a:lstStyle/>
          <a:p>
            <a:pPr algn="l"/>
            <a:r>
              <a:rPr sz="1300" b="1" i="0">
                <a:solidFill>
                  <a:srgbClr val="CADCFC"/>
                </a:solidFill>
                <a:latin typeface="Calibri"/>
              </a:rPr>
              <a:t>HEADER — one per claim</a:t>
            </a:r>
          </a:p>
        </p:txBody>
      </p:sp>
      <p:sp>
        <p:nvSpPr>
          <p:cNvPr id="10" name="TextBox 9"/>
          <p:cNvSpPr txBox="1"/>
          <p:nvPr/>
        </p:nvSpPr>
        <p:spPr>
          <a:xfrm>
            <a:off x="731520" y="2560320"/>
            <a:ext cx="4572000" cy="3566160"/>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FFFFFF"/>
                </a:solidFill>
                <a:latin typeface="Calibri"/>
              </a:rPr>
              <a:t>claim_id · patient token</a:t>
            </a:r>
          </a:p>
          <a:p>
            <a:pPr>
              <a:spcAft>
                <a:spcPts val="500"/>
              </a:spcAft>
            </a:pPr>
            <a:r>
              <a:rPr sz="1200" b="1">
                <a:solidFill>
                  <a:srgbClr val="FF6B6B"/>
                </a:solidFill>
                <a:latin typeface="Calibri"/>
              </a:rPr>
              <a:t>▸ </a:t>
            </a:r>
            <a:r>
              <a:rPr sz="1200">
                <a:solidFill>
                  <a:srgbClr val="FFFFFF"/>
                </a:solidFill>
                <a:latin typeface="Calibri"/>
              </a:rPr>
              <a:t>billing provider / HCO (NPI, tax ID)</a:t>
            </a:r>
          </a:p>
          <a:p>
            <a:pPr>
              <a:spcAft>
                <a:spcPts val="500"/>
              </a:spcAft>
            </a:pPr>
            <a:r>
              <a:rPr sz="1200" b="1">
                <a:solidFill>
                  <a:srgbClr val="FF6B6B"/>
                </a:solidFill>
                <a:latin typeface="Calibri"/>
              </a:rPr>
              <a:t>▸ </a:t>
            </a:r>
            <a:r>
              <a:rPr sz="1200">
                <a:solidFill>
                  <a:srgbClr val="FFFFFF"/>
                </a:solidFill>
                <a:latin typeface="Calibri"/>
              </a:rPr>
              <a:t>payer, plan, member ID</a:t>
            </a:r>
          </a:p>
          <a:p>
            <a:pPr>
              <a:spcAft>
                <a:spcPts val="500"/>
              </a:spcAft>
            </a:pPr>
            <a:r>
              <a:rPr sz="1200" b="1">
                <a:solidFill>
                  <a:srgbClr val="FF6B6B"/>
                </a:solidFill>
                <a:latin typeface="Calibri"/>
              </a:rPr>
              <a:t>▸ </a:t>
            </a:r>
            <a:r>
              <a:rPr sz="1200">
                <a:solidFill>
                  <a:srgbClr val="FFFFFF"/>
                </a:solidFill>
                <a:latin typeface="Calibri"/>
              </a:rPr>
              <a:t>dates of service (from / to)</a:t>
            </a:r>
          </a:p>
          <a:p>
            <a:pPr>
              <a:spcAft>
                <a:spcPts val="500"/>
              </a:spcAft>
            </a:pPr>
            <a:r>
              <a:rPr sz="1200" b="1">
                <a:solidFill>
                  <a:srgbClr val="FF6B6B"/>
                </a:solidFill>
                <a:latin typeface="Calibri"/>
              </a:rPr>
              <a:t>▸ </a:t>
            </a:r>
            <a:r>
              <a:rPr sz="1200">
                <a:solidFill>
                  <a:srgbClr val="FFFFFF"/>
                </a:solidFill>
                <a:latin typeface="Calibri"/>
              </a:rPr>
              <a:t>place of service (11 office · 22 hospital outpatient · 21 inpatient)</a:t>
            </a:r>
          </a:p>
          <a:p>
            <a:pPr>
              <a:spcAft>
                <a:spcPts val="500"/>
              </a:spcAft>
            </a:pPr>
            <a:r>
              <a:rPr sz="1200" b="1">
                <a:solidFill>
                  <a:srgbClr val="FF6B6B"/>
                </a:solidFill>
                <a:latin typeface="Calibri"/>
              </a:rPr>
              <a:t>▸ </a:t>
            </a:r>
            <a:r>
              <a:rPr sz="1200">
                <a:solidFill>
                  <a:srgbClr val="FFFFFF"/>
                </a:solidFill>
                <a:latin typeface="Calibri"/>
              </a:rPr>
              <a:t>up to 12 diagnosis codes (ICD-10-CM); dx1 = primary</a:t>
            </a:r>
          </a:p>
          <a:p>
            <a:pPr>
              <a:spcAft>
                <a:spcPts val="500"/>
              </a:spcAft>
            </a:pPr>
            <a:r>
              <a:rPr sz="1200" b="1">
                <a:solidFill>
                  <a:srgbClr val="FF6B6B"/>
                </a:solidFill>
                <a:latin typeface="Calibri"/>
              </a:rPr>
              <a:t>▸ </a:t>
            </a:r>
            <a:r>
              <a:rPr sz="1200">
                <a:solidFill>
                  <a:srgbClr val="FFFFFF"/>
                </a:solidFill>
                <a:latin typeface="Calibri"/>
              </a:rPr>
              <a:t>total billed · allowed · paid · patient responsibility</a:t>
            </a:r>
          </a:p>
        </p:txBody>
      </p:sp>
      <p:sp>
        <p:nvSpPr>
          <p:cNvPr id="11" name="Rectangle 10"/>
          <p:cNvSpPr/>
          <p:nvPr/>
        </p:nvSpPr>
        <p:spPr>
          <a:xfrm>
            <a:off x="5669280" y="2057400"/>
            <a:ext cx="5943600" cy="41148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2148840"/>
            <a:ext cx="5486400" cy="365760"/>
          </a:xfrm>
          <a:prstGeom prst="rect">
            <a:avLst/>
          </a:prstGeom>
          <a:noFill/>
        </p:spPr>
        <p:txBody>
          <a:bodyPr wrap="square" lIns="45720" rIns="45720" tIns="27432" bIns="27432" anchor="t">
            <a:spAutoFit/>
          </a:bodyPr>
          <a:lstStyle/>
          <a:p>
            <a:pPr algn="l"/>
            <a:r>
              <a:rPr sz="1300" b="1" i="0">
                <a:solidFill>
                  <a:srgbClr val="1E2761"/>
                </a:solidFill>
                <a:latin typeface="Calibri"/>
              </a:rPr>
              <a:t>LINES — one per service</a:t>
            </a:r>
          </a:p>
        </p:txBody>
      </p:sp>
      <p:sp>
        <p:nvSpPr>
          <p:cNvPr id="13" name="TextBox 12"/>
          <p:cNvSpPr txBox="1"/>
          <p:nvPr/>
        </p:nvSpPr>
        <p:spPr>
          <a:xfrm>
            <a:off x="5852160" y="2560320"/>
            <a:ext cx="5577840" cy="3566160"/>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b="1" sz="1200">
                <a:solidFill>
                  <a:srgbClr val="1E2761"/>
                </a:solidFill>
                <a:latin typeface="Calibri"/>
              </a:rPr>
              <a:t>procedure code: </a:t>
            </a:r>
            <a:r>
              <a:rPr sz="1200">
                <a:solidFill>
                  <a:srgbClr val="333333"/>
                </a:solidFill>
                <a:latin typeface="Calibri"/>
              </a:rPr>
              <a:t>CPT (99214 office visit, 96413 chemo infusion) or HCPCS Level II (J9312 rituximab, Q2041 axi-cel)</a:t>
            </a:r>
          </a:p>
          <a:p>
            <a:pPr>
              <a:spcAft>
                <a:spcPts val="500"/>
              </a:spcAft>
            </a:pPr>
            <a:r>
              <a:rPr sz="1200" b="1">
                <a:solidFill>
                  <a:srgbClr val="FF6B6B"/>
                </a:solidFill>
                <a:latin typeface="Calibri"/>
              </a:rPr>
              <a:t>▸ </a:t>
            </a:r>
            <a:r>
              <a:rPr b="1" sz="1200">
                <a:solidFill>
                  <a:srgbClr val="1E2761"/>
                </a:solidFill>
                <a:latin typeface="Calibri"/>
              </a:rPr>
              <a:t>units: </a:t>
            </a:r>
            <a:r>
              <a:rPr sz="1200">
                <a:solidFill>
                  <a:srgbClr val="333333"/>
                </a:solidFill>
                <a:latin typeface="Calibri"/>
              </a:rPr>
              <a:t>J-code units are dose units (J9312 = 10 mg); 20 units = 200 mg</a:t>
            </a:r>
          </a:p>
          <a:p>
            <a:pPr>
              <a:spcAft>
                <a:spcPts val="500"/>
              </a:spcAft>
            </a:pPr>
            <a:r>
              <a:rPr sz="1200" b="1">
                <a:solidFill>
                  <a:srgbClr val="FF6B6B"/>
                </a:solidFill>
                <a:latin typeface="Calibri"/>
              </a:rPr>
              <a:t>▸ </a:t>
            </a:r>
            <a:r>
              <a:rPr b="1" sz="1200">
                <a:solidFill>
                  <a:srgbClr val="1E2761"/>
                </a:solidFill>
                <a:latin typeface="Calibri"/>
              </a:rPr>
              <a:t>rendering provider NPI </a:t>
            </a:r>
            <a:r>
              <a:rPr sz="1200">
                <a:solidFill>
                  <a:srgbClr val="333333"/>
                </a:solidFill>
                <a:latin typeface="Calibri"/>
              </a:rPr>
              <a:t>(the clinician), which may differ from the billing NPI</a:t>
            </a:r>
          </a:p>
          <a:p>
            <a:pPr>
              <a:spcAft>
                <a:spcPts val="500"/>
              </a:spcAft>
            </a:pPr>
            <a:r>
              <a:rPr sz="1200" b="1">
                <a:solidFill>
                  <a:srgbClr val="FF6B6B"/>
                </a:solidFill>
                <a:latin typeface="Calibri"/>
              </a:rPr>
              <a:t>▸ </a:t>
            </a:r>
            <a:r>
              <a:rPr b="1" sz="1200">
                <a:solidFill>
                  <a:srgbClr val="1E2761"/>
                </a:solidFill>
                <a:latin typeface="Calibri"/>
              </a:rPr>
              <a:t>dx pointer: </a:t>
            </a:r>
            <a:r>
              <a:rPr sz="1200">
                <a:solidFill>
                  <a:srgbClr val="333333"/>
                </a:solidFill>
                <a:latin typeface="Calibri"/>
              </a:rPr>
              <a:t>which of the header diagnoses this line is for</a:t>
            </a:r>
          </a:p>
          <a:p>
            <a:pPr>
              <a:spcAft>
                <a:spcPts val="500"/>
              </a:spcAft>
            </a:pPr>
            <a:r>
              <a:rPr sz="1200" b="1">
                <a:solidFill>
                  <a:srgbClr val="FF6B6B"/>
                </a:solidFill>
                <a:latin typeface="Calibri"/>
              </a:rPr>
              <a:t>▸ </a:t>
            </a:r>
            <a:r>
              <a:rPr b="1" sz="1200">
                <a:solidFill>
                  <a:srgbClr val="1E2761"/>
                </a:solidFill>
                <a:latin typeface="Calibri"/>
              </a:rPr>
              <a:t>line allowed / paid amounts; revenue code </a:t>
            </a:r>
            <a:r>
              <a:rPr sz="1200">
                <a:solidFill>
                  <a:srgbClr val="333333"/>
                </a:solidFill>
                <a:latin typeface="Calibri"/>
              </a:rPr>
              <a:t>on facility claims (0636 = drugs requiring detail coding)</a:t>
            </a:r>
          </a:p>
          <a:p>
            <a:pPr>
              <a:spcAft>
                <a:spcPts val="500"/>
              </a:spcAft>
            </a:pPr>
            <a:r>
              <a:rPr sz="1200" b="1">
                <a:solidFill>
                  <a:srgbClr val="FF6B6B"/>
                </a:solidFill>
                <a:latin typeface="Calibri"/>
              </a:rPr>
              <a:t>▸ </a:t>
            </a:r>
            <a:r>
              <a:rPr b="1" sz="1200">
                <a:solidFill>
                  <a:srgbClr val="1E2761"/>
                </a:solidFill>
                <a:latin typeface="Calibri"/>
              </a:rPr>
              <a:t>modifiers: </a:t>
            </a:r>
            <a:r>
              <a:rPr sz="1200">
                <a:solidFill>
                  <a:srgbClr val="333333"/>
                </a:solidFill>
                <a:latin typeface="Calibri"/>
              </a:rPr>
              <a:t>JW (drug wastage), 25, 59 …</a:t>
            </a:r>
          </a:p>
        </p:txBody>
      </p:sp>
      <p:sp>
        <p:nvSpPr>
          <p:cNvPr id="14" name="TextBox 13"/>
          <p:cNvSpPr txBox="1"/>
          <p:nvPr/>
        </p:nvSpPr>
        <p:spPr>
          <a:xfrm>
            <a:off x="548640" y="6263640"/>
            <a:ext cx="11064240" cy="365760"/>
          </a:xfrm>
          <a:prstGeom prst="rect">
            <a:avLst/>
          </a:prstGeom>
          <a:noFill/>
        </p:spPr>
        <p:txBody>
          <a:bodyPr wrap="square" lIns="45720" rIns="45720" tIns="27432" bIns="27432" anchor="t">
            <a:spAutoFit/>
          </a:bodyPr>
          <a:lstStyle/>
          <a:p>
            <a:pPr algn="l"/>
            <a:r>
              <a:rPr sz="1100" b="0" i="1">
                <a:solidFill>
                  <a:srgbClr val="666666"/>
                </a:solidFill>
                <a:latin typeface="Calibri"/>
              </a:rPr>
              <a:t>In vendor extracts the header is usually denormalized onto every line — which is why the same diagnosis appears 31,000 times in tonight's file.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CODE SYSTEMS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The code systems — the keys that join every dataset in this course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Glossary entries exist for all of these (Week 1 handout). Tonight: what each one looks like and what it is for.</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14 / 44</a:t>
            </a:r>
          </a:p>
        </p:txBody>
      </p:sp>
      <p:graphicFrame>
        <p:nvGraphicFramePr>
          <p:cNvPr id="8" name="Table 7"/>
          <p:cNvGraphicFramePr>
            <a:graphicFrameLocks noGrp="1"/>
          </p:cNvGraphicFramePr>
          <p:nvPr/>
        </p:nvGraphicFramePr>
        <p:xfrm>
          <a:off x="548640" y="2057400"/>
          <a:ext cx="11064240" cy="4114800"/>
        </p:xfrm>
        <a:graphic>
          <a:graphicData uri="http://schemas.openxmlformats.org/drawingml/2006/table">
            <a:tbl>
              <a:tblPr firstRow="1" bandRow="1">
                <a:tableStyleId>{5C22544A-7EE6-4342-B048-85BDC9FD1C3A}</a:tableStyleId>
              </a:tblPr>
              <a:tblGrid>
                <a:gridCol w="1188720"/>
                <a:gridCol w="1828800"/>
                <a:gridCol w="1737360"/>
                <a:gridCol w="1188720"/>
                <a:gridCol w="1737360"/>
                <a:gridCol w="3383280"/>
              </a:tblGrid>
              <a:tr h="457200">
                <a:tc>
                  <a:txBody>
                    <a:bodyPr wrap="square"/>
                    <a:lstStyle/>
                    <a:p>
                      <a:r>
                        <a:rPr sz="950" b="1">
                          <a:solidFill>
                            <a:srgbClr val="FFFFFF"/>
                          </a:solidFill>
                          <a:latin typeface="Calibri"/>
                        </a:rPr>
                        <a:t>Code</a:t>
                      </a:r>
                    </a:p>
                  </a:txBody>
                  <a:tcPr marL="54864" marR="54864" marT="27432" marB="27432">
                    <a:solidFill>
                      <a:srgbClr val="1E2761"/>
                    </a:solidFill>
                  </a:tcPr>
                </a:tc>
                <a:tc>
                  <a:txBody>
                    <a:bodyPr wrap="square"/>
                    <a:lstStyle/>
                    <a:p>
                      <a:r>
                        <a:rPr sz="950" b="1">
                          <a:solidFill>
                            <a:srgbClr val="FFFFFF"/>
                          </a:solidFill>
                          <a:latin typeface="Calibri"/>
                        </a:rPr>
                        <a:t>Looks like</a:t>
                      </a:r>
                    </a:p>
                  </a:txBody>
                  <a:tcPr marL="54864" marR="54864" marT="27432" marB="27432">
                    <a:solidFill>
                      <a:srgbClr val="1E2761"/>
                    </a:solidFill>
                  </a:tcPr>
                </a:tc>
                <a:tc>
                  <a:txBody>
                    <a:bodyPr wrap="square"/>
                    <a:lstStyle/>
                    <a:p>
                      <a:r>
                        <a:rPr sz="950" b="1">
                          <a:solidFill>
                            <a:srgbClr val="FFFFFF"/>
                          </a:solidFill>
                          <a:latin typeface="Calibri"/>
                        </a:rPr>
                        <a:t>Identifies</a:t>
                      </a:r>
                    </a:p>
                  </a:txBody>
                  <a:tcPr marL="54864" marR="54864" marT="27432" marB="27432">
                    <a:solidFill>
                      <a:srgbClr val="1E2761"/>
                    </a:solidFill>
                  </a:tcPr>
                </a:tc>
                <a:tc>
                  <a:txBody>
                    <a:bodyPr wrap="square"/>
                    <a:lstStyle/>
                    <a:p>
                      <a:r>
                        <a:rPr sz="950" b="1">
                          <a:solidFill>
                            <a:srgbClr val="FFFFFF"/>
                          </a:solidFill>
                          <a:latin typeface="Calibri"/>
                        </a:rPr>
                        <a:t>Owner</a:t>
                      </a:r>
                    </a:p>
                  </a:txBody>
                  <a:tcPr marL="54864" marR="54864" marT="27432" marB="27432">
                    <a:solidFill>
                      <a:srgbClr val="1E2761"/>
                    </a:solidFill>
                  </a:tcPr>
                </a:tc>
                <a:tc>
                  <a:txBody>
                    <a:bodyPr wrap="square"/>
                    <a:lstStyle/>
                    <a:p>
                      <a:r>
                        <a:rPr sz="950" b="1">
                          <a:solidFill>
                            <a:srgbClr val="FFFFFF"/>
                          </a:solidFill>
                          <a:latin typeface="Calibri"/>
                        </a:rPr>
                        <a:t>Where it appears</a:t>
                      </a:r>
                    </a:p>
                  </a:txBody>
                  <a:tcPr marL="54864" marR="54864" marT="27432" marB="27432">
                    <a:solidFill>
                      <a:srgbClr val="1E2761"/>
                    </a:solidFill>
                  </a:tcPr>
                </a:tc>
                <a:tc>
                  <a:txBody>
                    <a:bodyPr wrap="square"/>
                    <a:lstStyle/>
                    <a:p>
                      <a:r>
                        <a:rPr sz="950" b="1">
                          <a:solidFill>
                            <a:srgbClr val="FFFFFF"/>
                          </a:solidFill>
                          <a:latin typeface="Calibri"/>
                        </a:rPr>
                        <a:t>Watch out for</a:t>
                      </a:r>
                    </a:p>
                  </a:txBody>
                  <a:tcPr marL="54864" marR="54864" marT="27432" marB="27432">
                    <a:solidFill>
                      <a:srgbClr val="1E2761"/>
                    </a:solidFill>
                  </a:tcPr>
                </a:tc>
              </a:tr>
              <a:tr h="457200">
                <a:tc>
                  <a:txBody>
                    <a:bodyPr wrap="square"/>
                    <a:lstStyle/>
                    <a:p>
                      <a:r>
                        <a:rPr sz="950" b="1">
                          <a:solidFill>
                            <a:srgbClr val="1E2761"/>
                          </a:solidFill>
                          <a:latin typeface="Calibri"/>
                        </a:rPr>
                        <a:t>ICD-10-CM</a:t>
                      </a:r>
                    </a:p>
                  </a:txBody>
                  <a:tcPr marL="54864" marR="54864" marT="27432" marB="27432">
                    <a:solidFill>
                      <a:srgbClr val="FFFFFF"/>
                    </a:solidFill>
                  </a:tcPr>
                </a:tc>
                <a:tc>
                  <a:txBody>
                    <a:bodyPr wrap="square"/>
                    <a:lstStyle/>
                    <a:p>
                      <a:r>
                        <a:rPr sz="950" b="0">
                          <a:solidFill>
                            <a:srgbClr val="333333"/>
                          </a:solidFill>
                          <a:latin typeface="Calibri"/>
                        </a:rPr>
                        <a:t>C83.30 · E11.65</a:t>
                      </a:r>
                    </a:p>
                  </a:txBody>
                  <a:tcPr marL="54864" marR="54864" marT="27432" marB="27432">
                    <a:solidFill>
                      <a:srgbClr val="FFFFFF"/>
                    </a:solidFill>
                  </a:tcPr>
                </a:tc>
                <a:tc>
                  <a:txBody>
                    <a:bodyPr wrap="square"/>
                    <a:lstStyle/>
                    <a:p>
                      <a:r>
                        <a:rPr sz="950" b="0">
                          <a:solidFill>
                            <a:srgbClr val="333333"/>
                          </a:solidFill>
                          <a:latin typeface="Calibri"/>
                        </a:rPr>
                        <a:t>Diagnosis (why)</a:t>
                      </a:r>
                    </a:p>
                  </a:txBody>
                  <a:tcPr marL="54864" marR="54864" marT="27432" marB="27432">
                    <a:solidFill>
                      <a:srgbClr val="FFFFFF"/>
                    </a:solidFill>
                  </a:tcPr>
                </a:tc>
                <a:tc>
                  <a:txBody>
                    <a:bodyPr wrap="square"/>
                    <a:lstStyle/>
                    <a:p>
                      <a:r>
                        <a:rPr sz="950" b="0">
                          <a:solidFill>
                            <a:srgbClr val="333333"/>
                          </a:solidFill>
                          <a:latin typeface="Calibri"/>
                        </a:rPr>
                        <a:t>CDC / CMS</a:t>
                      </a:r>
                    </a:p>
                  </a:txBody>
                  <a:tcPr marL="54864" marR="54864" marT="27432" marB="27432">
                    <a:solidFill>
                      <a:srgbClr val="FFFFFF"/>
                    </a:solidFill>
                  </a:tcPr>
                </a:tc>
                <a:tc>
                  <a:txBody>
                    <a:bodyPr wrap="square"/>
                    <a:lstStyle/>
                    <a:p>
                      <a:r>
                        <a:rPr sz="950" b="0">
                          <a:solidFill>
                            <a:srgbClr val="333333"/>
                          </a:solidFill>
                          <a:latin typeface="Calibri"/>
                        </a:rPr>
                        <a:t>Medical claim header</a:t>
                      </a:r>
                    </a:p>
                  </a:txBody>
                  <a:tcPr marL="54864" marR="54864" marT="27432" marB="27432">
                    <a:solidFill>
                      <a:srgbClr val="FFFFFF"/>
                    </a:solidFill>
                  </a:tcPr>
                </a:tc>
                <a:tc>
                  <a:txBody>
                    <a:bodyPr wrap="square"/>
                    <a:lstStyle/>
                    <a:p>
                      <a:r>
                        <a:rPr sz="950" b="0">
                          <a:solidFill>
                            <a:srgbClr val="333333"/>
                          </a:solidFill>
                          <a:latin typeface="Calibri"/>
                        </a:rPr>
                        <a:t>Rule-outs coded as dx; specificity varies by coder; annual updates (Oct 1)</a:t>
                      </a:r>
                    </a:p>
                  </a:txBody>
                  <a:tcPr marL="54864" marR="54864" marT="27432" marB="27432">
                    <a:solidFill>
                      <a:srgbClr val="FFFFFF"/>
                    </a:solidFill>
                  </a:tcPr>
                </a:tc>
              </a:tr>
              <a:tr h="457200">
                <a:tc>
                  <a:txBody>
                    <a:bodyPr wrap="square"/>
                    <a:lstStyle/>
                    <a:p>
                      <a:r>
                        <a:rPr sz="950" b="1">
                          <a:solidFill>
                            <a:srgbClr val="1E2761"/>
                          </a:solidFill>
                          <a:latin typeface="Calibri"/>
                        </a:rPr>
                        <a:t>CPT</a:t>
                      </a:r>
                    </a:p>
                  </a:txBody>
                  <a:tcPr marL="54864" marR="54864" marT="27432" marB="27432">
                    <a:solidFill>
                      <a:srgbClr val="F3F6FC"/>
                    </a:solidFill>
                  </a:tcPr>
                </a:tc>
                <a:tc>
                  <a:txBody>
                    <a:bodyPr wrap="square"/>
                    <a:lstStyle/>
                    <a:p>
                      <a:r>
                        <a:rPr sz="950" b="0">
                          <a:solidFill>
                            <a:srgbClr val="333333"/>
                          </a:solidFill>
                          <a:latin typeface="Calibri"/>
                        </a:rPr>
                        <a:t>99214 · 96413</a:t>
                      </a:r>
                    </a:p>
                  </a:txBody>
                  <a:tcPr marL="54864" marR="54864" marT="27432" marB="27432">
                    <a:solidFill>
                      <a:srgbClr val="F3F6FC"/>
                    </a:solidFill>
                  </a:tcPr>
                </a:tc>
                <a:tc>
                  <a:txBody>
                    <a:bodyPr wrap="square"/>
                    <a:lstStyle/>
                    <a:p>
                      <a:r>
                        <a:rPr sz="950" b="0">
                          <a:solidFill>
                            <a:srgbClr val="333333"/>
                          </a:solidFill>
                          <a:latin typeface="Calibri"/>
                        </a:rPr>
                        <a:t>Procedure / service (what)</a:t>
                      </a:r>
                    </a:p>
                  </a:txBody>
                  <a:tcPr marL="54864" marR="54864" marT="27432" marB="27432">
                    <a:solidFill>
                      <a:srgbClr val="F3F6FC"/>
                    </a:solidFill>
                  </a:tcPr>
                </a:tc>
                <a:tc>
                  <a:txBody>
                    <a:bodyPr wrap="square"/>
                    <a:lstStyle/>
                    <a:p>
                      <a:r>
                        <a:rPr sz="950" b="0">
                          <a:solidFill>
                            <a:srgbClr val="333333"/>
                          </a:solidFill>
                          <a:latin typeface="Calibri"/>
                        </a:rPr>
                        <a:t>AMA</a:t>
                      </a:r>
                    </a:p>
                  </a:txBody>
                  <a:tcPr marL="54864" marR="54864" marT="27432" marB="27432">
                    <a:solidFill>
                      <a:srgbClr val="F3F6FC"/>
                    </a:solidFill>
                  </a:tcPr>
                </a:tc>
                <a:tc>
                  <a:txBody>
                    <a:bodyPr wrap="square"/>
                    <a:lstStyle/>
                    <a:p>
                      <a:r>
                        <a:rPr sz="950" b="0">
                          <a:solidFill>
                            <a:srgbClr val="333333"/>
                          </a:solidFill>
                          <a:latin typeface="Calibri"/>
                        </a:rPr>
                        <a:t>Medical claim line</a:t>
                      </a:r>
                    </a:p>
                  </a:txBody>
                  <a:tcPr marL="54864" marR="54864" marT="27432" marB="27432">
                    <a:solidFill>
                      <a:srgbClr val="F3F6FC"/>
                    </a:solidFill>
                  </a:tcPr>
                </a:tc>
                <a:tc>
                  <a:txBody>
                    <a:bodyPr wrap="square"/>
                    <a:lstStyle/>
                    <a:p>
                      <a:r>
                        <a:rPr sz="950" b="0">
                          <a:solidFill>
                            <a:srgbClr val="333333"/>
                          </a:solidFill>
                          <a:latin typeface="Calibri"/>
                        </a:rPr>
                        <a:t>E/M levels reflect billing, not severity</a:t>
                      </a:r>
                    </a:p>
                  </a:txBody>
                  <a:tcPr marL="54864" marR="54864" marT="27432" marB="27432">
                    <a:solidFill>
                      <a:srgbClr val="F3F6FC"/>
                    </a:solidFill>
                  </a:tcPr>
                </a:tc>
              </a:tr>
              <a:tr h="457200">
                <a:tc>
                  <a:txBody>
                    <a:bodyPr wrap="square"/>
                    <a:lstStyle/>
                    <a:p>
                      <a:r>
                        <a:rPr sz="950" b="1">
                          <a:solidFill>
                            <a:srgbClr val="1E2761"/>
                          </a:solidFill>
                          <a:latin typeface="Calibri"/>
                        </a:rPr>
                        <a:t>HCPCS Level II</a:t>
                      </a:r>
                    </a:p>
                  </a:txBody>
                  <a:tcPr marL="54864" marR="54864" marT="27432" marB="27432">
                    <a:solidFill>
                      <a:srgbClr val="FFFFFF"/>
                    </a:solidFill>
                  </a:tcPr>
                </a:tc>
                <a:tc>
                  <a:txBody>
                    <a:bodyPr wrap="square"/>
                    <a:lstStyle/>
                    <a:p>
                      <a:r>
                        <a:rPr sz="950" b="0">
                          <a:solidFill>
                            <a:srgbClr val="333333"/>
                          </a:solidFill>
                          <a:latin typeface="Calibri"/>
                        </a:rPr>
                        <a:t>J9312 · Q2041 · G0463</a:t>
                      </a:r>
                    </a:p>
                  </a:txBody>
                  <a:tcPr marL="54864" marR="54864" marT="27432" marB="27432">
                    <a:solidFill>
                      <a:srgbClr val="FFFFFF"/>
                    </a:solidFill>
                  </a:tcPr>
                </a:tc>
                <a:tc>
                  <a:txBody>
                    <a:bodyPr wrap="square"/>
                    <a:lstStyle/>
                    <a:p>
                      <a:r>
                        <a:rPr sz="950" b="0">
                          <a:solidFill>
                            <a:srgbClr val="333333"/>
                          </a:solidFill>
                          <a:latin typeface="Calibri"/>
                        </a:rPr>
                        <a:t>Drugs, biologics, supplies</a:t>
                      </a:r>
                    </a:p>
                  </a:txBody>
                  <a:tcPr marL="54864" marR="54864" marT="27432" marB="27432">
                    <a:solidFill>
                      <a:srgbClr val="FFFFFF"/>
                    </a:solidFill>
                  </a:tcPr>
                </a:tc>
                <a:tc>
                  <a:txBody>
                    <a:bodyPr wrap="square"/>
                    <a:lstStyle/>
                    <a:p>
                      <a:r>
                        <a:rPr sz="950" b="0">
                          <a:solidFill>
                            <a:srgbClr val="333333"/>
                          </a:solidFill>
                          <a:latin typeface="Calibri"/>
                        </a:rPr>
                        <a:t>CMS</a:t>
                      </a:r>
                    </a:p>
                  </a:txBody>
                  <a:tcPr marL="54864" marR="54864" marT="27432" marB="27432">
                    <a:solidFill>
                      <a:srgbClr val="FFFFFF"/>
                    </a:solidFill>
                  </a:tcPr>
                </a:tc>
                <a:tc>
                  <a:txBody>
                    <a:bodyPr wrap="square"/>
                    <a:lstStyle/>
                    <a:p>
                      <a:r>
                        <a:rPr sz="950" b="0">
                          <a:solidFill>
                            <a:srgbClr val="333333"/>
                          </a:solidFill>
                          <a:latin typeface="Calibri"/>
                        </a:rPr>
                        <a:t>Medical claim line</a:t>
                      </a:r>
                    </a:p>
                  </a:txBody>
                  <a:tcPr marL="54864" marR="54864" marT="27432" marB="27432">
                    <a:solidFill>
                      <a:srgbClr val="FFFFFF"/>
                    </a:solidFill>
                  </a:tcPr>
                </a:tc>
                <a:tc>
                  <a:txBody>
                    <a:bodyPr wrap="square"/>
                    <a:lstStyle/>
                    <a:p>
                      <a:r>
                        <a:rPr sz="950" b="0">
                          <a:solidFill>
                            <a:srgbClr val="333333"/>
                          </a:solidFill>
                          <a:latin typeface="Calibri"/>
                        </a:rPr>
                        <a:t>New drugs sit in J3490 / C9399 'unclassified' for ~6 months</a:t>
                      </a:r>
                    </a:p>
                  </a:txBody>
                  <a:tcPr marL="54864" marR="54864" marT="27432" marB="27432">
                    <a:solidFill>
                      <a:srgbClr val="FFFFFF"/>
                    </a:solidFill>
                  </a:tcPr>
                </a:tc>
              </a:tr>
              <a:tr h="457200">
                <a:tc>
                  <a:txBody>
                    <a:bodyPr wrap="square"/>
                    <a:lstStyle/>
                    <a:p>
                      <a:r>
                        <a:rPr sz="950" b="1">
                          <a:solidFill>
                            <a:srgbClr val="1E2761"/>
                          </a:solidFill>
                          <a:latin typeface="Calibri"/>
                        </a:rPr>
                        <a:t>NDC</a:t>
                      </a:r>
                    </a:p>
                  </a:txBody>
                  <a:tcPr marL="54864" marR="54864" marT="27432" marB="27432">
                    <a:solidFill>
                      <a:srgbClr val="F3F6FC"/>
                    </a:solidFill>
                  </a:tcPr>
                </a:tc>
                <a:tc>
                  <a:txBody>
                    <a:bodyPr wrap="square"/>
                    <a:lstStyle/>
                    <a:p>
                      <a:r>
                        <a:rPr sz="950" b="0">
                          <a:solidFill>
                            <a:srgbClr val="333333"/>
                          </a:solidFill>
                          <a:latin typeface="Calibri"/>
                        </a:rPr>
                        <a:t>0002-1434-80 → 00002143480</a:t>
                      </a:r>
                    </a:p>
                  </a:txBody>
                  <a:tcPr marL="54864" marR="54864" marT="27432" marB="27432">
                    <a:solidFill>
                      <a:srgbClr val="F3F6FC"/>
                    </a:solidFill>
                  </a:tcPr>
                </a:tc>
                <a:tc>
                  <a:txBody>
                    <a:bodyPr wrap="square"/>
                    <a:lstStyle/>
                    <a:p>
                      <a:r>
                        <a:rPr sz="950" b="0">
                          <a:solidFill>
                            <a:srgbClr val="333333"/>
                          </a:solidFill>
                          <a:latin typeface="Calibri"/>
                        </a:rPr>
                        <a:t>Product × labeler × package</a:t>
                      </a:r>
                    </a:p>
                  </a:txBody>
                  <a:tcPr marL="54864" marR="54864" marT="27432" marB="27432">
                    <a:solidFill>
                      <a:srgbClr val="F3F6FC"/>
                    </a:solidFill>
                  </a:tcPr>
                </a:tc>
                <a:tc>
                  <a:txBody>
                    <a:bodyPr wrap="square"/>
                    <a:lstStyle/>
                    <a:p>
                      <a:r>
                        <a:rPr sz="950" b="0">
                          <a:solidFill>
                            <a:srgbClr val="333333"/>
                          </a:solidFill>
                          <a:latin typeface="Calibri"/>
                        </a:rPr>
                        <a:t>FDA (labeler assigns)</a:t>
                      </a:r>
                    </a:p>
                  </a:txBody>
                  <a:tcPr marL="54864" marR="54864" marT="27432" marB="27432">
                    <a:solidFill>
                      <a:srgbClr val="F3F6FC"/>
                    </a:solidFill>
                  </a:tcPr>
                </a:tc>
                <a:tc>
                  <a:txBody>
                    <a:bodyPr wrap="square"/>
                    <a:lstStyle/>
                    <a:p>
                      <a:r>
                        <a:rPr sz="950" b="0">
                          <a:solidFill>
                            <a:srgbClr val="333333"/>
                          </a:solidFill>
                          <a:latin typeface="Calibri"/>
                        </a:rPr>
                        <a:t>Pharmacy claim; some medical lines</a:t>
                      </a:r>
                    </a:p>
                  </a:txBody>
                  <a:tcPr marL="54864" marR="54864" marT="27432" marB="27432">
                    <a:solidFill>
                      <a:srgbClr val="F3F6FC"/>
                    </a:solidFill>
                  </a:tcPr>
                </a:tc>
                <a:tc>
                  <a:txBody>
                    <a:bodyPr wrap="square"/>
                    <a:lstStyle/>
                    <a:p>
                      <a:r>
                        <a:rPr sz="950" b="0">
                          <a:solidFill>
                            <a:srgbClr val="333333"/>
                          </a:solidFill>
                          <a:latin typeface="Calibri"/>
                        </a:rPr>
                        <a:t>10-digit vs. 11-digit formats; NDC recycled; biosimilars have their own</a:t>
                      </a:r>
                    </a:p>
                  </a:txBody>
                  <a:tcPr marL="54864" marR="54864" marT="27432" marB="27432">
                    <a:solidFill>
                      <a:srgbClr val="F3F6FC"/>
                    </a:solidFill>
                  </a:tcPr>
                </a:tc>
              </a:tr>
              <a:tr h="457200">
                <a:tc>
                  <a:txBody>
                    <a:bodyPr wrap="square"/>
                    <a:lstStyle/>
                    <a:p>
                      <a:r>
                        <a:rPr sz="950" b="1">
                          <a:solidFill>
                            <a:srgbClr val="1E2761"/>
                          </a:solidFill>
                          <a:latin typeface="Calibri"/>
                        </a:rPr>
                        <a:t>NPI</a:t>
                      </a:r>
                    </a:p>
                  </a:txBody>
                  <a:tcPr marL="54864" marR="54864" marT="27432" marB="27432">
                    <a:solidFill>
                      <a:srgbClr val="FFFFFF"/>
                    </a:solidFill>
                  </a:tcPr>
                </a:tc>
                <a:tc>
                  <a:txBody>
                    <a:bodyPr wrap="square"/>
                    <a:lstStyle/>
                    <a:p>
                      <a:r>
                        <a:rPr sz="950" b="0">
                          <a:solidFill>
                            <a:srgbClr val="333333"/>
                          </a:solidFill>
                          <a:latin typeface="Calibri"/>
                        </a:rPr>
                        <a:t>10 digits, Luhn check</a:t>
                      </a:r>
                    </a:p>
                  </a:txBody>
                  <a:tcPr marL="54864" marR="54864" marT="27432" marB="27432">
                    <a:solidFill>
                      <a:srgbClr val="FFFFFF"/>
                    </a:solidFill>
                  </a:tcPr>
                </a:tc>
                <a:tc>
                  <a:txBody>
                    <a:bodyPr wrap="square"/>
                    <a:lstStyle/>
                    <a:p>
                      <a:r>
                        <a:rPr sz="950" b="0">
                          <a:solidFill>
                            <a:srgbClr val="333333"/>
                          </a:solidFill>
                          <a:latin typeface="Calibri"/>
                        </a:rPr>
                        <a:t>Individual (type 1) or organization (type 2)</a:t>
                      </a:r>
                    </a:p>
                  </a:txBody>
                  <a:tcPr marL="54864" marR="54864" marT="27432" marB="27432">
                    <a:solidFill>
                      <a:srgbClr val="FFFFFF"/>
                    </a:solidFill>
                  </a:tcPr>
                </a:tc>
                <a:tc>
                  <a:txBody>
                    <a:bodyPr wrap="square"/>
                    <a:lstStyle/>
                    <a:p>
                      <a:r>
                        <a:rPr sz="950" b="0">
                          <a:solidFill>
                            <a:srgbClr val="333333"/>
                          </a:solidFill>
                          <a:latin typeface="Calibri"/>
                        </a:rPr>
                        <a:t>CMS NPPES</a:t>
                      </a:r>
                    </a:p>
                  </a:txBody>
                  <a:tcPr marL="54864" marR="54864" marT="27432" marB="27432">
                    <a:solidFill>
                      <a:srgbClr val="FFFFFF"/>
                    </a:solidFill>
                  </a:tcPr>
                </a:tc>
                <a:tc>
                  <a:txBody>
                    <a:bodyPr wrap="square"/>
                    <a:lstStyle/>
                    <a:p>
                      <a:r>
                        <a:rPr sz="950" b="0">
                          <a:solidFill>
                            <a:srgbClr val="333333"/>
                          </a:solidFill>
                          <a:latin typeface="Calibri"/>
                        </a:rPr>
                        <a:t>Rendering, billing, prescriber</a:t>
                      </a:r>
                    </a:p>
                  </a:txBody>
                  <a:tcPr marL="54864" marR="54864" marT="27432" marB="27432">
                    <a:solidFill>
                      <a:srgbClr val="FFFFFF"/>
                    </a:solidFill>
                  </a:tcPr>
                </a:tc>
                <a:tc>
                  <a:txBody>
                    <a:bodyPr wrap="square"/>
                    <a:lstStyle/>
                    <a:p>
                      <a:r>
                        <a:rPr sz="950" b="0">
                          <a:solidFill>
                            <a:srgbClr val="333333"/>
                          </a:solidFill>
                          <a:latin typeface="Calibri"/>
                        </a:rPr>
                        <a:t>Same person, several organizations; locums; 'missing' = billed under group</a:t>
                      </a:r>
                    </a:p>
                  </a:txBody>
                  <a:tcPr marL="54864" marR="54864" marT="27432" marB="27432">
                    <a:solidFill>
                      <a:srgbClr val="FFFFFF"/>
                    </a:solidFill>
                  </a:tcPr>
                </a:tc>
              </a:tr>
              <a:tr h="457200">
                <a:tc>
                  <a:txBody>
                    <a:bodyPr wrap="square"/>
                    <a:lstStyle/>
                    <a:p>
                      <a:r>
                        <a:rPr sz="950" b="1">
                          <a:solidFill>
                            <a:srgbClr val="1E2761"/>
                          </a:solidFill>
                          <a:latin typeface="Calibri"/>
                        </a:rPr>
                        <a:t>Place of service</a:t>
                      </a:r>
                    </a:p>
                  </a:txBody>
                  <a:tcPr marL="54864" marR="54864" marT="27432" marB="27432">
                    <a:solidFill>
                      <a:srgbClr val="F3F6FC"/>
                    </a:solidFill>
                  </a:tcPr>
                </a:tc>
                <a:tc>
                  <a:txBody>
                    <a:bodyPr wrap="square"/>
                    <a:lstStyle/>
                    <a:p>
                      <a:r>
                        <a:rPr sz="950" b="0">
                          <a:solidFill>
                            <a:srgbClr val="333333"/>
                          </a:solidFill>
                          <a:latin typeface="Calibri"/>
                        </a:rPr>
                        <a:t>11 · 22 · 21 · 19</a:t>
                      </a:r>
                    </a:p>
                  </a:txBody>
                  <a:tcPr marL="54864" marR="54864" marT="27432" marB="27432">
                    <a:solidFill>
                      <a:srgbClr val="F3F6FC"/>
                    </a:solidFill>
                  </a:tcPr>
                </a:tc>
                <a:tc>
                  <a:txBody>
                    <a:bodyPr wrap="square"/>
                    <a:lstStyle/>
                    <a:p>
                      <a:r>
                        <a:rPr sz="950" b="0">
                          <a:solidFill>
                            <a:srgbClr val="333333"/>
                          </a:solidFill>
                          <a:latin typeface="Calibri"/>
                        </a:rPr>
                        <a:t>Site of care</a:t>
                      </a:r>
                    </a:p>
                  </a:txBody>
                  <a:tcPr marL="54864" marR="54864" marT="27432" marB="27432">
                    <a:solidFill>
                      <a:srgbClr val="F3F6FC"/>
                    </a:solidFill>
                  </a:tcPr>
                </a:tc>
                <a:tc>
                  <a:txBody>
                    <a:bodyPr wrap="square"/>
                    <a:lstStyle/>
                    <a:p>
                      <a:r>
                        <a:rPr sz="950" b="0">
                          <a:solidFill>
                            <a:srgbClr val="333333"/>
                          </a:solidFill>
                          <a:latin typeface="Calibri"/>
                        </a:rPr>
                        <a:t>CMS</a:t>
                      </a:r>
                    </a:p>
                  </a:txBody>
                  <a:tcPr marL="54864" marR="54864" marT="27432" marB="27432">
                    <a:solidFill>
                      <a:srgbClr val="F3F6FC"/>
                    </a:solidFill>
                  </a:tcPr>
                </a:tc>
                <a:tc>
                  <a:txBody>
                    <a:bodyPr wrap="square"/>
                    <a:lstStyle/>
                    <a:p>
                      <a:r>
                        <a:rPr sz="950" b="0">
                          <a:solidFill>
                            <a:srgbClr val="333333"/>
                          </a:solidFill>
                          <a:latin typeface="Calibri"/>
                        </a:rPr>
                        <a:t>Medical claim header</a:t>
                      </a:r>
                    </a:p>
                  </a:txBody>
                  <a:tcPr marL="54864" marR="54864" marT="27432" marB="27432">
                    <a:solidFill>
                      <a:srgbClr val="F3F6FC"/>
                    </a:solidFill>
                  </a:tcPr>
                </a:tc>
                <a:tc>
                  <a:txBody>
                    <a:bodyPr wrap="square"/>
                    <a:lstStyle/>
                    <a:p>
                      <a:r>
                        <a:rPr sz="950" b="0">
                          <a:solidFill>
                            <a:srgbClr val="333333"/>
                          </a:solidFill>
                          <a:latin typeface="Calibri"/>
                        </a:rPr>
                        <a:t>22 vs 19 (off-campus outpatient) changes payment and 340B</a:t>
                      </a:r>
                    </a:p>
                  </a:txBody>
                  <a:tcPr marL="54864" marR="54864" marT="27432" marB="27432">
                    <a:solidFill>
                      <a:srgbClr val="F3F6FC"/>
                    </a:solidFill>
                  </a:tcPr>
                </a:tc>
              </a:tr>
              <a:tr h="457200">
                <a:tc>
                  <a:txBody>
                    <a:bodyPr wrap="square"/>
                    <a:lstStyle/>
                    <a:p>
                      <a:r>
                        <a:rPr sz="950" b="1">
                          <a:solidFill>
                            <a:srgbClr val="1E2761"/>
                          </a:solidFill>
                          <a:latin typeface="Calibri"/>
                        </a:rPr>
                        <a:t>DRG</a:t>
                      </a:r>
                    </a:p>
                  </a:txBody>
                  <a:tcPr marL="54864" marR="54864" marT="27432" marB="27432">
                    <a:solidFill>
                      <a:srgbClr val="FFFFFF"/>
                    </a:solidFill>
                  </a:tcPr>
                </a:tc>
                <a:tc>
                  <a:txBody>
                    <a:bodyPr wrap="square"/>
                    <a:lstStyle/>
                    <a:p>
                      <a:r>
                        <a:rPr sz="950" b="0">
                          <a:solidFill>
                            <a:srgbClr val="333333"/>
                          </a:solidFill>
                          <a:latin typeface="Calibri"/>
                        </a:rPr>
                        <a:t>MS-DRG 840</a:t>
                      </a:r>
                    </a:p>
                  </a:txBody>
                  <a:tcPr marL="54864" marR="54864" marT="27432" marB="27432">
                    <a:solidFill>
                      <a:srgbClr val="FFFFFF"/>
                    </a:solidFill>
                  </a:tcPr>
                </a:tc>
                <a:tc>
                  <a:txBody>
                    <a:bodyPr wrap="square"/>
                    <a:lstStyle/>
                    <a:p>
                      <a:r>
                        <a:rPr sz="950" b="0">
                          <a:solidFill>
                            <a:srgbClr val="333333"/>
                          </a:solidFill>
                          <a:latin typeface="Calibri"/>
                        </a:rPr>
                        <a:t>Inpatient stay bundle</a:t>
                      </a:r>
                    </a:p>
                  </a:txBody>
                  <a:tcPr marL="54864" marR="54864" marT="27432" marB="27432">
                    <a:solidFill>
                      <a:srgbClr val="FFFFFF"/>
                    </a:solidFill>
                  </a:tcPr>
                </a:tc>
                <a:tc>
                  <a:txBody>
                    <a:bodyPr wrap="square"/>
                    <a:lstStyle/>
                    <a:p>
                      <a:r>
                        <a:rPr sz="950" b="0">
                          <a:solidFill>
                            <a:srgbClr val="333333"/>
                          </a:solidFill>
                          <a:latin typeface="Calibri"/>
                        </a:rPr>
                        <a:t>CMS</a:t>
                      </a:r>
                    </a:p>
                  </a:txBody>
                  <a:tcPr marL="54864" marR="54864" marT="27432" marB="27432">
                    <a:solidFill>
                      <a:srgbClr val="FFFFFF"/>
                    </a:solidFill>
                  </a:tcPr>
                </a:tc>
                <a:tc>
                  <a:txBody>
                    <a:bodyPr wrap="square"/>
                    <a:lstStyle/>
                    <a:p>
                      <a:r>
                        <a:rPr sz="950" b="0">
                          <a:solidFill>
                            <a:srgbClr val="333333"/>
                          </a:solidFill>
                          <a:latin typeface="Calibri"/>
                        </a:rPr>
                        <a:t>Institutional claims</a:t>
                      </a:r>
                    </a:p>
                  </a:txBody>
                  <a:tcPr marL="54864" marR="54864" marT="27432" marB="27432">
                    <a:solidFill>
                      <a:srgbClr val="FFFFFF"/>
                    </a:solidFill>
                  </a:tcPr>
                </a:tc>
                <a:tc>
                  <a:txBody>
                    <a:bodyPr wrap="square"/>
                    <a:lstStyle/>
                    <a:p>
                      <a:r>
                        <a:rPr sz="950" b="0">
                          <a:solidFill>
                            <a:srgbClr val="333333"/>
                          </a:solidFill>
                          <a:latin typeface="Calibri"/>
                        </a:rPr>
                        <a:t>Drugs inside a DRG have no line — invisible</a:t>
                      </a:r>
                    </a:p>
                  </a:txBody>
                  <a:tcPr marL="54864" marR="54864" marT="27432" marB="27432">
                    <a:solidFill>
                      <a:srgbClr val="FFFFFF"/>
                    </a:solidFill>
                  </a:tcPr>
                </a:tc>
              </a:tr>
              <a:tr h="457200">
                <a:tc>
                  <a:txBody>
                    <a:bodyPr wrap="square"/>
                    <a:lstStyle/>
                    <a:p>
                      <a:r>
                        <a:rPr sz="950" b="1">
                          <a:solidFill>
                            <a:srgbClr val="1E2761"/>
                          </a:solidFill>
                          <a:latin typeface="Calibri"/>
                        </a:rPr>
                        <a:t>Plan / payer IDs</a:t>
                      </a:r>
                    </a:p>
                  </a:txBody>
                  <a:tcPr marL="54864" marR="54864" marT="27432" marB="27432">
                    <a:solidFill>
                      <a:srgbClr val="F3F6FC"/>
                    </a:solidFill>
                  </a:tcPr>
                </a:tc>
                <a:tc>
                  <a:txBody>
                    <a:bodyPr wrap="square"/>
                    <a:lstStyle/>
                    <a:p>
                      <a:r>
                        <a:rPr sz="950" b="0">
                          <a:solidFill>
                            <a:srgbClr val="333333"/>
                          </a:solidFill>
                          <a:latin typeface="Calibri"/>
                        </a:rPr>
                        <a:t>vendor-specific</a:t>
                      </a:r>
                    </a:p>
                  </a:txBody>
                  <a:tcPr marL="54864" marR="54864" marT="27432" marB="27432">
                    <a:solidFill>
                      <a:srgbClr val="F3F6FC"/>
                    </a:solidFill>
                  </a:tcPr>
                </a:tc>
                <a:tc>
                  <a:txBody>
                    <a:bodyPr wrap="square"/>
                    <a:lstStyle/>
                    <a:p>
                      <a:r>
                        <a:rPr sz="950" b="0">
                          <a:solidFill>
                            <a:srgbClr val="333333"/>
                          </a:solidFill>
                          <a:latin typeface="Calibri"/>
                        </a:rPr>
                        <a:t>Who paid</a:t>
                      </a:r>
                    </a:p>
                  </a:txBody>
                  <a:tcPr marL="54864" marR="54864" marT="27432" marB="27432">
                    <a:solidFill>
                      <a:srgbClr val="F3F6FC"/>
                    </a:solidFill>
                  </a:tcPr>
                </a:tc>
                <a:tc>
                  <a:txBody>
                    <a:bodyPr wrap="square"/>
                    <a:lstStyle/>
                    <a:p>
                      <a:r>
                        <a:rPr sz="950" b="0">
                          <a:solidFill>
                            <a:srgbClr val="333333"/>
                          </a:solidFill>
                          <a:latin typeface="Calibri"/>
                        </a:rPr>
                        <a:t>Vendor</a:t>
                      </a:r>
                    </a:p>
                  </a:txBody>
                  <a:tcPr marL="54864" marR="54864" marT="27432" marB="27432">
                    <a:solidFill>
                      <a:srgbClr val="F3F6FC"/>
                    </a:solidFill>
                  </a:tcPr>
                </a:tc>
                <a:tc>
                  <a:txBody>
                    <a:bodyPr wrap="square"/>
                    <a:lstStyle/>
                    <a:p>
                      <a:r>
                        <a:rPr sz="950" b="0">
                          <a:solidFill>
                            <a:srgbClr val="333333"/>
                          </a:solidFill>
                          <a:latin typeface="Calibri"/>
                        </a:rPr>
                        <a:t>Both claim types</a:t>
                      </a:r>
                    </a:p>
                  </a:txBody>
                  <a:tcPr marL="54864" marR="54864" marT="27432" marB="27432">
                    <a:solidFill>
                      <a:srgbClr val="F3F6FC"/>
                    </a:solidFill>
                  </a:tcPr>
                </a:tc>
                <a:tc>
                  <a:txBody>
                    <a:bodyPr wrap="square"/>
                    <a:lstStyle/>
                    <a:p>
                      <a:r>
                        <a:rPr sz="950" b="0">
                          <a:solidFill>
                            <a:srgbClr val="333333"/>
                          </a:solidFill>
                          <a:latin typeface="Calibri"/>
                        </a:rPr>
                        <a:t>Payer mapping to channel (Commercial / Medicare / Medicaid) is a crosswalk, not a fact</a:t>
                      </a:r>
                    </a:p>
                  </a:txBody>
                  <a:tcPr marL="54864" marR="54864" marT="27432" marB="27432">
                    <a:solidFill>
                      <a:srgbClr val="F3F6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PHARMACY CLAIM</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Anatomy of a pharmacy claim: one row per adjudication event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NCPDP D.0 — the pharmacy sends it, the PBM answers in seconds. Week 1's GLUCOREN tour was this table.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15 / 44</a:t>
            </a:r>
          </a:p>
        </p:txBody>
      </p:sp>
      <p:graphicFrame>
        <p:nvGraphicFramePr>
          <p:cNvPr id="8" name="Table 7"/>
          <p:cNvGraphicFramePr>
            <a:graphicFrameLocks noGrp="1"/>
          </p:cNvGraphicFramePr>
          <p:nvPr/>
        </p:nvGraphicFramePr>
        <p:xfrm>
          <a:off x="548640" y="2057400"/>
          <a:ext cx="11064240" cy="3840480"/>
        </p:xfrm>
        <a:graphic>
          <a:graphicData uri="http://schemas.openxmlformats.org/drawingml/2006/table">
            <a:tbl>
              <a:tblPr firstRow="1" bandRow="1">
                <a:tableStyleId>{5C22544A-7EE6-4342-B048-85BDC9FD1C3A}</a:tableStyleId>
              </a:tblPr>
              <a:tblGrid>
                <a:gridCol w="3291840"/>
                <a:gridCol w="2651760"/>
                <a:gridCol w="5120640"/>
              </a:tblGrid>
              <a:tr h="384048">
                <a:tc>
                  <a:txBody>
                    <a:bodyPr wrap="square"/>
                    <a:lstStyle/>
                    <a:p>
                      <a:r>
                        <a:rPr sz="1050" b="1">
                          <a:solidFill>
                            <a:srgbClr val="FFFFFF"/>
                          </a:solidFill>
                          <a:latin typeface="Calibri"/>
                        </a:rPr>
                        <a:t>Field</a:t>
                      </a:r>
                    </a:p>
                  </a:txBody>
                  <a:tcPr marL="54864" marR="54864" marT="27432" marB="27432">
                    <a:solidFill>
                      <a:srgbClr val="1E2761"/>
                    </a:solidFill>
                  </a:tcPr>
                </a:tc>
                <a:tc>
                  <a:txBody>
                    <a:bodyPr wrap="square"/>
                    <a:lstStyle/>
                    <a:p>
                      <a:r>
                        <a:rPr sz="1050" b="1">
                          <a:solidFill>
                            <a:srgbClr val="FFFFFF"/>
                          </a:solidFill>
                          <a:latin typeface="Calibri"/>
                        </a:rPr>
                        <a:t>Example</a:t>
                      </a:r>
                    </a:p>
                  </a:txBody>
                  <a:tcPr marL="54864" marR="54864" marT="27432" marB="27432">
                    <a:solidFill>
                      <a:srgbClr val="1E2761"/>
                    </a:solidFill>
                  </a:tcPr>
                </a:tc>
                <a:tc>
                  <a:txBody>
                    <a:bodyPr wrap="square"/>
                    <a:lstStyle/>
                    <a:p>
                      <a:r>
                        <a:rPr sz="1050" b="1">
                          <a:solidFill>
                            <a:srgbClr val="FFFFFF"/>
                          </a:solidFill>
                          <a:latin typeface="Calibri"/>
                        </a:rPr>
                        <a:t>Why an analyst cares</a:t>
                      </a:r>
                    </a:p>
                  </a:txBody>
                  <a:tcPr marL="54864" marR="54864" marT="27432" marB="27432">
                    <a:solidFill>
                      <a:srgbClr val="1E2761"/>
                    </a:solidFill>
                  </a:tcPr>
                </a:tc>
              </a:tr>
              <a:tr h="384048">
                <a:tc>
                  <a:txBody>
                    <a:bodyPr wrap="square"/>
                    <a:lstStyle/>
                    <a:p>
                      <a:r>
                        <a:rPr sz="1050" b="1">
                          <a:solidFill>
                            <a:srgbClr val="1E2761"/>
                          </a:solidFill>
                          <a:latin typeface="Calibri"/>
                        </a:rPr>
                        <a:t>patient token · DOB year · sex · ZIP3</a:t>
                      </a:r>
                    </a:p>
                  </a:txBody>
                  <a:tcPr marL="54864" marR="54864" marT="27432" marB="27432">
                    <a:solidFill>
                      <a:srgbClr val="FFFFFF"/>
                    </a:solidFill>
                  </a:tcPr>
                </a:tc>
                <a:tc>
                  <a:txBody>
                    <a:bodyPr wrap="square"/>
                    <a:lstStyle/>
                    <a:p>
                      <a:r>
                        <a:rPr sz="1050" b="0">
                          <a:solidFill>
                            <a:srgbClr val="333333"/>
                          </a:solidFill>
                          <a:latin typeface="Calibri"/>
                        </a:rPr>
                        <a:t>P00017 · 1968 · F · 100</a:t>
                      </a:r>
                    </a:p>
                  </a:txBody>
                  <a:tcPr marL="54864" marR="54864" marT="27432" marB="27432">
                    <a:solidFill>
                      <a:srgbClr val="FFFFFF"/>
                    </a:solidFill>
                  </a:tcPr>
                </a:tc>
                <a:tc>
                  <a:txBody>
                    <a:bodyPr wrap="square"/>
                    <a:lstStyle/>
                    <a:p>
                      <a:r>
                        <a:rPr sz="1050" b="0">
                          <a:solidFill>
                            <a:srgbClr val="333333"/>
                          </a:solidFill>
                          <a:latin typeface="Calibri"/>
                        </a:rPr>
                        <a:t>Longitudinal link across fills; de-identified (HIPAA Safe Harbor)</a:t>
                      </a:r>
                    </a:p>
                  </a:txBody>
                  <a:tcPr marL="54864" marR="54864" marT="27432" marB="27432">
                    <a:solidFill>
                      <a:srgbClr val="FFFFFF"/>
                    </a:solidFill>
                  </a:tcPr>
                </a:tc>
              </a:tr>
              <a:tr h="384048">
                <a:tc>
                  <a:txBody>
                    <a:bodyPr wrap="square"/>
                    <a:lstStyle/>
                    <a:p>
                      <a:r>
                        <a:rPr sz="1050" b="1">
                          <a:solidFill>
                            <a:srgbClr val="1E2761"/>
                          </a:solidFill>
                          <a:latin typeface="Calibri"/>
                        </a:rPr>
                        <a:t>fill_date · days_supply · quantity</a:t>
                      </a:r>
                    </a:p>
                  </a:txBody>
                  <a:tcPr marL="54864" marR="54864" marT="27432" marB="27432">
                    <a:solidFill>
                      <a:srgbClr val="F3F6FC"/>
                    </a:solidFill>
                  </a:tcPr>
                </a:tc>
                <a:tc>
                  <a:txBody>
                    <a:bodyPr wrap="square"/>
                    <a:lstStyle/>
                    <a:p>
                      <a:r>
                        <a:rPr sz="1050" b="0">
                          <a:solidFill>
                            <a:srgbClr val="333333"/>
                          </a:solidFill>
                          <a:latin typeface="Calibri"/>
                        </a:rPr>
                        <a:t>2026-03-04 · 30 · 30</a:t>
                      </a:r>
                    </a:p>
                  </a:txBody>
                  <a:tcPr marL="54864" marR="54864" marT="27432" marB="27432">
                    <a:solidFill>
                      <a:srgbClr val="F3F6FC"/>
                    </a:solidFill>
                  </a:tcPr>
                </a:tc>
                <a:tc>
                  <a:txBody>
                    <a:bodyPr wrap="square"/>
                    <a:lstStyle/>
                    <a:p>
                      <a:r>
                        <a:rPr sz="1050" b="0">
                          <a:solidFill>
                            <a:srgbClr val="333333"/>
                          </a:solidFill>
                          <a:latin typeface="Calibri"/>
                        </a:rPr>
                        <a:t>Refills, gaps, persistence, 90-day normalization (mail order)</a:t>
                      </a:r>
                    </a:p>
                  </a:txBody>
                  <a:tcPr marL="54864" marR="54864" marT="27432" marB="27432">
                    <a:solidFill>
                      <a:srgbClr val="F3F6FC"/>
                    </a:solidFill>
                  </a:tcPr>
                </a:tc>
              </a:tr>
              <a:tr h="384048">
                <a:tc>
                  <a:txBody>
                    <a:bodyPr wrap="square"/>
                    <a:lstStyle/>
                    <a:p>
                      <a:r>
                        <a:rPr sz="1050" b="1">
                          <a:solidFill>
                            <a:srgbClr val="1E2761"/>
                          </a:solidFill>
                          <a:latin typeface="Calibri"/>
                        </a:rPr>
                        <a:t>NDC (11-digit)</a:t>
                      </a:r>
                    </a:p>
                  </a:txBody>
                  <a:tcPr marL="54864" marR="54864" marT="27432" marB="27432">
                    <a:solidFill>
                      <a:srgbClr val="FFFFFF"/>
                    </a:solidFill>
                  </a:tcPr>
                </a:tc>
                <a:tc>
                  <a:txBody>
                    <a:bodyPr wrap="square"/>
                    <a:lstStyle/>
                    <a:p>
                      <a:r>
                        <a:rPr sz="1050" b="0">
                          <a:solidFill>
                            <a:srgbClr val="333333"/>
                          </a:solidFill>
                          <a:latin typeface="Calibri"/>
                        </a:rPr>
                        <a:t>00054475625</a:t>
                      </a:r>
                    </a:p>
                  </a:txBody>
                  <a:tcPr marL="54864" marR="54864" marT="27432" marB="27432">
                    <a:solidFill>
                      <a:srgbClr val="FFFFFF"/>
                    </a:solidFill>
                  </a:tcPr>
                </a:tc>
                <a:tc>
                  <a:txBody>
                    <a:bodyPr wrap="square"/>
                    <a:lstStyle/>
                    <a:p>
                      <a:r>
                        <a:rPr sz="1050" b="0">
                          <a:solidFill>
                            <a:srgbClr val="333333"/>
                          </a:solidFill>
                          <a:latin typeface="Calibri"/>
                        </a:rPr>
                        <a:t>Product, strength, package → molecule → market</a:t>
                      </a:r>
                    </a:p>
                  </a:txBody>
                  <a:tcPr marL="54864" marR="54864" marT="27432" marB="27432">
                    <a:solidFill>
                      <a:srgbClr val="FFFFFF"/>
                    </a:solidFill>
                  </a:tcPr>
                </a:tc>
              </a:tr>
              <a:tr h="384048">
                <a:tc>
                  <a:txBody>
                    <a:bodyPr wrap="square"/>
                    <a:lstStyle/>
                    <a:p>
                      <a:r>
                        <a:rPr sz="1050" b="1">
                          <a:solidFill>
                            <a:srgbClr val="1E2761"/>
                          </a:solidFill>
                          <a:latin typeface="Calibri"/>
                        </a:rPr>
                        <a:t>prescriber NPI</a:t>
                      </a:r>
                    </a:p>
                  </a:txBody>
                  <a:tcPr marL="54864" marR="54864" marT="27432" marB="27432">
                    <a:solidFill>
                      <a:srgbClr val="F3F6FC"/>
                    </a:solidFill>
                  </a:tcPr>
                </a:tc>
                <a:tc>
                  <a:txBody>
                    <a:bodyPr wrap="square"/>
                    <a:lstStyle/>
                    <a:p>
                      <a:r>
                        <a:rPr sz="1050" b="0">
                          <a:solidFill>
                            <a:srgbClr val="333333"/>
                          </a:solidFill>
                          <a:latin typeface="Calibri"/>
                        </a:rPr>
                        <a:t>1234567893</a:t>
                      </a:r>
                    </a:p>
                  </a:txBody>
                  <a:tcPr marL="54864" marR="54864" marT="27432" marB="27432">
                    <a:solidFill>
                      <a:srgbClr val="F3F6FC"/>
                    </a:solidFill>
                  </a:tcPr>
                </a:tc>
                <a:tc>
                  <a:txBody>
                    <a:bodyPr wrap="square"/>
                    <a:lstStyle/>
                    <a:p>
                      <a:r>
                        <a:rPr sz="1050" b="0">
                          <a:solidFill>
                            <a:srgbClr val="333333"/>
                          </a:solidFill>
                          <a:latin typeface="Calibri"/>
                        </a:rPr>
                        <a:t>Joins to CRM targets and to specialty; the 'chooser'</a:t>
                      </a:r>
                    </a:p>
                  </a:txBody>
                  <a:tcPr marL="54864" marR="54864" marT="27432" marB="27432">
                    <a:solidFill>
                      <a:srgbClr val="F3F6FC"/>
                    </a:solidFill>
                  </a:tcPr>
                </a:tc>
              </a:tr>
              <a:tr h="384048">
                <a:tc>
                  <a:txBody>
                    <a:bodyPr wrap="square"/>
                    <a:lstStyle/>
                    <a:p>
                      <a:r>
                        <a:rPr sz="1050" b="1">
                          <a:solidFill>
                            <a:srgbClr val="1E2761"/>
                          </a:solidFill>
                          <a:latin typeface="Calibri"/>
                        </a:rPr>
                        <a:t>pharmacy NPI / NCPDP ID · type</a:t>
                      </a:r>
                    </a:p>
                  </a:txBody>
                  <a:tcPr marL="54864" marR="54864" marT="27432" marB="27432">
                    <a:solidFill>
                      <a:srgbClr val="FFFFFF"/>
                    </a:solidFill>
                  </a:tcPr>
                </a:tc>
                <a:tc>
                  <a:txBody>
                    <a:bodyPr wrap="square"/>
                    <a:lstStyle/>
                    <a:p>
                      <a:r>
                        <a:rPr sz="1050" b="0">
                          <a:solidFill>
                            <a:srgbClr val="333333"/>
                          </a:solidFill>
                          <a:latin typeface="Calibri"/>
                        </a:rPr>
                        <a:t>PH3911 · Specialty</a:t>
                      </a:r>
                    </a:p>
                  </a:txBody>
                  <a:tcPr marL="54864" marR="54864" marT="27432" marB="27432">
                    <a:solidFill>
                      <a:srgbClr val="FFFFFF"/>
                    </a:solidFill>
                  </a:tcPr>
                </a:tc>
                <a:tc>
                  <a:txBody>
                    <a:bodyPr wrap="square"/>
                    <a:lstStyle/>
                    <a:p>
                      <a:r>
                        <a:rPr sz="1050" b="0">
                          <a:solidFill>
                            <a:srgbClr val="333333"/>
                          </a:solidFill>
                          <a:latin typeface="Calibri"/>
                        </a:rPr>
                        <a:t>Channel; PBM-owned mail/specialty steering</a:t>
                      </a:r>
                    </a:p>
                  </a:txBody>
                  <a:tcPr marL="54864" marR="54864" marT="27432" marB="27432">
                    <a:solidFill>
                      <a:srgbClr val="FFFFFF"/>
                    </a:solidFill>
                  </a:tcPr>
                </a:tc>
              </a:tr>
              <a:tr h="384048">
                <a:tc>
                  <a:txBody>
                    <a:bodyPr wrap="square"/>
                    <a:lstStyle/>
                    <a:p>
                      <a:r>
                        <a:rPr sz="1050" b="1">
                          <a:solidFill>
                            <a:srgbClr val="1E2761"/>
                          </a:solidFill>
                          <a:latin typeface="Calibri"/>
                        </a:rPr>
                        <a:t>plan / BIN-PCN · payer type</a:t>
                      </a:r>
                    </a:p>
                  </a:txBody>
                  <a:tcPr marL="54864" marR="54864" marT="27432" marB="27432">
                    <a:solidFill>
                      <a:srgbClr val="F3F6FC"/>
                    </a:solidFill>
                  </a:tcPr>
                </a:tc>
                <a:tc>
                  <a:txBody>
                    <a:bodyPr wrap="square"/>
                    <a:lstStyle/>
                    <a:p>
                      <a:r>
                        <a:rPr sz="1050" b="0">
                          <a:solidFill>
                            <a:srgbClr val="333333"/>
                          </a:solidFill>
                          <a:latin typeface="Calibri"/>
                        </a:rPr>
                        <a:t>PL-COM-04 · Commercial</a:t>
                      </a:r>
                    </a:p>
                  </a:txBody>
                  <a:tcPr marL="54864" marR="54864" marT="27432" marB="27432">
                    <a:solidFill>
                      <a:srgbClr val="F3F6FC"/>
                    </a:solidFill>
                  </a:tcPr>
                </a:tc>
                <a:tc>
                  <a:txBody>
                    <a:bodyPr wrap="square"/>
                    <a:lstStyle/>
                    <a:p>
                      <a:r>
                        <a:rPr sz="1050" b="0">
                          <a:solidFill>
                            <a:srgbClr val="333333"/>
                          </a:solidFill>
                          <a:latin typeface="Calibri"/>
                        </a:rPr>
                        <a:t>The access gate; channel mix</a:t>
                      </a:r>
                    </a:p>
                  </a:txBody>
                  <a:tcPr marL="54864" marR="54864" marT="27432" marB="27432">
                    <a:solidFill>
                      <a:srgbClr val="F3F6FC"/>
                    </a:solidFill>
                  </a:tcPr>
                </a:tc>
              </a:tr>
              <a:tr h="384048">
                <a:tc>
                  <a:txBody>
                    <a:bodyPr wrap="square"/>
                    <a:lstStyle/>
                    <a:p>
                      <a:r>
                        <a:rPr sz="1050" b="1">
                          <a:solidFill>
                            <a:srgbClr val="1E2761"/>
                          </a:solidFill>
                          <a:latin typeface="Calibri"/>
                        </a:rPr>
                        <a:t>claim status · reject code</a:t>
                      </a:r>
                    </a:p>
                  </a:txBody>
                  <a:tcPr marL="54864" marR="54864" marT="27432" marB="27432">
                    <a:solidFill>
                      <a:srgbClr val="FFFFFF"/>
                    </a:solidFill>
                  </a:tcPr>
                </a:tc>
                <a:tc>
                  <a:txBody>
                    <a:bodyPr wrap="square"/>
                    <a:lstStyle/>
                    <a:p>
                      <a:r>
                        <a:rPr sz="1050" b="0">
                          <a:solidFill>
                            <a:srgbClr val="333333"/>
                          </a:solidFill>
                          <a:latin typeface="Calibri"/>
                        </a:rPr>
                        <a:t>PAID · REJECTED (75) · REVERSED</a:t>
                      </a:r>
                    </a:p>
                  </a:txBody>
                  <a:tcPr marL="54864" marR="54864" marT="27432" marB="27432">
                    <a:solidFill>
                      <a:srgbClr val="FFFFFF"/>
                    </a:solidFill>
                  </a:tcPr>
                </a:tc>
                <a:tc>
                  <a:txBody>
                    <a:bodyPr wrap="square"/>
                    <a:lstStyle/>
                    <a:p>
                      <a:r>
                        <a:rPr sz="1050" b="0">
                          <a:solidFill>
                            <a:srgbClr val="333333"/>
                          </a:solidFill>
                          <a:latin typeface="Calibri"/>
                        </a:rPr>
                        <a:t>Prior auth, step edit, abandonment</a:t>
                      </a:r>
                    </a:p>
                  </a:txBody>
                  <a:tcPr marL="54864" marR="54864" marT="27432" marB="27432">
                    <a:solidFill>
                      <a:srgbClr val="FFFFFF"/>
                    </a:solidFill>
                  </a:tcPr>
                </a:tc>
              </a:tr>
              <a:tr h="384048">
                <a:tc>
                  <a:txBody>
                    <a:bodyPr wrap="square"/>
                    <a:lstStyle/>
                    <a:p>
                      <a:r>
                        <a:rPr sz="1050" b="1">
                          <a:solidFill>
                            <a:srgbClr val="1E2761"/>
                          </a:solidFill>
                          <a:latin typeface="Calibri"/>
                        </a:rPr>
                        <a:t>ingredient cost · dispensing fee · patient pay · plan pay · copay-card</a:t>
                      </a:r>
                    </a:p>
                  </a:txBody>
                  <a:tcPr marL="54864" marR="54864" marT="27432" marB="27432">
                    <a:solidFill>
                      <a:srgbClr val="F3F6FC"/>
                    </a:solidFill>
                  </a:tcPr>
                </a:tc>
                <a:tc>
                  <a:txBody>
                    <a:bodyPr wrap="square"/>
                    <a:lstStyle/>
                    <a:p>
                      <a:r>
                        <a:rPr sz="1050" b="0">
                          <a:solidFill>
                            <a:srgbClr val="333333"/>
                          </a:solidFill>
                          <a:latin typeface="Calibri"/>
                        </a:rPr>
                        <a:t>$410 · $2 · $45 · $367 · $30</a:t>
                      </a:r>
                    </a:p>
                  </a:txBody>
                  <a:tcPr marL="54864" marR="54864" marT="27432" marB="27432">
                    <a:solidFill>
                      <a:srgbClr val="F3F6FC"/>
                    </a:solidFill>
                  </a:tcPr>
                </a:tc>
                <a:tc>
                  <a:txBody>
                    <a:bodyPr wrap="square"/>
                    <a:lstStyle/>
                    <a:p>
                      <a:r>
                        <a:rPr sz="1050" b="0">
                          <a:solidFill>
                            <a:srgbClr val="333333"/>
                          </a:solidFill>
                          <a:latin typeface="Calibri"/>
                        </a:rPr>
                        <a:t>Who paid what at the counter — not the manufacturer's net</a:t>
                      </a:r>
                    </a:p>
                  </a:txBody>
                  <a:tcPr marL="54864" marR="54864" marT="27432" marB="27432">
                    <a:solidFill>
                      <a:srgbClr val="F3F6FC"/>
                    </a:solidFill>
                  </a:tcPr>
                </a:tc>
              </a:tr>
              <a:tr h="384048">
                <a:tc>
                  <a:txBody>
                    <a:bodyPr wrap="square"/>
                    <a:lstStyle/>
                    <a:p>
                      <a:r>
                        <a:rPr sz="1050" b="1">
                          <a:solidFill>
                            <a:srgbClr val="1E2761"/>
                          </a:solidFill>
                          <a:latin typeface="Calibri"/>
                        </a:rPr>
                        <a:t>DAW code · refill number</a:t>
                      </a:r>
                    </a:p>
                  </a:txBody>
                  <a:tcPr marL="54864" marR="54864" marT="27432" marB="27432">
                    <a:solidFill>
                      <a:srgbClr val="FFFFFF"/>
                    </a:solidFill>
                  </a:tcPr>
                </a:tc>
                <a:tc>
                  <a:txBody>
                    <a:bodyPr wrap="square"/>
                    <a:lstStyle/>
                    <a:p>
                      <a:r>
                        <a:rPr sz="1050" b="0">
                          <a:solidFill>
                            <a:srgbClr val="333333"/>
                          </a:solidFill>
                          <a:latin typeface="Calibri"/>
                        </a:rPr>
                        <a:t>1 · 3</a:t>
                      </a:r>
                    </a:p>
                  </a:txBody>
                  <a:tcPr marL="54864" marR="54864" marT="27432" marB="27432">
                    <a:solidFill>
                      <a:srgbClr val="FFFFFF"/>
                    </a:solidFill>
                  </a:tcPr>
                </a:tc>
                <a:tc>
                  <a:txBody>
                    <a:bodyPr wrap="square"/>
                    <a:lstStyle/>
                    <a:p>
                      <a:r>
                        <a:rPr sz="1050" b="0">
                          <a:solidFill>
                            <a:srgbClr val="333333"/>
                          </a:solidFill>
                          <a:latin typeface="Calibri"/>
                        </a:rPr>
                        <a:t>Brand-vs-generic substitution; new vs. refill (NRx / TRx)</a:t>
                      </a:r>
                    </a:p>
                  </a:txBody>
                  <a:tcPr marL="54864" marR="54864" marT="27432" marB="27432">
                    <a:solidFill>
                      <a:srgbClr val="FFFFFF"/>
                    </a:solidFill>
                  </a:tcPr>
                </a:tc>
              </a:tr>
            </a:tbl>
          </a:graphicData>
        </a:graphic>
      </p:graphicFrame>
      <p:sp>
        <p:nvSpPr>
          <p:cNvPr id="9" name="TextBox 8"/>
          <p:cNvSpPr txBox="1"/>
          <p:nvPr/>
        </p:nvSpPr>
        <p:spPr>
          <a:xfrm>
            <a:off x="548640" y="6035040"/>
            <a:ext cx="11064240" cy="457200"/>
          </a:xfrm>
          <a:prstGeom prst="rect">
            <a:avLst/>
          </a:prstGeom>
          <a:noFill/>
        </p:spPr>
        <p:txBody>
          <a:bodyPr wrap="square" lIns="45720" rIns="45720" tIns="27432" bIns="27432" anchor="t">
            <a:spAutoFit/>
          </a:bodyPr>
          <a:lstStyle/>
          <a:p>
            <a:pPr algn="l"/>
            <a:r>
              <a:rPr sz="1150" b="0" i="1">
                <a:solidFill>
                  <a:srgbClr val="1E2761"/>
                </a:solidFill>
                <a:latin typeface="Calibri"/>
              </a:rPr>
              <a:t>There is no diagnosis on a pharmacy claim. To know why the drug was prescribed, you link to medical claims through the patient token — which is why longitudinal linkage matters so much.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WHERE THE DRUG LIVES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Which benefit paid for the drug decides which file you'll find it in</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 question that separates a primary-care analyst from an oncology analyst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16 / 44</a:t>
            </a:r>
          </a:p>
        </p:txBody>
      </p:sp>
      <p:sp>
        <p:nvSpPr>
          <p:cNvPr id="8" name="Rectangle 7"/>
          <p:cNvSpPr/>
          <p:nvPr/>
        </p:nvSpPr>
        <p:spPr>
          <a:xfrm>
            <a:off x="548640" y="2103120"/>
            <a:ext cx="539496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Medical benefit — “buy and bill”</a:t>
            </a:r>
          </a:p>
        </p:txBody>
      </p:sp>
      <p:sp>
        <p:nvSpPr>
          <p:cNvPr id="10" name="TextBox 9"/>
          <p:cNvSpPr txBox="1"/>
          <p:nvPr/>
        </p:nvSpPr>
        <p:spPr>
          <a:xfrm>
            <a:off x="658368" y="2596896"/>
            <a:ext cx="5166360" cy="298094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Physician / hospital buys the drug (wholesaler, or specialty distributor), administers it, bills the payer</a:t>
            </a:r>
          </a:p>
          <a:p>
            <a:pPr>
              <a:spcAft>
                <a:spcPts val="500"/>
              </a:spcAft>
            </a:pPr>
            <a:r>
              <a:rPr sz="1150" b="1">
                <a:solidFill>
                  <a:srgbClr val="FF6B6B"/>
                </a:solidFill>
                <a:latin typeface="Calibri"/>
              </a:rPr>
              <a:t>▸ </a:t>
            </a:r>
            <a:r>
              <a:rPr sz="1150">
                <a:solidFill>
                  <a:srgbClr val="333333"/>
                </a:solidFill>
                <a:latin typeface="Calibri"/>
              </a:rPr>
              <a:t>Appears on the medical claim as a HCPCS J/Q-code + units + administration CPT (96413…)</a:t>
            </a:r>
          </a:p>
          <a:p>
            <a:pPr>
              <a:spcAft>
                <a:spcPts val="500"/>
              </a:spcAft>
            </a:pPr>
            <a:r>
              <a:rPr sz="1150" b="1">
                <a:solidFill>
                  <a:srgbClr val="FF6B6B"/>
                </a:solidFill>
                <a:latin typeface="Calibri"/>
              </a:rPr>
              <a:t>▸ </a:t>
            </a:r>
            <a:r>
              <a:rPr sz="1150">
                <a:solidFill>
                  <a:srgbClr val="333333"/>
                </a:solidFill>
                <a:latin typeface="Calibri"/>
              </a:rPr>
              <a:t>Infused mAbs, chemotherapy, CAR-T, many biologics; site of care = office (11) or hospital outpatient (22)</a:t>
            </a:r>
          </a:p>
          <a:p>
            <a:pPr>
              <a:spcAft>
                <a:spcPts val="500"/>
              </a:spcAft>
            </a:pPr>
            <a:r>
              <a:rPr sz="1150" b="1">
                <a:solidFill>
                  <a:srgbClr val="FF6B6B"/>
                </a:solidFill>
                <a:latin typeface="Calibri"/>
              </a:rPr>
              <a:t>▸ </a:t>
            </a:r>
            <a:r>
              <a:rPr sz="1150">
                <a:solidFill>
                  <a:srgbClr val="333333"/>
                </a:solidFill>
                <a:latin typeface="Calibri"/>
              </a:rPr>
              <a:t>Payment = ASP + 6% (Medicare); 340B in eligible hospitals; drug price invisible on the row</a:t>
            </a:r>
          </a:p>
          <a:p>
            <a:pPr>
              <a:spcAft>
                <a:spcPts val="500"/>
              </a:spcAft>
            </a:pPr>
            <a:r>
              <a:rPr sz="1150" b="1">
                <a:solidFill>
                  <a:srgbClr val="FF6B6B"/>
                </a:solidFill>
                <a:latin typeface="Calibri"/>
              </a:rPr>
              <a:t>▸ </a:t>
            </a:r>
            <a:r>
              <a:rPr sz="1150">
                <a:solidFill>
                  <a:srgbClr val="333333"/>
                </a:solidFill>
                <a:latin typeface="Calibri"/>
              </a:rPr>
              <a:t>Inpatient: usually bundled in the DRG → no line at all</a:t>
            </a:r>
          </a:p>
        </p:txBody>
      </p:sp>
      <p:sp>
        <p:nvSpPr>
          <p:cNvPr id="11" name="Rectangle 10"/>
          <p:cNvSpPr/>
          <p:nvPr/>
        </p:nvSpPr>
        <p:spPr>
          <a:xfrm>
            <a:off x="6217920" y="2103120"/>
            <a:ext cx="539496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Pharmacy benefit — dispensed</a:t>
            </a:r>
          </a:p>
        </p:txBody>
      </p:sp>
      <p:sp>
        <p:nvSpPr>
          <p:cNvPr id="13" name="TextBox 12"/>
          <p:cNvSpPr txBox="1"/>
          <p:nvPr/>
        </p:nvSpPr>
        <p:spPr>
          <a:xfrm>
            <a:off x="6327648" y="2596896"/>
            <a:ext cx="5166360" cy="298094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Pharmacy dispenses, adjudicates with the PBM, is reimbursed; patient pays copay/coinsurance</a:t>
            </a:r>
          </a:p>
          <a:p>
            <a:pPr>
              <a:spcAft>
                <a:spcPts val="500"/>
              </a:spcAft>
            </a:pPr>
            <a:r>
              <a:rPr sz="1150" b="1">
                <a:solidFill>
                  <a:srgbClr val="FF6B6B"/>
                </a:solidFill>
                <a:latin typeface="Calibri"/>
              </a:rPr>
              <a:t>▸ </a:t>
            </a:r>
            <a:r>
              <a:rPr sz="1150">
                <a:solidFill>
                  <a:srgbClr val="333333"/>
                </a:solidFill>
                <a:latin typeface="Calibri"/>
              </a:rPr>
              <a:t>Appears on the pharmacy claim as an NDC + days' supply + quantity</a:t>
            </a:r>
          </a:p>
          <a:p>
            <a:pPr>
              <a:spcAft>
                <a:spcPts val="500"/>
              </a:spcAft>
            </a:pPr>
            <a:r>
              <a:rPr sz="1150" b="1">
                <a:solidFill>
                  <a:srgbClr val="FF6B6B"/>
                </a:solidFill>
                <a:latin typeface="Calibri"/>
              </a:rPr>
              <a:t>▸ </a:t>
            </a:r>
            <a:r>
              <a:rPr sz="1150">
                <a:solidFill>
                  <a:srgbClr val="333333"/>
                </a:solidFill>
                <a:latin typeface="Calibri"/>
              </a:rPr>
              <a:t>Oral agents, self-injectables, specialty-pharmacy drugs (including some oncology orals like lenalidomide, selinexor)</a:t>
            </a:r>
          </a:p>
          <a:p>
            <a:pPr>
              <a:spcAft>
                <a:spcPts val="500"/>
              </a:spcAft>
            </a:pPr>
            <a:r>
              <a:rPr sz="1150" b="1">
                <a:solidFill>
                  <a:srgbClr val="FF6B6B"/>
                </a:solidFill>
                <a:latin typeface="Calibri"/>
              </a:rPr>
              <a:t>▸ </a:t>
            </a:r>
            <a:r>
              <a:rPr sz="1150">
                <a:solidFill>
                  <a:srgbClr val="333333"/>
                </a:solidFill>
                <a:latin typeface="Calibri"/>
              </a:rPr>
              <a:t>Formulary tier, prior auth, step edits, copay cards all live here</a:t>
            </a:r>
          </a:p>
          <a:p>
            <a:pPr>
              <a:spcAft>
                <a:spcPts val="500"/>
              </a:spcAft>
            </a:pPr>
            <a:r>
              <a:rPr sz="1150" b="1">
                <a:solidFill>
                  <a:srgbClr val="FF6B6B"/>
                </a:solidFill>
                <a:latin typeface="Calibri"/>
              </a:rPr>
              <a:t>▸ </a:t>
            </a:r>
            <a:r>
              <a:rPr sz="1150">
                <a:solidFill>
                  <a:srgbClr val="333333"/>
                </a:solidFill>
                <a:latin typeface="Calibri"/>
              </a:rPr>
              <a:t>Rejections and reversals are visible — the access story is in this file</a:t>
            </a:r>
          </a:p>
        </p:txBody>
      </p:sp>
      <p:sp>
        <p:nvSpPr>
          <p:cNvPr id="14" name="TextBox 13"/>
          <p:cNvSpPr txBox="1"/>
          <p:nvPr/>
        </p:nvSpPr>
        <p:spPr>
          <a:xfrm>
            <a:off x="548640" y="5806440"/>
            <a:ext cx="11064240" cy="640080"/>
          </a:xfrm>
          <a:prstGeom prst="rect">
            <a:avLst/>
          </a:prstGeom>
          <a:noFill/>
        </p:spPr>
        <p:txBody>
          <a:bodyPr wrap="square" lIns="45720" rIns="45720" tIns="27432" bIns="27432" anchor="t">
            <a:spAutoFit/>
          </a:bodyPr>
          <a:lstStyle/>
          <a:p>
            <a:pPr algn="l"/>
            <a:r>
              <a:rPr sz="1200" b="1" i="0">
                <a:solidFill>
                  <a:srgbClr val="1E2761"/>
                </a:solidFill>
                <a:latin typeface="Calibri"/>
              </a:rPr>
              <a:t>DLBCL tonight: rituximab, CHOP, polatuzumab, bispecifics, CAR-T → medical (J-codes). Prednisone, lenalidomide, selinexor → pharmacy (NDCs).</a:t>
            </a:r>
          </a:p>
          <a:p>
            <a:pPr algn="l"/>
            <a:r>
              <a:rPr sz="1200" b="1" i="0">
                <a:solidFill>
                  <a:srgbClr val="1E2761"/>
                </a:solidFill>
                <a:latin typeface="Calibri"/>
              </a:rPr>
              <a:t>You cannot see a regimen until you stack both files by patient and 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READING A ROW</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Reading two rows from tonight's file like an analyst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From dlbcl_medical_claims.csv and dlbcl_pharmacy_claims.csv (synthetic)</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17 / 44</a:t>
            </a:r>
          </a:p>
        </p:txBody>
      </p:sp>
      <p:sp>
        <p:nvSpPr>
          <p:cNvPr id="8" name="Rectangle 7"/>
          <p:cNvSpPr/>
          <p:nvPr/>
        </p:nvSpPr>
        <p:spPr>
          <a:xfrm>
            <a:off x="548640" y="2057400"/>
            <a:ext cx="11064240" cy="1371600"/>
          </a:xfrm>
          <a:prstGeom prst="rect">
            <a:avLst/>
          </a:prstGeom>
          <a:solidFill>
            <a:srgbClr val="1A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48840"/>
            <a:ext cx="10789919" cy="1188720"/>
          </a:xfrm>
          <a:prstGeom prst="rect">
            <a:avLst/>
          </a:prstGeom>
          <a:noFill/>
        </p:spPr>
        <p:txBody>
          <a:bodyPr wrap="square">
            <a:spAutoFit/>
          </a:bodyPr>
          <a:lstStyle/>
          <a:p>
            <a:r>
              <a:rPr sz="1050">
                <a:solidFill>
                  <a:srgbClr val="CADCFC"/>
                </a:solidFill>
                <a:latin typeface="Consolas"/>
              </a:rPr>
              <a:t>claim_id    patient  service_date provider_npi pos claim_type code_type code   code_desc  diagnosis units allowed   payer</a:t>
            </a:r>
          </a:p>
          <a:p>
            <a:r>
              <a:rPr sz="1050">
                <a:solidFill>
                  <a:srgbClr val="CADCFC"/>
                </a:solidFill>
                <a:latin typeface="Consolas"/>
              </a:rPr>
              <a:t>M100000005  PT00000  2025-06-26   1874414982   22  drug_admin HCPCS     J9312  rituximab  C83.30    20    17714.88  Medicare</a:t>
            </a:r>
          </a:p>
          <a:p>
            <a:r>
              <a:rPr sz="1050">
                <a:solidFill>
                  <a:srgbClr val="CADCFC"/>
                </a:solidFill>
                <a:latin typeface="Consolas"/>
              </a:rPr>
              <a:t>M100000005R PT00000  2025-06-26   1874414982   22  drug_admin HCPCS     J9312  rituximab  C83.30    20    17714.88  Medicare</a:t>
            </a:r>
          </a:p>
        </p:txBody>
      </p:sp>
      <p:sp>
        <p:nvSpPr>
          <p:cNvPr id="10" name="TextBox 9"/>
          <p:cNvSpPr txBox="1"/>
          <p:nvPr/>
        </p:nvSpPr>
        <p:spPr>
          <a:xfrm>
            <a:off x="548640" y="3566160"/>
            <a:ext cx="5486400" cy="274320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pos 22 + J9312 + 20 units: </a:t>
            </a:r>
            <a:r>
              <a:rPr sz="1150">
                <a:solidFill>
                  <a:srgbClr val="333333"/>
                </a:solidFill>
                <a:latin typeface="Calibri"/>
              </a:rPr>
              <a:t>200 mg of rituximab infused in a hospital outpatient department — medical benefit, possibly 340B</a:t>
            </a:r>
          </a:p>
          <a:p>
            <a:pPr>
              <a:spcAft>
                <a:spcPts val="600"/>
              </a:spcAft>
            </a:pPr>
            <a:r>
              <a:rPr sz="1150" b="1">
                <a:solidFill>
                  <a:srgbClr val="FF6B6B"/>
                </a:solidFill>
                <a:latin typeface="Calibri"/>
              </a:rPr>
              <a:t>▸ </a:t>
            </a:r>
            <a:r>
              <a:rPr b="1" sz="1150">
                <a:solidFill>
                  <a:srgbClr val="1E2761"/>
                </a:solidFill>
                <a:latin typeface="Calibri"/>
              </a:rPr>
              <a:t>C83.30 on a drug line: </a:t>
            </a:r>
            <a:r>
              <a:rPr sz="1150">
                <a:solidFill>
                  <a:srgbClr val="333333"/>
                </a:solidFill>
                <a:latin typeface="Calibri"/>
              </a:rPr>
              <a:t>the dx is copied from the header; it does not mean the drug 'treated' DLBCL that day</a:t>
            </a:r>
          </a:p>
          <a:p>
            <a:pPr>
              <a:spcAft>
                <a:spcPts val="600"/>
              </a:spcAft>
            </a:pPr>
            <a:r>
              <a:rPr sz="1150" b="1">
                <a:solidFill>
                  <a:srgbClr val="FF6B6B"/>
                </a:solidFill>
                <a:latin typeface="Calibri"/>
              </a:rPr>
              <a:t>▸ </a:t>
            </a:r>
            <a:r>
              <a:rPr b="1" sz="1150">
                <a:solidFill>
                  <a:srgbClr val="1E2761"/>
                </a:solidFill>
                <a:latin typeface="Calibri"/>
              </a:rPr>
              <a:t>the R suffix: </a:t>
            </a:r>
            <a:r>
              <a:rPr sz="1150">
                <a:solidFill>
                  <a:srgbClr val="333333"/>
                </a:solidFill>
                <a:latin typeface="Calibri"/>
              </a:rPr>
              <a:t>a resubmission — same service, same date, same amount. Count it once or you double the dose</a:t>
            </a:r>
          </a:p>
          <a:p>
            <a:pPr>
              <a:spcAft>
                <a:spcPts val="600"/>
              </a:spcAft>
            </a:pPr>
            <a:r>
              <a:rPr sz="1150" b="1">
                <a:solidFill>
                  <a:srgbClr val="FF6B6B"/>
                </a:solidFill>
                <a:latin typeface="Calibri"/>
              </a:rPr>
              <a:t>▸ </a:t>
            </a:r>
            <a:r>
              <a:rPr b="1" sz="1150">
                <a:solidFill>
                  <a:srgbClr val="1E2761"/>
                </a:solidFill>
                <a:latin typeface="Calibri"/>
              </a:rPr>
              <a:t>$17,714.88 allowed: </a:t>
            </a:r>
            <a:r>
              <a:rPr sz="1150">
                <a:solidFill>
                  <a:srgbClr val="333333"/>
                </a:solidFill>
                <a:latin typeface="Calibri"/>
              </a:rPr>
              <a:t>what the payer agreed to pay the provider; says nothing about the manufacturer's net price</a:t>
            </a:r>
          </a:p>
        </p:txBody>
      </p:sp>
      <p:sp>
        <p:nvSpPr>
          <p:cNvPr id="11" name="Rectangle 10"/>
          <p:cNvSpPr/>
          <p:nvPr/>
        </p:nvSpPr>
        <p:spPr>
          <a:xfrm>
            <a:off x="6309360" y="3566160"/>
            <a:ext cx="5303520" cy="1051560"/>
          </a:xfrm>
          <a:prstGeom prst="rect">
            <a:avLst/>
          </a:prstGeom>
          <a:solidFill>
            <a:srgbClr val="1A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657600"/>
            <a:ext cx="5029200" cy="868680"/>
          </a:xfrm>
          <a:prstGeom prst="rect">
            <a:avLst/>
          </a:prstGeom>
          <a:noFill/>
        </p:spPr>
        <p:txBody>
          <a:bodyPr wrap="square">
            <a:spAutoFit/>
          </a:bodyPr>
          <a:lstStyle/>
          <a:p>
            <a:r>
              <a:rPr sz="1000">
                <a:solidFill>
                  <a:srgbClr val="CADCFC"/>
                </a:solidFill>
                <a:latin typeface="Consolas"/>
              </a:rPr>
              <a:t>rx_id       patient  fill_date   ndc          drug</a:t>
            </a:r>
          </a:p>
          <a:p>
            <a:r>
              <a:rPr sz="1000">
                <a:solidFill>
                  <a:srgbClr val="CADCFC"/>
                </a:solidFill>
                <a:latin typeface="Consolas"/>
              </a:rPr>
              <a:t>P700000001  PT00000  2025-06-26  00054475625  prednisone</a:t>
            </a:r>
          </a:p>
          <a:p>
            <a:r>
              <a:rPr sz="1000">
                <a:solidFill>
                  <a:srgbClr val="CADCFC"/>
                </a:solidFill>
                <a:latin typeface="Consolas"/>
              </a:rPr>
              <a:t>days 14 · qty 14 · prescriber 1874414982 · PH3911 · Medicare</a:t>
            </a:r>
          </a:p>
        </p:txBody>
      </p:sp>
      <p:sp>
        <p:nvSpPr>
          <p:cNvPr id="13" name="TextBox 12"/>
          <p:cNvSpPr txBox="1"/>
          <p:nvPr/>
        </p:nvSpPr>
        <p:spPr>
          <a:xfrm>
            <a:off x="6309360" y="4709160"/>
            <a:ext cx="5303520" cy="164592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Same patient, same day, different file: </a:t>
            </a:r>
            <a:r>
              <a:rPr sz="1150">
                <a:solidFill>
                  <a:srgbClr val="333333"/>
                </a:solidFill>
                <a:latin typeface="Calibri"/>
              </a:rPr>
              <a:t>the oral steroid that completes R-CHOP</a:t>
            </a:r>
          </a:p>
          <a:p>
            <a:pPr>
              <a:spcAft>
                <a:spcPts val="600"/>
              </a:spcAft>
            </a:pPr>
            <a:r>
              <a:rPr sz="1150" b="1">
                <a:solidFill>
                  <a:srgbClr val="FF6B6B"/>
                </a:solidFill>
                <a:latin typeface="Calibri"/>
              </a:rPr>
              <a:t>▸ </a:t>
            </a:r>
            <a:r>
              <a:rPr b="1" sz="1150">
                <a:solidFill>
                  <a:srgbClr val="1E2761"/>
                </a:solidFill>
                <a:latin typeface="Calibri"/>
              </a:rPr>
              <a:t>No diagnosis here — </a:t>
            </a:r>
            <a:r>
              <a:rPr sz="1150">
                <a:solidFill>
                  <a:srgbClr val="333333"/>
                </a:solidFill>
                <a:latin typeface="Calibri"/>
              </a:rPr>
              <a:t>the link to C83.30 is through the patient token and the date</a:t>
            </a:r>
          </a:p>
          <a:p>
            <a:pPr>
              <a:spcAft>
                <a:spcPts val="600"/>
              </a:spcAft>
            </a:pPr>
            <a:r>
              <a:rPr sz="1150" b="1">
                <a:solidFill>
                  <a:srgbClr val="FF6B6B"/>
                </a:solidFill>
                <a:latin typeface="Calibri"/>
              </a:rPr>
              <a:t>▸ </a:t>
            </a:r>
            <a:r>
              <a:rPr b="1" sz="1150">
                <a:solidFill>
                  <a:srgbClr val="1E2761"/>
                </a:solidFill>
                <a:latin typeface="Calibri"/>
              </a:rPr>
              <a:t>days_supply 14: </a:t>
            </a:r>
            <a:r>
              <a:rPr sz="1150">
                <a:solidFill>
                  <a:srgbClr val="333333"/>
                </a:solidFill>
                <a:latin typeface="Calibri"/>
              </a:rPr>
              <a:t>the prednisone component of a 21-day cycle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03</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Rx panel data and projection</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How a sample of pharmacies becomes “national TRx” — and the two capture problems hiding inside the number.</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18 /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TWO SHAPES OF RX DATA</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Longitudinal vs. cross-sectional — same fills, different questions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 first thing to ask of any Rx dataset: is there a persistent patient token?</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19 / 44</a:t>
            </a:r>
          </a:p>
        </p:txBody>
      </p:sp>
      <p:sp>
        <p:nvSpPr>
          <p:cNvPr id="8" name="Rectangle 7"/>
          <p:cNvSpPr/>
          <p:nvPr/>
        </p:nvSpPr>
        <p:spPr>
          <a:xfrm>
            <a:off x="548640" y="2103120"/>
            <a:ext cx="5394960" cy="33832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Cross-sectional (aggregate)</a:t>
            </a:r>
          </a:p>
        </p:txBody>
      </p:sp>
      <p:sp>
        <p:nvSpPr>
          <p:cNvPr id="10" name="TextBox 9"/>
          <p:cNvSpPr txBox="1"/>
          <p:nvPr/>
        </p:nvSpPr>
        <p:spPr>
          <a:xfrm>
            <a:off x="658368" y="2596896"/>
            <a:ext cx="5166360" cy="279806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Grain: </a:t>
            </a:r>
            <a:r>
              <a:rPr sz="1150">
                <a:solidFill>
                  <a:srgbClr val="333333"/>
                </a:solidFill>
                <a:latin typeface="Calibri"/>
              </a:rPr>
              <a:t>pharmacy × product × week, or prescriber × product × week</a:t>
            </a:r>
          </a:p>
          <a:p>
            <a:pPr>
              <a:spcAft>
                <a:spcPts val="500"/>
              </a:spcAft>
            </a:pPr>
            <a:r>
              <a:rPr sz="1150" b="1">
                <a:solidFill>
                  <a:srgbClr val="FF6B6B"/>
                </a:solidFill>
                <a:latin typeface="Calibri"/>
              </a:rPr>
              <a:t>▸ </a:t>
            </a:r>
            <a:r>
              <a:rPr b="1" sz="1150">
                <a:solidFill>
                  <a:srgbClr val="1E2761"/>
                </a:solidFill>
                <a:latin typeface="Calibri"/>
              </a:rPr>
              <a:t>No patient identity — </a:t>
            </a:r>
            <a:r>
              <a:rPr sz="1150">
                <a:solidFill>
                  <a:srgbClr val="333333"/>
                </a:solidFill>
                <a:latin typeface="Calibri"/>
              </a:rPr>
              <a:t>counts only</a:t>
            </a:r>
          </a:p>
          <a:p>
            <a:pPr>
              <a:spcAft>
                <a:spcPts val="500"/>
              </a:spcAft>
            </a:pPr>
            <a:r>
              <a:rPr sz="1150" b="1">
                <a:solidFill>
                  <a:srgbClr val="FF6B6B"/>
                </a:solidFill>
                <a:latin typeface="Calibri"/>
              </a:rPr>
              <a:t>▸ </a:t>
            </a:r>
            <a:r>
              <a:rPr b="1" sz="1150">
                <a:solidFill>
                  <a:srgbClr val="1E2761"/>
                </a:solidFill>
                <a:latin typeface="Calibri"/>
              </a:rPr>
              <a:t>Answers: </a:t>
            </a:r>
            <a:r>
              <a:rPr sz="1150">
                <a:solidFill>
                  <a:srgbClr val="333333"/>
                </a:solidFill>
                <a:latin typeface="Calibri"/>
              </a:rPr>
              <a:t>how many scripts, which prescribers, market share, trend; NRx vs. TRx (refill flag)</a:t>
            </a:r>
          </a:p>
          <a:p>
            <a:pPr>
              <a:spcAft>
                <a:spcPts val="500"/>
              </a:spcAft>
            </a:pPr>
            <a:r>
              <a:rPr sz="1150" b="1">
                <a:solidFill>
                  <a:srgbClr val="FF6B6B"/>
                </a:solidFill>
                <a:latin typeface="Calibri"/>
              </a:rPr>
              <a:t>▸ </a:t>
            </a:r>
            <a:r>
              <a:rPr b="1" sz="1150">
                <a:solidFill>
                  <a:srgbClr val="1E2761"/>
                </a:solidFill>
                <a:latin typeface="Calibri"/>
              </a:rPr>
              <a:t>Cannot answer: </a:t>
            </a:r>
            <a:r>
              <a:rPr sz="1150">
                <a:solidFill>
                  <a:srgbClr val="333333"/>
                </a:solidFill>
                <a:latin typeface="Calibri"/>
              </a:rPr>
              <a:t>new-to-brand vs. switch, persistence, concomitant therapy, line of therapy</a:t>
            </a:r>
          </a:p>
          <a:p>
            <a:pPr>
              <a:spcAft>
                <a:spcPts val="500"/>
              </a:spcAft>
            </a:pPr>
            <a:r>
              <a:rPr sz="1150" b="1">
                <a:solidFill>
                  <a:srgbClr val="FF6B6B"/>
                </a:solidFill>
                <a:latin typeface="Calibri"/>
              </a:rPr>
              <a:t>▸ </a:t>
            </a:r>
            <a:r>
              <a:rPr b="1" sz="1150">
                <a:solidFill>
                  <a:srgbClr val="1E2761"/>
                </a:solidFill>
                <a:latin typeface="Calibri"/>
              </a:rPr>
              <a:t>Projectable to national </a:t>
            </a:r>
            <a:r>
              <a:rPr sz="1150">
                <a:solidFill>
                  <a:srgbClr val="333333"/>
                </a:solidFill>
                <a:latin typeface="Calibri"/>
              </a:rPr>
              <a:t>with stratified factors — this is the weekly brand report</a:t>
            </a:r>
          </a:p>
        </p:txBody>
      </p:sp>
      <p:sp>
        <p:nvSpPr>
          <p:cNvPr id="11" name="Rectangle 10"/>
          <p:cNvSpPr/>
          <p:nvPr/>
        </p:nvSpPr>
        <p:spPr>
          <a:xfrm>
            <a:off x="6217920" y="2103120"/>
            <a:ext cx="5394960" cy="33832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Longitudinal (patient-level)</a:t>
            </a:r>
          </a:p>
        </p:txBody>
      </p:sp>
      <p:sp>
        <p:nvSpPr>
          <p:cNvPr id="13" name="TextBox 12"/>
          <p:cNvSpPr txBox="1"/>
          <p:nvPr/>
        </p:nvSpPr>
        <p:spPr>
          <a:xfrm>
            <a:off x="6327648" y="2596896"/>
            <a:ext cx="5166360" cy="279806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Grain: </a:t>
            </a:r>
            <a:r>
              <a:rPr sz="1150">
                <a:solidFill>
                  <a:srgbClr val="333333"/>
                </a:solidFill>
                <a:latin typeface="Calibri"/>
              </a:rPr>
              <a:t>de-identified patient × fill (and × medical claim if linked)</a:t>
            </a:r>
          </a:p>
          <a:p>
            <a:pPr>
              <a:spcAft>
                <a:spcPts val="500"/>
              </a:spcAft>
            </a:pPr>
            <a:r>
              <a:rPr sz="1150" b="1">
                <a:solidFill>
                  <a:srgbClr val="FF6B6B"/>
                </a:solidFill>
                <a:latin typeface="Calibri"/>
              </a:rPr>
              <a:t>▸ </a:t>
            </a:r>
            <a:r>
              <a:rPr b="1" sz="1150">
                <a:solidFill>
                  <a:srgbClr val="1E2761"/>
                </a:solidFill>
                <a:latin typeface="Calibri"/>
              </a:rPr>
              <a:t>Persistent token </a:t>
            </a:r>
            <a:r>
              <a:rPr sz="1150">
                <a:solidFill>
                  <a:srgbClr val="333333"/>
                </a:solidFill>
                <a:latin typeface="Calibri"/>
              </a:rPr>
              <a:t>across pharmacies, payers and years</a:t>
            </a:r>
          </a:p>
          <a:p>
            <a:pPr>
              <a:spcAft>
                <a:spcPts val="500"/>
              </a:spcAft>
            </a:pPr>
            <a:r>
              <a:rPr sz="1150" b="1">
                <a:solidFill>
                  <a:srgbClr val="FF6B6B"/>
                </a:solidFill>
                <a:latin typeface="Calibri"/>
              </a:rPr>
              <a:t>▸ </a:t>
            </a:r>
            <a:r>
              <a:rPr b="1" sz="1150">
                <a:solidFill>
                  <a:srgbClr val="1E2761"/>
                </a:solidFill>
                <a:latin typeface="Calibri"/>
              </a:rPr>
              <a:t>Answers: </a:t>
            </a:r>
            <a:r>
              <a:rPr sz="1150">
                <a:solidFill>
                  <a:srgbClr val="333333"/>
                </a:solidFill>
                <a:latin typeface="Calibri"/>
              </a:rPr>
              <a:t>NBRx, source of business, adherence, persistence, patient journey, cohorts, LOT</a:t>
            </a:r>
          </a:p>
          <a:p>
            <a:pPr>
              <a:spcAft>
                <a:spcPts val="500"/>
              </a:spcAft>
            </a:pPr>
            <a:r>
              <a:rPr sz="1150" b="1">
                <a:solidFill>
                  <a:srgbClr val="FF6B6B"/>
                </a:solidFill>
                <a:latin typeface="Calibri"/>
              </a:rPr>
              <a:t>▸ </a:t>
            </a:r>
            <a:r>
              <a:rPr b="1" sz="1150">
                <a:solidFill>
                  <a:srgbClr val="1E2761"/>
                </a:solidFill>
                <a:latin typeface="Calibri"/>
              </a:rPr>
              <a:t>Capture problem: </a:t>
            </a:r>
            <a:r>
              <a:rPr sz="1150">
                <a:solidFill>
                  <a:srgbClr val="333333"/>
                </a:solidFill>
                <a:latin typeface="Calibri"/>
              </a:rPr>
              <a:t>the patient is only seen where the panel sees them; a fill at a non-panel pharmacy looks like a gap</a:t>
            </a:r>
          </a:p>
          <a:p>
            <a:pPr>
              <a:spcAft>
                <a:spcPts val="500"/>
              </a:spcAft>
            </a:pPr>
            <a:r>
              <a:rPr sz="1150" b="1">
                <a:solidFill>
                  <a:srgbClr val="FF6B6B"/>
                </a:solidFill>
                <a:latin typeface="Calibri"/>
              </a:rPr>
              <a:t>▸ </a:t>
            </a:r>
            <a:r>
              <a:rPr b="1" sz="1150">
                <a:solidFill>
                  <a:srgbClr val="1E2761"/>
                </a:solidFill>
                <a:latin typeface="Calibri"/>
              </a:rPr>
              <a:t>Usually not projected; </a:t>
            </a:r>
            <a:r>
              <a:rPr sz="1150">
                <a:solidFill>
                  <a:srgbClr val="333333"/>
                </a:solidFill>
                <a:latin typeface="Calibri"/>
              </a:rPr>
              <a:t>used for rates within the observed population</a:t>
            </a:r>
          </a:p>
        </p:txBody>
      </p:sp>
      <p:sp>
        <p:nvSpPr>
          <p:cNvPr id="14" name="TextBox 13"/>
          <p:cNvSpPr txBox="1"/>
          <p:nvPr/>
        </p:nvSpPr>
        <p:spPr>
          <a:xfrm>
            <a:off x="548640" y="5623560"/>
            <a:ext cx="11064240" cy="640080"/>
          </a:xfrm>
          <a:prstGeom prst="rect">
            <a:avLst/>
          </a:prstGeom>
          <a:noFill/>
        </p:spPr>
        <p:txBody>
          <a:bodyPr wrap="square" lIns="45720" rIns="45720" tIns="27432" bIns="27432" anchor="t">
            <a:spAutoFit/>
          </a:bodyPr>
          <a:lstStyle/>
          <a:p>
            <a:pPr algn="l"/>
            <a:r>
              <a:rPr sz="1200" b="1" i="0">
                <a:solidFill>
                  <a:srgbClr val="1E2761"/>
                </a:solidFill>
                <a:latin typeface="Calibri"/>
              </a:rPr>
              <a:t>NRx ≠ NBRx. NRx = no fill of this product at this pharmacy in ~12 months (cross-sectional). NBRx = the patient has never been on this brand anywhere (needs a token).</a:t>
            </a:r>
          </a:p>
          <a:p>
            <a:pPr algn="l"/>
            <a:r>
              <a:rPr sz="1200" b="1" i="0">
                <a:solidFill>
                  <a:srgbClr val="1E2761"/>
                </a:solidFill>
                <a:latin typeface="Calibri"/>
              </a:rPr>
              <a:t>Interviewers ask this. Tonight's projection tour shows why.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PATIENT CAPTURE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Two coverage problems: pharmacy coverage and patient capture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Both are sampling problems; they bias different metrics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20 / 44</a:t>
            </a:r>
          </a:p>
        </p:txBody>
      </p:sp>
      <p:sp>
        <p:nvSpPr>
          <p:cNvPr id="8" name="Rectangle 7"/>
          <p:cNvSpPr/>
          <p:nvPr/>
        </p:nvSpPr>
        <p:spPr>
          <a:xfrm>
            <a:off x="548640" y="2103120"/>
            <a:ext cx="11064240" cy="1874519"/>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94560"/>
            <a:ext cx="10698480" cy="365760"/>
          </a:xfrm>
          <a:prstGeom prst="rect">
            <a:avLst/>
          </a:prstGeom>
          <a:noFill/>
        </p:spPr>
        <p:txBody>
          <a:bodyPr wrap="square" lIns="45720" rIns="45720" tIns="27432" bIns="27432" anchor="t">
            <a:spAutoFit/>
          </a:bodyPr>
          <a:lstStyle/>
          <a:p>
            <a:pPr algn="l"/>
            <a:r>
              <a:rPr sz="1400" b="1" i="0">
                <a:solidFill>
                  <a:srgbClr val="1E2761"/>
                </a:solidFill>
                <a:latin typeface="Calibri"/>
              </a:rPr>
              <a:t>Pharmacy coverage — share of dispensing volume the panel sees</a:t>
            </a:r>
          </a:p>
        </p:txBody>
      </p:sp>
      <p:sp>
        <p:nvSpPr>
          <p:cNvPr id="10" name="TextBox 9"/>
          <p:cNvSpPr txBox="1"/>
          <p:nvPr/>
        </p:nvSpPr>
        <p:spPr>
          <a:xfrm>
            <a:off x="731520" y="2606040"/>
            <a:ext cx="10698480" cy="1371600"/>
          </a:xfrm>
          <a:prstGeom prst="rect">
            <a:avLst/>
          </a:prstGeom>
          <a:noFill/>
        </p:spPr>
        <p:txBody>
          <a:bodyPr wrap="square" lIns="45720" rIns="45720">
            <a:spAutoFit/>
          </a:bodyPr>
          <a:lstStyle/>
          <a:p>
            <a:pPr>
              <a:spcAft>
                <a:spcPts val="600"/>
              </a:spcAft>
            </a:pPr>
            <a:r>
              <a:rPr sz="1200" b="1">
                <a:solidFill>
                  <a:srgbClr val="FF6B6B"/>
                </a:solidFill>
                <a:latin typeface="Calibri"/>
              </a:rPr>
              <a:t>▸ </a:t>
            </a:r>
            <a:r>
              <a:rPr b="1" sz="1200">
                <a:solidFill>
                  <a:srgbClr val="1E2761"/>
                </a:solidFill>
                <a:latin typeface="Calibri"/>
              </a:rPr>
              <a:t>Real U.S. retail panels capture ~90%+ of retail volume </a:t>
            </a:r>
            <a:r>
              <a:rPr sz="1200">
                <a:solidFill>
                  <a:srgbClr val="333333"/>
                </a:solidFill>
                <a:latin typeface="Calibri"/>
              </a:rPr>
              <a:t>(Week 1 glossary); tonight's synthetic panel is deliberately thinner (~60%) so that projection visibly matters</a:t>
            </a:r>
          </a:p>
          <a:p>
            <a:pPr>
              <a:spcAft>
                <a:spcPts val="600"/>
              </a:spcAft>
            </a:pPr>
            <a:r>
              <a:rPr sz="1200" b="1">
                <a:solidFill>
                  <a:srgbClr val="FF6B6B"/>
                </a:solidFill>
                <a:latin typeface="Calibri"/>
              </a:rPr>
              <a:t>▸ </a:t>
            </a:r>
            <a:r>
              <a:rPr b="1" sz="1200">
                <a:solidFill>
                  <a:srgbClr val="1E2761"/>
                </a:solidFill>
                <a:latin typeface="Calibri"/>
              </a:rPr>
              <a:t>Uneven by stratum: </a:t>
            </a:r>
            <a:r>
              <a:rPr sz="1200">
                <a:solidFill>
                  <a:srgbClr val="333333"/>
                </a:solidFill>
                <a:latin typeface="Calibri"/>
              </a:rPr>
              <a:t>chains join panels more than independents; mail order is 2–3 facilities; specialty pharmacies are few and closed</a:t>
            </a:r>
          </a:p>
          <a:p>
            <a:pPr>
              <a:spcAft>
                <a:spcPts val="600"/>
              </a:spcAft>
            </a:pPr>
            <a:r>
              <a:rPr sz="1200" b="1">
                <a:solidFill>
                  <a:srgbClr val="FF6B6B"/>
                </a:solidFill>
                <a:latin typeface="Calibri"/>
              </a:rPr>
              <a:t>▸ </a:t>
            </a:r>
            <a:r>
              <a:rPr b="1" sz="1200">
                <a:solidFill>
                  <a:srgbClr val="1E2761"/>
                </a:solidFill>
                <a:latin typeface="Calibri"/>
              </a:rPr>
              <a:t>Biases: </a:t>
            </a:r>
            <a:r>
              <a:rPr sz="1200">
                <a:solidFill>
                  <a:srgbClr val="333333"/>
                </a:solidFill>
                <a:latin typeface="Calibri"/>
              </a:rPr>
              <a:t>levels (fixable by projection) and, when a large member joins or leaves, trends (not fixable without a restatement)</a:t>
            </a:r>
          </a:p>
        </p:txBody>
      </p:sp>
      <p:sp>
        <p:nvSpPr>
          <p:cNvPr id="11" name="Rectangle 10"/>
          <p:cNvSpPr/>
          <p:nvPr/>
        </p:nvSpPr>
        <p:spPr>
          <a:xfrm>
            <a:off x="548640" y="4114800"/>
            <a:ext cx="1106424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06240"/>
            <a:ext cx="10698480" cy="365760"/>
          </a:xfrm>
          <a:prstGeom prst="rect">
            <a:avLst/>
          </a:prstGeom>
          <a:noFill/>
        </p:spPr>
        <p:txBody>
          <a:bodyPr wrap="square" lIns="45720" rIns="45720" tIns="27432" bIns="27432" anchor="t">
            <a:spAutoFit/>
          </a:bodyPr>
          <a:lstStyle/>
          <a:p>
            <a:pPr algn="l"/>
            <a:r>
              <a:rPr sz="1400" b="1" i="0">
                <a:solidFill>
                  <a:srgbClr val="1E2761"/>
                </a:solidFill>
                <a:latin typeface="Calibri"/>
              </a:rPr>
              <a:t>Patient capture — share of a patient's care the data sees</a:t>
            </a:r>
          </a:p>
        </p:txBody>
      </p:sp>
      <p:sp>
        <p:nvSpPr>
          <p:cNvPr id="13" name="TextBox 12"/>
          <p:cNvSpPr txBox="1"/>
          <p:nvPr/>
        </p:nvSpPr>
        <p:spPr>
          <a:xfrm>
            <a:off x="731520" y="4617720"/>
            <a:ext cx="10698480" cy="1554480"/>
          </a:xfrm>
          <a:prstGeom prst="rect">
            <a:avLst/>
          </a:prstGeom>
          <a:noFill/>
        </p:spPr>
        <p:txBody>
          <a:bodyPr wrap="square" lIns="45720" rIns="45720">
            <a:spAutoFit/>
          </a:bodyPr>
          <a:lstStyle/>
          <a:p>
            <a:pPr>
              <a:spcAft>
                <a:spcPts val="600"/>
              </a:spcAft>
            </a:pPr>
            <a:r>
              <a:rPr sz="1200" b="1">
                <a:solidFill>
                  <a:srgbClr val="FF6B6B"/>
                </a:solidFill>
                <a:latin typeface="Calibri"/>
              </a:rPr>
              <a:t>▸ </a:t>
            </a:r>
            <a:r>
              <a:rPr b="1" sz="1200">
                <a:solidFill>
                  <a:srgbClr val="1E2761"/>
                </a:solidFill>
                <a:latin typeface="Calibri"/>
              </a:rPr>
              <a:t>A patient filling at panel and non-panel pharmacies </a:t>
            </a:r>
            <a:r>
              <a:rPr sz="1200">
                <a:solidFill>
                  <a:srgbClr val="333333"/>
                </a:solidFill>
                <a:latin typeface="Calibri"/>
              </a:rPr>
              <a:t>looks non-adherent; a patient whose oncologist is at a non-partner IDN looks untreated</a:t>
            </a:r>
          </a:p>
          <a:p>
            <a:pPr>
              <a:spcAft>
                <a:spcPts val="600"/>
              </a:spcAft>
            </a:pPr>
            <a:r>
              <a:rPr sz="1200" b="1">
                <a:solidFill>
                  <a:srgbClr val="FF6B6B"/>
                </a:solidFill>
                <a:latin typeface="Calibri"/>
              </a:rPr>
              <a:t>▸ </a:t>
            </a:r>
            <a:r>
              <a:rPr b="1" sz="1200">
                <a:solidFill>
                  <a:srgbClr val="1E2761"/>
                </a:solidFill>
                <a:latin typeface="Calibri"/>
              </a:rPr>
              <a:t>Biases rates, not levels: </a:t>
            </a:r>
            <a:r>
              <a:rPr sz="1200">
                <a:solidFill>
                  <a:srgbClr val="333333"/>
                </a:solidFill>
                <a:latin typeface="Calibri"/>
              </a:rPr>
              <a:t>persistence, switching, time-to-treatment, share of patients on 2L — all understated or distorted</a:t>
            </a:r>
          </a:p>
          <a:p>
            <a:pPr>
              <a:spcAft>
                <a:spcPts val="600"/>
              </a:spcAft>
            </a:pPr>
            <a:r>
              <a:rPr sz="1200" b="1">
                <a:solidFill>
                  <a:srgbClr val="FF6B6B"/>
                </a:solidFill>
                <a:latin typeface="Calibri"/>
              </a:rPr>
              <a:t>▸ </a:t>
            </a:r>
            <a:r>
              <a:rPr b="1" sz="1200">
                <a:solidFill>
                  <a:srgbClr val="1E2761"/>
                </a:solidFill>
                <a:latin typeface="Calibri"/>
              </a:rPr>
              <a:t>Mitigations: </a:t>
            </a:r>
            <a:r>
              <a:rPr sz="1200">
                <a:solidFill>
                  <a:srgbClr val="333333"/>
                </a:solidFill>
                <a:latin typeface="Calibri"/>
              </a:rPr>
              <a:t>closed-claims sources with enrollment; require ≥ 1 claim per quarter as an 'activity' criterion; report capture rate alongside every rate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PROJECTION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Projection is a stratified ratio estimator — nothing more mysterious than that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Numbers from tonight's synthetic GLUCOREN panel: 233 panel pharmacies out of 388, six ZIP3s, retail / specialty / mail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21 / 44</a:t>
            </a:r>
          </a:p>
        </p:txBody>
      </p:sp>
      <p:graphicFrame>
        <p:nvGraphicFramePr>
          <p:cNvPr id="8" name="Table 7"/>
          <p:cNvGraphicFramePr>
            <a:graphicFrameLocks noGrp="1"/>
          </p:cNvGraphicFramePr>
          <p:nvPr/>
        </p:nvGraphicFramePr>
        <p:xfrm>
          <a:off x="548640" y="2057400"/>
          <a:ext cx="6400800" cy="2688336"/>
        </p:xfrm>
        <a:graphic>
          <a:graphicData uri="http://schemas.openxmlformats.org/drawingml/2006/table">
            <a:tbl>
              <a:tblPr firstRow="1" bandRow="1">
                <a:tableStyleId>{5C22544A-7EE6-4342-B048-85BDC9FD1C3A}</a:tableStyleId>
              </a:tblPr>
              <a:tblGrid>
                <a:gridCol w="1828800"/>
                <a:gridCol w="1097280"/>
                <a:gridCol w="1280160"/>
                <a:gridCol w="1097280"/>
                <a:gridCol w="1097280"/>
              </a:tblGrid>
              <a:tr h="384048">
                <a:tc>
                  <a:txBody>
                    <a:bodyPr wrap="square"/>
                    <a:lstStyle/>
                    <a:p>
                      <a:r>
                        <a:rPr sz="1100" b="1">
                          <a:solidFill>
                            <a:srgbClr val="FFFFFF"/>
                          </a:solidFill>
                          <a:latin typeface="Calibri"/>
                        </a:rPr>
                        <a:t>Stratum (ZIP3 × type)</a:t>
                      </a:r>
                    </a:p>
                  </a:txBody>
                  <a:tcPr marL="54864" marR="54864" marT="27432" marB="27432">
                    <a:solidFill>
                      <a:srgbClr val="1E2761"/>
                    </a:solidFill>
                  </a:tcPr>
                </a:tc>
                <a:tc>
                  <a:txBody>
                    <a:bodyPr wrap="square"/>
                    <a:lstStyle/>
                    <a:p>
                      <a:r>
                        <a:rPr sz="1100" b="1">
                          <a:solidFill>
                            <a:srgbClr val="FFFFFF"/>
                          </a:solidFill>
                          <a:latin typeface="Calibri"/>
                        </a:rPr>
                        <a:t>Panel pharmacies</a:t>
                      </a:r>
                    </a:p>
                  </a:txBody>
                  <a:tcPr marL="54864" marR="54864" marT="27432" marB="27432">
                    <a:solidFill>
                      <a:srgbClr val="1E2761"/>
                    </a:solidFill>
                  </a:tcPr>
                </a:tc>
                <a:tc>
                  <a:txBody>
                    <a:bodyPr wrap="square"/>
                    <a:lstStyle/>
                    <a:p>
                      <a:r>
                        <a:rPr sz="1100" b="1">
                          <a:solidFill>
                            <a:srgbClr val="FFFFFF"/>
                          </a:solidFill>
                          <a:latin typeface="Calibri"/>
                        </a:rPr>
                        <a:t>Universe pharmacies</a:t>
                      </a:r>
                    </a:p>
                  </a:txBody>
                  <a:tcPr marL="54864" marR="54864" marT="27432" marB="27432">
                    <a:solidFill>
                      <a:srgbClr val="1E2761"/>
                    </a:solidFill>
                  </a:tcPr>
                </a:tc>
                <a:tc>
                  <a:txBody>
                    <a:bodyPr wrap="square"/>
                    <a:lstStyle/>
                    <a:p>
                      <a:r>
                        <a:rPr sz="1100" b="1">
                          <a:solidFill>
                            <a:srgbClr val="FFFFFF"/>
                          </a:solidFill>
                          <a:latin typeface="Calibri"/>
                        </a:rPr>
                        <a:t>Coverage (volume)</a:t>
                      </a:r>
                    </a:p>
                  </a:txBody>
                  <a:tcPr marL="54864" marR="54864" marT="27432" marB="27432">
                    <a:solidFill>
                      <a:srgbClr val="1E2761"/>
                    </a:solidFill>
                  </a:tcPr>
                </a:tc>
                <a:tc>
                  <a:txBody>
                    <a:bodyPr wrap="square"/>
                    <a:lstStyle/>
                    <a:p>
                      <a:r>
                        <a:rPr sz="1100" b="1">
                          <a:solidFill>
                            <a:srgbClr val="FFFFFF"/>
                          </a:solidFill>
                          <a:latin typeface="Calibri"/>
                        </a:rPr>
                        <a:t>Factor = 1 / coverage</a:t>
                      </a:r>
                    </a:p>
                  </a:txBody>
                  <a:tcPr marL="54864" marR="54864" marT="27432" marB="27432">
                    <a:solidFill>
                      <a:srgbClr val="1E2761"/>
                    </a:solidFill>
                  </a:tcPr>
                </a:tc>
              </a:tr>
              <a:tr h="384048">
                <a:tc>
                  <a:txBody>
                    <a:bodyPr wrap="square"/>
                    <a:lstStyle/>
                    <a:p>
                      <a:r>
                        <a:rPr sz="1100" b="1">
                          <a:solidFill>
                            <a:srgbClr val="1E2761"/>
                          </a:solidFill>
                          <a:latin typeface="Calibri"/>
                        </a:rPr>
                        <a:t>100 · Retail</a:t>
                      </a:r>
                    </a:p>
                  </a:txBody>
                  <a:tcPr marL="54864" marR="54864" marT="27432" marB="27432">
                    <a:solidFill>
                      <a:srgbClr val="FFFFFF"/>
                    </a:solidFill>
                  </a:tcPr>
                </a:tc>
                <a:tc>
                  <a:txBody>
                    <a:bodyPr wrap="square"/>
                    <a:lstStyle/>
                    <a:p>
                      <a:r>
                        <a:rPr sz="1100" b="0">
                          <a:solidFill>
                            <a:srgbClr val="333333"/>
                          </a:solidFill>
                          <a:latin typeface="Calibri"/>
                        </a:rPr>
                        <a:t>45</a:t>
                      </a:r>
                    </a:p>
                  </a:txBody>
                  <a:tcPr marL="54864" marR="54864" marT="27432" marB="27432">
                    <a:solidFill>
                      <a:srgbClr val="FFFFFF"/>
                    </a:solidFill>
                  </a:tcPr>
                </a:tc>
                <a:tc>
                  <a:txBody>
                    <a:bodyPr wrap="square"/>
                    <a:lstStyle/>
                    <a:p>
                      <a:r>
                        <a:rPr sz="1100" b="0">
                          <a:solidFill>
                            <a:srgbClr val="333333"/>
                          </a:solidFill>
                          <a:latin typeface="Calibri"/>
                        </a:rPr>
                        <a:t>70</a:t>
                      </a:r>
                    </a:p>
                  </a:txBody>
                  <a:tcPr marL="54864" marR="54864" marT="27432" marB="27432">
                    <a:solidFill>
                      <a:srgbClr val="FFFFFF"/>
                    </a:solidFill>
                  </a:tcPr>
                </a:tc>
                <a:tc>
                  <a:txBody>
                    <a:bodyPr wrap="square"/>
                    <a:lstStyle/>
                    <a:p>
                      <a:r>
                        <a:rPr sz="1100" b="0">
                          <a:solidFill>
                            <a:srgbClr val="333333"/>
                          </a:solidFill>
                          <a:latin typeface="Calibri"/>
                        </a:rPr>
                        <a:t>68%</a:t>
                      </a:r>
                    </a:p>
                  </a:txBody>
                  <a:tcPr marL="54864" marR="54864" marT="27432" marB="27432">
                    <a:solidFill>
                      <a:srgbClr val="FFFFFF"/>
                    </a:solidFill>
                  </a:tcPr>
                </a:tc>
                <a:tc>
                  <a:txBody>
                    <a:bodyPr wrap="square"/>
                    <a:lstStyle/>
                    <a:p>
                      <a:r>
                        <a:rPr sz="1100" b="0">
                          <a:solidFill>
                            <a:srgbClr val="333333"/>
                          </a:solidFill>
                          <a:latin typeface="Calibri"/>
                        </a:rPr>
                        <a:t>1.47</a:t>
                      </a:r>
                    </a:p>
                  </a:txBody>
                  <a:tcPr marL="54864" marR="54864" marT="27432" marB="27432">
                    <a:solidFill>
                      <a:srgbClr val="FFFFFF"/>
                    </a:solidFill>
                  </a:tcPr>
                </a:tc>
              </a:tr>
              <a:tr h="384048">
                <a:tc>
                  <a:txBody>
                    <a:bodyPr wrap="square"/>
                    <a:lstStyle/>
                    <a:p>
                      <a:r>
                        <a:rPr sz="1100" b="1">
                          <a:solidFill>
                            <a:srgbClr val="1E2761"/>
                          </a:solidFill>
                          <a:latin typeface="Calibri"/>
                        </a:rPr>
                        <a:t>070 · Retail</a:t>
                      </a:r>
                    </a:p>
                  </a:txBody>
                  <a:tcPr marL="54864" marR="54864" marT="27432" marB="27432">
                    <a:solidFill>
                      <a:srgbClr val="F3F6FC"/>
                    </a:solidFill>
                  </a:tcPr>
                </a:tc>
                <a:tc>
                  <a:txBody>
                    <a:bodyPr wrap="square"/>
                    <a:lstStyle/>
                    <a:p>
                      <a:r>
                        <a:rPr sz="1100" b="0">
                          <a:solidFill>
                            <a:srgbClr val="333333"/>
                          </a:solidFill>
                          <a:latin typeface="Calibri"/>
                        </a:rPr>
                        <a:t>29</a:t>
                      </a:r>
                    </a:p>
                  </a:txBody>
                  <a:tcPr marL="54864" marR="54864" marT="27432" marB="27432">
                    <a:solidFill>
                      <a:srgbClr val="F3F6FC"/>
                    </a:solidFill>
                  </a:tcPr>
                </a:tc>
                <a:tc>
                  <a:txBody>
                    <a:bodyPr wrap="square"/>
                    <a:lstStyle/>
                    <a:p>
                      <a:r>
                        <a:rPr sz="1100" b="0">
                          <a:solidFill>
                            <a:srgbClr val="333333"/>
                          </a:solidFill>
                          <a:latin typeface="Calibri"/>
                        </a:rPr>
                        <a:t>51</a:t>
                      </a:r>
                    </a:p>
                  </a:txBody>
                  <a:tcPr marL="54864" marR="54864" marT="27432" marB="27432">
                    <a:solidFill>
                      <a:srgbClr val="F3F6FC"/>
                    </a:solidFill>
                  </a:tcPr>
                </a:tc>
                <a:tc>
                  <a:txBody>
                    <a:bodyPr wrap="square"/>
                    <a:lstStyle/>
                    <a:p>
                      <a:r>
                        <a:rPr sz="1100" b="0">
                          <a:solidFill>
                            <a:srgbClr val="333333"/>
                          </a:solidFill>
                          <a:latin typeface="Calibri"/>
                        </a:rPr>
                        <a:t>62%</a:t>
                      </a:r>
                    </a:p>
                  </a:txBody>
                  <a:tcPr marL="54864" marR="54864" marT="27432" marB="27432">
                    <a:solidFill>
                      <a:srgbClr val="F3F6FC"/>
                    </a:solidFill>
                  </a:tcPr>
                </a:tc>
                <a:tc>
                  <a:txBody>
                    <a:bodyPr wrap="square"/>
                    <a:lstStyle/>
                    <a:p>
                      <a:r>
                        <a:rPr sz="1100" b="0">
                          <a:solidFill>
                            <a:srgbClr val="333333"/>
                          </a:solidFill>
                          <a:latin typeface="Calibri"/>
                        </a:rPr>
                        <a:t>1.60</a:t>
                      </a:r>
                    </a:p>
                  </a:txBody>
                  <a:tcPr marL="54864" marR="54864" marT="27432" marB="27432">
                    <a:solidFill>
                      <a:srgbClr val="F3F6FC"/>
                    </a:solidFill>
                  </a:tcPr>
                </a:tc>
              </a:tr>
              <a:tr h="384048">
                <a:tc>
                  <a:txBody>
                    <a:bodyPr wrap="square"/>
                    <a:lstStyle/>
                    <a:p>
                      <a:r>
                        <a:rPr sz="1100" b="1">
                          <a:solidFill>
                            <a:srgbClr val="1E2761"/>
                          </a:solidFill>
                          <a:latin typeface="Calibri"/>
                        </a:rPr>
                        <a:t>070 · Specialty</a:t>
                      </a:r>
                    </a:p>
                  </a:txBody>
                  <a:tcPr marL="54864" marR="54864" marT="27432" marB="27432">
                    <a:solidFill>
                      <a:srgbClr val="FFFFFF"/>
                    </a:solidFill>
                  </a:tcPr>
                </a:tc>
                <a:tc>
                  <a:txBody>
                    <a:bodyPr wrap="square"/>
                    <a:lstStyle/>
                    <a:p>
                      <a:r>
                        <a:rPr sz="1100" b="0">
                          <a:solidFill>
                            <a:srgbClr val="333333"/>
                          </a:solidFill>
                          <a:latin typeface="Calibri"/>
                        </a:rPr>
                        <a:t>1</a:t>
                      </a:r>
                    </a:p>
                  </a:txBody>
                  <a:tcPr marL="54864" marR="54864" marT="27432" marB="27432">
                    <a:solidFill>
                      <a:srgbClr val="FFFFFF"/>
                    </a:solidFill>
                  </a:tcPr>
                </a:tc>
                <a:tc>
                  <a:txBody>
                    <a:bodyPr wrap="square"/>
                    <a:lstStyle/>
                    <a:p>
                      <a:r>
                        <a:rPr sz="1100" b="0">
                          <a:solidFill>
                            <a:srgbClr val="333333"/>
                          </a:solidFill>
                          <a:latin typeface="Calibri"/>
                        </a:rPr>
                        <a:t>4</a:t>
                      </a:r>
                    </a:p>
                  </a:txBody>
                  <a:tcPr marL="54864" marR="54864" marT="27432" marB="27432">
                    <a:solidFill>
                      <a:srgbClr val="FFFFFF"/>
                    </a:solidFill>
                  </a:tcPr>
                </a:tc>
                <a:tc>
                  <a:txBody>
                    <a:bodyPr wrap="square"/>
                    <a:lstStyle/>
                    <a:p>
                      <a:r>
                        <a:rPr sz="1100" b="0">
                          <a:solidFill>
                            <a:srgbClr val="333333"/>
                          </a:solidFill>
                          <a:latin typeface="Calibri"/>
                        </a:rPr>
                        <a:t>28%</a:t>
                      </a:r>
                    </a:p>
                  </a:txBody>
                  <a:tcPr marL="54864" marR="54864" marT="27432" marB="27432">
                    <a:solidFill>
                      <a:srgbClr val="FFFFFF"/>
                    </a:solidFill>
                  </a:tcPr>
                </a:tc>
                <a:tc>
                  <a:txBody>
                    <a:bodyPr wrap="square"/>
                    <a:lstStyle/>
                    <a:p>
                      <a:r>
                        <a:rPr sz="1100" b="0">
                          <a:solidFill>
                            <a:srgbClr val="333333"/>
                          </a:solidFill>
                          <a:latin typeface="Calibri"/>
                        </a:rPr>
                        <a:t>3.63</a:t>
                      </a:r>
                    </a:p>
                  </a:txBody>
                  <a:tcPr marL="54864" marR="54864" marT="27432" marB="27432">
                    <a:solidFill>
                      <a:srgbClr val="FFFFFF"/>
                    </a:solidFill>
                  </a:tcPr>
                </a:tc>
              </a:tr>
              <a:tr h="384048">
                <a:tc>
                  <a:txBody>
                    <a:bodyPr wrap="square"/>
                    <a:lstStyle/>
                    <a:p>
                      <a:r>
                        <a:rPr sz="1100" b="1">
                          <a:solidFill>
                            <a:srgbClr val="1E2761"/>
                          </a:solidFill>
                          <a:latin typeface="Calibri"/>
                        </a:rPr>
                        <a:t>104 · Specialty</a:t>
                      </a:r>
                    </a:p>
                  </a:txBody>
                  <a:tcPr marL="54864" marR="54864" marT="27432" marB="27432">
                    <a:solidFill>
                      <a:srgbClr val="F3F6FC"/>
                    </a:solidFill>
                  </a:tcPr>
                </a:tc>
                <a:tc>
                  <a:txBody>
                    <a:bodyPr wrap="square"/>
                    <a:lstStyle/>
                    <a:p>
                      <a:r>
                        <a:rPr sz="1100" b="0">
                          <a:solidFill>
                            <a:srgbClr val="333333"/>
                          </a:solidFill>
                          <a:latin typeface="Calibri"/>
                        </a:rPr>
                        <a:t>4</a:t>
                      </a:r>
                    </a:p>
                  </a:txBody>
                  <a:tcPr marL="54864" marR="54864" marT="27432" marB="27432">
                    <a:solidFill>
                      <a:srgbClr val="F3F6FC"/>
                    </a:solidFill>
                  </a:tcPr>
                </a:tc>
                <a:tc>
                  <a:txBody>
                    <a:bodyPr wrap="square"/>
                    <a:lstStyle/>
                    <a:p>
                      <a:r>
                        <a:rPr sz="1100" b="0">
                          <a:solidFill>
                            <a:srgbClr val="333333"/>
                          </a:solidFill>
                          <a:latin typeface="Calibri"/>
                        </a:rPr>
                        <a:t>4</a:t>
                      </a:r>
                    </a:p>
                  </a:txBody>
                  <a:tcPr marL="54864" marR="54864" marT="27432" marB="27432">
                    <a:solidFill>
                      <a:srgbClr val="F3F6FC"/>
                    </a:solidFill>
                  </a:tcPr>
                </a:tc>
                <a:tc>
                  <a:txBody>
                    <a:bodyPr wrap="square"/>
                    <a:lstStyle/>
                    <a:p>
                      <a:r>
                        <a:rPr sz="1100" b="0">
                          <a:solidFill>
                            <a:srgbClr val="333333"/>
                          </a:solidFill>
                          <a:latin typeface="Calibri"/>
                        </a:rPr>
                        <a:t>100%</a:t>
                      </a:r>
                    </a:p>
                  </a:txBody>
                  <a:tcPr marL="54864" marR="54864" marT="27432" marB="27432">
                    <a:solidFill>
                      <a:srgbClr val="F3F6FC"/>
                    </a:solidFill>
                  </a:tcPr>
                </a:tc>
                <a:tc>
                  <a:txBody>
                    <a:bodyPr wrap="square"/>
                    <a:lstStyle/>
                    <a:p>
                      <a:r>
                        <a:rPr sz="1100" b="0">
                          <a:solidFill>
                            <a:srgbClr val="333333"/>
                          </a:solidFill>
                          <a:latin typeface="Calibri"/>
                        </a:rPr>
                        <a:t>1.00</a:t>
                      </a:r>
                    </a:p>
                  </a:txBody>
                  <a:tcPr marL="54864" marR="54864" marT="27432" marB="27432">
                    <a:solidFill>
                      <a:srgbClr val="F3F6FC"/>
                    </a:solidFill>
                  </a:tcPr>
                </a:tc>
              </a:tr>
              <a:tr h="384048">
                <a:tc>
                  <a:txBody>
                    <a:bodyPr wrap="square"/>
                    <a:lstStyle/>
                    <a:p>
                      <a:r>
                        <a:rPr sz="1100" b="1">
                          <a:solidFill>
                            <a:srgbClr val="1E2761"/>
                          </a:solidFill>
                          <a:latin typeface="Calibri"/>
                        </a:rPr>
                        <a:t>117 · Specialty</a:t>
                      </a:r>
                    </a:p>
                  </a:txBody>
                  <a:tcPr marL="54864" marR="54864" marT="27432" marB="27432">
                    <a:solidFill>
                      <a:srgbClr val="FFFFFF"/>
                    </a:solidFill>
                  </a:tcPr>
                </a:tc>
                <a:tc>
                  <a:txBody>
                    <a:bodyPr wrap="square"/>
                    <a:lstStyle/>
                    <a:p>
                      <a:r>
                        <a:rPr sz="1100" b="0">
                          <a:solidFill>
                            <a:srgbClr val="333333"/>
                          </a:solidFill>
                          <a:latin typeface="Calibri"/>
                        </a:rPr>
                        <a:t>0</a:t>
                      </a:r>
                    </a:p>
                  </a:txBody>
                  <a:tcPr marL="54864" marR="54864" marT="27432" marB="27432">
                    <a:solidFill>
                      <a:srgbClr val="FFFFFF"/>
                    </a:solidFill>
                  </a:tcPr>
                </a:tc>
                <a:tc>
                  <a:txBody>
                    <a:bodyPr wrap="square"/>
                    <a:lstStyle/>
                    <a:p>
                      <a:r>
                        <a:rPr sz="1100" b="0">
                          <a:solidFill>
                            <a:srgbClr val="333333"/>
                          </a:solidFill>
                          <a:latin typeface="Calibri"/>
                        </a:rPr>
                        <a:t>4</a:t>
                      </a:r>
                    </a:p>
                  </a:txBody>
                  <a:tcPr marL="54864" marR="54864" marT="27432" marB="27432">
                    <a:solidFill>
                      <a:srgbClr val="FFFFFF"/>
                    </a:solidFill>
                  </a:tcPr>
                </a:tc>
                <a:tc>
                  <a:txBody>
                    <a:bodyPr wrap="square"/>
                    <a:lstStyle/>
                    <a:p>
                      <a:r>
                        <a:rPr sz="1100" b="0">
                          <a:solidFill>
                            <a:srgbClr val="333333"/>
                          </a:solidFill>
                          <a:latin typeface="Calibri"/>
                        </a:rPr>
                        <a:t>0%</a:t>
                      </a:r>
                    </a:p>
                  </a:txBody>
                  <a:tcPr marL="54864" marR="54864" marT="27432" marB="27432">
                    <a:solidFill>
                      <a:srgbClr val="FFFFFF"/>
                    </a:solidFill>
                  </a:tcPr>
                </a:tc>
                <a:tc>
                  <a:txBody>
                    <a:bodyPr wrap="square"/>
                    <a:lstStyle/>
                    <a:p>
                      <a:r>
                        <a:rPr sz="1100" b="0">
                          <a:solidFill>
                            <a:srgbClr val="333333"/>
                          </a:solidFill>
                          <a:latin typeface="Calibri"/>
                        </a:rPr>
                        <a:t>— (borrowed)</a:t>
                      </a:r>
                    </a:p>
                  </a:txBody>
                  <a:tcPr marL="54864" marR="54864" marT="27432" marB="27432">
                    <a:solidFill>
                      <a:srgbClr val="FFFFFF"/>
                    </a:solidFill>
                  </a:tcPr>
                </a:tc>
              </a:tr>
              <a:tr h="384048">
                <a:tc>
                  <a:txBody>
                    <a:bodyPr wrap="square"/>
                    <a:lstStyle/>
                    <a:p>
                      <a:r>
                        <a:rPr sz="1100" b="1">
                          <a:solidFill>
                            <a:srgbClr val="1E2761"/>
                          </a:solidFill>
                          <a:latin typeface="Calibri"/>
                        </a:rPr>
                        <a:t>MAIL · Mail</a:t>
                      </a:r>
                    </a:p>
                  </a:txBody>
                  <a:tcPr marL="54864" marR="54864" marT="27432" marB="27432">
                    <a:solidFill>
                      <a:srgbClr val="F3F6FC"/>
                    </a:solidFill>
                  </a:tcPr>
                </a:tc>
                <a:tc>
                  <a:txBody>
                    <a:bodyPr wrap="square"/>
                    <a:lstStyle/>
                    <a:p>
                      <a:r>
                        <a:rPr sz="1100" b="0">
                          <a:solidFill>
                            <a:srgbClr val="333333"/>
                          </a:solidFill>
                          <a:latin typeface="Calibri"/>
                        </a:rPr>
                        <a:t>1</a:t>
                      </a:r>
                    </a:p>
                  </a:txBody>
                  <a:tcPr marL="54864" marR="54864" marT="27432" marB="27432">
                    <a:solidFill>
                      <a:srgbClr val="F3F6FC"/>
                    </a:solidFill>
                  </a:tcPr>
                </a:tc>
                <a:tc>
                  <a:txBody>
                    <a:bodyPr wrap="square"/>
                    <a:lstStyle/>
                    <a:p>
                      <a:r>
                        <a:rPr sz="1100" b="0">
                          <a:solidFill>
                            <a:srgbClr val="333333"/>
                          </a:solidFill>
                          <a:latin typeface="Calibri"/>
                        </a:rPr>
                        <a:t>3</a:t>
                      </a:r>
                    </a:p>
                  </a:txBody>
                  <a:tcPr marL="54864" marR="54864" marT="27432" marB="27432">
                    <a:solidFill>
                      <a:srgbClr val="F3F6FC"/>
                    </a:solidFill>
                  </a:tcPr>
                </a:tc>
                <a:tc>
                  <a:txBody>
                    <a:bodyPr wrap="square"/>
                    <a:lstStyle/>
                    <a:p>
                      <a:r>
                        <a:rPr sz="1100" b="0">
                          <a:solidFill>
                            <a:srgbClr val="333333"/>
                          </a:solidFill>
                          <a:latin typeface="Calibri"/>
                        </a:rPr>
                        <a:t>31%</a:t>
                      </a:r>
                    </a:p>
                  </a:txBody>
                  <a:tcPr marL="54864" marR="54864" marT="27432" marB="27432">
                    <a:solidFill>
                      <a:srgbClr val="F3F6FC"/>
                    </a:solidFill>
                  </a:tcPr>
                </a:tc>
                <a:tc>
                  <a:txBody>
                    <a:bodyPr wrap="square"/>
                    <a:lstStyle/>
                    <a:p>
                      <a:r>
                        <a:rPr sz="1100" b="0">
                          <a:solidFill>
                            <a:srgbClr val="333333"/>
                          </a:solidFill>
                          <a:latin typeface="Calibri"/>
                        </a:rPr>
                        <a:t>3.25</a:t>
                      </a:r>
                    </a:p>
                  </a:txBody>
                  <a:tcPr marL="54864" marR="54864" marT="27432" marB="27432">
                    <a:solidFill>
                      <a:srgbClr val="F3F6FC"/>
                    </a:solidFill>
                  </a:tcPr>
                </a:tc>
              </a:tr>
            </a:tbl>
          </a:graphicData>
        </a:graphic>
      </p:graphicFrame>
      <p:sp>
        <p:nvSpPr>
          <p:cNvPr id="9" name="Rectangle 8"/>
          <p:cNvSpPr/>
          <p:nvPr/>
        </p:nvSpPr>
        <p:spPr>
          <a:xfrm>
            <a:off x="548640" y="4846320"/>
            <a:ext cx="6400800" cy="1280160"/>
          </a:xfrm>
          <a:prstGeom prst="rect">
            <a:avLst/>
          </a:prstGeom>
          <a:solidFill>
            <a:srgbClr val="1A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937759"/>
            <a:ext cx="6126480" cy="1097280"/>
          </a:xfrm>
          <a:prstGeom prst="rect">
            <a:avLst/>
          </a:prstGeom>
          <a:noFill/>
        </p:spPr>
        <p:txBody>
          <a:bodyPr wrap="square">
            <a:spAutoFit/>
          </a:bodyPr>
          <a:lstStyle/>
          <a:p>
            <a:r>
              <a:rPr sz="1100">
                <a:solidFill>
                  <a:srgbClr val="8F9BC9"/>
                </a:solidFill>
                <a:latin typeface="Consolas"/>
              </a:rPr>
              <a:t>-- projected brand TRx, per stratum and week</a:t>
            </a:r>
          </a:p>
          <a:p>
            <a:r>
              <a:rPr sz="1100">
                <a:solidFill>
                  <a:srgbClr val="CADCFC"/>
                </a:solidFill>
                <a:latin typeface="Consolas"/>
              </a:rPr>
              <a:t>projected = panel_brand_trx × (universe_volume / panel_volume)</a:t>
            </a:r>
          </a:p>
          <a:p>
            <a:r>
              <a:rPr sz="1100">
                <a:solidFill>
                  <a:srgbClr val="CADCFC"/>
                </a:solidFill>
                <a:latin typeface="Consolas"/>
              </a:rPr>
              <a:t>national  = Σ strata   -- then impute the uncovered ones</a:t>
            </a:r>
          </a:p>
        </p:txBody>
      </p:sp>
      <p:sp>
        <p:nvSpPr>
          <p:cNvPr id="11" name="TextBox 10"/>
          <p:cNvSpPr txBox="1"/>
          <p:nvPr/>
        </p:nvSpPr>
        <p:spPr>
          <a:xfrm>
            <a:off x="7223760" y="2103120"/>
            <a:ext cx="4389120" cy="4114800"/>
          </a:xfrm>
          <a:prstGeom prst="rect">
            <a:avLst/>
          </a:prstGeom>
          <a:noFill/>
        </p:spPr>
        <p:txBody>
          <a:bodyPr wrap="square" lIns="45720" rIns="45720">
            <a:spAutoFit/>
          </a:bodyPr>
          <a:lstStyle/>
          <a:p>
            <a:pPr>
              <a:spcAft>
                <a:spcPts val="600"/>
              </a:spcAft>
            </a:pPr>
            <a:r>
              <a:rPr sz="1200" b="1">
                <a:solidFill>
                  <a:srgbClr val="FF6B6B"/>
                </a:solidFill>
                <a:latin typeface="Calibri"/>
              </a:rPr>
              <a:t>▸ </a:t>
            </a:r>
            <a:r>
              <a:rPr b="1" sz="1200">
                <a:solidFill>
                  <a:srgbClr val="1E2761"/>
                </a:solidFill>
                <a:latin typeface="Calibri"/>
              </a:rPr>
              <a:t>Strata </a:t>
            </a:r>
            <a:r>
              <a:rPr sz="1200">
                <a:solidFill>
                  <a:srgbClr val="333333"/>
                </a:solidFill>
                <a:latin typeface="Calibri"/>
              </a:rPr>
              <a:t>are chosen so that brand share is homogeneous inside them: geography × outlet type × size</a:t>
            </a:r>
          </a:p>
          <a:p>
            <a:pPr>
              <a:spcAft>
                <a:spcPts val="600"/>
              </a:spcAft>
            </a:pPr>
            <a:r>
              <a:rPr sz="1200" b="1">
                <a:solidFill>
                  <a:srgbClr val="FF6B6B"/>
                </a:solidFill>
                <a:latin typeface="Calibri"/>
              </a:rPr>
              <a:t>▸ </a:t>
            </a:r>
            <a:r>
              <a:rPr b="1" sz="1200">
                <a:solidFill>
                  <a:srgbClr val="1E2761"/>
                </a:solidFill>
                <a:latin typeface="Calibri"/>
              </a:rPr>
              <a:t>Factors </a:t>
            </a:r>
            <a:r>
              <a:rPr sz="1200">
                <a:solidFill>
                  <a:srgbClr val="333333"/>
                </a:solidFill>
                <a:latin typeface="Calibri"/>
              </a:rPr>
              <a:t>come from a census of volume (wholesaler / 867 data), not from the panel</a:t>
            </a:r>
          </a:p>
          <a:p>
            <a:pPr>
              <a:spcAft>
                <a:spcPts val="600"/>
              </a:spcAft>
            </a:pPr>
            <a:r>
              <a:rPr sz="1200" b="1">
                <a:solidFill>
                  <a:srgbClr val="FF6B6B"/>
                </a:solidFill>
                <a:latin typeface="Calibri"/>
              </a:rPr>
              <a:t>▸ </a:t>
            </a:r>
            <a:r>
              <a:rPr b="1" sz="1200">
                <a:solidFill>
                  <a:srgbClr val="1E2761"/>
                </a:solidFill>
                <a:latin typeface="Calibri"/>
              </a:rPr>
              <a:t>Uncovered cells </a:t>
            </a:r>
            <a:r>
              <a:rPr sz="1200">
                <a:solidFill>
                  <a:srgbClr val="333333"/>
                </a:solidFill>
                <a:latin typeface="Calibri"/>
              </a:rPr>
              <a:t>are borrowed from neighbours — a judgment call that never appears on the report</a:t>
            </a:r>
          </a:p>
          <a:p>
            <a:pPr>
              <a:spcAft>
                <a:spcPts val="600"/>
              </a:spcAft>
            </a:pPr>
            <a:r>
              <a:rPr sz="1200" b="1">
                <a:solidFill>
                  <a:srgbClr val="FF6B6B"/>
                </a:solidFill>
                <a:latin typeface="Calibri"/>
              </a:rPr>
              <a:t>▸ </a:t>
            </a:r>
            <a:r>
              <a:rPr b="1" sz="1200">
                <a:solidFill>
                  <a:srgbClr val="1E2761"/>
                </a:solidFill>
                <a:latin typeface="Calibri"/>
              </a:rPr>
              <a:t>Single-member strata </a:t>
            </a:r>
            <a:r>
              <a:rPr sz="1200">
                <a:solidFill>
                  <a:srgbClr val="333333"/>
                </a:solidFill>
                <a:latin typeface="Calibri"/>
              </a:rPr>
              <a:t>(one mail-order facility, factor 3.25) are the fragile part</a:t>
            </a:r>
          </a:p>
          <a:p>
            <a:pPr>
              <a:spcAft>
                <a:spcPts val="600"/>
              </a:spcAft>
            </a:pPr>
            <a:r>
              <a:rPr sz="1200" b="1">
                <a:solidFill>
                  <a:srgbClr val="FF6B6B"/>
                </a:solidFill>
                <a:latin typeface="Calibri"/>
              </a:rPr>
              <a:t>▸ </a:t>
            </a:r>
            <a:r>
              <a:rPr b="1" sz="1200">
                <a:solidFill>
                  <a:srgbClr val="1E2761"/>
                </a:solidFill>
                <a:latin typeface="Calibri"/>
              </a:rPr>
              <a:t>Small cells </a:t>
            </a:r>
            <a:r>
              <a:rPr sz="1200">
                <a:solidFill>
                  <a:srgbClr val="333333"/>
                </a:solidFill>
                <a:latin typeface="Calibri"/>
              </a:rPr>
              <a:t>(one ZIP3 × one week × one specialty pharmacy) are where HCP-level targeting lives — and where the noise 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DOES IT WORK?</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On synthetic data we can grade the projection. In real life you reconcile instead.</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Instructor truth: all 388 pharmacies. Students see only the 233-pharmacy panel.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22 / 44</a:t>
            </a:r>
          </a:p>
        </p:txBody>
      </p:sp>
      <p:pic>
        <p:nvPicPr>
          <p:cNvPr id="8" name="Picture 7" descr="projection.png"/>
          <p:cNvPicPr>
            <a:picLocks noChangeAspect="1"/>
          </p:cNvPicPr>
          <p:nvPr/>
        </p:nvPicPr>
        <p:blipFill>
          <a:blip r:embed="rId2"/>
          <a:stretch>
            <a:fillRect/>
          </a:stretch>
        </p:blipFill>
        <p:spPr>
          <a:xfrm>
            <a:off x="548640" y="2011680"/>
            <a:ext cx="6949440" cy="2779776"/>
          </a:xfrm>
          <a:prstGeom prst="rect">
            <a:avLst/>
          </a:prstGeom>
        </p:spPr>
      </p:pic>
      <p:sp>
        <p:nvSpPr>
          <p:cNvPr id="9" name="TextBox 8"/>
          <p:cNvSpPr txBox="1"/>
          <p:nvPr/>
        </p:nvSpPr>
        <p:spPr>
          <a:xfrm>
            <a:off x="7680960" y="2103120"/>
            <a:ext cx="3931920" cy="420624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Level: </a:t>
            </a:r>
            <a:r>
              <a:rPr sz="1150">
                <a:solidFill>
                  <a:srgbClr val="333333"/>
                </a:solidFill>
                <a:latin typeface="Calibri"/>
              </a:rPr>
              <a:t>within ~1–2% each week on this (well-behaved) synthetic market</a:t>
            </a:r>
          </a:p>
          <a:p>
            <a:pPr>
              <a:spcAft>
                <a:spcPts val="600"/>
              </a:spcAft>
            </a:pPr>
            <a:r>
              <a:rPr sz="1150" b="1">
                <a:solidFill>
                  <a:srgbClr val="FF6B6B"/>
                </a:solidFill>
                <a:latin typeface="Calibri"/>
              </a:rPr>
              <a:t>▸ </a:t>
            </a:r>
            <a:r>
              <a:rPr b="1" sz="1150">
                <a:solidFill>
                  <a:srgbClr val="1E2761"/>
                </a:solidFill>
                <a:latin typeface="Calibri"/>
              </a:rPr>
              <a:t>Trend: </a:t>
            </a:r>
            <a:r>
              <a:rPr sz="1150">
                <a:solidFill>
                  <a:srgbClr val="333333"/>
                </a:solidFill>
                <a:latin typeface="Calibri"/>
              </a:rPr>
              <a:t>preserved — projection multiplies, it doesn't smooth</a:t>
            </a:r>
          </a:p>
          <a:p>
            <a:pPr>
              <a:spcAft>
                <a:spcPts val="600"/>
              </a:spcAft>
            </a:pPr>
            <a:r>
              <a:rPr sz="1150" b="1">
                <a:solidFill>
                  <a:srgbClr val="FF6B6B"/>
                </a:solidFill>
                <a:latin typeface="Calibri"/>
              </a:rPr>
              <a:t>▸ </a:t>
            </a:r>
            <a:r>
              <a:rPr b="1" sz="1150">
                <a:solidFill>
                  <a:srgbClr val="1E2761"/>
                </a:solidFill>
                <a:latin typeface="Calibri"/>
              </a:rPr>
              <a:t>Raw panel count: </a:t>
            </a:r>
            <a:r>
              <a:rPr sz="1150">
                <a:solidFill>
                  <a:srgbClr val="333333"/>
                </a:solidFill>
                <a:latin typeface="Calibri"/>
              </a:rPr>
              <a:t>~60% of the truth; anyone reading it as 'sales' is off by half</a:t>
            </a:r>
          </a:p>
          <a:p>
            <a:pPr>
              <a:spcAft>
                <a:spcPts val="600"/>
              </a:spcAft>
            </a:pPr>
            <a:r>
              <a:rPr sz="1150" b="1">
                <a:solidFill>
                  <a:srgbClr val="FF6B6B"/>
                </a:solidFill>
                <a:latin typeface="Calibri"/>
              </a:rPr>
              <a:t>▸ </a:t>
            </a:r>
            <a:r>
              <a:rPr b="1" sz="1150">
                <a:solidFill>
                  <a:srgbClr val="1E2761"/>
                </a:solidFill>
                <a:latin typeface="Calibri"/>
              </a:rPr>
              <a:t>Where it breaks in practice: </a:t>
            </a:r>
            <a:r>
              <a:rPr sz="1150">
                <a:solidFill>
                  <a:srgbClr val="333333"/>
                </a:solidFill>
                <a:latin typeface="Calibri"/>
              </a:rPr>
              <a:t>panel churn, a chain changing its data feed, new-outlet types (e.g., a manufacturer-direct channel), cash-pay and 340B contract pharmacy flows</a:t>
            </a:r>
          </a:p>
          <a:p>
            <a:pPr>
              <a:spcAft>
                <a:spcPts val="600"/>
              </a:spcAft>
            </a:pPr>
            <a:r>
              <a:rPr sz="1150" b="1">
                <a:solidFill>
                  <a:srgbClr val="FF6B6B"/>
                </a:solidFill>
                <a:latin typeface="Calibri"/>
              </a:rPr>
              <a:t>▸ </a:t>
            </a:r>
            <a:r>
              <a:rPr b="1" sz="1150">
                <a:solidFill>
                  <a:srgbClr val="1E2761"/>
                </a:solidFill>
                <a:latin typeface="Calibri"/>
              </a:rPr>
              <a:t>Reconcile: </a:t>
            </a:r>
            <a:r>
              <a:rPr sz="1150">
                <a:solidFill>
                  <a:srgbClr val="333333"/>
                </a:solidFill>
                <a:latin typeface="Calibri"/>
              </a:rPr>
              <a:t>projected TRx × units vs. wholesaler shipments (DDD/867) vs. your own net sales — three numbers that must tell one story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SYNDICATED REPORTS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syndicated reports a brand team reads every Monday</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What each one measures, and what it silently assumes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23 / 44</a:t>
            </a:r>
          </a:p>
        </p:txBody>
      </p:sp>
      <p:graphicFrame>
        <p:nvGraphicFramePr>
          <p:cNvPr id="8" name="Table 7"/>
          <p:cNvGraphicFramePr>
            <a:graphicFrameLocks noGrp="1"/>
          </p:cNvGraphicFramePr>
          <p:nvPr/>
        </p:nvGraphicFramePr>
        <p:xfrm>
          <a:off x="548640" y="2057400"/>
          <a:ext cx="11064240" cy="4059936"/>
        </p:xfrm>
        <a:graphic>
          <a:graphicData uri="http://schemas.openxmlformats.org/drawingml/2006/table">
            <a:tbl>
              <a:tblPr firstRow="1" bandRow="1">
                <a:tableStyleId>{5C22544A-7EE6-4342-B048-85BDC9FD1C3A}</a:tableStyleId>
              </a:tblPr>
              <a:tblGrid>
                <a:gridCol w="1554480"/>
                <a:gridCol w="2286000"/>
                <a:gridCol w="1645920"/>
                <a:gridCol w="1371600"/>
                <a:gridCol w="2194560"/>
                <a:gridCol w="2011680"/>
              </a:tblGrid>
              <a:tr h="676656">
                <a:tc>
                  <a:txBody>
                    <a:bodyPr wrap="square"/>
                    <a:lstStyle/>
                    <a:p>
                      <a:r>
                        <a:rPr sz="950" b="1">
                          <a:solidFill>
                            <a:srgbClr val="FFFFFF"/>
                          </a:solidFill>
                          <a:latin typeface="Calibri"/>
                        </a:rPr>
                        <a:t>Report family</a:t>
                      </a:r>
                    </a:p>
                  </a:txBody>
                  <a:tcPr marL="54864" marR="54864" marT="27432" marB="27432">
                    <a:solidFill>
                      <a:srgbClr val="1E2761"/>
                    </a:solidFill>
                  </a:tcPr>
                </a:tc>
                <a:tc>
                  <a:txBody>
                    <a:bodyPr wrap="square"/>
                    <a:lstStyle/>
                    <a:p>
                      <a:r>
                        <a:rPr sz="950" b="1">
                          <a:solidFill>
                            <a:srgbClr val="FFFFFF"/>
                          </a:solidFill>
                          <a:latin typeface="Calibri"/>
                        </a:rPr>
                        <a:t>Measures</a:t>
                      </a:r>
                    </a:p>
                  </a:txBody>
                  <a:tcPr marL="54864" marR="54864" marT="27432" marB="27432">
                    <a:solidFill>
                      <a:srgbClr val="1E2761"/>
                    </a:solidFill>
                  </a:tcPr>
                </a:tc>
                <a:tc>
                  <a:txBody>
                    <a:bodyPr wrap="square"/>
                    <a:lstStyle/>
                    <a:p>
                      <a:r>
                        <a:rPr sz="950" b="1">
                          <a:solidFill>
                            <a:srgbClr val="FFFFFF"/>
                          </a:solidFill>
                          <a:latin typeface="Calibri"/>
                        </a:rPr>
                        <a:t>Source</a:t>
                      </a:r>
                    </a:p>
                  </a:txBody>
                  <a:tcPr marL="54864" marR="54864" marT="27432" marB="27432">
                    <a:solidFill>
                      <a:srgbClr val="1E2761"/>
                    </a:solidFill>
                  </a:tcPr>
                </a:tc>
                <a:tc>
                  <a:txBody>
                    <a:bodyPr wrap="square"/>
                    <a:lstStyle/>
                    <a:p>
                      <a:r>
                        <a:rPr sz="950" b="1">
                          <a:solidFill>
                            <a:srgbClr val="FFFFFF"/>
                          </a:solidFill>
                          <a:latin typeface="Calibri"/>
                        </a:rPr>
                        <a:t>Grain</a:t>
                      </a:r>
                    </a:p>
                  </a:txBody>
                  <a:tcPr marL="54864" marR="54864" marT="27432" marB="27432">
                    <a:solidFill>
                      <a:srgbClr val="1E2761"/>
                    </a:solidFill>
                  </a:tcPr>
                </a:tc>
                <a:tc>
                  <a:txBody>
                    <a:bodyPr wrap="square"/>
                    <a:lstStyle/>
                    <a:p>
                      <a:r>
                        <a:rPr sz="950" b="1">
                          <a:solidFill>
                            <a:srgbClr val="FFFFFF"/>
                          </a:solidFill>
                          <a:latin typeface="Calibri"/>
                        </a:rPr>
                        <a:t>Trust it for</a:t>
                      </a:r>
                    </a:p>
                  </a:txBody>
                  <a:tcPr marL="54864" marR="54864" marT="27432" marB="27432">
                    <a:solidFill>
                      <a:srgbClr val="1E2761"/>
                    </a:solidFill>
                  </a:tcPr>
                </a:tc>
                <a:tc>
                  <a:txBody>
                    <a:bodyPr wrap="square"/>
                    <a:lstStyle/>
                    <a:p>
                      <a:r>
                        <a:rPr sz="950" b="1">
                          <a:solidFill>
                            <a:srgbClr val="FFFFFF"/>
                          </a:solidFill>
                          <a:latin typeface="Calibri"/>
                        </a:rPr>
                        <a:t>Don't trust it for</a:t>
                      </a:r>
                    </a:p>
                  </a:txBody>
                  <a:tcPr marL="54864" marR="54864" marT="27432" marB="27432">
                    <a:solidFill>
                      <a:srgbClr val="1E2761"/>
                    </a:solidFill>
                  </a:tcPr>
                </a:tc>
              </a:tr>
              <a:tr h="676656">
                <a:tc>
                  <a:txBody>
                    <a:bodyPr wrap="square"/>
                    <a:lstStyle/>
                    <a:p>
                      <a:r>
                        <a:rPr sz="950" b="1">
                          <a:solidFill>
                            <a:srgbClr val="1E2761"/>
                          </a:solidFill>
                          <a:latin typeface="Calibri"/>
                        </a:rPr>
                        <a:t>DDD / 867 sales-out</a:t>
                      </a:r>
                    </a:p>
                  </a:txBody>
                  <a:tcPr marL="54864" marR="54864" marT="27432" marB="27432">
                    <a:solidFill>
                      <a:srgbClr val="FFFFFF"/>
                    </a:solidFill>
                  </a:tcPr>
                </a:tc>
                <a:tc>
                  <a:txBody>
                    <a:bodyPr wrap="square"/>
                    <a:lstStyle/>
                    <a:p>
                      <a:r>
                        <a:rPr sz="950" b="0">
                          <a:solidFill>
                            <a:srgbClr val="333333"/>
                          </a:solidFill>
                          <a:latin typeface="Calibri"/>
                        </a:rPr>
                        <a:t>Units shipped from wholesalers to outlets (pharmacies, clinics, hospitals)</a:t>
                      </a:r>
                    </a:p>
                  </a:txBody>
                  <a:tcPr marL="54864" marR="54864" marT="27432" marB="27432">
                    <a:solidFill>
                      <a:srgbClr val="FFFFFF"/>
                    </a:solidFill>
                  </a:tcPr>
                </a:tc>
                <a:tc>
                  <a:txBody>
                    <a:bodyPr wrap="square"/>
                    <a:lstStyle/>
                    <a:p>
                      <a:r>
                        <a:rPr sz="950" b="0">
                          <a:solidFill>
                            <a:srgbClr val="333333"/>
                          </a:solidFill>
                          <a:latin typeface="Calibri"/>
                        </a:rPr>
                        <a:t>Wholesaler EDI 867 / 852</a:t>
                      </a:r>
                    </a:p>
                  </a:txBody>
                  <a:tcPr marL="54864" marR="54864" marT="27432" marB="27432">
                    <a:solidFill>
                      <a:srgbClr val="FFFFFF"/>
                    </a:solidFill>
                  </a:tcPr>
                </a:tc>
                <a:tc>
                  <a:txBody>
                    <a:bodyPr wrap="square"/>
                    <a:lstStyle/>
                    <a:p>
                      <a:r>
                        <a:rPr sz="950" b="0">
                          <a:solidFill>
                            <a:srgbClr val="333333"/>
                          </a:solidFill>
                          <a:latin typeface="Calibri"/>
                        </a:rPr>
                        <a:t>Outlet × NDC × week</a:t>
                      </a:r>
                    </a:p>
                  </a:txBody>
                  <a:tcPr marL="54864" marR="54864" marT="27432" marB="27432">
                    <a:solidFill>
                      <a:srgbClr val="FFFFFF"/>
                    </a:solidFill>
                  </a:tcPr>
                </a:tc>
                <a:tc>
                  <a:txBody>
                    <a:bodyPr wrap="square"/>
                    <a:lstStyle/>
                    <a:p>
                      <a:r>
                        <a:rPr sz="950" b="0">
                          <a:solidFill>
                            <a:srgbClr val="333333"/>
                          </a:solidFill>
                          <a:latin typeface="Calibri"/>
                        </a:rPr>
                        <a:t>Demand at the outlet level; territory sales credit; reconciling to revenue</a:t>
                      </a:r>
                    </a:p>
                  </a:txBody>
                  <a:tcPr marL="54864" marR="54864" marT="27432" marB="27432">
                    <a:solidFill>
                      <a:srgbClr val="FFFFFF"/>
                    </a:solidFill>
                  </a:tcPr>
                </a:tc>
                <a:tc>
                  <a:txBody>
                    <a:bodyPr wrap="square"/>
                    <a:lstStyle/>
                    <a:p>
                      <a:r>
                        <a:rPr sz="950" b="0">
                          <a:solidFill>
                            <a:srgbClr val="333333"/>
                          </a:solidFill>
                          <a:latin typeface="Calibri"/>
                        </a:rPr>
                        <a:t>Patient demand (inventory swings, returns); who prescribed</a:t>
                      </a:r>
                    </a:p>
                  </a:txBody>
                  <a:tcPr marL="54864" marR="54864" marT="27432" marB="27432">
                    <a:solidFill>
                      <a:srgbClr val="FFFFFF"/>
                    </a:solidFill>
                  </a:tcPr>
                </a:tc>
              </a:tr>
              <a:tr h="676656">
                <a:tc>
                  <a:txBody>
                    <a:bodyPr wrap="square"/>
                    <a:lstStyle/>
                    <a:p>
                      <a:r>
                        <a:rPr sz="950" b="1">
                          <a:solidFill>
                            <a:srgbClr val="1E2761"/>
                          </a:solidFill>
                          <a:latin typeface="Calibri"/>
                        </a:rPr>
                        <a:t>Projected Rx (Xponent-style)</a:t>
                      </a:r>
                    </a:p>
                  </a:txBody>
                  <a:tcPr marL="54864" marR="54864" marT="27432" marB="27432">
                    <a:solidFill>
                      <a:srgbClr val="F3F6FC"/>
                    </a:solidFill>
                  </a:tcPr>
                </a:tc>
                <a:tc>
                  <a:txBody>
                    <a:bodyPr wrap="square"/>
                    <a:lstStyle/>
                    <a:p>
                      <a:r>
                        <a:rPr sz="950" b="0">
                          <a:solidFill>
                            <a:srgbClr val="333333"/>
                          </a:solidFill>
                          <a:latin typeface="Calibri"/>
                        </a:rPr>
                        <a:t>Prescriptions by prescriber and product, projected to national</a:t>
                      </a:r>
                    </a:p>
                  </a:txBody>
                  <a:tcPr marL="54864" marR="54864" marT="27432" marB="27432">
                    <a:solidFill>
                      <a:srgbClr val="F3F6FC"/>
                    </a:solidFill>
                  </a:tcPr>
                </a:tc>
                <a:tc>
                  <a:txBody>
                    <a:bodyPr wrap="square"/>
                    <a:lstStyle/>
                    <a:p>
                      <a:r>
                        <a:rPr sz="950" b="0">
                          <a:solidFill>
                            <a:srgbClr val="333333"/>
                          </a:solidFill>
                          <a:latin typeface="Calibri"/>
                        </a:rPr>
                        <a:t>Retail / mail / LTC pharmacy panel</a:t>
                      </a:r>
                    </a:p>
                  </a:txBody>
                  <a:tcPr marL="54864" marR="54864" marT="27432" marB="27432">
                    <a:solidFill>
                      <a:srgbClr val="F3F6FC"/>
                    </a:solidFill>
                  </a:tcPr>
                </a:tc>
                <a:tc>
                  <a:txBody>
                    <a:bodyPr wrap="square"/>
                    <a:lstStyle/>
                    <a:p>
                      <a:r>
                        <a:rPr sz="950" b="0">
                          <a:solidFill>
                            <a:srgbClr val="333333"/>
                          </a:solidFill>
                          <a:latin typeface="Calibri"/>
                        </a:rPr>
                        <a:t>Prescriber × product × week</a:t>
                      </a:r>
                    </a:p>
                  </a:txBody>
                  <a:tcPr marL="54864" marR="54864" marT="27432" marB="27432">
                    <a:solidFill>
                      <a:srgbClr val="F3F6FC"/>
                    </a:solidFill>
                  </a:tcPr>
                </a:tc>
                <a:tc>
                  <a:txBody>
                    <a:bodyPr wrap="square"/>
                    <a:lstStyle/>
                    <a:p>
                      <a:r>
                        <a:rPr sz="950" b="0">
                          <a:solidFill>
                            <a:srgbClr val="333333"/>
                          </a:solidFill>
                          <a:latin typeface="Calibri"/>
                        </a:rPr>
                        <a:t>Targeting, share, NRx / TRx trend, decile ranking</a:t>
                      </a:r>
                    </a:p>
                  </a:txBody>
                  <a:tcPr marL="54864" marR="54864" marT="27432" marB="27432">
                    <a:solidFill>
                      <a:srgbClr val="F3F6FC"/>
                    </a:solidFill>
                  </a:tcPr>
                </a:tc>
                <a:tc>
                  <a:txBody>
                    <a:bodyPr wrap="square"/>
                    <a:lstStyle/>
                    <a:p>
                      <a:r>
                        <a:rPr sz="950" b="0">
                          <a:solidFill>
                            <a:srgbClr val="333333"/>
                          </a:solidFill>
                          <a:latin typeface="Calibri"/>
                        </a:rPr>
                        <a:t>Small prescribers (imputation), specialty-heavy brands, buy-and-bill drugs (not there at all)</a:t>
                      </a:r>
                    </a:p>
                  </a:txBody>
                  <a:tcPr marL="54864" marR="54864" marT="27432" marB="27432">
                    <a:solidFill>
                      <a:srgbClr val="F3F6FC"/>
                    </a:solidFill>
                  </a:tcPr>
                </a:tc>
              </a:tr>
              <a:tr h="676656">
                <a:tc>
                  <a:txBody>
                    <a:bodyPr wrap="square"/>
                    <a:lstStyle/>
                    <a:p>
                      <a:r>
                        <a:rPr sz="950" b="1">
                          <a:solidFill>
                            <a:srgbClr val="1E2761"/>
                          </a:solidFill>
                          <a:latin typeface="Calibri"/>
                        </a:rPr>
                        <a:t>NPA / national audit</a:t>
                      </a:r>
                    </a:p>
                  </a:txBody>
                  <a:tcPr marL="54864" marR="54864" marT="27432" marB="27432">
                    <a:solidFill>
                      <a:srgbClr val="FFFFFF"/>
                    </a:solidFill>
                  </a:tcPr>
                </a:tc>
                <a:tc>
                  <a:txBody>
                    <a:bodyPr wrap="square"/>
                    <a:lstStyle/>
                    <a:p>
                      <a:r>
                        <a:rPr sz="950" b="0">
                          <a:solidFill>
                            <a:srgbClr val="333333"/>
                          </a:solidFill>
                          <a:latin typeface="Calibri"/>
                        </a:rPr>
                        <a:t>National Rx volume and value by product / market</a:t>
                      </a:r>
                    </a:p>
                  </a:txBody>
                  <a:tcPr marL="54864" marR="54864" marT="27432" marB="27432">
                    <a:solidFill>
                      <a:srgbClr val="FFFFFF"/>
                    </a:solidFill>
                  </a:tcPr>
                </a:tc>
                <a:tc>
                  <a:txBody>
                    <a:bodyPr wrap="square"/>
                    <a:lstStyle/>
                    <a:p>
                      <a:r>
                        <a:rPr sz="950" b="0">
                          <a:solidFill>
                            <a:srgbClr val="333333"/>
                          </a:solidFill>
                          <a:latin typeface="Calibri"/>
                        </a:rPr>
                        <a:t>Same panel, national projection</a:t>
                      </a:r>
                    </a:p>
                  </a:txBody>
                  <a:tcPr marL="54864" marR="54864" marT="27432" marB="27432">
                    <a:solidFill>
                      <a:srgbClr val="FFFFFF"/>
                    </a:solidFill>
                  </a:tcPr>
                </a:tc>
                <a:tc>
                  <a:txBody>
                    <a:bodyPr wrap="square"/>
                    <a:lstStyle/>
                    <a:p>
                      <a:r>
                        <a:rPr sz="950" b="0">
                          <a:solidFill>
                            <a:srgbClr val="333333"/>
                          </a:solidFill>
                          <a:latin typeface="Calibri"/>
                        </a:rPr>
                        <a:t>Product × market × month</a:t>
                      </a:r>
                    </a:p>
                  </a:txBody>
                  <a:tcPr marL="54864" marR="54864" marT="27432" marB="27432">
                    <a:solidFill>
                      <a:srgbClr val="FFFFFF"/>
                    </a:solidFill>
                  </a:tcPr>
                </a:tc>
                <a:tc>
                  <a:txBody>
                    <a:bodyPr wrap="square"/>
                    <a:lstStyle/>
                    <a:p>
                      <a:r>
                        <a:rPr sz="950" b="0">
                          <a:solidFill>
                            <a:srgbClr val="333333"/>
                          </a:solidFill>
                          <a:latin typeface="Calibri"/>
                        </a:rPr>
                        <a:t>Market size, share, price-volume</a:t>
                      </a:r>
                    </a:p>
                  </a:txBody>
                  <a:tcPr marL="54864" marR="54864" marT="27432" marB="27432">
                    <a:solidFill>
                      <a:srgbClr val="FFFFFF"/>
                    </a:solidFill>
                  </a:tcPr>
                </a:tc>
                <a:tc>
                  <a:txBody>
                    <a:bodyPr wrap="square"/>
                    <a:lstStyle/>
                    <a:p>
                      <a:r>
                        <a:rPr sz="950" b="0">
                          <a:solidFill>
                            <a:srgbClr val="333333"/>
                          </a:solidFill>
                          <a:latin typeface="Calibri"/>
                        </a:rPr>
                        <a:t>Sub-national or sub-segment cuts</a:t>
                      </a:r>
                    </a:p>
                  </a:txBody>
                  <a:tcPr marL="54864" marR="54864" marT="27432" marB="27432">
                    <a:solidFill>
                      <a:srgbClr val="FFFFFF"/>
                    </a:solidFill>
                  </a:tcPr>
                </a:tc>
              </a:tr>
              <a:tr h="676656">
                <a:tc>
                  <a:txBody>
                    <a:bodyPr wrap="square"/>
                    <a:lstStyle/>
                    <a:p>
                      <a:r>
                        <a:rPr sz="950" b="1">
                          <a:solidFill>
                            <a:srgbClr val="1E2761"/>
                          </a:solidFill>
                          <a:latin typeface="Calibri"/>
                        </a:rPr>
                        <a:t>Patient-level LRx / APLD</a:t>
                      </a:r>
                    </a:p>
                  </a:txBody>
                  <a:tcPr marL="54864" marR="54864" marT="27432" marB="27432">
                    <a:solidFill>
                      <a:srgbClr val="F3F6FC"/>
                    </a:solidFill>
                  </a:tcPr>
                </a:tc>
                <a:tc>
                  <a:txBody>
                    <a:bodyPr wrap="square"/>
                    <a:lstStyle/>
                    <a:p>
                      <a:r>
                        <a:rPr sz="950" b="0">
                          <a:solidFill>
                            <a:srgbClr val="333333"/>
                          </a:solidFill>
                          <a:latin typeface="Calibri"/>
                        </a:rPr>
                        <a:t>Longitudinal fills and (if linked) medical claims</a:t>
                      </a:r>
                    </a:p>
                  </a:txBody>
                  <a:tcPr marL="54864" marR="54864" marT="27432" marB="27432">
                    <a:solidFill>
                      <a:srgbClr val="F3F6FC"/>
                    </a:solidFill>
                  </a:tcPr>
                </a:tc>
                <a:tc>
                  <a:txBody>
                    <a:bodyPr wrap="square"/>
                    <a:lstStyle/>
                    <a:p>
                      <a:r>
                        <a:rPr sz="950" b="0">
                          <a:solidFill>
                            <a:srgbClr val="333333"/>
                          </a:solidFill>
                          <a:latin typeface="Calibri"/>
                        </a:rPr>
                        <a:t>Pharmacy / clearinghouse + tokenization</a:t>
                      </a:r>
                    </a:p>
                  </a:txBody>
                  <a:tcPr marL="54864" marR="54864" marT="27432" marB="27432">
                    <a:solidFill>
                      <a:srgbClr val="F3F6FC"/>
                    </a:solidFill>
                  </a:tcPr>
                </a:tc>
                <a:tc>
                  <a:txBody>
                    <a:bodyPr wrap="square"/>
                    <a:lstStyle/>
                    <a:p>
                      <a:r>
                        <a:rPr sz="950" b="0">
                          <a:solidFill>
                            <a:srgbClr val="333333"/>
                          </a:solidFill>
                          <a:latin typeface="Calibri"/>
                        </a:rPr>
                        <a:t>Patient × event</a:t>
                      </a:r>
                    </a:p>
                  </a:txBody>
                  <a:tcPr marL="54864" marR="54864" marT="27432" marB="27432">
                    <a:solidFill>
                      <a:srgbClr val="F3F6FC"/>
                    </a:solidFill>
                  </a:tcPr>
                </a:tc>
                <a:tc>
                  <a:txBody>
                    <a:bodyPr wrap="square"/>
                    <a:lstStyle/>
                    <a:p>
                      <a:r>
                        <a:rPr sz="950" b="0">
                          <a:solidFill>
                            <a:srgbClr val="333333"/>
                          </a:solidFill>
                          <a:latin typeface="Calibri"/>
                        </a:rPr>
                        <a:t>Source of business, persistence, journeys, LOT</a:t>
                      </a:r>
                    </a:p>
                  </a:txBody>
                  <a:tcPr marL="54864" marR="54864" marT="27432" marB="27432">
                    <a:solidFill>
                      <a:srgbClr val="F3F6FC"/>
                    </a:solidFill>
                  </a:tcPr>
                </a:tc>
                <a:tc>
                  <a:txBody>
                    <a:bodyPr wrap="square"/>
                    <a:lstStyle/>
                    <a:p>
                      <a:r>
                        <a:rPr sz="950" b="0">
                          <a:solidFill>
                            <a:srgbClr val="333333"/>
                          </a:solidFill>
                          <a:latin typeface="Calibri"/>
                        </a:rPr>
                        <a:t>National levels (capture), rare events in small cells</a:t>
                      </a:r>
                    </a:p>
                  </a:txBody>
                  <a:tcPr marL="54864" marR="54864" marT="27432" marB="27432">
                    <a:solidFill>
                      <a:srgbClr val="F3F6FC"/>
                    </a:solidFill>
                  </a:tcPr>
                </a:tc>
              </a:tr>
              <a:tr h="676656">
                <a:tc>
                  <a:txBody>
                    <a:bodyPr wrap="square"/>
                    <a:lstStyle/>
                    <a:p>
                      <a:r>
                        <a:rPr sz="950" b="1">
                          <a:solidFill>
                            <a:srgbClr val="1E2761"/>
                          </a:solidFill>
                          <a:latin typeface="Calibri"/>
                        </a:rPr>
                        <a:t>Specialty pharmacy / hub</a:t>
                      </a:r>
                    </a:p>
                  </a:txBody>
                  <a:tcPr marL="54864" marR="54864" marT="27432" marB="27432">
                    <a:solidFill>
                      <a:srgbClr val="FFFFFF"/>
                    </a:solidFill>
                  </a:tcPr>
                </a:tc>
                <a:tc>
                  <a:txBody>
                    <a:bodyPr wrap="square"/>
                    <a:lstStyle/>
                    <a:p>
                      <a:r>
                        <a:rPr sz="950" b="0">
                          <a:solidFill>
                            <a:srgbClr val="333333"/>
                          </a:solidFill>
                          <a:latin typeface="Calibri"/>
                        </a:rPr>
                        <a:t>Referral → enrollment → fill for specialty brands</a:t>
                      </a:r>
                    </a:p>
                  </a:txBody>
                  <a:tcPr marL="54864" marR="54864" marT="27432" marB="27432">
                    <a:solidFill>
                      <a:srgbClr val="FFFFFF"/>
                    </a:solidFill>
                  </a:tcPr>
                </a:tc>
                <a:tc>
                  <a:txBody>
                    <a:bodyPr wrap="square"/>
                    <a:lstStyle/>
                    <a:p>
                      <a:r>
                        <a:rPr sz="950" b="0">
                          <a:solidFill>
                            <a:srgbClr val="333333"/>
                          </a:solidFill>
                          <a:latin typeface="Calibri"/>
                        </a:rPr>
                        <a:t>Manufacturer's own SP network / hub</a:t>
                      </a:r>
                    </a:p>
                  </a:txBody>
                  <a:tcPr marL="54864" marR="54864" marT="27432" marB="27432">
                    <a:solidFill>
                      <a:srgbClr val="FFFFFF"/>
                    </a:solidFill>
                  </a:tcPr>
                </a:tc>
                <a:tc>
                  <a:txBody>
                    <a:bodyPr wrap="square"/>
                    <a:lstStyle/>
                    <a:p>
                      <a:r>
                        <a:rPr sz="950" b="0">
                          <a:solidFill>
                            <a:srgbClr val="333333"/>
                          </a:solidFill>
                          <a:latin typeface="Calibri"/>
                        </a:rPr>
                        <a:t>Patient × status × date</a:t>
                      </a:r>
                    </a:p>
                  </a:txBody>
                  <a:tcPr marL="54864" marR="54864" marT="27432" marB="27432">
                    <a:solidFill>
                      <a:srgbClr val="FFFFFF"/>
                    </a:solidFill>
                  </a:tcPr>
                </a:tc>
                <a:tc>
                  <a:txBody>
                    <a:bodyPr wrap="square"/>
                    <a:lstStyle/>
                    <a:p>
                      <a:r>
                        <a:rPr sz="950" b="0">
                          <a:solidFill>
                            <a:srgbClr val="333333"/>
                          </a:solidFill>
                          <a:latin typeface="Calibri"/>
                        </a:rPr>
                        <a:t>Time-to-fill, PA outcomes, abandonment for your brand</a:t>
                      </a:r>
                    </a:p>
                  </a:txBody>
                  <a:tcPr marL="54864" marR="54864" marT="27432" marB="27432">
                    <a:solidFill>
                      <a:srgbClr val="FFFFFF"/>
                    </a:solidFill>
                  </a:tcPr>
                </a:tc>
                <a:tc>
                  <a:txBody>
                    <a:bodyPr wrap="square"/>
                    <a:lstStyle/>
                    <a:p>
                      <a:r>
                        <a:rPr sz="950" b="0">
                          <a:solidFill>
                            <a:srgbClr val="333333"/>
                          </a:solidFill>
                          <a:latin typeface="Calibri"/>
                        </a:rPr>
                        <a:t>Competitors; anything outside your network</a:t>
                      </a:r>
                    </a:p>
                  </a:txBody>
                  <a:tcPr marL="54864" marR="54864" marT="27432" marB="27432">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WHEN TO TRUST</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When to trust a syndicated number — five questions to ask the vendor (and yourself)</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Learning objective: “syndicated reports and when to trust them”</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24 / 44</a:t>
            </a:r>
          </a:p>
        </p:txBody>
      </p:sp>
      <p:sp>
        <p:nvSpPr>
          <p:cNvPr id="8" name="Oval 7"/>
          <p:cNvSpPr/>
          <p:nvPr/>
        </p:nvSpPr>
        <p:spPr>
          <a:xfrm>
            <a:off x="640080" y="2103120"/>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1</a:t>
            </a:r>
          </a:p>
        </p:txBody>
      </p:sp>
      <p:sp>
        <p:nvSpPr>
          <p:cNvPr id="9" name="TextBox 8"/>
          <p:cNvSpPr txBox="1"/>
          <p:nvPr/>
        </p:nvSpPr>
        <p:spPr>
          <a:xfrm>
            <a:off x="1325880" y="2057400"/>
            <a:ext cx="4023360" cy="457200"/>
          </a:xfrm>
          <a:prstGeom prst="rect">
            <a:avLst/>
          </a:prstGeom>
          <a:noFill/>
        </p:spPr>
        <p:txBody>
          <a:bodyPr wrap="square" lIns="45720" rIns="45720" tIns="27432" bIns="27432" anchor="t">
            <a:spAutoFit/>
          </a:bodyPr>
          <a:lstStyle/>
          <a:p>
            <a:pPr algn="l"/>
            <a:r>
              <a:rPr sz="1350" b="1" i="0">
                <a:solidFill>
                  <a:srgbClr val="1E2761"/>
                </a:solidFill>
                <a:latin typeface="Calibri"/>
              </a:rPr>
              <a:t>Coverage of the strata I care about?</a:t>
            </a:r>
          </a:p>
        </p:txBody>
      </p:sp>
      <p:sp>
        <p:nvSpPr>
          <p:cNvPr id="10" name="TextBox 9"/>
          <p:cNvSpPr txBox="1"/>
          <p:nvPr/>
        </p:nvSpPr>
        <p:spPr>
          <a:xfrm>
            <a:off x="5394960" y="2057400"/>
            <a:ext cx="6217920" cy="731520"/>
          </a:xfrm>
          <a:prstGeom prst="rect">
            <a:avLst/>
          </a:prstGeom>
          <a:noFill/>
        </p:spPr>
        <p:txBody>
          <a:bodyPr wrap="square" lIns="45720" rIns="45720" tIns="27432" bIns="27432" anchor="t">
            <a:spAutoFit/>
          </a:bodyPr>
          <a:lstStyle/>
          <a:p>
            <a:pPr algn="l"/>
            <a:r>
              <a:rPr sz="1150" b="0" i="0">
                <a:solidFill>
                  <a:srgbClr val="333333"/>
                </a:solidFill>
                <a:latin typeface="Calibri"/>
              </a:rPr>
              <a:t>National retail: fine. One specialty pharmacy in one metro: no. Ask for coverage by outlet type and geography.</a:t>
            </a:r>
          </a:p>
        </p:txBody>
      </p:sp>
      <p:sp>
        <p:nvSpPr>
          <p:cNvPr id="11" name="Oval 10"/>
          <p:cNvSpPr/>
          <p:nvPr/>
        </p:nvSpPr>
        <p:spPr>
          <a:xfrm>
            <a:off x="640080" y="2889503"/>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2</a:t>
            </a:r>
          </a:p>
        </p:txBody>
      </p:sp>
      <p:sp>
        <p:nvSpPr>
          <p:cNvPr id="12" name="TextBox 11"/>
          <p:cNvSpPr txBox="1"/>
          <p:nvPr/>
        </p:nvSpPr>
        <p:spPr>
          <a:xfrm>
            <a:off x="1325880" y="2843784"/>
            <a:ext cx="4023360" cy="457200"/>
          </a:xfrm>
          <a:prstGeom prst="rect">
            <a:avLst/>
          </a:prstGeom>
          <a:noFill/>
        </p:spPr>
        <p:txBody>
          <a:bodyPr wrap="square" lIns="45720" rIns="45720" tIns="27432" bIns="27432" anchor="t">
            <a:spAutoFit/>
          </a:bodyPr>
          <a:lstStyle/>
          <a:p>
            <a:pPr algn="l"/>
            <a:r>
              <a:rPr sz="1350" b="1" i="0">
                <a:solidFill>
                  <a:srgbClr val="1E2761"/>
                </a:solidFill>
                <a:latin typeface="Calibri"/>
              </a:rPr>
              <a:t>What changed in the panel this period?</a:t>
            </a:r>
          </a:p>
        </p:txBody>
      </p:sp>
      <p:sp>
        <p:nvSpPr>
          <p:cNvPr id="13" name="TextBox 12"/>
          <p:cNvSpPr txBox="1"/>
          <p:nvPr/>
        </p:nvSpPr>
        <p:spPr>
          <a:xfrm>
            <a:off x="5394960" y="2843784"/>
            <a:ext cx="6217920" cy="731520"/>
          </a:xfrm>
          <a:prstGeom prst="rect">
            <a:avLst/>
          </a:prstGeom>
          <a:noFill/>
        </p:spPr>
        <p:txBody>
          <a:bodyPr wrap="square" lIns="45720" rIns="45720" tIns="27432" bIns="27432" anchor="t">
            <a:spAutoFit/>
          </a:bodyPr>
          <a:lstStyle/>
          <a:p>
            <a:pPr algn="l"/>
            <a:r>
              <a:rPr sz="1150" b="0" i="0">
                <a:solidFill>
                  <a:srgbClr val="333333"/>
                </a:solidFill>
                <a:latin typeface="Calibri"/>
              </a:rPr>
              <a:t>A large member joining or leaving moves 'national' numbers overnight. Ask for the panel-change log and restatements.</a:t>
            </a:r>
          </a:p>
        </p:txBody>
      </p:sp>
      <p:sp>
        <p:nvSpPr>
          <p:cNvPr id="14" name="Oval 13"/>
          <p:cNvSpPr/>
          <p:nvPr/>
        </p:nvSpPr>
        <p:spPr>
          <a:xfrm>
            <a:off x="640080" y="3675887"/>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3</a:t>
            </a:r>
          </a:p>
        </p:txBody>
      </p:sp>
      <p:sp>
        <p:nvSpPr>
          <p:cNvPr id="15" name="TextBox 14"/>
          <p:cNvSpPr txBox="1"/>
          <p:nvPr/>
        </p:nvSpPr>
        <p:spPr>
          <a:xfrm>
            <a:off x="1325880" y="3630168"/>
            <a:ext cx="4023360" cy="457200"/>
          </a:xfrm>
          <a:prstGeom prst="rect">
            <a:avLst/>
          </a:prstGeom>
          <a:noFill/>
        </p:spPr>
        <p:txBody>
          <a:bodyPr wrap="square" lIns="45720" rIns="45720" tIns="27432" bIns="27432" anchor="t">
            <a:spAutoFit/>
          </a:bodyPr>
          <a:lstStyle/>
          <a:p>
            <a:pPr algn="l"/>
            <a:r>
              <a:rPr sz="1350" b="1" i="0">
                <a:solidFill>
                  <a:srgbClr val="1E2761"/>
                </a:solidFill>
                <a:latin typeface="Calibri"/>
              </a:rPr>
              <a:t>Cross-sectional or patient-level?</a:t>
            </a:r>
          </a:p>
        </p:txBody>
      </p:sp>
      <p:sp>
        <p:nvSpPr>
          <p:cNvPr id="16" name="TextBox 15"/>
          <p:cNvSpPr txBox="1"/>
          <p:nvPr/>
        </p:nvSpPr>
        <p:spPr>
          <a:xfrm>
            <a:off x="5394960" y="3630168"/>
            <a:ext cx="6217920" cy="731520"/>
          </a:xfrm>
          <a:prstGeom prst="rect">
            <a:avLst/>
          </a:prstGeom>
          <a:noFill/>
        </p:spPr>
        <p:txBody>
          <a:bodyPr wrap="square" lIns="45720" rIns="45720" tIns="27432" bIns="27432" anchor="t">
            <a:spAutoFit/>
          </a:bodyPr>
          <a:lstStyle/>
          <a:p>
            <a:pPr algn="l"/>
            <a:r>
              <a:rPr sz="1150" b="0" i="0">
                <a:solidFill>
                  <a:srgbClr val="333333"/>
                </a:solidFill>
                <a:latin typeface="Calibri"/>
              </a:rPr>
              <a:t>TRx trend, share, targeting: cross-sectional is fine. Persistence, switching, NBRx, LOT: patient-level only.</a:t>
            </a:r>
          </a:p>
        </p:txBody>
      </p:sp>
      <p:sp>
        <p:nvSpPr>
          <p:cNvPr id="17" name="Oval 16"/>
          <p:cNvSpPr/>
          <p:nvPr/>
        </p:nvSpPr>
        <p:spPr>
          <a:xfrm>
            <a:off x="640080" y="4462272"/>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4</a:t>
            </a:r>
          </a:p>
        </p:txBody>
      </p:sp>
      <p:sp>
        <p:nvSpPr>
          <p:cNvPr id="18" name="TextBox 17"/>
          <p:cNvSpPr txBox="1"/>
          <p:nvPr/>
        </p:nvSpPr>
        <p:spPr>
          <a:xfrm>
            <a:off x="1325880" y="4416552"/>
            <a:ext cx="4023360" cy="457200"/>
          </a:xfrm>
          <a:prstGeom prst="rect">
            <a:avLst/>
          </a:prstGeom>
          <a:noFill/>
        </p:spPr>
        <p:txBody>
          <a:bodyPr wrap="square" lIns="45720" rIns="45720" tIns="27432" bIns="27432" anchor="t">
            <a:spAutoFit/>
          </a:bodyPr>
          <a:lstStyle/>
          <a:p>
            <a:pPr algn="l"/>
            <a:r>
              <a:rPr sz="1350" b="1" i="0">
                <a:solidFill>
                  <a:srgbClr val="1E2761"/>
                </a:solidFill>
                <a:latin typeface="Calibri"/>
              </a:rPr>
              <a:t>What does it reconcile to?</a:t>
            </a:r>
          </a:p>
        </p:txBody>
      </p:sp>
      <p:sp>
        <p:nvSpPr>
          <p:cNvPr id="19" name="TextBox 18"/>
          <p:cNvSpPr txBox="1"/>
          <p:nvPr/>
        </p:nvSpPr>
        <p:spPr>
          <a:xfrm>
            <a:off x="5394960" y="4416552"/>
            <a:ext cx="6217920" cy="731520"/>
          </a:xfrm>
          <a:prstGeom prst="rect">
            <a:avLst/>
          </a:prstGeom>
          <a:noFill/>
        </p:spPr>
        <p:txBody>
          <a:bodyPr wrap="square" lIns="45720" rIns="45720" tIns="27432" bIns="27432" anchor="t">
            <a:spAutoFit/>
          </a:bodyPr>
          <a:lstStyle/>
          <a:p>
            <a:pPr algn="l"/>
            <a:r>
              <a:rPr sz="1150" b="0" i="0">
                <a:solidFill>
                  <a:srgbClr val="333333"/>
                </a:solidFill>
                <a:latin typeface="Calibri"/>
              </a:rPr>
              <a:t>Projected TRx × units ↔ DDD shipments ↔ your net sales, with lags. If they disagree, one of them is wrong — find out which.</a:t>
            </a:r>
          </a:p>
        </p:txBody>
      </p:sp>
      <p:sp>
        <p:nvSpPr>
          <p:cNvPr id="20" name="Oval 19"/>
          <p:cNvSpPr/>
          <p:nvPr/>
        </p:nvSpPr>
        <p:spPr>
          <a:xfrm>
            <a:off x="640080" y="5248656"/>
            <a:ext cx="502920" cy="50292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5</a:t>
            </a:r>
          </a:p>
        </p:txBody>
      </p:sp>
      <p:sp>
        <p:nvSpPr>
          <p:cNvPr id="21" name="TextBox 20"/>
          <p:cNvSpPr txBox="1"/>
          <p:nvPr/>
        </p:nvSpPr>
        <p:spPr>
          <a:xfrm>
            <a:off x="1325880" y="5202936"/>
            <a:ext cx="4023360" cy="457200"/>
          </a:xfrm>
          <a:prstGeom prst="rect">
            <a:avLst/>
          </a:prstGeom>
          <a:noFill/>
        </p:spPr>
        <p:txBody>
          <a:bodyPr wrap="square" lIns="45720" rIns="45720" tIns="27432" bIns="27432" anchor="t">
            <a:spAutoFit/>
          </a:bodyPr>
          <a:lstStyle/>
          <a:p>
            <a:pPr algn="l"/>
            <a:r>
              <a:rPr sz="1350" b="1" i="0">
                <a:solidFill>
                  <a:srgbClr val="1E2761"/>
                </a:solidFill>
                <a:latin typeface="Calibri"/>
              </a:rPr>
              <a:t>What are the lag and restatement rules?</a:t>
            </a:r>
          </a:p>
        </p:txBody>
      </p:sp>
      <p:sp>
        <p:nvSpPr>
          <p:cNvPr id="22" name="TextBox 21"/>
          <p:cNvSpPr txBox="1"/>
          <p:nvPr/>
        </p:nvSpPr>
        <p:spPr>
          <a:xfrm>
            <a:off x="5394960" y="5202936"/>
            <a:ext cx="6217920" cy="731520"/>
          </a:xfrm>
          <a:prstGeom prst="rect">
            <a:avLst/>
          </a:prstGeom>
          <a:noFill/>
        </p:spPr>
        <p:txBody>
          <a:bodyPr wrap="square" lIns="45720" rIns="45720" tIns="27432" bIns="27432" anchor="t">
            <a:spAutoFit/>
          </a:bodyPr>
          <a:lstStyle/>
          <a:p>
            <a:pPr algn="l"/>
            <a:r>
              <a:rPr sz="1150" b="0" i="0">
                <a:solidFill>
                  <a:srgbClr val="333333"/>
                </a:solidFill>
                <a:latin typeface="Calibri"/>
              </a:rPr>
              <a:t>Last week's number will be restated as late claims arrive. Compare mature weeks to mature weeks; never the freshest week to a prior one.</a:t>
            </a:r>
          </a:p>
        </p:txBody>
      </p:sp>
      <p:sp>
        <p:nvSpPr>
          <p:cNvPr id="23" name="TextBox 22"/>
          <p:cNvSpPr txBox="1"/>
          <p:nvPr/>
        </p:nvSpPr>
        <p:spPr>
          <a:xfrm>
            <a:off x="548640" y="6126480"/>
            <a:ext cx="11064240" cy="365760"/>
          </a:xfrm>
          <a:prstGeom prst="rect">
            <a:avLst/>
          </a:prstGeom>
          <a:noFill/>
        </p:spPr>
        <p:txBody>
          <a:bodyPr wrap="square" lIns="45720" rIns="45720" tIns="27432" bIns="27432" anchor="t">
            <a:spAutoFit/>
          </a:bodyPr>
          <a:lstStyle/>
          <a:p>
            <a:pPr algn="l"/>
            <a:r>
              <a:rPr sz="1150" b="1" i="0">
                <a:solidFill>
                  <a:srgbClr val="FF6B6B"/>
                </a:solidFill>
                <a:latin typeface="Calibri"/>
              </a:rPr>
              <a:t>Notebook: Week_02_Rx_Panel_Projection_Tour.ipynb — 10 minutes, run it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04</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Building a cohort — live</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From ICD-10 codes to 482 defensible DLBCL patients, then to lines of therapy. Notebook: Week_02_DLBCL_Cohort_LOT_Notebook.ipynb</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25 / 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DLBCL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Why DLBCL tonight — an oncology market where the data problem is the whole problem</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Diffuse large B-cell lymphoma: the most common aggressive non-Hodgkin lymphoma; ICD-10-CM C83.3x</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26 / 44</a:t>
            </a:r>
          </a:p>
        </p:txBody>
      </p:sp>
      <p:sp>
        <p:nvSpPr>
          <p:cNvPr id="8" name="Rectangle 7"/>
          <p:cNvSpPr/>
          <p:nvPr/>
        </p:nvSpPr>
        <p:spPr>
          <a:xfrm>
            <a:off x="548640" y="2103120"/>
            <a:ext cx="2697480" cy="17373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40279"/>
            <a:ext cx="2514600" cy="868680"/>
          </a:xfrm>
          <a:prstGeom prst="rect">
            <a:avLst/>
          </a:prstGeom>
          <a:noFill/>
        </p:spPr>
        <p:txBody>
          <a:bodyPr wrap="square" lIns="45720" rIns="45720" tIns="27432" bIns="27432" anchor="ctr">
            <a:spAutoFit/>
          </a:bodyPr>
          <a:lstStyle/>
          <a:p>
            <a:pPr algn="ctr"/>
            <a:r>
              <a:rPr sz="4000" b="1" i="0">
                <a:solidFill>
                  <a:srgbClr val="FFFFFF"/>
                </a:solidFill>
                <a:latin typeface="Calibri"/>
              </a:rPr>
              <a:t>30–40%</a:t>
            </a:r>
          </a:p>
        </p:txBody>
      </p:sp>
      <p:sp>
        <p:nvSpPr>
          <p:cNvPr id="10" name="TextBox 9"/>
          <p:cNvSpPr txBox="1"/>
          <p:nvPr/>
        </p:nvSpPr>
        <p:spPr>
          <a:xfrm>
            <a:off x="685800" y="3058668"/>
            <a:ext cx="2423160" cy="729691"/>
          </a:xfrm>
          <a:prstGeom prst="rect">
            <a:avLst/>
          </a:prstGeom>
          <a:noFill/>
        </p:spPr>
        <p:txBody>
          <a:bodyPr wrap="square" lIns="45720" rIns="45720" tIns="27432" bIns="27432" anchor="t">
            <a:spAutoFit/>
          </a:bodyPr>
          <a:lstStyle/>
          <a:p>
            <a:pPr algn="ctr"/>
            <a:r>
              <a:rPr sz="1100" b="0" i="0">
                <a:solidFill>
                  <a:srgbClr val="CADCFC"/>
                </a:solidFill>
                <a:latin typeface="Calibri"/>
              </a:rPr>
              <a:t>of non-Hodgkin lymphoma cases are DLBCL; incidence rises with age (IQVIA)</a:t>
            </a:r>
          </a:p>
        </p:txBody>
      </p:sp>
      <p:sp>
        <p:nvSpPr>
          <p:cNvPr id="11" name="Rectangle 10"/>
          <p:cNvSpPr/>
          <p:nvPr/>
        </p:nvSpPr>
        <p:spPr>
          <a:xfrm>
            <a:off x="3383280" y="2103120"/>
            <a:ext cx="2697480" cy="173736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240279"/>
            <a:ext cx="2514600" cy="868680"/>
          </a:xfrm>
          <a:prstGeom prst="rect">
            <a:avLst/>
          </a:prstGeom>
          <a:noFill/>
        </p:spPr>
        <p:txBody>
          <a:bodyPr wrap="square" lIns="45720" rIns="45720" tIns="27432" bIns="27432" anchor="ctr">
            <a:spAutoFit/>
          </a:bodyPr>
          <a:lstStyle/>
          <a:p>
            <a:pPr algn="ctr"/>
            <a:r>
              <a:rPr sz="4000" b="1" i="0">
                <a:solidFill>
                  <a:srgbClr val="FFFFFF"/>
                </a:solidFill>
                <a:latin typeface="Calibri"/>
              </a:rPr>
              <a:t>2 of 3</a:t>
            </a:r>
          </a:p>
        </p:txBody>
      </p:sp>
      <p:sp>
        <p:nvSpPr>
          <p:cNvPr id="13" name="TextBox 12"/>
          <p:cNvSpPr txBox="1"/>
          <p:nvPr/>
        </p:nvSpPr>
        <p:spPr>
          <a:xfrm>
            <a:off x="3520440" y="3058668"/>
            <a:ext cx="2423160" cy="729691"/>
          </a:xfrm>
          <a:prstGeom prst="rect">
            <a:avLst/>
          </a:prstGeom>
          <a:noFill/>
        </p:spPr>
        <p:txBody>
          <a:bodyPr wrap="square" lIns="45720" rIns="45720" tIns="27432" bIns="27432" anchor="t">
            <a:spAutoFit/>
          </a:bodyPr>
          <a:lstStyle/>
          <a:p>
            <a:pPr algn="ctr"/>
            <a:r>
              <a:rPr sz="1100" b="0" i="0">
                <a:solidFill>
                  <a:srgbClr val="CADCFC"/>
                </a:solidFill>
                <a:latin typeface="Calibri"/>
              </a:rPr>
              <a:t>eligible relapsed / refractory LBCL patients are never referred to a CAR-T treatment center (IQVIA survey research)</a:t>
            </a:r>
          </a:p>
        </p:txBody>
      </p:sp>
      <p:sp>
        <p:nvSpPr>
          <p:cNvPr id="14" name="Rectangle 13"/>
          <p:cNvSpPr/>
          <p:nvPr/>
        </p:nvSpPr>
        <p:spPr>
          <a:xfrm>
            <a:off x="6217920" y="2103120"/>
            <a:ext cx="2697480" cy="17373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2240279"/>
            <a:ext cx="2514600" cy="868680"/>
          </a:xfrm>
          <a:prstGeom prst="rect">
            <a:avLst/>
          </a:prstGeom>
          <a:noFill/>
        </p:spPr>
        <p:txBody>
          <a:bodyPr wrap="square" lIns="45720" rIns="45720" tIns="27432" bIns="27432" anchor="ctr">
            <a:spAutoFit/>
          </a:bodyPr>
          <a:lstStyle/>
          <a:p>
            <a:pPr algn="ctr"/>
            <a:r>
              <a:rPr sz="4000" b="1" i="0">
                <a:solidFill>
                  <a:srgbClr val="FFFFFF"/>
                </a:solidFill>
                <a:latin typeface="Calibri"/>
              </a:rPr>
              <a:t>&lt; 2 in 10</a:t>
            </a:r>
          </a:p>
        </p:txBody>
      </p:sp>
      <p:sp>
        <p:nvSpPr>
          <p:cNvPr id="16" name="TextBox 15"/>
          <p:cNvSpPr txBox="1"/>
          <p:nvPr/>
        </p:nvSpPr>
        <p:spPr>
          <a:xfrm>
            <a:off x="6355080" y="3058668"/>
            <a:ext cx="2423160" cy="729691"/>
          </a:xfrm>
          <a:prstGeom prst="rect">
            <a:avLst/>
          </a:prstGeom>
          <a:noFill/>
        </p:spPr>
        <p:txBody>
          <a:bodyPr wrap="square" lIns="45720" rIns="45720" tIns="27432" bIns="27432" anchor="t">
            <a:spAutoFit/>
          </a:bodyPr>
          <a:lstStyle/>
          <a:p>
            <a:pPr algn="ctr"/>
            <a:r>
              <a:rPr sz="1100" b="0" i="0">
                <a:solidFill>
                  <a:srgbClr val="CADCFC"/>
                </a:solidFill>
                <a:latin typeface="Calibri"/>
              </a:rPr>
              <a:t>ultimately receive CAR-T — the gap between clinical potential and the real world</a:t>
            </a:r>
          </a:p>
        </p:txBody>
      </p:sp>
      <p:sp>
        <p:nvSpPr>
          <p:cNvPr id="17" name="Rectangle 16"/>
          <p:cNvSpPr/>
          <p:nvPr/>
        </p:nvSpPr>
        <p:spPr>
          <a:xfrm>
            <a:off x="9052560" y="2103120"/>
            <a:ext cx="2606040" cy="173736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2240279"/>
            <a:ext cx="2423160" cy="868680"/>
          </a:xfrm>
          <a:prstGeom prst="rect">
            <a:avLst/>
          </a:prstGeom>
          <a:noFill/>
        </p:spPr>
        <p:txBody>
          <a:bodyPr wrap="square" lIns="45720" rIns="45720" tIns="27432" bIns="27432" anchor="ctr">
            <a:spAutoFit/>
          </a:bodyPr>
          <a:lstStyle/>
          <a:p>
            <a:pPr algn="ctr"/>
            <a:r>
              <a:rPr sz="4000" b="1" i="0">
                <a:solidFill>
                  <a:srgbClr val="FFFFFF"/>
                </a:solidFill>
                <a:latin typeface="Calibri"/>
              </a:rPr>
              <a:t>~1 in 4</a:t>
            </a:r>
          </a:p>
        </p:txBody>
      </p:sp>
      <p:sp>
        <p:nvSpPr>
          <p:cNvPr id="19" name="TextBox 18"/>
          <p:cNvSpPr txBox="1"/>
          <p:nvPr/>
        </p:nvSpPr>
        <p:spPr>
          <a:xfrm>
            <a:off x="9189720" y="3058668"/>
            <a:ext cx="2331720" cy="729691"/>
          </a:xfrm>
          <a:prstGeom prst="rect">
            <a:avLst/>
          </a:prstGeom>
          <a:noFill/>
        </p:spPr>
        <p:txBody>
          <a:bodyPr wrap="square" lIns="45720" rIns="45720" tIns="27432" bIns="27432" anchor="t">
            <a:spAutoFit/>
          </a:bodyPr>
          <a:lstStyle/>
          <a:p>
            <a:pPr algn="ctr"/>
            <a:r>
              <a:rPr sz="1100" b="0" i="0">
                <a:solidFill>
                  <a:srgbClr val="FFFFFF"/>
                </a:solidFill>
                <a:latin typeface="Calibri"/>
              </a:rPr>
              <a:t>referred patients drop out at the treatment center after screening (ineligible by then)</a:t>
            </a:r>
          </a:p>
        </p:txBody>
      </p:sp>
      <p:sp>
        <p:nvSpPr>
          <p:cNvPr id="20" name="TextBox 19"/>
          <p:cNvSpPr txBox="1"/>
          <p:nvPr/>
        </p:nvSpPr>
        <p:spPr>
          <a:xfrm>
            <a:off x="548640" y="4069080"/>
            <a:ext cx="11064240" cy="219456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Why it is a claims problem: </a:t>
            </a:r>
            <a:r>
              <a:rPr sz="1150">
                <a:solidFill>
                  <a:srgbClr val="333333"/>
                </a:solidFill>
                <a:latin typeface="Calibri"/>
              </a:rPr>
              <a:t>almost every drug is infused (J-codes), care moves between community oncologists and academic centers (two NPIs, two sites of care), and the commercial question — who reaches 2L and 3L, and where — is a patient-journey question.</a:t>
            </a:r>
          </a:p>
          <a:p>
            <a:pPr>
              <a:spcAft>
                <a:spcPts val="600"/>
              </a:spcAft>
            </a:pPr>
            <a:r>
              <a:rPr sz="1150" b="1">
                <a:solidFill>
                  <a:srgbClr val="FF6B6B"/>
                </a:solidFill>
                <a:latin typeface="Calibri"/>
              </a:rPr>
              <a:t>▸ </a:t>
            </a:r>
            <a:r>
              <a:rPr b="1" sz="1150">
                <a:solidFill>
                  <a:srgbClr val="1E2761"/>
                </a:solidFill>
                <a:latin typeface="Calibri"/>
              </a:rPr>
              <a:t>What the brand team needs: </a:t>
            </a:r>
            <a:r>
              <a:rPr sz="1150">
                <a:solidFill>
                  <a:srgbClr val="333333"/>
                </a:solidFill>
                <a:latin typeface="Calibri"/>
              </a:rPr>
              <a:t>1L / 2L / 3L+ regimen shares, time to next treatment, the referral funnel by site of care, and the payer mix at each line.</a:t>
            </a:r>
          </a:p>
          <a:p>
            <a:pPr>
              <a:spcAft>
                <a:spcPts val="600"/>
              </a:spcAft>
            </a:pPr>
            <a:r>
              <a:rPr sz="1150" b="1">
                <a:solidFill>
                  <a:srgbClr val="FF6B6B"/>
                </a:solidFill>
                <a:latin typeface="Calibri"/>
              </a:rPr>
              <a:t>▸ </a:t>
            </a:r>
            <a:r>
              <a:rPr b="1" sz="1150">
                <a:solidFill>
                  <a:srgbClr val="1E2761"/>
                </a:solidFill>
                <a:latin typeface="Calibri"/>
              </a:rPr>
              <a:t>What IQVIA did to build its referral study: </a:t>
            </a:r>
            <a:r>
              <a:rPr sz="1150">
                <a:solidFill>
                  <a:srgbClr val="333333"/>
                </a:solidFill>
                <a:latin typeface="Calibri"/>
              </a:rPr>
              <a:t>“IQVIA leveraged 2023 claims data to define high and low thresholds for referring oncologists and treaters in addition to triangulating referral and treatment volumes.” Claims are the sampling frame for everything else.</a:t>
            </a:r>
          </a:p>
          <a:p>
            <a:pPr>
              <a:spcAft>
                <a:spcPts val="600"/>
              </a:spcAft>
            </a:pPr>
            <a:r>
              <a:rPr sz="1150" b="1">
                <a:solidFill>
                  <a:srgbClr val="FF6B6B"/>
                </a:solidFill>
                <a:latin typeface="Calibri"/>
              </a:rPr>
              <a:t>▸ </a:t>
            </a:r>
            <a:r>
              <a:rPr b="1" sz="1150">
                <a:solidFill>
                  <a:srgbClr val="1E2761"/>
                </a:solidFill>
                <a:latin typeface="Calibri"/>
              </a:rPr>
              <a:t>Ethics reminder: </a:t>
            </a:r>
            <a:r>
              <a:rPr sz="1150">
                <a:solidFill>
                  <a:srgbClr val="333333"/>
                </a:solidFill>
                <a:latin typeface="Calibri"/>
              </a:rPr>
              <a:t>these are real diseases and real drugs; the patients tonight are synthetic. The methods are the ones used on real data under the governance rules in §5.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THE TEMPLATE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A cohort is a rule, not a fact — write the rule down before you write the query</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Use this table in every project (and in your Oct 5 data plan)</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27 / 44</a:t>
            </a:r>
          </a:p>
        </p:txBody>
      </p:sp>
      <p:graphicFrame>
        <p:nvGraphicFramePr>
          <p:cNvPr id="8" name="Table 7"/>
          <p:cNvGraphicFramePr>
            <a:graphicFrameLocks noGrp="1"/>
          </p:cNvGraphicFramePr>
          <p:nvPr/>
        </p:nvGraphicFramePr>
        <p:xfrm>
          <a:off x="548640" y="2057400"/>
          <a:ext cx="11064240" cy="4023360"/>
        </p:xfrm>
        <a:graphic>
          <a:graphicData uri="http://schemas.openxmlformats.org/drawingml/2006/table">
            <a:tbl>
              <a:tblPr firstRow="1" bandRow="1">
                <a:tableStyleId>{5C22544A-7EE6-4342-B048-85BDC9FD1C3A}</a:tableStyleId>
              </a:tblPr>
              <a:tblGrid>
                <a:gridCol w="1828800"/>
                <a:gridCol w="4572000"/>
                <a:gridCol w="4663440"/>
              </a:tblGrid>
              <a:tr h="502920">
                <a:tc>
                  <a:txBody>
                    <a:bodyPr wrap="square"/>
                    <a:lstStyle/>
                    <a:p>
                      <a:r>
                        <a:rPr sz="1050" b="1">
                          <a:solidFill>
                            <a:srgbClr val="FFFFFF"/>
                          </a:solidFill>
                          <a:latin typeface="Calibri"/>
                        </a:rPr>
                        <a:t>Element</a:t>
                      </a:r>
                    </a:p>
                  </a:txBody>
                  <a:tcPr marL="54864" marR="54864" marT="27432" marB="27432">
                    <a:solidFill>
                      <a:srgbClr val="1E2761"/>
                    </a:solidFill>
                  </a:tcPr>
                </a:tc>
                <a:tc>
                  <a:txBody>
                    <a:bodyPr wrap="square"/>
                    <a:lstStyle/>
                    <a:p>
                      <a:r>
                        <a:rPr sz="1050" b="1">
                          <a:solidFill>
                            <a:srgbClr val="FFFFFF"/>
                          </a:solidFill>
                          <a:latin typeface="Calibri"/>
                        </a:rPr>
                        <a:t>Tonight's choice</a:t>
                      </a:r>
                    </a:p>
                  </a:txBody>
                  <a:tcPr marL="54864" marR="54864" marT="27432" marB="27432">
                    <a:solidFill>
                      <a:srgbClr val="1E2761"/>
                    </a:solidFill>
                  </a:tcPr>
                </a:tc>
                <a:tc>
                  <a:txBody>
                    <a:bodyPr wrap="square"/>
                    <a:lstStyle/>
                    <a:p>
                      <a:r>
                        <a:rPr sz="1050" b="1">
                          <a:solidFill>
                            <a:srgbClr val="FFFFFF"/>
                          </a:solidFill>
                          <a:latin typeface="Calibri"/>
                        </a:rPr>
                        <a:t>The trade-off you are making</a:t>
                      </a:r>
                    </a:p>
                  </a:txBody>
                  <a:tcPr marL="54864" marR="54864" marT="27432" marB="27432">
                    <a:solidFill>
                      <a:srgbClr val="1E2761"/>
                    </a:solidFill>
                  </a:tcPr>
                </a:tc>
              </a:tr>
              <a:tr h="502920">
                <a:tc>
                  <a:txBody>
                    <a:bodyPr wrap="square"/>
                    <a:lstStyle/>
                    <a:p>
                      <a:r>
                        <a:rPr sz="1050" b="1">
                          <a:solidFill>
                            <a:srgbClr val="1E2761"/>
                          </a:solidFill>
                          <a:latin typeface="Calibri"/>
                        </a:rPr>
                        <a:t>Disease code(s)</a:t>
                      </a:r>
                    </a:p>
                  </a:txBody>
                  <a:tcPr marL="54864" marR="54864" marT="27432" marB="27432">
                    <a:solidFill>
                      <a:srgbClr val="FFFFFF"/>
                    </a:solidFill>
                  </a:tcPr>
                </a:tc>
                <a:tc>
                  <a:txBody>
                    <a:bodyPr wrap="square"/>
                    <a:lstStyle/>
                    <a:p>
                      <a:r>
                        <a:rPr sz="1050" b="0">
                          <a:solidFill>
                            <a:srgbClr val="333333"/>
                          </a:solidFill>
                          <a:latin typeface="Calibri"/>
                        </a:rPr>
                        <a:t>ICD-10-CM C83.30 (real projects: the full C83.3* family, ± histology from EHR)</a:t>
                      </a:r>
                    </a:p>
                  </a:txBody>
                  <a:tcPr marL="54864" marR="54864" marT="27432" marB="27432">
                    <a:solidFill>
                      <a:srgbClr val="FFFFFF"/>
                    </a:solidFill>
                  </a:tcPr>
                </a:tc>
                <a:tc>
                  <a:txBody>
                    <a:bodyPr wrap="square"/>
                    <a:lstStyle/>
                    <a:p>
                      <a:r>
                        <a:rPr sz="1050" b="0">
                          <a:solidFill>
                            <a:srgbClr val="333333"/>
                          </a:solidFill>
                          <a:latin typeface="Calibri"/>
                        </a:rPr>
                        <a:t>Narrow codes miss patients; broad codes admit neighbours (follicular C82.x)</a:t>
                      </a:r>
                    </a:p>
                  </a:txBody>
                  <a:tcPr marL="54864" marR="54864" marT="27432" marB="27432">
                    <a:solidFill>
                      <a:srgbClr val="FFFFFF"/>
                    </a:solidFill>
                  </a:tcPr>
                </a:tc>
              </a:tr>
              <a:tr h="502920">
                <a:tc>
                  <a:txBody>
                    <a:bodyPr wrap="square"/>
                    <a:lstStyle/>
                    <a:p>
                      <a:r>
                        <a:rPr sz="1050" b="1">
                          <a:solidFill>
                            <a:srgbClr val="1E2761"/>
                          </a:solidFill>
                          <a:latin typeface="Calibri"/>
                        </a:rPr>
                        <a:t>Confirmation rule</a:t>
                      </a:r>
                    </a:p>
                  </a:txBody>
                  <a:tcPr marL="54864" marR="54864" marT="27432" marB="27432">
                    <a:solidFill>
                      <a:srgbClr val="F3F6FC"/>
                    </a:solidFill>
                  </a:tcPr>
                </a:tc>
                <a:tc>
                  <a:txBody>
                    <a:bodyPr wrap="square"/>
                    <a:lstStyle/>
                    <a:p>
                      <a:r>
                        <a:rPr sz="1050" b="0">
                          <a:solidFill>
                            <a:srgbClr val="333333"/>
                          </a:solidFill>
                          <a:latin typeface="Calibri"/>
                        </a:rPr>
                        <a:t>≥ 2 claims with the code on different days, the first two ≤ 365 days apart</a:t>
                      </a:r>
                    </a:p>
                  </a:txBody>
                  <a:tcPr marL="54864" marR="54864" marT="27432" marB="27432">
                    <a:solidFill>
                      <a:srgbClr val="F3F6FC"/>
                    </a:solidFill>
                  </a:tcPr>
                </a:tc>
                <a:tc>
                  <a:txBody>
                    <a:bodyPr wrap="square"/>
                    <a:lstStyle/>
                    <a:p>
                      <a:r>
                        <a:rPr sz="1050" b="0">
                          <a:solidFill>
                            <a:srgbClr val="333333"/>
                          </a:solidFill>
                          <a:latin typeface="Calibri"/>
                        </a:rPr>
                        <a:t>One claim may be a rule-out; two a year apart may be surveillance of an old disease</a:t>
                      </a:r>
                    </a:p>
                  </a:txBody>
                  <a:tcPr marL="54864" marR="54864" marT="27432" marB="27432">
                    <a:solidFill>
                      <a:srgbClr val="F3F6FC"/>
                    </a:solidFill>
                  </a:tcPr>
                </a:tc>
              </a:tr>
              <a:tr h="502920">
                <a:tc>
                  <a:txBody>
                    <a:bodyPr wrap="square"/>
                    <a:lstStyle/>
                    <a:p>
                      <a:r>
                        <a:rPr sz="1050" b="1">
                          <a:solidFill>
                            <a:srgbClr val="1E2761"/>
                          </a:solidFill>
                          <a:latin typeface="Calibri"/>
                        </a:rPr>
                        <a:t>Index date</a:t>
                      </a:r>
                    </a:p>
                  </a:txBody>
                  <a:tcPr marL="54864" marR="54864" marT="27432" marB="27432">
                    <a:solidFill>
                      <a:srgbClr val="FFFFFF"/>
                    </a:solidFill>
                  </a:tcPr>
                </a:tc>
                <a:tc>
                  <a:txBody>
                    <a:bodyPr wrap="square"/>
                    <a:lstStyle/>
                    <a:p>
                      <a:r>
                        <a:rPr sz="1050" b="0">
                          <a:solidFill>
                            <a:srgbClr val="333333"/>
                          </a:solidFill>
                          <a:latin typeface="Calibri"/>
                        </a:rPr>
                        <a:t>First qualifying diagnosis day</a:t>
                      </a:r>
                    </a:p>
                  </a:txBody>
                  <a:tcPr marL="54864" marR="54864" marT="27432" marB="27432">
                    <a:solidFill>
                      <a:srgbClr val="FFFFFF"/>
                    </a:solidFill>
                  </a:tcPr>
                </a:tc>
                <a:tc>
                  <a:txBody>
                    <a:bodyPr wrap="square"/>
                    <a:lstStyle/>
                    <a:p>
                      <a:r>
                        <a:rPr sz="1050" b="0">
                          <a:solidFill>
                            <a:srgbClr val="333333"/>
                          </a:solidFill>
                          <a:latin typeface="Calibri"/>
                        </a:rPr>
                        <a:t>Everything (LOT, time-to-event) is measured from here; a vendor's 'dx date' is not yours</a:t>
                      </a:r>
                    </a:p>
                  </a:txBody>
                  <a:tcPr marL="54864" marR="54864" marT="27432" marB="27432">
                    <a:solidFill>
                      <a:srgbClr val="FFFFFF"/>
                    </a:solidFill>
                  </a:tcPr>
                </a:tc>
              </a:tr>
              <a:tr h="502920">
                <a:tc>
                  <a:txBody>
                    <a:bodyPr wrap="square"/>
                    <a:lstStyle/>
                    <a:p>
                      <a:r>
                        <a:rPr sz="1050" b="1">
                          <a:solidFill>
                            <a:srgbClr val="1E2761"/>
                          </a:solidFill>
                          <a:latin typeface="Calibri"/>
                        </a:rPr>
                        <a:t>Baseline (washout)</a:t>
                      </a:r>
                    </a:p>
                  </a:txBody>
                  <a:tcPr marL="54864" marR="54864" marT="27432" marB="27432">
                    <a:solidFill>
                      <a:srgbClr val="F3F6FC"/>
                    </a:solidFill>
                  </a:tcPr>
                </a:tc>
                <a:tc>
                  <a:txBody>
                    <a:bodyPr wrap="square"/>
                    <a:lstStyle/>
                    <a:p>
                      <a:r>
                        <a:rPr sz="1050" b="0">
                          <a:solidFill>
                            <a:srgbClr val="333333"/>
                          </a:solidFill>
                          <a:latin typeface="Calibri"/>
                        </a:rPr>
                        <a:t>≥ 180 days continuous enrollment before index, no gap &gt; 45 days</a:t>
                      </a:r>
                    </a:p>
                  </a:txBody>
                  <a:tcPr marL="54864" marR="54864" marT="27432" marB="27432">
                    <a:solidFill>
                      <a:srgbClr val="F3F6FC"/>
                    </a:solidFill>
                  </a:tcPr>
                </a:tc>
                <a:tc>
                  <a:txBody>
                    <a:bodyPr wrap="square"/>
                    <a:lstStyle/>
                    <a:p>
                      <a:r>
                        <a:rPr sz="1050" b="0">
                          <a:solidFill>
                            <a:srgbClr val="333333"/>
                          </a:solidFill>
                          <a:latin typeface="Calibri"/>
                        </a:rPr>
                        <a:t>You lose newly insured patients; you gain the ability to see prior treatment</a:t>
                      </a:r>
                    </a:p>
                  </a:txBody>
                  <a:tcPr marL="54864" marR="54864" marT="27432" marB="27432">
                    <a:solidFill>
                      <a:srgbClr val="F3F6FC"/>
                    </a:solidFill>
                  </a:tcPr>
                </a:tc>
              </a:tr>
              <a:tr h="502920">
                <a:tc>
                  <a:txBody>
                    <a:bodyPr wrap="square"/>
                    <a:lstStyle/>
                    <a:p>
                      <a:r>
                        <a:rPr sz="1050" b="1">
                          <a:solidFill>
                            <a:srgbClr val="1E2761"/>
                          </a:solidFill>
                          <a:latin typeface="Calibri"/>
                        </a:rPr>
                        <a:t>Follow-up</a:t>
                      </a:r>
                    </a:p>
                  </a:txBody>
                  <a:tcPr marL="54864" marR="54864" marT="27432" marB="27432">
                    <a:solidFill>
                      <a:srgbClr val="FFFFFF"/>
                    </a:solidFill>
                  </a:tcPr>
                </a:tc>
                <a:tc>
                  <a:txBody>
                    <a:bodyPr wrap="square"/>
                    <a:lstStyle/>
                    <a:p>
                      <a:r>
                        <a:rPr sz="1050" b="0">
                          <a:solidFill>
                            <a:srgbClr val="333333"/>
                          </a:solidFill>
                          <a:latin typeface="Calibri"/>
                        </a:rPr>
                        <a:t>Enrolled ≥ 1 day after index; censor at coverage end</a:t>
                      </a:r>
                    </a:p>
                  </a:txBody>
                  <a:tcPr marL="54864" marR="54864" marT="27432" marB="27432">
                    <a:solidFill>
                      <a:srgbClr val="FFFFFF"/>
                    </a:solidFill>
                  </a:tcPr>
                </a:tc>
                <a:tc>
                  <a:txBody>
                    <a:bodyPr wrap="square"/>
                    <a:lstStyle/>
                    <a:p>
                      <a:r>
                        <a:rPr sz="1050" b="0">
                          <a:solidFill>
                            <a:srgbClr val="333333"/>
                          </a:solidFill>
                          <a:latin typeface="Calibri"/>
                        </a:rPr>
                        <a:t>Patients who leave the panel are censored, not dead</a:t>
                      </a:r>
                    </a:p>
                  </a:txBody>
                  <a:tcPr marL="54864" marR="54864" marT="27432" marB="27432">
                    <a:solidFill>
                      <a:srgbClr val="FFFFFF"/>
                    </a:solidFill>
                  </a:tcPr>
                </a:tc>
              </a:tr>
              <a:tr h="502920">
                <a:tc>
                  <a:txBody>
                    <a:bodyPr wrap="square"/>
                    <a:lstStyle/>
                    <a:p>
                      <a:r>
                        <a:rPr sz="1050" b="1">
                          <a:solidFill>
                            <a:srgbClr val="1E2761"/>
                          </a:solidFill>
                          <a:latin typeface="Calibri"/>
                        </a:rPr>
                        <a:t>Activity / capture</a:t>
                      </a:r>
                    </a:p>
                  </a:txBody>
                  <a:tcPr marL="54864" marR="54864" marT="27432" marB="27432">
                    <a:solidFill>
                      <a:srgbClr val="F3F6FC"/>
                    </a:solidFill>
                  </a:tcPr>
                </a:tc>
                <a:tc>
                  <a:txBody>
                    <a:bodyPr wrap="square"/>
                    <a:lstStyle/>
                    <a:p>
                      <a:r>
                        <a:rPr sz="1050" b="0">
                          <a:solidFill>
                            <a:srgbClr val="333333"/>
                          </a:solidFill>
                          <a:latin typeface="Calibri"/>
                        </a:rPr>
                        <a:t>(optional) ≥ 1 claim of any kind per 6 months</a:t>
                      </a:r>
                    </a:p>
                  </a:txBody>
                  <a:tcPr marL="54864" marR="54864" marT="27432" marB="27432">
                    <a:solidFill>
                      <a:srgbClr val="F3F6FC"/>
                    </a:solidFill>
                  </a:tcPr>
                </a:tc>
                <a:tc>
                  <a:txBody>
                    <a:bodyPr wrap="square"/>
                    <a:lstStyle/>
                    <a:p>
                      <a:r>
                        <a:rPr sz="1050" b="0">
                          <a:solidFill>
                            <a:srgbClr val="333333"/>
                          </a:solidFill>
                          <a:latin typeface="Calibri"/>
                        </a:rPr>
                        <a:t>Guards against patients the data only half-sees</a:t>
                      </a:r>
                    </a:p>
                  </a:txBody>
                  <a:tcPr marL="54864" marR="54864" marT="27432" marB="27432">
                    <a:solidFill>
                      <a:srgbClr val="F3F6FC"/>
                    </a:solidFill>
                  </a:tcPr>
                </a:tc>
              </a:tr>
              <a:tr h="502920">
                <a:tc>
                  <a:txBody>
                    <a:bodyPr wrap="square"/>
                    <a:lstStyle/>
                    <a:p>
                      <a:r>
                        <a:rPr sz="1050" b="1">
                          <a:solidFill>
                            <a:srgbClr val="1E2761"/>
                          </a:solidFill>
                          <a:latin typeface="Calibri"/>
                        </a:rPr>
                        <a:t>Exclusions</a:t>
                      </a:r>
                    </a:p>
                  </a:txBody>
                  <a:tcPr marL="54864" marR="54864" marT="27432" marB="27432">
                    <a:solidFill>
                      <a:srgbClr val="FFFFFF"/>
                    </a:solidFill>
                  </a:tcPr>
                </a:tc>
                <a:tc>
                  <a:txBody>
                    <a:bodyPr wrap="square"/>
                    <a:lstStyle/>
                    <a:p>
                      <a:r>
                        <a:rPr sz="1050" b="0">
                          <a:solidFill>
                            <a:srgbClr val="333333"/>
                          </a:solidFill>
                          <a:latin typeface="Calibri"/>
                        </a:rPr>
                        <a:t>(optional) prior lymphoma code before index; age &lt; 18</a:t>
                      </a:r>
                    </a:p>
                  </a:txBody>
                  <a:tcPr marL="54864" marR="54864" marT="27432" marB="27432">
                    <a:solidFill>
                      <a:srgbClr val="FFFFFF"/>
                    </a:solidFill>
                  </a:tcPr>
                </a:tc>
                <a:tc>
                  <a:txBody>
                    <a:bodyPr wrap="square"/>
                    <a:lstStyle/>
                    <a:p>
                      <a:r>
                        <a:rPr sz="1050" b="0">
                          <a:solidFill>
                            <a:srgbClr val="333333"/>
                          </a:solidFill>
                          <a:latin typeface="Calibri"/>
                        </a:rPr>
                        <a:t>Incident vs. prevalent cohort — say which one you built</a:t>
                      </a:r>
                    </a:p>
                  </a:txBody>
                  <a:tcPr marL="54864" marR="54864" marT="27432" marB="27432">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THE ≥2-DX RULE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≥2-dx rule — and the trap inside it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Sensitivity (catch every real patient) vs. specificity (admit no impostor). You choose the balance for the purpose.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28 / 44</a:t>
            </a:r>
          </a:p>
        </p:txBody>
      </p:sp>
      <p:sp>
        <p:nvSpPr>
          <p:cNvPr id="8" name="Rectangle 7"/>
          <p:cNvSpPr/>
          <p:nvPr/>
        </p:nvSpPr>
        <p:spPr>
          <a:xfrm>
            <a:off x="548640" y="2103120"/>
            <a:ext cx="361188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0" name="TextBox 9"/>
          <p:cNvSpPr txBox="1"/>
          <p:nvPr/>
        </p:nvSpPr>
        <p:spPr>
          <a:xfrm>
            <a:off x="114300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Why two claims</a:t>
            </a:r>
          </a:p>
        </p:txBody>
      </p:sp>
      <p:sp>
        <p:nvSpPr>
          <p:cNvPr id="11" name="TextBox 10"/>
          <p:cNvSpPr txBox="1"/>
          <p:nvPr/>
        </p:nvSpPr>
        <p:spPr>
          <a:xfrm>
            <a:off x="658368" y="2724912"/>
            <a:ext cx="3383280" cy="294436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 single diagnosis code is often a work-up: 'rule out lymphoma' gets coded as lymphoma</a:t>
            </a:r>
          </a:p>
          <a:p>
            <a:pPr>
              <a:spcAft>
                <a:spcPts val="500"/>
              </a:spcAft>
            </a:pPr>
            <a:r>
              <a:rPr sz="1150" b="1">
                <a:solidFill>
                  <a:srgbClr val="FF6B6B"/>
                </a:solidFill>
                <a:latin typeface="Calibri"/>
              </a:rPr>
              <a:t>▸ </a:t>
            </a:r>
            <a:r>
              <a:rPr sz="1150">
                <a:solidFill>
                  <a:srgbClr val="333333"/>
                </a:solidFill>
                <a:latin typeface="Calibri"/>
              </a:rPr>
              <a:t>In tonight's file: 70 patients have exactly one C83.30 claim; 70% of them have a later benign code (R59.0)</a:t>
            </a:r>
          </a:p>
          <a:p>
            <a:pPr>
              <a:spcAft>
                <a:spcPts val="500"/>
              </a:spcAft>
            </a:pPr>
            <a:r>
              <a:rPr sz="1150" b="1">
                <a:solidFill>
                  <a:srgbClr val="FF6B6B"/>
                </a:solidFill>
                <a:latin typeface="Calibri"/>
              </a:rPr>
              <a:t>▸ </a:t>
            </a:r>
            <a:r>
              <a:rPr sz="1150">
                <a:solidFill>
                  <a:srgbClr val="333333"/>
                </a:solidFill>
                <a:latin typeface="Calibri"/>
              </a:rPr>
              <a:t>Requiring two claims on different days removes all of them</a:t>
            </a:r>
          </a:p>
        </p:txBody>
      </p:sp>
      <p:sp>
        <p:nvSpPr>
          <p:cNvPr id="12" name="Rectangle 11"/>
          <p:cNvSpPr/>
          <p:nvPr/>
        </p:nvSpPr>
        <p:spPr>
          <a:xfrm>
            <a:off x="4297680" y="2103120"/>
            <a:ext cx="361188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4" name="TextBox 13"/>
          <p:cNvSpPr txBox="1"/>
          <p:nvPr/>
        </p:nvSpPr>
        <p:spPr>
          <a:xfrm>
            <a:off x="489204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Why a window</a:t>
            </a:r>
          </a:p>
        </p:txBody>
      </p:sp>
      <p:sp>
        <p:nvSpPr>
          <p:cNvPr id="15" name="TextBox 14"/>
          <p:cNvSpPr txBox="1"/>
          <p:nvPr/>
        </p:nvSpPr>
        <p:spPr>
          <a:xfrm>
            <a:off x="4407408" y="2724912"/>
            <a:ext cx="3383280" cy="294436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Two claims years apart can be surveillance of a cured disease, a re-coded history, or a data error</a:t>
            </a:r>
          </a:p>
          <a:p>
            <a:pPr>
              <a:spcAft>
                <a:spcPts val="500"/>
              </a:spcAft>
            </a:pPr>
            <a:r>
              <a:rPr sz="1150" b="1">
                <a:solidFill>
                  <a:srgbClr val="FF6B6B"/>
                </a:solidFill>
                <a:latin typeface="Calibri"/>
              </a:rPr>
              <a:t>▸ </a:t>
            </a:r>
            <a:r>
              <a:rPr sz="1150">
                <a:solidFill>
                  <a:srgbClr val="333333"/>
                </a:solidFill>
                <a:latin typeface="Calibri"/>
              </a:rPr>
              <a:t>25 decoys have two claims 400–800 days apart</a:t>
            </a:r>
          </a:p>
          <a:p>
            <a:pPr>
              <a:spcAft>
                <a:spcPts val="500"/>
              </a:spcAft>
            </a:pPr>
            <a:r>
              <a:rPr sz="1150" b="1">
                <a:solidFill>
                  <a:srgbClr val="FF6B6B"/>
                </a:solidFill>
                <a:latin typeface="Calibri"/>
              </a:rPr>
              <a:t>▸ </a:t>
            </a:r>
            <a:r>
              <a:rPr sz="1150">
                <a:solidFill>
                  <a:srgbClr val="333333"/>
                </a:solidFill>
                <a:latin typeface="Calibri"/>
              </a:rPr>
              <a:t>Requiring the first two within 365 days removes them</a:t>
            </a:r>
          </a:p>
        </p:txBody>
      </p:sp>
      <p:sp>
        <p:nvSpPr>
          <p:cNvPr id="16" name="Rectangle 15"/>
          <p:cNvSpPr/>
          <p:nvPr/>
        </p:nvSpPr>
        <p:spPr>
          <a:xfrm>
            <a:off x="8046720" y="2103120"/>
            <a:ext cx="3611880" cy="3657600"/>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18" name="TextBox 17"/>
          <p:cNvSpPr txBox="1"/>
          <p:nvPr/>
        </p:nvSpPr>
        <p:spPr>
          <a:xfrm>
            <a:off x="8641080" y="2231136"/>
            <a:ext cx="2926080" cy="411480"/>
          </a:xfrm>
          <a:prstGeom prst="rect">
            <a:avLst/>
          </a:prstGeom>
          <a:noFill/>
        </p:spPr>
        <p:txBody>
          <a:bodyPr wrap="square" lIns="45720" rIns="45720" tIns="27432" bIns="27432" anchor="ctr">
            <a:spAutoFit/>
          </a:bodyPr>
          <a:lstStyle/>
          <a:p>
            <a:pPr algn="l"/>
            <a:r>
              <a:rPr sz="1400" b="1" i="0">
                <a:solidFill>
                  <a:srgbClr val="A11E1E"/>
                </a:solidFill>
                <a:latin typeface="Calibri"/>
              </a:rPr>
              <a:t>The trap</a:t>
            </a:r>
          </a:p>
        </p:txBody>
      </p:sp>
      <p:sp>
        <p:nvSpPr>
          <p:cNvPr id="19" name="TextBox 18"/>
          <p:cNvSpPr txBox="1"/>
          <p:nvPr/>
        </p:nvSpPr>
        <p:spPr>
          <a:xfrm>
            <a:off x="8156448" y="2724912"/>
            <a:ext cx="3383280" cy="294436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“First two within 365 days” is brittle: one stray back-dated claim pushes a real patient's first two dx days years apart</a:t>
            </a:r>
          </a:p>
          <a:p>
            <a:pPr>
              <a:spcAft>
                <a:spcPts val="500"/>
              </a:spcAft>
            </a:pPr>
            <a:r>
              <a:rPr sz="1150" b="1">
                <a:solidFill>
                  <a:srgbClr val="FF6B6B"/>
                </a:solidFill>
                <a:latin typeface="Calibri"/>
              </a:rPr>
              <a:t>▸ </a:t>
            </a:r>
            <a:r>
              <a:rPr sz="1150">
                <a:solidFill>
                  <a:srgbClr val="333333"/>
                </a:solidFill>
                <a:latin typeface="Calibri"/>
              </a:rPr>
              <a:t>11 real patients are lost that way tonight</a:t>
            </a:r>
          </a:p>
          <a:p>
            <a:pPr>
              <a:spcAft>
                <a:spcPts val="500"/>
              </a:spcAft>
            </a:pPr>
            <a:r>
              <a:rPr sz="1150" b="1">
                <a:solidFill>
                  <a:srgbClr val="FF6B6B"/>
                </a:solidFill>
                <a:latin typeface="Calibri"/>
              </a:rPr>
              <a:t>▸ </a:t>
            </a:r>
            <a:r>
              <a:rPr sz="1150">
                <a:solidFill>
                  <a:srgbClr val="333333"/>
                </a:solidFill>
                <a:latin typeface="Calibri"/>
              </a:rPr>
              <a:t>Robust variant: any two dx days within 365 days — try it</a:t>
            </a:r>
          </a:p>
        </p:txBody>
      </p:sp>
      <p:sp>
        <p:nvSpPr>
          <p:cNvPr id="20" name="TextBox 19"/>
          <p:cNvSpPr txBox="1"/>
          <p:nvPr/>
        </p:nvSpPr>
        <p:spPr>
          <a:xfrm>
            <a:off x="548640" y="5943600"/>
            <a:ext cx="11064240" cy="457200"/>
          </a:xfrm>
          <a:prstGeom prst="rect">
            <a:avLst/>
          </a:prstGeom>
          <a:noFill/>
        </p:spPr>
        <p:txBody>
          <a:bodyPr wrap="square" lIns="45720" rIns="45720" tIns="27432" bIns="27432" anchor="t">
            <a:spAutoFit/>
          </a:bodyPr>
          <a:lstStyle/>
          <a:p>
            <a:pPr algn="l"/>
            <a:r>
              <a:rPr sz="1200" b="0" i="1">
                <a:solidFill>
                  <a:srgbClr val="1E2761"/>
                </a:solidFill>
                <a:latin typeface="Calibri"/>
              </a:rPr>
              <a:t>Market sizing tolerates false positives (use a loose rule). An outcomes study or a payer dossier does not (tight rule, EHR confirmation). Same data, different cohorts.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IN SQL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rule in DuckDB — window functions do the work</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DuckDB runs SQL on DataFrames or CSVs with no server; the same query runs on Snowflake / Databricks at work</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29 / 44</a:t>
            </a:r>
          </a:p>
        </p:txBody>
      </p:sp>
      <p:sp>
        <p:nvSpPr>
          <p:cNvPr id="8" name="Rectangle 7"/>
          <p:cNvSpPr/>
          <p:nvPr/>
        </p:nvSpPr>
        <p:spPr>
          <a:xfrm>
            <a:off x="548640" y="2011680"/>
            <a:ext cx="6949440" cy="4297680"/>
          </a:xfrm>
          <a:prstGeom prst="rect">
            <a:avLst/>
          </a:prstGeom>
          <a:solidFill>
            <a:srgbClr val="1A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03120"/>
            <a:ext cx="6675120" cy="4114800"/>
          </a:xfrm>
          <a:prstGeom prst="rect">
            <a:avLst/>
          </a:prstGeom>
          <a:noFill/>
        </p:spPr>
        <p:txBody>
          <a:bodyPr wrap="square">
            <a:spAutoFit/>
          </a:bodyPr>
          <a:lstStyle/>
          <a:p>
            <a:r>
              <a:rPr sz="1100">
                <a:solidFill>
                  <a:srgbClr val="CADCFC"/>
                </a:solidFill>
                <a:latin typeface="Consolas"/>
              </a:rPr>
              <a:t>WITH dx_days AS (              -- distinct diagnosis days</a:t>
            </a:r>
          </a:p>
          <a:p>
            <a:r>
              <a:rPr sz="1100">
                <a:solidFill>
                  <a:srgbClr val="CADCFC"/>
                </a:solidFill>
                <a:latin typeface="Consolas"/>
              </a:rPr>
              <a:t>  SELECT DISTINCT patient_id, service_day</a:t>
            </a:r>
          </a:p>
          <a:p>
            <a:r>
              <a:rPr sz="1100">
                <a:solidFill>
                  <a:srgbClr val="CADCFC"/>
                </a:solidFill>
                <a:latin typeface="Consolas"/>
              </a:rPr>
              <a:t>  FROM clean WHERE diagnosis_code = 'C83.30'),</a:t>
            </a:r>
          </a:p>
          <a:p>
            <a:r>
              <a:rPr sz="1100">
                <a:solidFill>
                  <a:srgbClr val="CADCFC"/>
                </a:solidFill>
                <a:latin typeface="Consolas"/>
              </a:rPr>
              <a:t>ranked AS (</a:t>
            </a:r>
          </a:p>
          <a:p>
            <a:r>
              <a:rPr sz="1100">
                <a:solidFill>
                  <a:srgbClr val="CADCFC"/>
                </a:solidFill>
                <a:latin typeface="Consolas"/>
              </a:rPr>
              <a:t>  SELECT patient_id, service_day,</a:t>
            </a:r>
          </a:p>
          <a:p>
            <a:r>
              <a:rPr sz="1100">
                <a:solidFill>
                  <a:srgbClr val="CADCFC"/>
                </a:solidFill>
                <a:latin typeface="Consolas"/>
              </a:rPr>
              <a:t>         ROW_NUMBER() OVER (PARTITION BY patient_id</a:t>
            </a:r>
          </a:p>
          <a:p>
            <a:r>
              <a:rPr sz="1100">
                <a:solidFill>
                  <a:srgbClr val="CADCFC"/>
                </a:solidFill>
                <a:latin typeface="Consolas"/>
              </a:rPr>
              <a:t>                            ORDER BY service_day) AS rn</a:t>
            </a:r>
          </a:p>
          <a:p>
            <a:r>
              <a:rPr sz="1100">
                <a:solidFill>
                  <a:srgbClr val="CADCFC"/>
                </a:solidFill>
                <a:latin typeface="Consolas"/>
              </a:rPr>
              <a:t>  FROM dx_days),</a:t>
            </a:r>
          </a:p>
          <a:p>
            <a:r>
              <a:rPr sz="1100">
                <a:solidFill>
                  <a:srgbClr val="CADCFC"/>
                </a:solidFill>
                <a:latin typeface="Consolas"/>
              </a:rPr>
              <a:t>first_two AS (</a:t>
            </a:r>
          </a:p>
          <a:p>
            <a:r>
              <a:rPr sz="1100">
                <a:solidFill>
                  <a:srgbClr val="CADCFC"/>
                </a:solidFill>
                <a:latin typeface="Consolas"/>
              </a:rPr>
              <a:t>  SELECT patient_id,</a:t>
            </a:r>
          </a:p>
          <a:p>
            <a:r>
              <a:rPr sz="1100">
                <a:solidFill>
                  <a:srgbClr val="CADCFC"/>
                </a:solidFill>
                <a:latin typeface="Consolas"/>
              </a:rPr>
              <a:t>         MAX(CASE WHEN rn=1 THEN service_day END) AS dx1,</a:t>
            </a:r>
          </a:p>
          <a:p>
            <a:r>
              <a:rPr sz="1100">
                <a:solidFill>
                  <a:srgbClr val="CADCFC"/>
                </a:solidFill>
                <a:latin typeface="Consolas"/>
              </a:rPr>
              <a:t>         MAX(CASE WHEN rn=2 THEN service_day END) AS dx2,</a:t>
            </a:r>
          </a:p>
          <a:p>
            <a:r>
              <a:rPr sz="1100">
                <a:solidFill>
                  <a:srgbClr val="CADCFC"/>
                </a:solidFill>
                <a:latin typeface="Consolas"/>
              </a:rPr>
              <a:t>         COUNT(*) AS n_dx_days</a:t>
            </a:r>
          </a:p>
          <a:p>
            <a:r>
              <a:rPr sz="1100">
                <a:solidFill>
                  <a:srgbClr val="CADCFC"/>
                </a:solidFill>
                <a:latin typeface="Consolas"/>
              </a:rPr>
              <a:t>  FROM ranked GROUP BY patient_id)</a:t>
            </a:r>
          </a:p>
          <a:p>
            <a:r>
              <a:rPr sz="1100">
                <a:solidFill>
                  <a:srgbClr val="CADCFC"/>
                </a:solidFill>
                <a:latin typeface="Consolas"/>
              </a:rPr>
              <a:t>SELECT patient_id, dx1 AS index_date, n_dx_days,</a:t>
            </a:r>
          </a:p>
          <a:p>
            <a:r>
              <a:rPr sz="1100">
                <a:solidFill>
                  <a:srgbClr val="CADCFC"/>
                </a:solidFill>
                <a:latin typeface="Consolas"/>
              </a:rPr>
              <a:t>       dx2 IS NOT NULL AND date_diff('day', dx1, dx2) &lt;= 365 AS confirmed</a:t>
            </a:r>
          </a:p>
          <a:p>
            <a:r>
              <a:rPr sz="1100">
                <a:solidFill>
                  <a:srgbClr val="CADCFC"/>
                </a:solidFill>
                <a:latin typeface="Consolas"/>
              </a:rPr>
              <a:t>FROM first_two;</a:t>
            </a:r>
          </a:p>
        </p:txBody>
      </p:sp>
      <p:sp>
        <p:nvSpPr>
          <p:cNvPr id="10" name="TextBox 9"/>
          <p:cNvSpPr txBox="1"/>
          <p:nvPr/>
        </p:nvSpPr>
        <p:spPr>
          <a:xfrm>
            <a:off x="7772400" y="2103120"/>
            <a:ext cx="3840480" cy="420624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clean </a:t>
            </a:r>
            <a:r>
              <a:rPr sz="1150">
                <a:solidFill>
                  <a:srgbClr val="333333"/>
                </a:solidFill>
                <a:latin typeface="Calibri"/>
              </a:rPr>
              <a:t>is the medical table after de-duplication and removal of adjustment lines — never run the rule on raw</a:t>
            </a:r>
          </a:p>
          <a:p>
            <a:pPr>
              <a:spcAft>
                <a:spcPts val="600"/>
              </a:spcAft>
            </a:pPr>
            <a:r>
              <a:rPr sz="1150" b="1">
                <a:solidFill>
                  <a:srgbClr val="FF6B6B"/>
                </a:solidFill>
                <a:latin typeface="Calibri"/>
              </a:rPr>
              <a:t>▸ </a:t>
            </a:r>
            <a:r>
              <a:rPr b="1" sz="1150">
                <a:solidFill>
                  <a:srgbClr val="1E2761"/>
                </a:solidFill>
                <a:latin typeface="Calibri"/>
              </a:rPr>
              <a:t>DISTINCT days, </a:t>
            </a:r>
            <a:r>
              <a:rPr sz="1150">
                <a:solidFill>
                  <a:srgbClr val="333333"/>
                </a:solidFill>
                <a:latin typeface="Calibri"/>
              </a:rPr>
              <a:t>not claims: three lines on one visit are one diagnosis day</a:t>
            </a:r>
          </a:p>
          <a:p>
            <a:pPr>
              <a:spcAft>
                <a:spcPts val="600"/>
              </a:spcAft>
            </a:pPr>
            <a:r>
              <a:rPr sz="1150" b="1">
                <a:solidFill>
                  <a:srgbClr val="FF6B6B"/>
                </a:solidFill>
                <a:latin typeface="Calibri"/>
              </a:rPr>
              <a:t>▸ </a:t>
            </a:r>
            <a:r>
              <a:rPr b="1" sz="1150">
                <a:solidFill>
                  <a:srgbClr val="1E2761"/>
                </a:solidFill>
                <a:latin typeface="Calibri"/>
              </a:rPr>
              <a:t>ROW_NUMBER </a:t>
            </a:r>
            <a:r>
              <a:rPr sz="1150">
                <a:solidFill>
                  <a:srgbClr val="333333"/>
                </a:solidFill>
                <a:latin typeface="Calibri"/>
              </a:rPr>
              <a:t>gives the ordering; MAX(CASE …) pivots the first two into columns</a:t>
            </a:r>
          </a:p>
          <a:p>
            <a:pPr>
              <a:spcAft>
                <a:spcPts val="600"/>
              </a:spcAft>
            </a:pPr>
            <a:r>
              <a:rPr sz="1150" b="1">
                <a:solidFill>
                  <a:srgbClr val="FF6B6B"/>
                </a:solidFill>
                <a:latin typeface="Calibri"/>
              </a:rPr>
              <a:t>▸ </a:t>
            </a:r>
            <a:r>
              <a:rPr b="1" sz="1150">
                <a:solidFill>
                  <a:srgbClr val="1E2761"/>
                </a:solidFill>
                <a:latin typeface="Calibri"/>
              </a:rPr>
              <a:t>The pandas version </a:t>
            </a:r>
            <a:r>
              <a:rPr sz="1150">
                <a:solidFill>
                  <a:srgbClr val="333333"/>
                </a:solidFill>
                <a:latin typeface="Calibri"/>
              </a:rPr>
              <a:t>in the notebook produces the same 489 patients — we assert it</a:t>
            </a:r>
          </a:p>
          <a:p>
            <a:pPr>
              <a:spcAft>
                <a:spcPts val="600"/>
              </a:spcAft>
            </a:pPr>
            <a:r>
              <a:rPr sz="1150" b="1">
                <a:solidFill>
                  <a:srgbClr val="FF6B6B"/>
                </a:solidFill>
                <a:latin typeface="Calibri"/>
              </a:rPr>
              <a:t>▸ </a:t>
            </a:r>
            <a:r>
              <a:rPr b="1" sz="1150">
                <a:solidFill>
                  <a:srgbClr val="1E2761"/>
                </a:solidFill>
                <a:latin typeface="Calibri"/>
              </a:rPr>
              <a:t>Then join enrollment </a:t>
            </a:r>
            <a:r>
              <a:rPr sz="1150">
                <a:solidFill>
                  <a:srgbClr val="333333"/>
                </a:solidFill>
                <a:latin typeface="Calibri"/>
              </a:rPr>
              <a:t>for baseline and follow-up; that is Python in the notebook, SQL at 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ATTRITION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Every cohort ships with an attrition table — no funnel, no trust in the denominator</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Tonight's numbers (synthetic file, 640 patients)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30 / 44</a:t>
            </a:r>
          </a:p>
        </p:txBody>
      </p:sp>
      <p:pic>
        <p:nvPicPr>
          <p:cNvPr id="8" name="Picture 7" descr="attrition.png"/>
          <p:cNvPicPr>
            <a:picLocks noChangeAspect="1"/>
          </p:cNvPicPr>
          <p:nvPr/>
        </p:nvPicPr>
        <p:blipFill>
          <a:blip r:embed="rId2"/>
          <a:stretch>
            <a:fillRect/>
          </a:stretch>
        </p:blipFill>
        <p:spPr>
          <a:xfrm>
            <a:off x="548640" y="2011680"/>
            <a:ext cx="6766560" cy="2865837"/>
          </a:xfrm>
          <a:prstGeom prst="rect">
            <a:avLst/>
          </a:prstGeom>
        </p:spPr>
      </p:pic>
      <p:sp>
        <p:nvSpPr>
          <p:cNvPr id="9" name="TextBox 8"/>
          <p:cNvSpPr txBox="1"/>
          <p:nvPr/>
        </p:nvSpPr>
        <p:spPr>
          <a:xfrm>
            <a:off x="7498079" y="2103120"/>
            <a:ext cx="4114800" cy="420624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640 → 597: </a:t>
            </a:r>
            <a:r>
              <a:rPr sz="1150">
                <a:solidFill>
                  <a:srgbClr val="333333"/>
                </a:solidFill>
                <a:latin typeface="Calibri"/>
              </a:rPr>
              <a:t>43 patients never had a C83.30 claim (follicular lymphoma C82.x — a vendor threw in the neighbourhood)</a:t>
            </a:r>
          </a:p>
          <a:p>
            <a:pPr>
              <a:spcAft>
                <a:spcPts val="600"/>
              </a:spcAft>
            </a:pPr>
            <a:r>
              <a:rPr sz="1150" b="1">
                <a:solidFill>
                  <a:srgbClr val="FF6B6B"/>
                </a:solidFill>
                <a:latin typeface="Calibri"/>
              </a:rPr>
              <a:t>▸ </a:t>
            </a:r>
            <a:r>
              <a:rPr b="1" sz="1150">
                <a:solidFill>
                  <a:srgbClr val="1E2761"/>
                </a:solidFill>
                <a:latin typeface="Calibri"/>
              </a:rPr>
              <a:t>597 → 525: </a:t>
            </a:r>
            <a:r>
              <a:rPr sz="1150">
                <a:solidFill>
                  <a:srgbClr val="333333"/>
                </a:solidFill>
                <a:latin typeface="Calibri"/>
              </a:rPr>
              <a:t>72 single-claim patients — the rule-outs</a:t>
            </a:r>
          </a:p>
          <a:p>
            <a:pPr>
              <a:spcAft>
                <a:spcPts val="600"/>
              </a:spcAft>
            </a:pPr>
            <a:r>
              <a:rPr sz="1150" b="1">
                <a:solidFill>
                  <a:srgbClr val="FF6B6B"/>
                </a:solidFill>
                <a:latin typeface="Calibri"/>
              </a:rPr>
              <a:t>▸ </a:t>
            </a:r>
            <a:r>
              <a:rPr b="1" sz="1150">
                <a:solidFill>
                  <a:srgbClr val="1E2761"/>
                </a:solidFill>
                <a:latin typeface="Calibri"/>
              </a:rPr>
              <a:t>525 → 489: </a:t>
            </a:r>
            <a:r>
              <a:rPr sz="1150">
                <a:solidFill>
                  <a:srgbClr val="333333"/>
                </a:solidFill>
                <a:latin typeface="Calibri"/>
              </a:rPr>
              <a:t>25 'far apart' decoys, plus 11 real patients lost to a back-dated claim</a:t>
            </a:r>
          </a:p>
          <a:p>
            <a:pPr>
              <a:spcAft>
                <a:spcPts val="600"/>
              </a:spcAft>
            </a:pPr>
            <a:r>
              <a:rPr sz="1150" b="1">
                <a:solidFill>
                  <a:srgbClr val="FF6B6B"/>
                </a:solidFill>
                <a:latin typeface="Calibri"/>
              </a:rPr>
              <a:t>▸ </a:t>
            </a:r>
            <a:r>
              <a:rPr b="1" sz="1150">
                <a:solidFill>
                  <a:srgbClr val="1E2761"/>
                </a:solidFill>
                <a:latin typeface="Calibri"/>
              </a:rPr>
              <a:t>489 → 482: </a:t>
            </a:r>
            <a:r>
              <a:rPr sz="1150">
                <a:solidFill>
                  <a:srgbClr val="333333"/>
                </a:solidFill>
                <a:latin typeface="Calibri"/>
              </a:rPr>
              <a:t>the enrollment criterion — patients we could not observe for 180 days before index</a:t>
            </a:r>
          </a:p>
          <a:p>
            <a:pPr>
              <a:spcAft>
                <a:spcPts val="600"/>
              </a:spcAft>
            </a:pPr>
            <a:r>
              <a:rPr sz="1150" b="1">
                <a:solidFill>
                  <a:srgbClr val="FF6B6B"/>
                </a:solidFill>
                <a:latin typeface="Calibri"/>
              </a:rPr>
              <a:t>▸ </a:t>
            </a:r>
            <a:r>
              <a:rPr b="1" sz="1150">
                <a:solidFill>
                  <a:srgbClr val="1E2761"/>
                </a:solidFill>
                <a:latin typeface="Calibri"/>
              </a:rPr>
              <a:t>Grade (because we can): </a:t>
            </a:r>
            <a:r>
              <a:rPr sz="1150">
                <a:solidFill>
                  <a:srgbClr val="333333"/>
                </a:solidFill>
                <a:latin typeface="Calibri"/>
              </a:rPr>
              <a:t>sensitivity 96%, specificity 99%, PPV 99.8%. In real life you validate a sample against charts instead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DRUG EVENTS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From codes to drug events: stack J-codes and NDCs into one timeline per patient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Four steps, one crosswalk, one sanity check</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31 / 44</a:t>
            </a:r>
          </a:p>
        </p:txBody>
      </p:sp>
      <p:sp>
        <p:nvSpPr>
          <p:cNvPr id="8" name="Pentagon 7"/>
          <p:cNvSpPr/>
          <p:nvPr/>
        </p:nvSpPr>
        <p:spPr>
          <a:xfrm>
            <a:off x="548640" y="2057400"/>
            <a:ext cx="2711196" cy="777240"/>
          </a:xfrm>
          <a:prstGeom prst="homePlat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Filter medical lines to
drug administrations</a:t>
            </a:r>
          </a:p>
        </p:txBody>
      </p:sp>
      <p:sp>
        <p:nvSpPr>
          <p:cNvPr id="9" name="Chevron 8"/>
          <p:cNvSpPr/>
          <p:nvPr/>
        </p:nvSpPr>
        <p:spPr>
          <a:xfrm>
            <a:off x="3314700" y="2057400"/>
            <a:ext cx="2711196" cy="777240"/>
          </a:xfrm>
          <a:prstGeom prst="chevron">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Map HCPCS → drug
(drug master)</a:t>
            </a:r>
          </a:p>
        </p:txBody>
      </p:sp>
      <p:sp>
        <p:nvSpPr>
          <p:cNvPr id="10" name="Chevron 9"/>
          <p:cNvSpPr/>
          <p:nvPr/>
        </p:nvSpPr>
        <p:spPr>
          <a:xfrm>
            <a:off x="6080759" y="2057400"/>
            <a:ext cx="2711196" cy="777240"/>
          </a:xfrm>
          <a:prstGeom prst="chevron">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Map NDC → drug;
stack with pharmacy fills</a:t>
            </a:r>
          </a:p>
        </p:txBody>
      </p:sp>
      <p:sp>
        <p:nvSpPr>
          <p:cNvPr id="11" name="Chevron 10"/>
          <p:cNvSpPr/>
          <p:nvPr/>
        </p:nvSpPr>
        <p:spPr>
          <a:xfrm>
            <a:off x="8846819" y="2057400"/>
            <a:ext cx="2711196" cy="777240"/>
          </a:xfrm>
          <a:prstGeom prst="chevron">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One row per patient ×
date × drug</a:t>
            </a:r>
          </a:p>
        </p:txBody>
      </p:sp>
      <p:sp>
        <p:nvSpPr>
          <p:cNvPr id="12" name="TextBox 11"/>
          <p:cNvSpPr txBox="1"/>
          <p:nvPr/>
        </p:nvSpPr>
        <p:spPr>
          <a:xfrm>
            <a:off x="548640" y="3108960"/>
            <a:ext cx="5486400" cy="3108960"/>
          </a:xfrm>
          <a:prstGeom prst="rect">
            <a:avLst/>
          </a:prstGeom>
          <a:noFill/>
        </p:spPr>
        <p:txBody>
          <a:bodyPr wrap="square" lIns="45720" rIns="45720">
            <a:spAutoFit/>
          </a:bodyPr>
          <a:lstStyle/>
          <a:p>
            <a:pPr>
              <a:spcAft>
                <a:spcPts val="600"/>
              </a:spcAft>
            </a:pPr>
            <a:r>
              <a:rPr sz="1200" b="1">
                <a:solidFill>
                  <a:srgbClr val="FF6B6B"/>
                </a:solidFill>
                <a:latin typeface="Calibri"/>
              </a:rPr>
              <a:t>▸ </a:t>
            </a:r>
            <a:r>
              <a:rPr b="1" sz="1200">
                <a:solidFill>
                  <a:srgbClr val="1E2761"/>
                </a:solidFill>
                <a:latin typeface="Calibri"/>
              </a:rPr>
              <a:t>Crosswalk: </a:t>
            </a:r>
            <a:r>
              <a:rPr sz="1200">
                <a:solidFill>
                  <a:srgbClr val="333333"/>
                </a:solidFill>
                <a:latin typeface="Calibri"/>
              </a:rPr>
              <a:t>dlbcl_drug_master.csv — 23 codes → drug → class. At work: Medi-Span / FDB / RedBook plus a curated J-code list</a:t>
            </a:r>
          </a:p>
          <a:p>
            <a:pPr>
              <a:spcAft>
                <a:spcPts val="600"/>
              </a:spcAft>
            </a:pPr>
            <a:r>
              <a:rPr sz="1200" b="1">
                <a:solidFill>
                  <a:srgbClr val="FF6B6B"/>
                </a:solidFill>
                <a:latin typeface="Calibri"/>
              </a:rPr>
              <a:t>▸ </a:t>
            </a:r>
            <a:r>
              <a:rPr b="1" sz="1200">
                <a:solidFill>
                  <a:srgbClr val="1E2761"/>
                </a:solidFill>
                <a:latin typeface="Calibri"/>
              </a:rPr>
              <a:t>Exclusions: </a:t>
            </a:r>
            <a:r>
              <a:rPr sz="1200">
                <a:solidFill>
                  <a:srgbClr val="333333"/>
                </a:solidFill>
                <a:latin typeface="Calibri"/>
              </a:rPr>
              <a:t>lymphodepleting cyclophosphamide before CAR-T is conditioning, not a line</a:t>
            </a:r>
          </a:p>
          <a:p>
            <a:pPr>
              <a:spcAft>
                <a:spcPts val="600"/>
              </a:spcAft>
            </a:pPr>
            <a:r>
              <a:rPr sz="1200" b="1">
                <a:solidFill>
                  <a:srgbClr val="FF6B6B"/>
                </a:solidFill>
                <a:latin typeface="Calibri"/>
              </a:rPr>
              <a:t>▸ </a:t>
            </a:r>
            <a:r>
              <a:rPr b="1" sz="1200">
                <a:solidFill>
                  <a:srgbClr val="1E2761"/>
                </a:solidFill>
                <a:latin typeface="Calibri"/>
              </a:rPr>
              <a:t>Unmapped codes </a:t>
            </a:r>
            <a:r>
              <a:rPr sz="1200">
                <a:solidFill>
                  <a:srgbClr val="333333"/>
                </a:solidFill>
                <a:latin typeface="Calibri"/>
              </a:rPr>
              <a:t>must be zero or explained: J3490 'unclassified' hides new launches for months</a:t>
            </a:r>
          </a:p>
          <a:p>
            <a:pPr>
              <a:spcAft>
                <a:spcPts val="600"/>
              </a:spcAft>
            </a:pPr>
            <a:r>
              <a:rPr sz="1200" b="1">
                <a:solidFill>
                  <a:srgbClr val="FF6B6B"/>
                </a:solidFill>
                <a:latin typeface="Calibri"/>
              </a:rPr>
              <a:t>▸ </a:t>
            </a:r>
            <a:r>
              <a:rPr b="1" sz="1200">
                <a:solidFill>
                  <a:srgbClr val="1E2761"/>
                </a:solidFill>
                <a:latin typeface="Calibri"/>
              </a:rPr>
              <a:t>Sanity check: </a:t>
            </a:r>
            <a:r>
              <a:rPr sz="1200">
                <a:solidFill>
                  <a:srgbClr val="333333"/>
                </a:solidFill>
                <a:latin typeface="Calibri"/>
              </a:rPr>
              <a:t>rituximab and cyclophosphamide must top the count — they are in nearly every 1L regimen</a:t>
            </a:r>
          </a:p>
        </p:txBody>
      </p:sp>
      <p:sp>
        <p:nvSpPr>
          <p:cNvPr id="13" name="Rectangle 12"/>
          <p:cNvSpPr/>
          <p:nvPr/>
        </p:nvSpPr>
        <p:spPr>
          <a:xfrm>
            <a:off x="6309360" y="3108960"/>
            <a:ext cx="5303520" cy="3017520"/>
          </a:xfrm>
          <a:prstGeom prst="rect">
            <a:avLst/>
          </a:prstGeom>
          <a:solidFill>
            <a:srgbClr val="1A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200400"/>
            <a:ext cx="5029200" cy="2834639"/>
          </a:xfrm>
          <a:prstGeom prst="rect">
            <a:avLst/>
          </a:prstGeom>
          <a:noFill/>
        </p:spPr>
        <p:txBody>
          <a:bodyPr wrap="square">
            <a:spAutoFit/>
          </a:bodyPr>
          <a:lstStyle/>
          <a:p>
            <a:r>
              <a:rPr sz="1100">
                <a:solidFill>
                  <a:srgbClr val="CADCFC"/>
                </a:solidFill>
                <a:latin typeface="Consolas"/>
              </a:rPr>
              <a:t>drug events in cohort, on/after index: 15,367</a:t>
            </a:r>
          </a:p>
          <a:p>
            <a:r>
              <a:rPr sz="1100">
                <a:solidFill>
                  <a:srgbClr val="CADCFC"/>
                </a:solidFill>
                <a:latin typeface="Consolas"/>
              </a:rPr>
              <a:t>  medical 12,430 · pharmacy 2,937</a:t>
            </a:r>
          </a:p>
          <a:p>
            <a:r>
              <a:rPr sz="1100">
                <a:solidFill>
                  <a:srgbClr val="CADCFC"/>
                </a:solidFill>
                <a:latin typeface="Consolas"/>
              </a:rPr>
              <a:t/>
            </a:r>
          </a:p>
          <a:p>
            <a:r>
              <a:rPr sz="1100">
                <a:solidFill>
                  <a:srgbClr val="CADCFC"/>
                </a:solidFill>
                <a:latin typeface="Consolas"/>
              </a:rPr>
              <a:t>rituximab              3048</a:t>
            </a:r>
          </a:p>
          <a:p>
            <a:r>
              <a:rPr sz="1100">
                <a:solidFill>
                  <a:srgbClr val="CADCFC"/>
                </a:solidFill>
                <a:latin typeface="Consolas"/>
              </a:rPr>
              <a:t>cyclophosphamide       2860</a:t>
            </a:r>
          </a:p>
          <a:p>
            <a:r>
              <a:rPr sz="1100">
                <a:solidFill>
                  <a:srgbClr val="CADCFC"/>
                </a:solidFill>
                <a:latin typeface="Consolas"/>
              </a:rPr>
              <a:t>prednisone             2859   -- pharmacy</a:t>
            </a:r>
          </a:p>
          <a:p>
            <a:r>
              <a:rPr sz="1100">
                <a:solidFill>
                  <a:srgbClr val="CADCFC"/>
                </a:solidFill>
                <a:latin typeface="Consolas"/>
              </a:rPr>
              <a:t>doxorubicin            2647</a:t>
            </a:r>
          </a:p>
          <a:p>
            <a:r>
              <a:rPr sz="1100">
                <a:solidFill>
                  <a:srgbClr val="CADCFC"/>
                </a:solidFill>
                <a:latin typeface="Consolas"/>
              </a:rPr>
              <a:t>vincristine            2093</a:t>
            </a:r>
          </a:p>
          <a:p>
            <a:r>
              <a:rPr sz="1100">
                <a:solidFill>
                  <a:srgbClr val="CADCFC"/>
                </a:solidFill>
                <a:latin typeface="Consolas"/>
              </a:rPr>
              <a:t>polatuzumab vedotin     878</a:t>
            </a:r>
          </a:p>
          <a:p>
            <a:r>
              <a:rPr sz="1100">
                <a:solidFill>
                  <a:srgbClr val="CADCFC"/>
                </a:solidFill>
                <a:latin typeface="Consolas"/>
              </a:rPr>
              <a:t>epcoritamab             232</a:t>
            </a:r>
          </a:p>
          <a:p>
            <a:r>
              <a:rPr sz="1100">
                <a:solidFill>
                  <a:srgbClr val="CADCFC"/>
                </a:solidFill>
                <a:latin typeface="Consolas"/>
              </a:rPr>
              <a:t>glofitamab              180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LINES OF THERAPY</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Line of therapy: there is no canonical definition — so document yours, every time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Five rules, three parameters. Change W or G and the shares change.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32 / 44</a:t>
            </a:r>
          </a:p>
        </p:txBody>
      </p:sp>
      <p:graphicFrame>
        <p:nvGraphicFramePr>
          <p:cNvPr id="8" name="Table 7"/>
          <p:cNvGraphicFramePr>
            <a:graphicFrameLocks noGrp="1"/>
          </p:cNvGraphicFramePr>
          <p:nvPr/>
        </p:nvGraphicFramePr>
        <p:xfrm>
          <a:off x="548640" y="2057400"/>
          <a:ext cx="11064239" cy="3291840"/>
        </p:xfrm>
        <a:graphic>
          <a:graphicData uri="http://schemas.openxmlformats.org/drawingml/2006/table">
            <a:tbl>
              <a:tblPr firstRow="1" bandRow="1">
                <a:tableStyleId>{5C22544A-7EE6-4342-B048-85BDC9FD1C3A}</a:tableStyleId>
              </a:tblPr>
              <a:tblGrid>
                <a:gridCol w="457200"/>
                <a:gridCol w="5486400"/>
                <a:gridCol w="1371600"/>
                <a:gridCol w="3749039"/>
              </a:tblGrid>
              <a:tr h="548640">
                <a:tc>
                  <a:txBody>
                    <a:bodyPr wrap="square"/>
                    <a:lstStyle/>
                    <a:p>
                      <a:r>
                        <a:rPr sz="1100" b="1">
                          <a:solidFill>
                            <a:srgbClr val="FFFFFF"/>
                          </a:solidFill>
                          <a:latin typeface="Calibri"/>
                        </a:rPr>
                        <a:t>#</a:t>
                      </a:r>
                    </a:p>
                  </a:txBody>
                  <a:tcPr marL="54864" marR="54864" marT="27432" marB="27432">
                    <a:solidFill>
                      <a:srgbClr val="1E2761"/>
                    </a:solidFill>
                  </a:tcPr>
                </a:tc>
                <a:tc>
                  <a:txBody>
                    <a:bodyPr wrap="square"/>
                    <a:lstStyle/>
                    <a:p>
                      <a:r>
                        <a:rPr sz="1100" b="1">
                          <a:solidFill>
                            <a:srgbClr val="FFFFFF"/>
                          </a:solidFill>
                          <a:latin typeface="Calibri"/>
                        </a:rPr>
                        <a:t>Rule</a:t>
                      </a:r>
                    </a:p>
                  </a:txBody>
                  <a:tcPr marL="54864" marR="54864" marT="27432" marB="27432">
                    <a:solidFill>
                      <a:srgbClr val="1E2761"/>
                    </a:solidFill>
                  </a:tcPr>
                </a:tc>
                <a:tc>
                  <a:txBody>
                    <a:bodyPr wrap="square"/>
                    <a:lstStyle/>
                    <a:p>
                      <a:r>
                        <a:rPr sz="1100" b="1">
                          <a:solidFill>
                            <a:srgbClr val="FFFFFF"/>
                          </a:solidFill>
                          <a:latin typeface="Calibri"/>
                        </a:rPr>
                        <a:t>Parameter</a:t>
                      </a:r>
                    </a:p>
                  </a:txBody>
                  <a:tcPr marL="54864" marR="54864" marT="27432" marB="27432">
                    <a:solidFill>
                      <a:srgbClr val="1E2761"/>
                    </a:solidFill>
                  </a:tcPr>
                </a:tc>
                <a:tc>
                  <a:txBody>
                    <a:bodyPr wrap="square"/>
                    <a:lstStyle/>
                    <a:p>
                      <a:r>
                        <a:rPr sz="1100" b="1">
                          <a:solidFill>
                            <a:srgbClr val="FFFFFF"/>
                          </a:solidFill>
                          <a:latin typeface="Calibri"/>
                        </a:rPr>
                        <a:t>Why</a:t>
                      </a:r>
                    </a:p>
                  </a:txBody>
                  <a:tcPr marL="54864" marR="54864" marT="27432" marB="27432">
                    <a:solidFill>
                      <a:srgbClr val="1E2761"/>
                    </a:solidFill>
                  </a:tcPr>
                </a:tc>
              </a:tr>
              <a:tr h="548640">
                <a:tc>
                  <a:txBody>
                    <a:bodyPr wrap="square"/>
                    <a:lstStyle/>
                    <a:p>
                      <a:r>
                        <a:rPr sz="1100" b="1">
                          <a:solidFill>
                            <a:srgbClr val="1E2761"/>
                          </a:solidFill>
                          <a:latin typeface="Calibri"/>
                        </a:rPr>
                        <a:t>1</a:t>
                      </a:r>
                    </a:p>
                  </a:txBody>
                  <a:tcPr marL="54864" marR="54864" marT="27432" marB="27432">
                    <a:solidFill>
                      <a:srgbClr val="FFFFFF"/>
                    </a:solidFill>
                  </a:tcPr>
                </a:tc>
                <a:tc>
                  <a:txBody>
                    <a:bodyPr wrap="square"/>
                    <a:lstStyle/>
                    <a:p>
                      <a:r>
                        <a:rPr sz="1100" b="0">
                          <a:solidFill>
                            <a:srgbClr val="333333"/>
                          </a:solidFill>
                          <a:latin typeface="Calibri"/>
                        </a:rPr>
                        <a:t>First anti-lymphoma drug on/after index starts LOT 1</a:t>
                      </a:r>
                    </a:p>
                  </a:txBody>
                  <a:tcPr marL="54864" marR="54864" marT="27432" marB="27432">
                    <a:solidFill>
                      <a:srgbClr val="FFFFFF"/>
                    </a:solidFill>
                  </a:tcPr>
                </a:tc>
                <a:tc>
                  <a:txBody>
                    <a:bodyPr wrap="square"/>
                    <a:lstStyle/>
                    <a:p>
                      <a:r>
                        <a:rPr sz="1100" b="0">
                          <a:solidFill>
                            <a:srgbClr val="333333"/>
                          </a:solidFill>
                          <a:latin typeface="Calibri"/>
                        </a:rPr>
                        <a:t>—</a:t>
                      </a:r>
                    </a:p>
                  </a:txBody>
                  <a:tcPr marL="54864" marR="54864" marT="27432" marB="27432">
                    <a:solidFill>
                      <a:srgbClr val="FFFFFF"/>
                    </a:solidFill>
                  </a:tcPr>
                </a:tc>
                <a:tc>
                  <a:txBody>
                    <a:bodyPr wrap="square"/>
                    <a:lstStyle/>
                    <a:p>
                      <a:r>
                        <a:rPr sz="1100" b="0">
                          <a:solidFill>
                            <a:srgbClr val="333333"/>
                          </a:solidFill>
                          <a:latin typeface="Calibri"/>
                        </a:rPr>
                        <a:t>Index anchors everything</a:t>
                      </a:r>
                    </a:p>
                  </a:txBody>
                  <a:tcPr marL="54864" marR="54864" marT="27432" marB="27432">
                    <a:solidFill>
                      <a:srgbClr val="FFFFFF"/>
                    </a:solidFill>
                  </a:tcPr>
                </a:tc>
              </a:tr>
              <a:tr h="548640">
                <a:tc>
                  <a:txBody>
                    <a:bodyPr wrap="square"/>
                    <a:lstStyle/>
                    <a:p>
                      <a:r>
                        <a:rPr sz="1100" b="1">
                          <a:solidFill>
                            <a:srgbClr val="1E2761"/>
                          </a:solidFill>
                          <a:latin typeface="Calibri"/>
                        </a:rPr>
                        <a:t>2</a:t>
                      </a:r>
                    </a:p>
                  </a:txBody>
                  <a:tcPr marL="54864" marR="54864" marT="27432" marB="27432">
                    <a:solidFill>
                      <a:srgbClr val="F3F6FC"/>
                    </a:solidFill>
                  </a:tcPr>
                </a:tc>
                <a:tc>
                  <a:txBody>
                    <a:bodyPr wrap="square"/>
                    <a:lstStyle/>
                    <a:p>
                      <a:r>
                        <a:rPr sz="1100" b="0">
                          <a:solidFill>
                            <a:srgbClr val="333333"/>
                          </a:solidFill>
                          <a:latin typeface="Calibri"/>
                        </a:rPr>
                        <a:t>Drugs first given within W days of a LOT start belong to that LOT's regimen</a:t>
                      </a:r>
                    </a:p>
                  </a:txBody>
                  <a:tcPr marL="54864" marR="54864" marT="27432" marB="27432">
                    <a:solidFill>
                      <a:srgbClr val="F3F6FC"/>
                    </a:solidFill>
                  </a:tcPr>
                </a:tc>
                <a:tc>
                  <a:txBody>
                    <a:bodyPr wrap="square"/>
                    <a:lstStyle/>
                    <a:p>
                      <a:r>
                        <a:rPr sz="1100" b="0">
                          <a:solidFill>
                            <a:srgbClr val="333333"/>
                          </a:solidFill>
                          <a:latin typeface="Calibri"/>
                        </a:rPr>
                        <a:t>W = 28 d</a:t>
                      </a:r>
                    </a:p>
                  </a:txBody>
                  <a:tcPr marL="54864" marR="54864" marT="27432" marB="27432">
                    <a:solidFill>
                      <a:srgbClr val="F3F6FC"/>
                    </a:solidFill>
                  </a:tcPr>
                </a:tc>
                <a:tc>
                  <a:txBody>
                    <a:bodyPr wrap="square"/>
                    <a:lstStyle/>
                    <a:p>
                      <a:r>
                        <a:rPr sz="1100" b="0">
                          <a:solidFill>
                            <a:srgbClr val="333333"/>
                          </a:solidFill>
                          <a:latin typeface="Calibri"/>
                        </a:rPr>
                        <a:t>R-CHOP components arrive over a cycle; too short a window splits a regimen</a:t>
                      </a:r>
                    </a:p>
                  </a:txBody>
                  <a:tcPr marL="54864" marR="54864" marT="27432" marB="27432">
                    <a:solidFill>
                      <a:srgbClr val="F3F6FC"/>
                    </a:solidFill>
                  </a:tcPr>
                </a:tc>
              </a:tr>
              <a:tr h="548640">
                <a:tc>
                  <a:txBody>
                    <a:bodyPr wrap="square"/>
                    <a:lstStyle/>
                    <a:p>
                      <a:r>
                        <a:rPr sz="1100" b="1">
                          <a:solidFill>
                            <a:srgbClr val="1E2761"/>
                          </a:solidFill>
                          <a:latin typeface="Calibri"/>
                        </a:rPr>
                        <a:t>3</a:t>
                      </a:r>
                    </a:p>
                  </a:txBody>
                  <a:tcPr marL="54864" marR="54864" marT="27432" marB="27432">
                    <a:solidFill>
                      <a:srgbClr val="FFFFFF"/>
                    </a:solidFill>
                  </a:tcPr>
                </a:tc>
                <a:tc>
                  <a:txBody>
                    <a:bodyPr wrap="square"/>
                    <a:lstStyle/>
                    <a:p>
                      <a:r>
                        <a:rPr sz="1100" b="0">
                          <a:solidFill>
                            <a:srgbClr val="333333"/>
                          </a:solidFill>
                          <a:latin typeface="Calibri"/>
                        </a:rPr>
                        <a:t>A gap of more than G days with no anti-lymphoma drug ends the LOT; the next drug starts a new one</a:t>
                      </a:r>
                    </a:p>
                  </a:txBody>
                  <a:tcPr marL="54864" marR="54864" marT="27432" marB="27432">
                    <a:solidFill>
                      <a:srgbClr val="FFFFFF"/>
                    </a:solidFill>
                  </a:tcPr>
                </a:tc>
                <a:tc>
                  <a:txBody>
                    <a:bodyPr wrap="square"/>
                    <a:lstStyle/>
                    <a:p>
                      <a:r>
                        <a:rPr sz="1100" b="0">
                          <a:solidFill>
                            <a:srgbClr val="333333"/>
                          </a:solidFill>
                          <a:latin typeface="Calibri"/>
                        </a:rPr>
                        <a:t>G = 90 d</a:t>
                      </a:r>
                    </a:p>
                  </a:txBody>
                  <a:tcPr marL="54864" marR="54864" marT="27432" marB="27432">
                    <a:solidFill>
                      <a:srgbClr val="FFFFFF"/>
                    </a:solidFill>
                  </a:tcPr>
                </a:tc>
                <a:tc>
                  <a:txBody>
                    <a:bodyPr wrap="square"/>
                    <a:lstStyle/>
                    <a:p>
                      <a:r>
                        <a:rPr sz="1100" b="0">
                          <a:solidFill>
                            <a:srgbClr val="333333"/>
                          </a:solidFill>
                          <a:latin typeface="Calibri"/>
                        </a:rPr>
                        <a:t>Distinguishes a treatment break from progression; too short creates phantom lines</a:t>
                      </a:r>
                    </a:p>
                  </a:txBody>
                  <a:tcPr marL="54864" marR="54864" marT="27432" marB="27432">
                    <a:solidFill>
                      <a:srgbClr val="FFFFFF"/>
                    </a:solidFill>
                  </a:tcPr>
                </a:tc>
              </a:tr>
              <a:tr h="548640">
                <a:tc>
                  <a:txBody>
                    <a:bodyPr wrap="square"/>
                    <a:lstStyle/>
                    <a:p>
                      <a:r>
                        <a:rPr sz="1100" b="1">
                          <a:solidFill>
                            <a:srgbClr val="1E2761"/>
                          </a:solidFill>
                          <a:latin typeface="Calibri"/>
                        </a:rPr>
                        <a:t>4</a:t>
                      </a:r>
                    </a:p>
                  </a:txBody>
                  <a:tcPr marL="54864" marR="54864" marT="27432" marB="27432">
                    <a:solidFill>
                      <a:srgbClr val="F3F6FC"/>
                    </a:solidFill>
                  </a:tcPr>
                </a:tc>
                <a:tc>
                  <a:txBody>
                    <a:bodyPr wrap="square"/>
                    <a:lstStyle/>
                    <a:p>
                      <a:r>
                        <a:rPr sz="1100" b="0">
                          <a:solidFill>
                            <a:srgbClr val="333333"/>
                          </a:solidFill>
                          <a:latin typeface="Calibri"/>
                        </a:rPr>
                        <a:t>A CAR-T infusion always starts a new LOT</a:t>
                      </a:r>
                    </a:p>
                  </a:txBody>
                  <a:tcPr marL="54864" marR="54864" marT="27432" marB="27432">
                    <a:solidFill>
                      <a:srgbClr val="F3F6FC"/>
                    </a:solidFill>
                  </a:tcPr>
                </a:tc>
                <a:tc>
                  <a:txBody>
                    <a:bodyPr wrap="square"/>
                    <a:lstStyle/>
                    <a:p>
                      <a:r>
                        <a:rPr sz="1100" b="0">
                          <a:solidFill>
                            <a:srgbClr val="333333"/>
                          </a:solidFill>
                          <a:latin typeface="Calibri"/>
                        </a:rPr>
                        <a:t>—</a:t>
                      </a:r>
                    </a:p>
                  </a:txBody>
                  <a:tcPr marL="54864" marR="54864" marT="27432" marB="27432">
                    <a:solidFill>
                      <a:srgbClr val="F3F6FC"/>
                    </a:solidFill>
                  </a:tcPr>
                </a:tc>
                <a:tc>
                  <a:txBody>
                    <a:bodyPr wrap="square"/>
                    <a:lstStyle/>
                    <a:p>
                      <a:r>
                        <a:rPr sz="1100" b="0">
                          <a:solidFill>
                            <a:srgbClr val="333333"/>
                          </a:solidFill>
                          <a:latin typeface="Calibri"/>
                        </a:rPr>
                        <a:t>Even inside a gap window — it is a different intent</a:t>
                      </a:r>
                    </a:p>
                  </a:txBody>
                  <a:tcPr marL="54864" marR="54864" marT="27432" marB="27432">
                    <a:solidFill>
                      <a:srgbClr val="F3F6FC"/>
                    </a:solidFill>
                  </a:tcPr>
                </a:tc>
              </a:tr>
              <a:tr h="548640">
                <a:tc>
                  <a:txBody>
                    <a:bodyPr wrap="square"/>
                    <a:lstStyle/>
                    <a:p>
                      <a:r>
                        <a:rPr sz="1100" b="1">
                          <a:solidFill>
                            <a:srgbClr val="1E2761"/>
                          </a:solidFill>
                          <a:latin typeface="Calibri"/>
                        </a:rPr>
                        <a:t>5</a:t>
                      </a:r>
                    </a:p>
                  </a:txBody>
                  <a:tcPr marL="54864" marR="54864" marT="27432" marB="27432">
                    <a:solidFill>
                      <a:srgbClr val="FFFFFF"/>
                    </a:solidFill>
                  </a:tcPr>
                </a:tc>
                <a:tc>
                  <a:txBody>
                    <a:bodyPr wrap="square"/>
                    <a:lstStyle/>
                    <a:p>
                      <a:r>
                        <a:rPr sz="1100" b="0">
                          <a:solidFill>
                            <a:srgbClr val="333333"/>
                          </a:solidFill>
                          <a:latin typeface="Calibri"/>
                        </a:rPr>
                        <a:t>Steroids alone never start a LOT</a:t>
                      </a:r>
                    </a:p>
                  </a:txBody>
                  <a:tcPr marL="54864" marR="54864" marT="27432" marB="27432">
                    <a:solidFill>
                      <a:srgbClr val="FFFFFF"/>
                    </a:solidFill>
                  </a:tcPr>
                </a:tc>
                <a:tc>
                  <a:txBody>
                    <a:bodyPr wrap="square"/>
                    <a:lstStyle/>
                    <a:p>
                      <a:r>
                        <a:rPr sz="1100" b="0">
                          <a:solidFill>
                            <a:srgbClr val="333333"/>
                          </a:solidFill>
                          <a:latin typeface="Calibri"/>
                        </a:rPr>
                        <a:t>7-day look-back</a:t>
                      </a:r>
                    </a:p>
                  </a:txBody>
                  <a:tcPr marL="54864" marR="54864" marT="27432" marB="27432">
                    <a:solidFill>
                      <a:srgbClr val="FFFFFF"/>
                    </a:solidFill>
                  </a:tcPr>
                </a:tc>
                <a:tc>
                  <a:txBody>
                    <a:bodyPr wrap="square"/>
                    <a:lstStyle/>
                    <a:p>
                      <a:r>
                        <a:rPr sz="1100" b="0">
                          <a:solidFill>
                            <a:srgbClr val="333333"/>
                          </a:solidFill>
                          <a:latin typeface="Calibri"/>
                        </a:rPr>
                        <a:t>Prednisone rides along with the chemo it accompanies</a:t>
                      </a:r>
                    </a:p>
                  </a:txBody>
                  <a:tcPr marL="54864" marR="54864" marT="27432" marB="27432">
                    <a:solidFill>
                      <a:srgbClr val="FFFFFF"/>
                    </a:solidFill>
                  </a:tcPr>
                </a:tc>
              </a:tr>
            </a:tbl>
          </a:graphicData>
        </a:graphic>
      </p:graphicFrame>
      <p:sp>
        <p:nvSpPr>
          <p:cNvPr id="9" name="TextBox 8"/>
          <p:cNvSpPr txBox="1"/>
          <p:nvPr/>
        </p:nvSpPr>
        <p:spPr>
          <a:xfrm>
            <a:off x="548640" y="5394960"/>
            <a:ext cx="11064240" cy="91440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Regimen naming: </a:t>
            </a:r>
            <a:r>
              <a:rPr sz="1150">
                <a:solidFill>
                  <a:srgbClr val="333333"/>
                </a:solidFill>
                <a:latin typeface="Calibri"/>
              </a:rPr>
              <a:t>the drug bag within W days is matched to a dictionary (R-CHOP, pola-R-CHP, R-ICE, Pola-BR, bispecifics, CAR-T…) by Jaccard similarity. R-mini-CHOP is invisible — dose is not in claims.</a:t>
            </a:r>
          </a:p>
          <a:p>
            <a:pPr>
              <a:spcAft>
                <a:spcPts val="600"/>
              </a:spcAft>
            </a:pPr>
            <a:r>
              <a:rPr sz="1150" b="1">
                <a:solidFill>
                  <a:srgbClr val="FF6B6B"/>
                </a:solidFill>
                <a:latin typeface="Calibri"/>
              </a:rPr>
              <a:t>▸ </a:t>
            </a:r>
            <a:r>
              <a:rPr b="1" sz="1150">
                <a:solidFill>
                  <a:srgbClr val="1E2761"/>
                </a:solidFill>
                <a:latin typeface="Calibri"/>
              </a:rPr>
              <a:t>Maintenance, ASCT and radiation </a:t>
            </a:r>
            <a:r>
              <a:rPr sz="1150">
                <a:solidFill>
                  <a:srgbClr val="333333"/>
                </a:solidFill>
                <a:latin typeface="Calibri"/>
              </a:rPr>
              <a:t>each need a rule too (tonight: ignored). Consensus across IQVIA / ZS / Adelphi methodologies, but none is 'right'.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RESULT</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What the analysis recovers: the 1L / 2L / 3L+ landscape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482 patients · 676 lines · CAR-T in coral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33 / 44</a:t>
            </a:r>
          </a:p>
        </p:txBody>
      </p:sp>
      <p:pic>
        <p:nvPicPr>
          <p:cNvPr id="8" name="Picture 7" descr="lot_landscape.png"/>
          <p:cNvPicPr>
            <a:picLocks noChangeAspect="1"/>
          </p:cNvPicPr>
          <p:nvPr/>
        </p:nvPicPr>
        <p:blipFill>
          <a:blip r:embed="rId2"/>
          <a:stretch>
            <a:fillRect/>
          </a:stretch>
        </p:blipFill>
        <p:spPr>
          <a:xfrm>
            <a:off x="548640" y="2011680"/>
            <a:ext cx="11064240" cy="3234162"/>
          </a:xfrm>
          <a:prstGeom prst="rect">
            <a:avLst/>
          </a:prstGeom>
        </p:spPr>
      </p:pic>
      <p:sp>
        <p:nvSpPr>
          <p:cNvPr id="9" name="TextBox 8"/>
          <p:cNvSpPr txBox="1"/>
          <p:nvPr/>
        </p:nvSpPr>
        <p:spPr>
          <a:xfrm>
            <a:off x="548640" y="5349240"/>
            <a:ext cx="11064240" cy="100584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1L: </a:t>
            </a:r>
            <a:r>
              <a:rPr sz="1150">
                <a:solidFill>
                  <a:srgbClr val="333333"/>
                </a:solidFill>
                <a:latin typeface="Calibri"/>
              </a:rPr>
              <a:t>R-CHOP 65% with pola-R-CHP the growing #2 (post-POLARIX). 2L fragments: CAR-T (axi-cel, liso-cel) vs. salvage chemo ahead of transplant vs. Pola-BR. 3L+: bispecifics lead.</a:t>
            </a:r>
          </a:p>
          <a:p>
            <a:pPr>
              <a:spcAft>
                <a:spcPts val="600"/>
              </a:spcAft>
            </a:pPr>
            <a:r>
              <a:rPr sz="1150" b="1">
                <a:solidFill>
                  <a:srgbClr val="FF6B6B"/>
                </a:solidFill>
                <a:latin typeface="Calibri"/>
              </a:rPr>
              <a:t>▸ </a:t>
            </a:r>
            <a:r>
              <a:rPr b="1" sz="1150">
                <a:solidFill>
                  <a:srgbClr val="1E2761"/>
                </a:solidFill>
                <a:latin typeface="Calibri"/>
              </a:rPr>
              <a:t>Next cuts the brand team asks for: </a:t>
            </a:r>
            <a:r>
              <a:rPr sz="1150">
                <a:solidFill>
                  <a:srgbClr val="333333"/>
                </a:solidFill>
                <a:latin typeface="Calibri"/>
              </a:rPr>
              <a:t>age band (CAR-T eligibility falls with age: 20% under 60 → 0% over 80 tonight), payer, site of care (POS 21/22 vs 11), academic vs. community NPI.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TIME TO NEXT TREATMENT</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TTNT — the closest a claims file gets to an outcome, and the easiest one to get wrong</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TTNT for line n = start of line n+1 − start of line n</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34 / 44</a:t>
            </a:r>
          </a:p>
        </p:txBody>
      </p:sp>
      <p:graphicFrame>
        <p:nvGraphicFramePr>
          <p:cNvPr id="8" name="Table 7"/>
          <p:cNvGraphicFramePr>
            <a:graphicFrameLocks noGrp="1"/>
          </p:cNvGraphicFramePr>
          <p:nvPr/>
        </p:nvGraphicFramePr>
        <p:xfrm>
          <a:off x="548640" y="2103120"/>
          <a:ext cx="5669280" cy="1234440"/>
        </p:xfrm>
        <a:graphic>
          <a:graphicData uri="http://schemas.openxmlformats.org/drawingml/2006/table">
            <a:tbl>
              <a:tblPr firstRow="1" bandRow="1">
                <a:tableStyleId>{5C22544A-7EE6-4342-B048-85BDC9FD1C3A}</a:tableStyleId>
              </a:tblPr>
              <a:tblGrid>
                <a:gridCol w="1097280"/>
                <a:gridCol w="1554480"/>
                <a:gridCol w="822960"/>
                <a:gridCol w="640080"/>
                <a:gridCol w="822960"/>
                <a:gridCol w="731520"/>
              </a:tblGrid>
              <a:tr h="411480">
                <a:tc>
                  <a:txBody>
                    <a:bodyPr wrap="square"/>
                    <a:lstStyle/>
                    <a:p>
                      <a:r>
                        <a:rPr sz="1150" b="1">
                          <a:solidFill>
                            <a:srgbClr val="FFFFFF"/>
                          </a:solidFill>
                          <a:latin typeface="Calibri"/>
                        </a:rPr>
                        <a:t>Line</a:t>
                      </a:r>
                    </a:p>
                  </a:txBody>
                  <a:tcPr marL="54864" marR="54864" marT="27432" marB="27432">
                    <a:solidFill>
                      <a:srgbClr val="1E2761"/>
                    </a:solidFill>
                  </a:tcPr>
                </a:tc>
                <a:tc>
                  <a:txBody>
                    <a:bodyPr wrap="square"/>
                    <a:lstStyle/>
                    <a:p>
                      <a:r>
                        <a:rPr sz="1150" b="1">
                          <a:solidFill>
                            <a:srgbClr val="FFFFFF"/>
                          </a:solidFill>
                          <a:latin typeface="Calibri"/>
                        </a:rPr>
                        <a:t>Patients with a next line</a:t>
                      </a:r>
                    </a:p>
                  </a:txBody>
                  <a:tcPr marL="54864" marR="54864" marT="27432" marB="27432">
                    <a:solidFill>
                      <a:srgbClr val="1E2761"/>
                    </a:solidFill>
                  </a:tcPr>
                </a:tc>
                <a:tc>
                  <a:txBody>
                    <a:bodyPr wrap="square"/>
                    <a:lstStyle/>
                    <a:p>
                      <a:r>
                        <a:rPr sz="1150" b="1">
                          <a:solidFill>
                            <a:srgbClr val="FFFFFF"/>
                          </a:solidFill>
                          <a:latin typeface="Calibri"/>
                        </a:rPr>
                        <a:t>Mean (d)</a:t>
                      </a:r>
                    </a:p>
                  </a:txBody>
                  <a:tcPr marL="54864" marR="54864" marT="27432" marB="27432">
                    <a:solidFill>
                      <a:srgbClr val="1E2761"/>
                    </a:solidFill>
                  </a:tcPr>
                </a:tc>
                <a:tc>
                  <a:txBody>
                    <a:bodyPr wrap="square"/>
                    <a:lstStyle/>
                    <a:p>
                      <a:r>
                        <a:rPr sz="1150" b="1">
                          <a:solidFill>
                            <a:srgbClr val="FFFFFF"/>
                          </a:solidFill>
                          <a:latin typeface="Calibri"/>
                        </a:rPr>
                        <a:t>P25</a:t>
                      </a:r>
                    </a:p>
                  </a:txBody>
                  <a:tcPr marL="54864" marR="54864" marT="27432" marB="27432">
                    <a:solidFill>
                      <a:srgbClr val="1E2761"/>
                    </a:solidFill>
                  </a:tcPr>
                </a:tc>
                <a:tc>
                  <a:txBody>
                    <a:bodyPr wrap="square"/>
                    <a:lstStyle/>
                    <a:p>
                      <a:r>
                        <a:rPr sz="1150" b="1">
                          <a:solidFill>
                            <a:srgbClr val="FFFFFF"/>
                          </a:solidFill>
                          <a:latin typeface="Calibri"/>
                        </a:rPr>
                        <a:t>Median</a:t>
                      </a:r>
                    </a:p>
                  </a:txBody>
                  <a:tcPr marL="54864" marR="54864" marT="27432" marB="27432">
                    <a:solidFill>
                      <a:srgbClr val="1E2761"/>
                    </a:solidFill>
                  </a:tcPr>
                </a:tc>
                <a:tc>
                  <a:txBody>
                    <a:bodyPr wrap="square"/>
                    <a:lstStyle/>
                    <a:p>
                      <a:r>
                        <a:rPr sz="1150" b="1">
                          <a:solidFill>
                            <a:srgbClr val="FFFFFF"/>
                          </a:solidFill>
                          <a:latin typeface="Calibri"/>
                        </a:rPr>
                        <a:t>P75</a:t>
                      </a:r>
                    </a:p>
                  </a:txBody>
                  <a:tcPr marL="54864" marR="54864" marT="27432" marB="27432">
                    <a:solidFill>
                      <a:srgbClr val="1E2761"/>
                    </a:solidFill>
                  </a:tcPr>
                </a:tc>
              </a:tr>
              <a:tr h="411480">
                <a:tc>
                  <a:txBody>
                    <a:bodyPr wrap="square"/>
                    <a:lstStyle/>
                    <a:p>
                      <a:r>
                        <a:rPr sz="1150" b="1">
                          <a:solidFill>
                            <a:srgbClr val="1E2761"/>
                          </a:solidFill>
                          <a:latin typeface="Calibri"/>
                        </a:rPr>
                        <a:t>1L → 2L</a:t>
                      </a:r>
                    </a:p>
                  </a:txBody>
                  <a:tcPr marL="54864" marR="54864" marT="27432" marB="27432">
                    <a:solidFill>
                      <a:srgbClr val="FFFFFF"/>
                    </a:solidFill>
                  </a:tcPr>
                </a:tc>
                <a:tc>
                  <a:txBody>
                    <a:bodyPr wrap="square"/>
                    <a:lstStyle/>
                    <a:p>
                      <a:r>
                        <a:rPr sz="1150" b="0">
                          <a:solidFill>
                            <a:srgbClr val="333333"/>
                          </a:solidFill>
                          <a:latin typeface="Calibri"/>
                        </a:rPr>
                        <a:t>136</a:t>
                      </a:r>
                    </a:p>
                  </a:txBody>
                  <a:tcPr marL="54864" marR="54864" marT="27432" marB="27432">
                    <a:solidFill>
                      <a:srgbClr val="FFFFFF"/>
                    </a:solidFill>
                  </a:tcPr>
                </a:tc>
                <a:tc>
                  <a:txBody>
                    <a:bodyPr wrap="square"/>
                    <a:lstStyle/>
                    <a:p>
                      <a:r>
                        <a:rPr sz="1150" b="0">
                          <a:solidFill>
                            <a:srgbClr val="333333"/>
                          </a:solidFill>
                          <a:latin typeface="Calibri"/>
                        </a:rPr>
                        <a:t>450</a:t>
                      </a:r>
                    </a:p>
                  </a:txBody>
                  <a:tcPr marL="54864" marR="54864" marT="27432" marB="27432">
                    <a:solidFill>
                      <a:srgbClr val="FFFFFF"/>
                    </a:solidFill>
                  </a:tcPr>
                </a:tc>
                <a:tc>
                  <a:txBody>
                    <a:bodyPr wrap="square"/>
                    <a:lstStyle/>
                    <a:p>
                      <a:r>
                        <a:rPr sz="1150" b="0">
                          <a:solidFill>
                            <a:srgbClr val="333333"/>
                          </a:solidFill>
                          <a:latin typeface="Calibri"/>
                        </a:rPr>
                        <a:t>351</a:t>
                      </a:r>
                    </a:p>
                  </a:txBody>
                  <a:tcPr marL="54864" marR="54864" marT="27432" marB="27432">
                    <a:solidFill>
                      <a:srgbClr val="FFFFFF"/>
                    </a:solidFill>
                  </a:tcPr>
                </a:tc>
                <a:tc>
                  <a:txBody>
                    <a:bodyPr wrap="square"/>
                    <a:lstStyle/>
                    <a:p>
                      <a:r>
                        <a:rPr sz="1150" b="0">
                          <a:solidFill>
                            <a:srgbClr val="333333"/>
                          </a:solidFill>
                          <a:latin typeface="Calibri"/>
                        </a:rPr>
                        <a:t>438</a:t>
                      </a:r>
                    </a:p>
                  </a:txBody>
                  <a:tcPr marL="54864" marR="54864" marT="27432" marB="27432">
                    <a:solidFill>
                      <a:srgbClr val="FFFFFF"/>
                    </a:solidFill>
                  </a:tcPr>
                </a:tc>
                <a:tc>
                  <a:txBody>
                    <a:bodyPr wrap="square"/>
                    <a:lstStyle/>
                    <a:p>
                      <a:r>
                        <a:rPr sz="1150" b="0">
                          <a:solidFill>
                            <a:srgbClr val="333333"/>
                          </a:solidFill>
                          <a:latin typeface="Calibri"/>
                        </a:rPr>
                        <a:t>558</a:t>
                      </a:r>
                    </a:p>
                  </a:txBody>
                  <a:tcPr marL="54864" marR="54864" marT="27432" marB="27432">
                    <a:solidFill>
                      <a:srgbClr val="FFFFFF"/>
                    </a:solidFill>
                  </a:tcPr>
                </a:tc>
              </a:tr>
              <a:tr h="411480">
                <a:tc>
                  <a:txBody>
                    <a:bodyPr wrap="square"/>
                    <a:lstStyle/>
                    <a:p>
                      <a:r>
                        <a:rPr sz="1150" b="1">
                          <a:solidFill>
                            <a:srgbClr val="1E2761"/>
                          </a:solidFill>
                          <a:latin typeface="Calibri"/>
                        </a:rPr>
                        <a:t>2L → 3L</a:t>
                      </a:r>
                    </a:p>
                  </a:txBody>
                  <a:tcPr marL="54864" marR="54864" marT="27432" marB="27432">
                    <a:solidFill>
                      <a:srgbClr val="F3F6FC"/>
                    </a:solidFill>
                  </a:tcPr>
                </a:tc>
                <a:tc>
                  <a:txBody>
                    <a:bodyPr wrap="square"/>
                    <a:lstStyle/>
                    <a:p>
                      <a:r>
                        <a:rPr sz="1150" b="0">
                          <a:solidFill>
                            <a:srgbClr val="333333"/>
                          </a:solidFill>
                          <a:latin typeface="Calibri"/>
                        </a:rPr>
                        <a:t>56</a:t>
                      </a:r>
                    </a:p>
                  </a:txBody>
                  <a:tcPr marL="54864" marR="54864" marT="27432" marB="27432">
                    <a:solidFill>
                      <a:srgbClr val="F3F6FC"/>
                    </a:solidFill>
                  </a:tcPr>
                </a:tc>
                <a:tc>
                  <a:txBody>
                    <a:bodyPr wrap="square"/>
                    <a:lstStyle/>
                    <a:p>
                      <a:r>
                        <a:rPr sz="1150" b="0">
                          <a:solidFill>
                            <a:srgbClr val="333333"/>
                          </a:solidFill>
                          <a:latin typeface="Calibri"/>
                        </a:rPr>
                        <a:t>283</a:t>
                      </a:r>
                    </a:p>
                  </a:txBody>
                  <a:tcPr marL="54864" marR="54864" marT="27432" marB="27432">
                    <a:solidFill>
                      <a:srgbClr val="F3F6FC"/>
                    </a:solidFill>
                  </a:tcPr>
                </a:tc>
                <a:tc>
                  <a:txBody>
                    <a:bodyPr wrap="square"/>
                    <a:lstStyle/>
                    <a:p>
                      <a:r>
                        <a:rPr sz="1150" b="0">
                          <a:solidFill>
                            <a:srgbClr val="333333"/>
                          </a:solidFill>
                          <a:latin typeface="Calibri"/>
                        </a:rPr>
                        <a:t>203</a:t>
                      </a:r>
                    </a:p>
                  </a:txBody>
                  <a:tcPr marL="54864" marR="54864" marT="27432" marB="27432">
                    <a:solidFill>
                      <a:srgbClr val="F3F6FC"/>
                    </a:solidFill>
                  </a:tcPr>
                </a:tc>
                <a:tc>
                  <a:txBody>
                    <a:bodyPr wrap="square"/>
                    <a:lstStyle/>
                    <a:p>
                      <a:r>
                        <a:rPr sz="1150" b="0">
                          <a:solidFill>
                            <a:srgbClr val="333333"/>
                          </a:solidFill>
                          <a:latin typeface="Calibri"/>
                        </a:rPr>
                        <a:t>272</a:t>
                      </a:r>
                    </a:p>
                  </a:txBody>
                  <a:tcPr marL="54864" marR="54864" marT="27432" marB="27432">
                    <a:solidFill>
                      <a:srgbClr val="F3F6FC"/>
                    </a:solidFill>
                  </a:tcPr>
                </a:tc>
                <a:tc>
                  <a:txBody>
                    <a:bodyPr wrap="square"/>
                    <a:lstStyle/>
                    <a:p>
                      <a:r>
                        <a:rPr sz="1150" b="0">
                          <a:solidFill>
                            <a:srgbClr val="333333"/>
                          </a:solidFill>
                          <a:latin typeface="Calibri"/>
                        </a:rPr>
                        <a:t>368</a:t>
                      </a:r>
                    </a:p>
                  </a:txBody>
                  <a:tcPr marL="54864" marR="54864" marT="27432" marB="27432">
                    <a:solidFill>
                      <a:srgbClr val="F3F6FC"/>
                    </a:solidFill>
                  </a:tcPr>
                </a:tc>
              </a:tr>
            </a:tbl>
          </a:graphicData>
        </a:graphic>
      </p:graphicFrame>
      <p:sp>
        <p:nvSpPr>
          <p:cNvPr id="9" name="Rectangle 8"/>
          <p:cNvSpPr/>
          <p:nvPr/>
        </p:nvSpPr>
        <p:spPr>
          <a:xfrm>
            <a:off x="548640" y="3566160"/>
            <a:ext cx="5669280" cy="26517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675887"/>
            <a:ext cx="5394960" cy="365760"/>
          </a:xfrm>
          <a:prstGeom prst="rect">
            <a:avLst/>
          </a:prstGeom>
          <a:noFill/>
        </p:spPr>
        <p:txBody>
          <a:bodyPr wrap="square" lIns="45720" rIns="45720" tIns="27432" bIns="27432" anchor="t">
            <a:spAutoFit/>
          </a:bodyPr>
          <a:lstStyle/>
          <a:p>
            <a:pPr algn="l"/>
            <a:r>
              <a:rPr sz="1400" b="1" i="0">
                <a:solidFill>
                  <a:srgbClr val="1E2761"/>
                </a:solidFill>
                <a:latin typeface="Calibri"/>
              </a:rPr>
              <a:t>Why brand teams care</a:t>
            </a:r>
          </a:p>
        </p:txBody>
      </p:sp>
      <p:sp>
        <p:nvSpPr>
          <p:cNvPr id="11" name="TextBox 10"/>
          <p:cNvSpPr txBox="1"/>
          <p:nvPr/>
        </p:nvSpPr>
        <p:spPr>
          <a:xfrm>
            <a:off x="658368" y="4059935"/>
            <a:ext cx="5440680" cy="206654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Shorter TTNT after a competitor's regimen = a commercial argument (and a medical one)</a:t>
            </a:r>
          </a:p>
          <a:p>
            <a:pPr>
              <a:spcAft>
                <a:spcPts val="500"/>
              </a:spcAft>
            </a:pPr>
            <a:r>
              <a:rPr sz="1150" b="1">
                <a:solidFill>
                  <a:srgbClr val="FF6B6B"/>
                </a:solidFill>
                <a:latin typeface="Calibri"/>
              </a:rPr>
              <a:t>▸ </a:t>
            </a:r>
            <a:r>
              <a:rPr sz="1150">
                <a:solidFill>
                  <a:srgbClr val="333333"/>
                </a:solidFill>
                <a:latin typeface="Calibri"/>
              </a:rPr>
              <a:t>It is a proxy for progression-free survival — with claims-grade noise</a:t>
            </a:r>
          </a:p>
          <a:p>
            <a:pPr>
              <a:spcAft>
                <a:spcPts val="500"/>
              </a:spcAft>
            </a:pPr>
            <a:r>
              <a:rPr sz="1150" b="1">
                <a:solidFill>
                  <a:srgbClr val="FF6B6B"/>
                </a:solidFill>
                <a:latin typeface="Calibri"/>
              </a:rPr>
              <a:t>▸ </a:t>
            </a:r>
            <a:r>
              <a:rPr sz="1150">
                <a:solidFill>
                  <a:srgbClr val="333333"/>
                </a:solidFill>
                <a:latin typeface="Calibri"/>
              </a:rPr>
              <a:t>Payers read it too; it appears in dossiers</a:t>
            </a:r>
          </a:p>
        </p:txBody>
      </p:sp>
      <p:sp>
        <p:nvSpPr>
          <p:cNvPr id="12" name="Rectangle 11"/>
          <p:cNvSpPr/>
          <p:nvPr/>
        </p:nvSpPr>
        <p:spPr>
          <a:xfrm>
            <a:off x="6492240" y="2103120"/>
            <a:ext cx="5120640" cy="4114800"/>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212848"/>
            <a:ext cx="4846320" cy="365760"/>
          </a:xfrm>
          <a:prstGeom prst="rect">
            <a:avLst/>
          </a:prstGeom>
          <a:noFill/>
        </p:spPr>
        <p:txBody>
          <a:bodyPr wrap="square" lIns="45720" rIns="45720" tIns="27432" bIns="27432" anchor="t">
            <a:spAutoFit/>
          </a:bodyPr>
          <a:lstStyle/>
          <a:p>
            <a:pPr algn="l"/>
            <a:r>
              <a:rPr sz="1400" b="1" i="0">
                <a:solidFill>
                  <a:srgbClr val="A11E1E"/>
                </a:solidFill>
                <a:latin typeface="Calibri"/>
              </a:rPr>
              <a:t>Censoring is not death</a:t>
            </a:r>
          </a:p>
        </p:txBody>
      </p:sp>
      <p:sp>
        <p:nvSpPr>
          <p:cNvPr id="14" name="TextBox 13"/>
          <p:cNvSpPr txBox="1"/>
          <p:nvPr/>
        </p:nvSpPr>
        <p:spPr>
          <a:xfrm>
            <a:off x="6601968" y="2596896"/>
            <a:ext cx="4892040" cy="35295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The table above counts only patients who *had* a next line</a:t>
            </a:r>
          </a:p>
          <a:p>
            <a:pPr>
              <a:spcAft>
                <a:spcPts val="500"/>
              </a:spcAft>
            </a:pPr>
            <a:r>
              <a:rPr sz="1150" b="1">
                <a:solidFill>
                  <a:srgbClr val="FF6B6B"/>
                </a:solidFill>
                <a:latin typeface="Calibri"/>
              </a:rPr>
              <a:t>▸ </a:t>
            </a:r>
            <a:r>
              <a:rPr sz="1150">
                <a:solidFill>
                  <a:srgbClr val="333333"/>
                </a:solidFill>
                <a:latin typeface="Calibri"/>
              </a:rPr>
              <a:t>Missing: patients cured, patients who died, and patients who lost coverage (37 tonight) — three very different stories, one absence</a:t>
            </a:r>
          </a:p>
          <a:p>
            <a:pPr>
              <a:spcAft>
                <a:spcPts val="500"/>
              </a:spcAft>
            </a:pPr>
            <a:r>
              <a:rPr sz="1150" b="1">
                <a:solidFill>
                  <a:srgbClr val="FF6B6B"/>
                </a:solidFill>
                <a:latin typeface="Calibri"/>
              </a:rPr>
              <a:t>▸ </a:t>
            </a:r>
            <a:r>
              <a:rPr sz="1150">
                <a:solidFill>
                  <a:srgbClr val="333333"/>
                </a:solidFill>
                <a:latin typeface="Calibri"/>
              </a:rPr>
              <a:t>Proper method: Kaplan–Meier with censoring at coverage end (Week 6); pair with mortality data</a:t>
            </a:r>
          </a:p>
          <a:p>
            <a:pPr>
              <a:spcAft>
                <a:spcPts val="500"/>
              </a:spcAft>
            </a:pPr>
            <a:r>
              <a:rPr sz="1150" b="1">
                <a:solidFill>
                  <a:srgbClr val="FF6B6B"/>
                </a:solidFill>
                <a:latin typeface="Calibri"/>
              </a:rPr>
              <a:t>▸ </a:t>
            </a:r>
            <a:r>
              <a:rPr sz="1150">
                <a:solidFill>
                  <a:srgbClr val="333333"/>
                </a:solidFill>
                <a:latin typeface="Calibri"/>
              </a:rPr>
              <a:t>Never present a mean TTNT without saying who is excluded</a:t>
            </a:r>
          </a:p>
          <a:p>
            <a:pPr>
              <a:spcAft>
                <a:spcPts val="500"/>
              </a:spcAft>
            </a:pPr>
            <a:r>
              <a:rPr sz="1150" b="1">
                <a:solidFill>
                  <a:srgbClr val="FF6B6B"/>
                </a:solidFill>
                <a:latin typeface="Calibri"/>
              </a:rPr>
              <a:t>▸ </a:t>
            </a:r>
            <a:r>
              <a:rPr sz="1150">
                <a:solidFill>
                  <a:srgbClr val="333333"/>
                </a:solidFill>
                <a:latin typeface="Calibri"/>
              </a:rPr>
              <a:t>Same for 'share of patients reaching 2L': the denominator must be patients with enough follow-up to reach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05</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RWD quality and re-identification risk</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What regulators mean by real-world evidence, eight ways data quietly lies, and what you may never do with a patient token.</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35 / 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RWD &amp; RWE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RWD vs. RWE — FDA's framework is the vocabulary everyone uses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Reading: FDA, “Framework for FDA's Real-World Evidence Program” (Dec 2018), exec summary + §II; optional: 2024 final guidance on RWD/RWE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36 / 44</a:t>
            </a:r>
          </a:p>
        </p:txBody>
      </p:sp>
      <p:sp>
        <p:nvSpPr>
          <p:cNvPr id="8" name="Rectangle 7"/>
          <p:cNvSpPr/>
          <p:nvPr/>
        </p:nvSpPr>
        <p:spPr>
          <a:xfrm>
            <a:off x="548640" y="2103120"/>
            <a:ext cx="539496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Definitions (FDA framework)</a:t>
            </a:r>
          </a:p>
        </p:txBody>
      </p:sp>
      <p:sp>
        <p:nvSpPr>
          <p:cNvPr id="10" name="TextBox 9"/>
          <p:cNvSpPr txBox="1"/>
          <p:nvPr/>
        </p:nvSpPr>
        <p:spPr>
          <a:xfrm>
            <a:off x="658368" y="2596896"/>
            <a:ext cx="5166360" cy="142646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RWD: </a:t>
            </a:r>
            <a:r>
              <a:rPr sz="1150">
                <a:solidFill>
                  <a:srgbClr val="333333"/>
                </a:solidFill>
                <a:latin typeface="Calibri"/>
              </a:rPr>
              <a:t>“data relating to patient health status and/or the delivery of health care routinely collected from a variety of sources” — claims, EHR, registries, devices, apps</a:t>
            </a:r>
          </a:p>
          <a:p>
            <a:pPr>
              <a:spcAft>
                <a:spcPts val="500"/>
              </a:spcAft>
            </a:pPr>
            <a:r>
              <a:rPr sz="1150" b="1">
                <a:solidFill>
                  <a:srgbClr val="FF6B6B"/>
                </a:solidFill>
                <a:latin typeface="Calibri"/>
              </a:rPr>
              <a:t>▸ </a:t>
            </a:r>
            <a:r>
              <a:rPr b="1" sz="1150">
                <a:solidFill>
                  <a:srgbClr val="1E2761"/>
                </a:solidFill>
                <a:latin typeface="Calibri"/>
              </a:rPr>
              <a:t>RWE: </a:t>
            </a:r>
            <a:r>
              <a:rPr sz="1150">
                <a:solidFill>
                  <a:srgbClr val="333333"/>
                </a:solidFill>
                <a:latin typeface="Calibri"/>
              </a:rPr>
              <a:t>“clinical evidence about the usage and potential benefits or risks of a medical product derived from analysis of RWD”</a:t>
            </a:r>
          </a:p>
        </p:txBody>
      </p:sp>
      <p:sp>
        <p:nvSpPr>
          <p:cNvPr id="11" name="Rectangle 10"/>
          <p:cNvSpPr/>
          <p:nvPr/>
        </p:nvSpPr>
        <p:spPr>
          <a:xfrm>
            <a:off x="6217920" y="2103120"/>
            <a:ext cx="539496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The three questions FDA asks of any RWE</a:t>
            </a:r>
          </a:p>
        </p:txBody>
      </p:sp>
      <p:sp>
        <p:nvSpPr>
          <p:cNvPr id="13" name="TextBox 12"/>
          <p:cNvSpPr txBox="1"/>
          <p:nvPr/>
        </p:nvSpPr>
        <p:spPr>
          <a:xfrm>
            <a:off x="6327648" y="2596896"/>
            <a:ext cx="5166360" cy="142646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Are the RWD fit for use? (relevance + reliability: accuracy, completeness, provenance)</a:t>
            </a:r>
          </a:p>
          <a:p>
            <a:pPr>
              <a:spcAft>
                <a:spcPts val="500"/>
              </a:spcAft>
            </a:pPr>
            <a:r>
              <a:rPr sz="1150" b="1">
                <a:solidFill>
                  <a:srgbClr val="FF6B6B"/>
                </a:solidFill>
                <a:latin typeface="Calibri"/>
              </a:rPr>
              <a:t>▸ </a:t>
            </a:r>
            <a:r>
              <a:rPr sz="1150">
                <a:solidFill>
                  <a:srgbClr val="333333"/>
                </a:solidFill>
                <a:latin typeface="Calibri"/>
              </a:rPr>
              <a:t>Can the study design provide adequate scientific evidence to answer the question?</a:t>
            </a:r>
          </a:p>
          <a:p>
            <a:pPr>
              <a:spcAft>
                <a:spcPts val="500"/>
              </a:spcAft>
            </a:pPr>
            <a:r>
              <a:rPr sz="1150" b="1">
                <a:solidFill>
                  <a:srgbClr val="FF6B6B"/>
                </a:solidFill>
                <a:latin typeface="Calibri"/>
              </a:rPr>
              <a:t>▸ </a:t>
            </a:r>
            <a:r>
              <a:rPr sz="1150">
                <a:solidFill>
                  <a:srgbClr val="333333"/>
                </a:solidFill>
                <a:latin typeface="Calibri"/>
              </a:rPr>
              <a:t>Does the study conduct meet FDA regulatory requirements (e.g., data integrity, monitoring)?</a:t>
            </a:r>
          </a:p>
        </p:txBody>
      </p:sp>
      <p:sp>
        <p:nvSpPr>
          <p:cNvPr id="14" name="Rectangle 13"/>
          <p:cNvSpPr/>
          <p:nvPr/>
        </p:nvSpPr>
        <p:spPr>
          <a:xfrm>
            <a:off x="548640" y="4297680"/>
            <a:ext cx="1106424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70832"/>
            <a:ext cx="10698480" cy="1280160"/>
          </a:xfrm>
          <a:prstGeom prst="rect">
            <a:avLst/>
          </a:prstGeom>
          <a:noFill/>
        </p:spPr>
        <p:txBody>
          <a:bodyPr wrap="square" lIns="45720" rIns="45720" tIns="27432" bIns="27432" anchor="t">
            <a:spAutoFit/>
          </a:bodyPr>
          <a:lstStyle/>
          <a:p>
            <a:pPr algn="l"/>
            <a:r>
              <a:rPr sz="1150" b="0" i="1">
                <a:solidFill>
                  <a:srgbClr val="333333"/>
                </a:solidFill>
                <a:latin typeface="Calibri"/>
              </a:rPr>
              <a:t>“Sponsors face a recurring tension: the most accessible datasets are rarely the most fit-for-purpose, and the most fit-for-purpose datasets often require investment in curation, linkage, or chart abstraction long before the SAT reads out. […] Regulators describe ‘fit-for-purpose’ data that have sufficient quality and relevance for the intended regulatory use. This ensures the data is suitable for regulatory decisions without necessarily requiring data to be close to perfect as it is expected for RCT data.”</a:t>
            </a:r>
          </a:p>
        </p:txBody>
      </p:sp>
      <p:sp>
        <p:nvSpPr>
          <p:cNvPr id="16" name="TextBox 15"/>
          <p:cNvSpPr txBox="1"/>
          <p:nvPr/>
        </p:nvSpPr>
        <p:spPr>
          <a:xfrm>
            <a:off x="731520" y="5760720"/>
            <a:ext cx="10698480" cy="365760"/>
          </a:xfrm>
          <a:prstGeom prst="rect">
            <a:avLst/>
          </a:prstGeom>
          <a:noFill/>
        </p:spPr>
        <p:txBody>
          <a:bodyPr wrap="square" lIns="45720" rIns="45720" tIns="27432" bIns="27432" anchor="t">
            <a:spAutoFit/>
          </a:bodyPr>
          <a:lstStyle/>
          <a:p>
            <a:pPr algn="l"/>
            <a:r>
              <a:rPr sz="1000" b="0" i="0">
                <a:solidFill>
                  <a:srgbClr val="666666"/>
                </a:solidFill>
                <a:latin typeface="Calibri"/>
              </a:rPr>
              <a:t>— IQVIA, “Bridging the Evidence Gap: External Comparator Studies from Design to Reimbursement” (2025)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EIGHT FAILURE MODES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Eight ways claims data quietly lies to you — all eight are in tonight's file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Learning objective 3: identify common data-quality risks in RWD. Run these checks before every analysis.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37 / 44</a:t>
            </a:r>
          </a:p>
        </p:txBody>
      </p:sp>
      <p:graphicFrame>
        <p:nvGraphicFramePr>
          <p:cNvPr id="8" name="Table 7"/>
          <p:cNvGraphicFramePr>
            <a:graphicFrameLocks noGrp="1"/>
          </p:cNvGraphicFramePr>
          <p:nvPr/>
        </p:nvGraphicFramePr>
        <p:xfrm>
          <a:off x="548640" y="2057400"/>
          <a:ext cx="11064240" cy="4114800"/>
        </p:xfrm>
        <a:graphic>
          <a:graphicData uri="http://schemas.openxmlformats.org/drawingml/2006/table">
            <a:tbl>
              <a:tblPr firstRow="1" bandRow="1">
                <a:tableStyleId>{5C22544A-7EE6-4342-B048-85BDC9FD1C3A}</a:tableStyleId>
              </a:tblPr>
              <a:tblGrid>
                <a:gridCol w="1920240"/>
                <a:gridCol w="2926080"/>
                <a:gridCol w="2743200"/>
                <a:gridCol w="3474720"/>
              </a:tblGrid>
              <a:tr h="457200">
                <a:tc>
                  <a:txBody>
                    <a:bodyPr wrap="square"/>
                    <a:lstStyle/>
                    <a:p>
                      <a:r>
                        <a:rPr sz="1000" b="1">
                          <a:solidFill>
                            <a:srgbClr val="FFFFFF"/>
                          </a:solidFill>
                          <a:latin typeface="Calibri"/>
                        </a:rPr>
                        <a:t>Failure mode</a:t>
                      </a:r>
                    </a:p>
                  </a:txBody>
                  <a:tcPr marL="54864" marR="54864" marT="27432" marB="27432">
                    <a:solidFill>
                      <a:srgbClr val="1E2761"/>
                    </a:solidFill>
                  </a:tcPr>
                </a:tc>
                <a:tc>
                  <a:txBody>
                    <a:bodyPr wrap="square"/>
                    <a:lstStyle/>
                    <a:p>
                      <a:r>
                        <a:rPr sz="1000" b="1">
                          <a:solidFill>
                            <a:srgbClr val="FFFFFF"/>
                          </a:solidFill>
                          <a:latin typeface="Calibri"/>
                        </a:rPr>
                        <a:t>What it looks like</a:t>
                      </a:r>
                    </a:p>
                  </a:txBody>
                  <a:tcPr marL="54864" marR="54864" marT="27432" marB="27432">
                    <a:solidFill>
                      <a:srgbClr val="1E2761"/>
                    </a:solidFill>
                  </a:tcPr>
                </a:tc>
                <a:tc>
                  <a:txBody>
                    <a:bodyPr wrap="square"/>
                    <a:lstStyle/>
                    <a:p>
                      <a:r>
                        <a:rPr sz="1000" b="1">
                          <a:solidFill>
                            <a:srgbClr val="FFFFFF"/>
                          </a:solidFill>
                          <a:latin typeface="Calibri"/>
                        </a:rPr>
                        <a:t>What it does to your answer</a:t>
                      </a:r>
                    </a:p>
                  </a:txBody>
                  <a:tcPr marL="54864" marR="54864" marT="27432" marB="27432">
                    <a:solidFill>
                      <a:srgbClr val="1E2761"/>
                    </a:solidFill>
                  </a:tcPr>
                </a:tc>
                <a:tc>
                  <a:txBody>
                    <a:bodyPr wrap="square"/>
                    <a:lstStyle/>
                    <a:p>
                      <a:r>
                        <a:rPr sz="1000" b="1">
                          <a:solidFill>
                            <a:srgbClr val="FFFFFF"/>
                          </a:solidFill>
                          <a:latin typeface="Calibri"/>
                        </a:rPr>
                        <a:t>The check</a:t>
                      </a:r>
                    </a:p>
                  </a:txBody>
                  <a:tcPr marL="54864" marR="54864" marT="27432" marB="27432">
                    <a:solidFill>
                      <a:srgbClr val="1E2761"/>
                    </a:solidFill>
                  </a:tcPr>
                </a:tc>
              </a:tr>
              <a:tr h="457200">
                <a:tc>
                  <a:txBody>
                    <a:bodyPr wrap="square"/>
                    <a:lstStyle/>
                    <a:p>
                      <a:r>
                        <a:rPr sz="1000" b="1">
                          <a:solidFill>
                            <a:srgbClr val="1E2761"/>
                          </a:solidFill>
                          <a:latin typeface="Calibri"/>
                        </a:rPr>
                        <a:t>Duplicate lines</a:t>
                      </a:r>
                    </a:p>
                  </a:txBody>
                  <a:tcPr marL="54864" marR="54864" marT="27432" marB="27432">
                    <a:solidFill>
                      <a:srgbClr val="FFFFFF"/>
                    </a:solidFill>
                  </a:tcPr>
                </a:tc>
                <a:tc>
                  <a:txBody>
                    <a:bodyPr wrap="square"/>
                    <a:lstStyle/>
                    <a:p>
                      <a:r>
                        <a:rPr sz="1000" b="0">
                          <a:solidFill>
                            <a:srgbClr val="333333"/>
                          </a:solidFill>
                          <a:latin typeface="Calibri"/>
                        </a:rPr>
                        <a:t>Resubmissions with identical content (claim_id + 'R')</a:t>
                      </a:r>
                    </a:p>
                  </a:txBody>
                  <a:tcPr marL="54864" marR="54864" marT="27432" marB="27432">
                    <a:solidFill>
                      <a:srgbClr val="FFFFFF"/>
                    </a:solidFill>
                  </a:tcPr>
                </a:tc>
                <a:tc>
                  <a:txBody>
                    <a:bodyPr wrap="square"/>
                    <a:lstStyle/>
                    <a:p>
                      <a:r>
                        <a:rPr sz="1000" b="0">
                          <a:solidFill>
                            <a:srgbClr val="333333"/>
                          </a:solidFill>
                          <a:latin typeface="Calibri"/>
                        </a:rPr>
                        <a:t>Doubles doses, visits, cost</a:t>
                      </a:r>
                    </a:p>
                  </a:txBody>
                  <a:tcPr marL="54864" marR="54864" marT="27432" marB="27432">
                    <a:solidFill>
                      <a:srgbClr val="FFFFFF"/>
                    </a:solidFill>
                  </a:tcPr>
                </a:tc>
                <a:tc>
                  <a:txBody>
                    <a:bodyPr wrap="square"/>
                    <a:lstStyle/>
                    <a:p>
                      <a:r>
                        <a:rPr sz="1000" b="0">
                          <a:solidFill>
                            <a:srgbClr val="333333"/>
                          </a:solidFill>
                          <a:latin typeface="Calibri"/>
                        </a:rPr>
                        <a:t>Duplicate on (patient, date, NPI, code, dx, amount)</a:t>
                      </a:r>
                    </a:p>
                  </a:txBody>
                  <a:tcPr marL="54864" marR="54864" marT="27432" marB="27432">
                    <a:solidFill>
                      <a:srgbClr val="FFFFFF"/>
                    </a:solidFill>
                  </a:tcPr>
                </a:tc>
              </a:tr>
              <a:tr h="457200">
                <a:tc>
                  <a:txBody>
                    <a:bodyPr wrap="square"/>
                    <a:lstStyle/>
                    <a:p>
                      <a:r>
                        <a:rPr sz="1000" b="1">
                          <a:solidFill>
                            <a:srgbClr val="1E2761"/>
                          </a:solidFill>
                          <a:latin typeface="Calibri"/>
                        </a:rPr>
                        <a:t>Adjustments / reversals</a:t>
                      </a:r>
                    </a:p>
                  </a:txBody>
                  <a:tcPr marL="54864" marR="54864" marT="27432" marB="27432">
                    <a:solidFill>
                      <a:srgbClr val="F3F6FC"/>
                    </a:solidFill>
                  </a:tcPr>
                </a:tc>
                <a:tc>
                  <a:txBody>
                    <a:bodyPr wrap="square"/>
                    <a:lstStyle/>
                    <a:p>
                      <a:r>
                        <a:rPr sz="1000" b="0">
                          <a:solidFill>
                            <a:srgbClr val="333333"/>
                          </a:solidFill>
                          <a:latin typeface="Calibri"/>
                        </a:rPr>
                        <a:t>Negative or zero allowed amounts</a:t>
                      </a:r>
                    </a:p>
                  </a:txBody>
                  <a:tcPr marL="54864" marR="54864" marT="27432" marB="27432">
                    <a:solidFill>
                      <a:srgbClr val="F3F6FC"/>
                    </a:solidFill>
                  </a:tcPr>
                </a:tc>
                <a:tc>
                  <a:txBody>
                    <a:bodyPr wrap="square"/>
                    <a:lstStyle/>
                    <a:p>
                      <a:r>
                        <a:rPr sz="1000" b="0">
                          <a:solidFill>
                            <a:srgbClr val="333333"/>
                          </a:solidFill>
                          <a:latin typeface="Calibri"/>
                        </a:rPr>
                        <a:t>Distorts cost; phantom events</a:t>
                      </a:r>
                    </a:p>
                  </a:txBody>
                  <a:tcPr marL="54864" marR="54864" marT="27432" marB="27432">
                    <a:solidFill>
                      <a:srgbClr val="F3F6FC"/>
                    </a:solidFill>
                  </a:tcPr>
                </a:tc>
                <a:tc>
                  <a:txBody>
                    <a:bodyPr wrap="square"/>
                    <a:lstStyle/>
                    <a:p>
                      <a:r>
                        <a:rPr sz="1000" b="0">
                          <a:solidFill>
                            <a:srgbClr val="333333"/>
                          </a:solidFill>
                          <a:latin typeface="Calibri"/>
                        </a:rPr>
                        <a:t>Filter amount ≤ 0; keep a log</a:t>
                      </a:r>
                    </a:p>
                  </a:txBody>
                  <a:tcPr marL="54864" marR="54864" marT="27432" marB="27432">
                    <a:solidFill>
                      <a:srgbClr val="F3F6FC"/>
                    </a:solidFill>
                  </a:tcPr>
                </a:tc>
              </a:tr>
              <a:tr h="457200">
                <a:tc>
                  <a:txBody>
                    <a:bodyPr wrap="square"/>
                    <a:lstStyle/>
                    <a:p>
                      <a:r>
                        <a:rPr sz="1000" b="1">
                          <a:solidFill>
                            <a:srgbClr val="1E2761"/>
                          </a:solidFill>
                          <a:latin typeface="Calibri"/>
                        </a:rPr>
                        <a:t>Missing keys</a:t>
                      </a:r>
                    </a:p>
                  </a:txBody>
                  <a:tcPr marL="54864" marR="54864" marT="27432" marB="27432">
                    <a:solidFill>
                      <a:srgbClr val="FFFFFF"/>
                    </a:solidFill>
                  </a:tcPr>
                </a:tc>
                <a:tc>
                  <a:txBody>
                    <a:bodyPr wrap="square"/>
                    <a:lstStyle/>
                    <a:p>
                      <a:r>
                        <a:rPr sz="1000" b="0">
                          <a:solidFill>
                            <a:srgbClr val="333333"/>
                          </a:solidFill>
                          <a:latin typeface="Calibri"/>
                        </a:rPr>
                        <a:t>Blank rendering NPI (~1.5%)</a:t>
                      </a:r>
                    </a:p>
                  </a:txBody>
                  <a:tcPr marL="54864" marR="54864" marT="27432" marB="27432">
                    <a:solidFill>
                      <a:srgbClr val="FFFFFF"/>
                    </a:solidFill>
                  </a:tcPr>
                </a:tc>
                <a:tc>
                  <a:txBody>
                    <a:bodyPr wrap="square"/>
                    <a:lstStyle/>
                    <a:p>
                      <a:r>
                        <a:rPr sz="1000" b="0">
                          <a:solidFill>
                            <a:srgbClr val="333333"/>
                          </a:solidFill>
                          <a:latin typeface="Calibri"/>
                        </a:rPr>
                        <a:t>Prescriber attribution breaks; targets lost</a:t>
                      </a:r>
                    </a:p>
                  </a:txBody>
                  <a:tcPr marL="54864" marR="54864" marT="27432" marB="27432">
                    <a:solidFill>
                      <a:srgbClr val="FFFFFF"/>
                    </a:solidFill>
                  </a:tcPr>
                </a:tc>
                <a:tc>
                  <a:txBody>
                    <a:bodyPr wrap="square"/>
                    <a:lstStyle/>
                    <a:p>
                      <a:r>
                        <a:rPr sz="1000" b="0">
                          <a:solidFill>
                            <a:srgbClr val="333333"/>
                          </a:solidFill>
                          <a:latin typeface="Calibri"/>
                        </a:rPr>
                        <a:t>Null rate per key; fall back to billing NPI</a:t>
                      </a:r>
                    </a:p>
                  </a:txBody>
                  <a:tcPr marL="54864" marR="54864" marT="27432" marB="27432">
                    <a:solidFill>
                      <a:srgbClr val="FFFFFF"/>
                    </a:solidFill>
                  </a:tcPr>
                </a:tc>
              </a:tr>
              <a:tr h="457200">
                <a:tc>
                  <a:txBody>
                    <a:bodyPr wrap="square"/>
                    <a:lstStyle/>
                    <a:p>
                      <a:r>
                        <a:rPr sz="1000" b="1">
                          <a:solidFill>
                            <a:srgbClr val="1E2761"/>
                          </a:solidFill>
                          <a:latin typeface="Calibri"/>
                        </a:rPr>
                        <a:t>Neighbour codes</a:t>
                      </a:r>
                    </a:p>
                  </a:txBody>
                  <a:tcPr marL="54864" marR="54864" marT="27432" marB="27432">
                    <a:solidFill>
                      <a:srgbClr val="F3F6FC"/>
                    </a:solidFill>
                  </a:tcPr>
                </a:tc>
                <a:tc>
                  <a:txBody>
                    <a:bodyPr wrap="square"/>
                    <a:lstStyle/>
                    <a:p>
                      <a:r>
                        <a:rPr sz="1000" b="0">
                          <a:solidFill>
                            <a:srgbClr val="333333"/>
                          </a:solidFill>
                          <a:latin typeface="Calibri"/>
                        </a:rPr>
                        <a:t>C82.x, R59.0 in a 'DLBCL' pull</a:t>
                      </a:r>
                    </a:p>
                  </a:txBody>
                  <a:tcPr marL="54864" marR="54864" marT="27432" marB="27432">
                    <a:solidFill>
                      <a:srgbClr val="F3F6FC"/>
                    </a:solidFill>
                  </a:tcPr>
                </a:tc>
                <a:tc>
                  <a:txBody>
                    <a:bodyPr wrap="square"/>
                    <a:lstStyle/>
                    <a:p>
                      <a:r>
                        <a:rPr sz="1000" b="0">
                          <a:solidFill>
                            <a:srgbClr val="333333"/>
                          </a:solidFill>
                          <a:latin typeface="Calibri"/>
                        </a:rPr>
                        <a:t>Cohort inflation</a:t>
                      </a:r>
                    </a:p>
                  </a:txBody>
                  <a:tcPr marL="54864" marR="54864" marT="27432" marB="27432">
                    <a:solidFill>
                      <a:srgbClr val="F3F6FC"/>
                    </a:solidFill>
                  </a:tcPr>
                </a:tc>
                <a:tc>
                  <a:txBody>
                    <a:bodyPr wrap="square"/>
                    <a:lstStyle/>
                    <a:p>
                      <a:r>
                        <a:rPr sz="1000" b="0">
                          <a:solidFill>
                            <a:srgbClr val="333333"/>
                          </a:solidFill>
                          <a:latin typeface="Calibri"/>
                        </a:rPr>
                        <a:t>Code frequency table before anything else</a:t>
                      </a:r>
                    </a:p>
                  </a:txBody>
                  <a:tcPr marL="54864" marR="54864" marT="27432" marB="27432">
                    <a:solidFill>
                      <a:srgbClr val="F3F6FC"/>
                    </a:solidFill>
                  </a:tcPr>
                </a:tc>
              </a:tr>
              <a:tr h="457200">
                <a:tc>
                  <a:txBody>
                    <a:bodyPr wrap="square"/>
                    <a:lstStyle/>
                    <a:p>
                      <a:r>
                        <a:rPr sz="1000" b="1">
                          <a:solidFill>
                            <a:srgbClr val="1E2761"/>
                          </a:solidFill>
                          <a:latin typeface="Calibri"/>
                        </a:rPr>
                        <a:t>Rule-out coding</a:t>
                      </a:r>
                    </a:p>
                  </a:txBody>
                  <a:tcPr marL="54864" marR="54864" marT="27432" marB="27432">
                    <a:solidFill>
                      <a:srgbClr val="FFFFFF"/>
                    </a:solidFill>
                  </a:tcPr>
                </a:tc>
                <a:tc>
                  <a:txBody>
                    <a:bodyPr wrap="square"/>
                    <a:lstStyle/>
                    <a:p>
                      <a:r>
                        <a:rPr sz="1000" b="0">
                          <a:solidFill>
                            <a:srgbClr val="333333"/>
                          </a:solidFill>
                          <a:latin typeface="Calibri"/>
                        </a:rPr>
                        <a:t>Single dx claim then a benign code</a:t>
                      </a:r>
                    </a:p>
                  </a:txBody>
                  <a:tcPr marL="54864" marR="54864" marT="27432" marB="27432">
                    <a:solidFill>
                      <a:srgbClr val="FFFFFF"/>
                    </a:solidFill>
                  </a:tcPr>
                </a:tc>
                <a:tc>
                  <a:txBody>
                    <a:bodyPr wrap="square"/>
                    <a:lstStyle/>
                    <a:p>
                      <a:r>
                        <a:rPr sz="1000" b="0">
                          <a:solidFill>
                            <a:srgbClr val="333333"/>
                          </a:solidFill>
                          <a:latin typeface="Calibri"/>
                        </a:rPr>
                        <a:t>False positives</a:t>
                      </a:r>
                    </a:p>
                  </a:txBody>
                  <a:tcPr marL="54864" marR="54864" marT="27432" marB="27432">
                    <a:solidFill>
                      <a:srgbClr val="FFFFFF"/>
                    </a:solidFill>
                  </a:tcPr>
                </a:tc>
                <a:tc>
                  <a:txBody>
                    <a:bodyPr wrap="square"/>
                    <a:lstStyle/>
                    <a:p>
                      <a:r>
                        <a:rPr sz="1000" b="0">
                          <a:solidFill>
                            <a:srgbClr val="333333"/>
                          </a:solidFill>
                          <a:latin typeface="Calibri"/>
                        </a:rPr>
                        <a:t>≥2-dx rule; look at what follows</a:t>
                      </a:r>
                    </a:p>
                  </a:txBody>
                  <a:tcPr marL="54864" marR="54864" marT="27432" marB="27432">
                    <a:solidFill>
                      <a:srgbClr val="FFFFFF"/>
                    </a:solidFill>
                  </a:tcPr>
                </a:tc>
              </a:tr>
              <a:tr h="457200">
                <a:tc>
                  <a:txBody>
                    <a:bodyPr wrap="square"/>
                    <a:lstStyle/>
                    <a:p>
                      <a:r>
                        <a:rPr sz="1000" b="1">
                          <a:solidFill>
                            <a:srgbClr val="1E2761"/>
                          </a:solidFill>
                          <a:latin typeface="Calibri"/>
                        </a:rPr>
                        <a:t>Back-dated / mis-dated</a:t>
                      </a:r>
                    </a:p>
                  </a:txBody>
                  <a:tcPr marL="54864" marR="54864" marT="27432" marB="27432">
                    <a:solidFill>
                      <a:srgbClr val="F3F6FC"/>
                    </a:solidFill>
                  </a:tcPr>
                </a:tc>
                <a:tc>
                  <a:txBody>
                    <a:bodyPr wrap="square"/>
                    <a:lstStyle/>
                    <a:p>
                      <a:r>
                        <a:rPr sz="1000" b="0">
                          <a:solidFill>
                            <a:srgbClr val="333333"/>
                          </a:solidFill>
                          <a:latin typeface="Calibri"/>
                        </a:rPr>
                        <a:t>A visit 900 days before every other claim</a:t>
                      </a:r>
                    </a:p>
                  </a:txBody>
                  <a:tcPr marL="54864" marR="54864" marT="27432" marB="27432">
                    <a:solidFill>
                      <a:srgbClr val="F3F6FC"/>
                    </a:solidFill>
                  </a:tcPr>
                </a:tc>
                <a:tc>
                  <a:txBody>
                    <a:bodyPr wrap="square"/>
                    <a:lstStyle/>
                    <a:p>
                      <a:r>
                        <a:rPr sz="1000" b="0">
                          <a:solidFill>
                            <a:srgbClr val="333333"/>
                          </a:solidFill>
                          <a:latin typeface="Calibri"/>
                        </a:rPr>
                        <a:t>Index dates wrong; patients lost</a:t>
                      </a:r>
                    </a:p>
                  </a:txBody>
                  <a:tcPr marL="54864" marR="54864" marT="27432" marB="27432">
                    <a:solidFill>
                      <a:srgbClr val="F3F6FC"/>
                    </a:solidFill>
                  </a:tcPr>
                </a:tc>
                <a:tc>
                  <a:txBody>
                    <a:bodyPr wrap="square"/>
                    <a:lstStyle/>
                    <a:p>
                      <a:r>
                        <a:rPr sz="1000" b="0">
                          <a:solidFill>
                            <a:srgbClr val="333333"/>
                          </a:solidFill>
                          <a:latin typeface="Calibri"/>
                        </a:rPr>
                        <a:t>Claims before vendor dx date; outlier gaps</a:t>
                      </a:r>
                    </a:p>
                  </a:txBody>
                  <a:tcPr marL="54864" marR="54864" marT="27432" marB="27432">
                    <a:solidFill>
                      <a:srgbClr val="F3F6FC"/>
                    </a:solidFill>
                  </a:tcPr>
                </a:tc>
              </a:tr>
              <a:tr h="457200">
                <a:tc>
                  <a:txBody>
                    <a:bodyPr wrap="square"/>
                    <a:lstStyle/>
                    <a:p>
                      <a:r>
                        <a:rPr sz="1000" b="1">
                          <a:solidFill>
                            <a:srgbClr val="1E2761"/>
                          </a:solidFill>
                          <a:latin typeface="Calibri"/>
                        </a:rPr>
                        <a:t>Coverage gaps / loss</a:t>
                      </a:r>
                    </a:p>
                  </a:txBody>
                  <a:tcPr marL="54864" marR="54864" marT="27432" marB="27432">
                    <a:solidFill>
                      <a:srgbClr val="FFFFFF"/>
                    </a:solidFill>
                  </a:tcPr>
                </a:tc>
                <a:tc>
                  <a:txBody>
                    <a:bodyPr wrap="square"/>
                    <a:lstStyle/>
                    <a:p>
                      <a:r>
                        <a:rPr sz="1000" b="0">
                          <a:solidFill>
                            <a:srgbClr val="333333"/>
                          </a:solidFill>
                          <a:latin typeface="Calibri"/>
                        </a:rPr>
                        <a:t>Enrollment ends after dx (37 patients)</a:t>
                      </a:r>
                    </a:p>
                  </a:txBody>
                  <a:tcPr marL="54864" marR="54864" marT="27432" marB="27432">
                    <a:solidFill>
                      <a:srgbClr val="FFFFFF"/>
                    </a:solidFill>
                  </a:tcPr>
                </a:tc>
                <a:tc>
                  <a:txBody>
                    <a:bodyPr wrap="square"/>
                    <a:lstStyle/>
                    <a:p>
                      <a:r>
                        <a:rPr sz="1000" b="0">
                          <a:solidFill>
                            <a:srgbClr val="333333"/>
                          </a:solidFill>
                          <a:latin typeface="Calibri"/>
                        </a:rPr>
                        <a:t>Censoring read as death or cure</a:t>
                      </a:r>
                    </a:p>
                  </a:txBody>
                  <a:tcPr marL="54864" marR="54864" marT="27432" marB="27432">
                    <a:solidFill>
                      <a:srgbClr val="FFFFFF"/>
                    </a:solidFill>
                  </a:tcPr>
                </a:tc>
                <a:tc>
                  <a:txBody>
                    <a:bodyPr wrap="square"/>
                    <a:lstStyle/>
                    <a:p>
                      <a:r>
                        <a:rPr sz="1000" b="0">
                          <a:solidFill>
                            <a:srgbClr val="333333"/>
                          </a:solidFill>
                          <a:latin typeface="Calibri"/>
                        </a:rPr>
                        <a:t>Enrollment join; report capture</a:t>
                      </a:r>
                    </a:p>
                  </a:txBody>
                  <a:tcPr marL="54864" marR="54864" marT="27432" marB="27432">
                    <a:solidFill>
                      <a:srgbClr val="FFFFFF"/>
                    </a:solidFill>
                  </a:tcPr>
                </a:tc>
              </a:tr>
              <a:tr h="457200">
                <a:tc>
                  <a:txBody>
                    <a:bodyPr wrap="square"/>
                    <a:lstStyle/>
                    <a:p>
                      <a:r>
                        <a:rPr sz="1000" b="1">
                          <a:solidFill>
                            <a:srgbClr val="1E2761"/>
                          </a:solidFill>
                          <a:latin typeface="Calibri"/>
                        </a:rPr>
                        <a:t>Lag tail</a:t>
                      </a:r>
                    </a:p>
                  </a:txBody>
                  <a:tcPr marL="54864" marR="54864" marT="27432" marB="27432">
                    <a:solidFill>
                      <a:srgbClr val="F3F6FC"/>
                    </a:solidFill>
                  </a:tcPr>
                </a:tc>
                <a:tc>
                  <a:txBody>
                    <a:bodyPr wrap="square"/>
                    <a:lstStyle/>
                    <a:p>
                      <a:r>
                        <a:rPr sz="1000" b="0">
                          <a:solidFill>
                            <a:srgbClr val="333333"/>
                          </a:solidFill>
                          <a:latin typeface="Calibri"/>
                        </a:rPr>
                        <a:t>Last 2–3 months thin</a:t>
                      </a:r>
                    </a:p>
                  </a:txBody>
                  <a:tcPr marL="54864" marR="54864" marT="27432" marB="27432">
                    <a:solidFill>
                      <a:srgbClr val="F3F6FC"/>
                    </a:solidFill>
                  </a:tcPr>
                </a:tc>
                <a:tc>
                  <a:txBody>
                    <a:bodyPr wrap="square"/>
                    <a:lstStyle/>
                    <a:p>
                      <a:r>
                        <a:rPr sz="1000" b="0">
                          <a:solidFill>
                            <a:srgbClr val="333333"/>
                          </a:solidFill>
                          <a:latin typeface="Calibri"/>
                        </a:rPr>
                        <a:t>'The brand is declining!'</a:t>
                      </a:r>
                    </a:p>
                  </a:txBody>
                  <a:tcPr marL="54864" marR="54864" marT="27432" marB="27432">
                    <a:solidFill>
                      <a:srgbClr val="F3F6FC"/>
                    </a:solidFill>
                  </a:tcPr>
                </a:tc>
                <a:tc>
                  <a:txBody>
                    <a:bodyPr wrap="square"/>
                    <a:lstStyle/>
                    <a:p>
                      <a:r>
                        <a:rPr sz="1000" b="0">
                          <a:solidFill>
                            <a:srgbClr val="333333"/>
                          </a:solidFill>
                          <a:latin typeface="Calibri"/>
                        </a:rPr>
                        <a:t>Compare mature periods; completeness factors</a:t>
                      </a:r>
                    </a:p>
                  </a:txBody>
                  <a:tcPr marL="54864" marR="54864" marT="27432" marB="27432">
                    <a:solidFill>
                      <a:srgbClr val="F3F6FC"/>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FIT FOR PURPOSE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Fit-for-purpose: the same question, five data sources, five answers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IQVIA's 'data continuum' for external-comparator studies — the logic applies to any RWD choice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38 / 44</a:t>
            </a:r>
          </a:p>
        </p:txBody>
      </p:sp>
      <p:graphicFrame>
        <p:nvGraphicFramePr>
          <p:cNvPr id="8" name="Table 7"/>
          <p:cNvGraphicFramePr>
            <a:graphicFrameLocks noGrp="1"/>
          </p:cNvGraphicFramePr>
          <p:nvPr/>
        </p:nvGraphicFramePr>
        <p:xfrm>
          <a:off x="548640" y="2057400"/>
          <a:ext cx="11064240" cy="3291840"/>
        </p:xfrm>
        <a:graphic>
          <a:graphicData uri="http://schemas.openxmlformats.org/drawingml/2006/table">
            <a:tbl>
              <a:tblPr firstRow="1" bandRow="1">
                <a:tableStyleId>{5C22544A-7EE6-4342-B048-85BDC9FD1C3A}</a:tableStyleId>
              </a:tblPr>
              <a:tblGrid>
                <a:gridCol w="2194560"/>
                <a:gridCol w="3291840"/>
                <a:gridCol w="1280160"/>
                <a:gridCol w="1188720"/>
                <a:gridCol w="822960"/>
                <a:gridCol w="2286000"/>
              </a:tblGrid>
              <a:tr h="548640">
                <a:tc>
                  <a:txBody>
                    <a:bodyPr wrap="square"/>
                    <a:lstStyle/>
                    <a:p>
                      <a:r>
                        <a:rPr sz="1050" b="1">
                          <a:solidFill>
                            <a:srgbClr val="FFFFFF"/>
                          </a:solidFill>
                          <a:latin typeface="Calibri"/>
                        </a:rPr>
                        <a:t>Data source</a:t>
                      </a:r>
                    </a:p>
                  </a:txBody>
                  <a:tcPr marL="54864" marR="54864" marT="27432" marB="27432">
                    <a:solidFill>
                      <a:srgbClr val="1E2761"/>
                    </a:solidFill>
                  </a:tcPr>
                </a:tc>
                <a:tc>
                  <a:txBody>
                    <a:bodyPr wrap="square"/>
                    <a:lstStyle/>
                    <a:p>
                      <a:r>
                        <a:rPr sz="1050" b="1">
                          <a:solidFill>
                            <a:srgbClr val="FFFFFF"/>
                          </a:solidFill>
                          <a:latin typeface="Calibri"/>
                        </a:rPr>
                        <a:t>Relevance</a:t>
                      </a:r>
                    </a:p>
                  </a:txBody>
                  <a:tcPr marL="54864" marR="54864" marT="27432" marB="27432">
                    <a:solidFill>
                      <a:srgbClr val="1E2761"/>
                    </a:solidFill>
                  </a:tcPr>
                </a:tc>
                <a:tc>
                  <a:txBody>
                    <a:bodyPr wrap="square"/>
                    <a:lstStyle/>
                    <a:p>
                      <a:r>
                        <a:rPr sz="1050" b="1">
                          <a:solidFill>
                            <a:srgbClr val="FFFFFF"/>
                          </a:solidFill>
                          <a:latin typeface="Calibri"/>
                        </a:rPr>
                        <a:t>Clinical depth</a:t>
                      </a:r>
                    </a:p>
                  </a:txBody>
                  <a:tcPr marL="54864" marR="54864" marT="27432" marB="27432">
                    <a:solidFill>
                      <a:srgbClr val="1E2761"/>
                    </a:solidFill>
                  </a:tcPr>
                </a:tc>
                <a:tc>
                  <a:txBody>
                    <a:bodyPr wrap="square"/>
                    <a:lstStyle/>
                    <a:p>
                      <a:r>
                        <a:rPr sz="1050" b="1">
                          <a:solidFill>
                            <a:srgbClr val="FFFFFF"/>
                          </a:solidFill>
                          <a:latin typeface="Calibri"/>
                        </a:rPr>
                        <a:t>Time to source</a:t>
                      </a:r>
                    </a:p>
                  </a:txBody>
                  <a:tcPr marL="54864" marR="54864" marT="27432" marB="27432">
                    <a:solidFill>
                      <a:srgbClr val="1E2761"/>
                    </a:solidFill>
                  </a:tcPr>
                </a:tc>
                <a:tc>
                  <a:txBody>
                    <a:bodyPr wrap="square"/>
                    <a:lstStyle/>
                    <a:p>
                      <a:r>
                        <a:rPr sz="1050" b="1">
                          <a:solidFill>
                            <a:srgbClr val="FFFFFF"/>
                          </a:solidFill>
                          <a:latin typeface="Calibri"/>
                        </a:rPr>
                        <a:t>Cost</a:t>
                      </a:r>
                    </a:p>
                  </a:txBody>
                  <a:tcPr marL="54864" marR="54864" marT="27432" marB="27432">
                    <a:solidFill>
                      <a:srgbClr val="1E2761"/>
                    </a:solidFill>
                  </a:tcPr>
                </a:tc>
                <a:tc>
                  <a:txBody>
                    <a:bodyPr wrap="square"/>
                    <a:lstStyle/>
                    <a:p>
                      <a:r>
                        <a:rPr sz="1050" b="1">
                          <a:solidFill>
                            <a:srgbClr val="FFFFFF"/>
                          </a:solidFill>
                          <a:latin typeface="Calibri"/>
                        </a:rPr>
                        <a:t>Commercial analog</a:t>
                      </a:r>
                    </a:p>
                  </a:txBody>
                  <a:tcPr marL="54864" marR="54864" marT="27432" marB="27432">
                    <a:solidFill>
                      <a:srgbClr val="1E2761"/>
                    </a:solidFill>
                  </a:tcPr>
                </a:tc>
              </a:tr>
              <a:tr h="548640">
                <a:tc>
                  <a:txBody>
                    <a:bodyPr wrap="square"/>
                    <a:lstStyle/>
                    <a:p>
                      <a:r>
                        <a:rPr sz="1050" b="1">
                          <a:solidFill>
                            <a:srgbClr val="1E2761"/>
                          </a:solidFill>
                          <a:latin typeface="Calibri"/>
                        </a:rPr>
                        <a:t>Literature</a:t>
                      </a:r>
                    </a:p>
                  </a:txBody>
                  <a:tcPr marL="54864" marR="54864" marT="27432" marB="27432">
                    <a:solidFill>
                      <a:srgbClr val="FFFFFF"/>
                    </a:solidFill>
                  </a:tcPr>
                </a:tc>
                <a:tc>
                  <a:txBody>
                    <a:bodyPr wrap="square"/>
                    <a:lstStyle/>
                    <a:p>
                      <a:r>
                        <a:rPr sz="1050" b="0">
                          <a:solidFill>
                            <a:srgbClr val="333333"/>
                          </a:solidFill>
                          <a:latin typeface="Calibri"/>
                        </a:rPr>
                        <a:t>Limited ability to match population</a:t>
                      </a:r>
                    </a:p>
                  </a:txBody>
                  <a:tcPr marL="54864" marR="54864" marT="27432" marB="27432">
                    <a:solidFill>
                      <a:srgbClr val="FFFFFF"/>
                    </a:solidFill>
                  </a:tcPr>
                </a:tc>
                <a:tc>
                  <a:txBody>
                    <a:bodyPr wrap="square"/>
                    <a:lstStyle/>
                    <a:p>
                      <a:r>
                        <a:rPr sz="1050" b="0">
                          <a:solidFill>
                            <a:srgbClr val="333333"/>
                          </a:solidFill>
                          <a:latin typeface="Calibri"/>
                        </a:rPr>
                        <a:t>Low–Medium</a:t>
                      </a:r>
                    </a:p>
                  </a:txBody>
                  <a:tcPr marL="54864" marR="54864" marT="27432" marB="27432">
                    <a:solidFill>
                      <a:srgbClr val="FFFFFF"/>
                    </a:solidFill>
                  </a:tcPr>
                </a:tc>
                <a:tc>
                  <a:txBody>
                    <a:bodyPr wrap="square"/>
                    <a:lstStyle/>
                    <a:p>
                      <a:r>
                        <a:rPr sz="1050" b="0">
                          <a:solidFill>
                            <a:srgbClr val="333333"/>
                          </a:solidFill>
                          <a:latin typeface="Calibri"/>
                        </a:rPr>
                        <a:t>Short</a:t>
                      </a:r>
                    </a:p>
                  </a:txBody>
                  <a:tcPr marL="54864" marR="54864" marT="27432" marB="27432">
                    <a:solidFill>
                      <a:srgbClr val="FFFFFF"/>
                    </a:solidFill>
                  </a:tcPr>
                </a:tc>
                <a:tc>
                  <a:txBody>
                    <a:bodyPr wrap="square"/>
                    <a:lstStyle/>
                    <a:p>
                      <a:r>
                        <a:rPr sz="1050" b="0">
                          <a:solidFill>
                            <a:srgbClr val="333333"/>
                          </a:solidFill>
                          <a:latin typeface="Calibri"/>
                        </a:rPr>
                        <a:t>Low</a:t>
                      </a:r>
                    </a:p>
                  </a:txBody>
                  <a:tcPr marL="54864" marR="54864" marT="27432" marB="27432">
                    <a:solidFill>
                      <a:srgbClr val="FFFFFF"/>
                    </a:solidFill>
                  </a:tcPr>
                </a:tc>
                <a:tc>
                  <a:txBody>
                    <a:bodyPr wrap="square"/>
                    <a:lstStyle/>
                    <a:p>
                      <a:r>
                        <a:rPr sz="1050" b="0">
                          <a:solidFill>
                            <a:srgbClr val="333333"/>
                          </a:solidFill>
                          <a:latin typeface="Calibri"/>
                        </a:rPr>
                        <a:t>Analyst reports, published shares</a:t>
                      </a:r>
                    </a:p>
                  </a:txBody>
                  <a:tcPr marL="54864" marR="54864" marT="27432" marB="27432">
                    <a:solidFill>
                      <a:srgbClr val="FFFFFF"/>
                    </a:solidFill>
                  </a:tcPr>
                </a:tc>
              </a:tr>
              <a:tr h="548640">
                <a:tc>
                  <a:txBody>
                    <a:bodyPr wrap="square"/>
                    <a:lstStyle/>
                    <a:p>
                      <a:r>
                        <a:rPr sz="1050" b="1">
                          <a:solidFill>
                            <a:srgbClr val="1E2761"/>
                          </a:solidFill>
                          <a:latin typeface="Calibri"/>
                        </a:rPr>
                        <a:t>Administrative databases (claims)</a:t>
                      </a:r>
                    </a:p>
                  </a:txBody>
                  <a:tcPr marL="54864" marR="54864" marT="27432" marB="27432">
                    <a:solidFill>
                      <a:srgbClr val="F3F6FC"/>
                    </a:solidFill>
                  </a:tcPr>
                </a:tc>
                <a:tc>
                  <a:txBody>
                    <a:bodyPr wrap="square"/>
                    <a:lstStyle/>
                    <a:p>
                      <a:r>
                        <a:rPr sz="1050" b="0">
                          <a:solidFill>
                            <a:srgbClr val="333333"/>
                          </a:solidFill>
                          <a:latin typeface="Calibri"/>
                        </a:rPr>
                        <a:t>Limited to the scope of the billing task; likely lacks clinical depth</a:t>
                      </a:r>
                    </a:p>
                  </a:txBody>
                  <a:tcPr marL="54864" marR="54864" marT="27432" marB="27432">
                    <a:solidFill>
                      <a:srgbClr val="F3F6FC"/>
                    </a:solidFill>
                  </a:tcPr>
                </a:tc>
                <a:tc>
                  <a:txBody>
                    <a:bodyPr wrap="square"/>
                    <a:lstStyle/>
                    <a:p>
                      <a:r>
                        <a:rPr sz="1050" b="0">
                          <a:solidFill>
                            <a:srgbClr val="333333"/>
                          </a:solidFill>
                          <a:latin typeface="Calibri"/>
                        </a:rPr>
                        <a:t>Low</a:t>
                      </a:r>
                    </a:p>
                  </a:txBody>
                  <a:tcPr marL="54864" marR="54864" marT="27432" marB="27432">
                    <a:solidFill>
                      <a:srgbClr val="F3F6FC"/>
                    </a:solidFill>
                  </a:tcPr>
                </a:tc>
                <a:tc>
                  <a:txBody>
                    <a:bodyPr wrap="square"/>
                    <a:lstStyle/>
                    <a:p>
                      <a:r>
                        <a:rPr sz="1050" b="0">
                          <a:solidFill>
                            <a:srgbClr val="333333"/>
                          </a:solidFill>
                          <a:latin typeface="Calibri"/>
                        </a:rPr>
                        <a:t>Medium</a:t>
                      </a:r>
                    </a:p>
                  </a:txBody>
                  <a:tcPr marL="54864" marR="54864" marT="27432" marB="27432">
                    <a:solidFill>
                      <a:srgbClr val="F3F6FC"/>
                    </a:solidFill>
                  </a:tcPr>
                </a:tc>
                <a:tc>
                  <a:txBody>
                    <a:bodyPr wrap="square"/>
                    <a:lstStyle/>
                    <a:p>
                      <a:r>
                        <a:rPr sz="1050" b="0">
                          <a:solidFill>
                            <a:srgbClr val="333333"/>
                          </a:solidFill>
                          <a:latin typeface="Calibri"/>
                        </a:rPr>
                        <a:t>Medium</a:t>
                      </a:r>
                    </a:p>
                  </a:txBody>
                  <a:tcPr marL="54864" marR="54864" marT="27432" marB="27432">
                    <a:solidFill>
                      <a:srgbClr val="F3F6FC"/>
                    </a:solidFill>
                  </a:tcPr>
                </a:tc>
                <a:tc>
                  <a:txBody>
                    <a:bodyPr wrap="square"/>
                    <a:lstStyle/>
                    <a:p>
                      <a:r>
                        <a:rPr sz="1050" b="0">
                          <a:solidFill>
                            <a:srgbClr val="333333"/>
                          </a:solidFill>
                          <a:latin typeface="Calibri"/>
                        </a:rPr>
                        <a:t>Tonight — breadth, no outcomes</a:t>
                      </a:r>
                    </a:p>
                  </a:txBody>
                  <a:tcPr marL="54864" marR="54864" marT="27432" marB="27432">
                    <a:solidFill>
                      <a:srgbClr val="F3F6FC"/>
                    </a:solidFill>
                  </a:tcPr>
                </a:tc>
              </a:tr>
              <a:tr h="548640">
                <a:tc>
                  <a:txBody>
                    <a:bodyPr wrap="square"/>
                    <a:lstStyle/>
                    <a:p>
                      <a:r>
                        <a:rPr sz="1050" b="1">
                          <a:solidFill>
                            <a:srgbClr val="1E2761"/>
                          </a:solidFill>
                          <a:latin typeface="Calibri"/>
                        </a:rPr>
                        <a:t>Patient registries</a:t>
                      </a:r>
                    </a:p>
                  </a:txBody>
                  <a:tcPr marL="54864" marR="54864" marT="27432" marB="27432">
                    <a:solidFill>
                      <a:srgbClr val="FFFFFF"/>
                    </a:solidFill>
                  </a:tcPr>
                </a:tc>
                <a:tc>
                  <a:txBody>
                    <a:bodyPr wrap="square"/>
                    <a:lstStyle/>
                    <a:p>
                      <a:r>
                        <a:rPr sz="1050" b="0">
                          <a:solidFill>
                            <a:srgbClr val="333333"/>
                          </a:solidFill>
                          <a:latin typeface="Calibri"/>
                        </a:rPr>
                        <a:t>Suitable cohorts and clinical data; can't alter capture</a:t>
                      </a:r>
                    </a:p>
                  </a:txBody>
                  <a:tcPr marL="54864" marR="54864" marT="27432" marB="27432">
                    <a:solidFill>
                      <a:srgbClr val="FFFFFF"/>
                    </a:solidFill>
                  </a:tcPr>
                </a:tc>
                <a:tc>
                  <a:txBody>
                    <a:bodyPr wrap="square"/>
                    <a:lstStyle/>
                    <a:p>
                      <a:r>
                        <a:rPr sz="1050" b="0">
                          <a:solidFill>
                            <a:srgbClr val="333333"/>
                          </a:solidFill>
                          <a:latin typeface="Calibri"/>
                        </a:rPr>
                        <a:t>Medium–High</a:t>
                      </a:r>
                    </a:p>
                  </a:txBody>
                  <a:tcPr marL="54864" marR="54864" marT="27432" marB="27432">
                    <a:solidFill>
                      <a:srgbClr val="FFFFFF"/>
                    </a:solidFill>
                  </a:tcPr>
                </a:tc>
                <a:tc>
                  <a:txBody>
                    <a:bodyPr wrap="square"/>
                    <a:lstStyle/>
                    <a:p>
                      <a:r>
                        <a:rPr sz="1050" b="0">
                          <a:solidFill>
                            <a:srgbClr val="333333"/>
                          </a:solidFill>
                          <a:latin typeface="Calibri"/>
                        </a:rPr>
                        <a:t>Medium</a:t>
                      </a:r>
                    </a:p>
                  </a:txBody>
                  <a:tcPr marL="54864" marR="54864" marT="27432" marB="27432">
                    <a:solidFill>
                      <a:srgbClr val="FFFFFF"/>
                    </a:solidFill>
                  </a:tcPr>
                </a:tc>
                <a:tc>
                  <a:txBody>
                    <a:bodyPr wrap="square"/>
                    <a:lstStyle/>
                    <a:p>
                      <a:r>
                        <a:rPr sz="1050" b="0">
                          <a:solidFill>
                            <a:srgbClr val="333333"/>
                          </a:solidFill>
                          <a:latin typeface="Calibri"/>
                        </a:rPr>
                        <a:t>Medium</a:t>
                      </a:r>
                    </a:p>
                  </a:txBody>
                  <a:tcPr marL="54864" marR="54864" marT="27432" marB="27432">
                    <a:solidFill>
                      <a:srgbClr val="FFFFFF"/>
                    </a:solidFill>
                  </a:tcPr>
                </a:tc>
                <a:tc>
                  <a:txBody>
                    <a:bodyPr wrap="square"/>
                    <a:lstStyle/>
                    <a:p>
                      <a:r>
                        <a:rPr sz="1050" b="0">
                          <a:solidFill>
                            <a:srgbClr val="333333"/>
                          </a:solidFill>
                          <a:latin typeface="Calibri"/>
                        </a:rPr>
                        <a:t>Disease-society registries, hub data</a:t>
                      </a:r>
                    </a:p>
                  </a:txBody>
                  <a:tcPr marL="54864" marR="54864" marT="27432" marB="27432">
                    <a:solidFill>
                      <a:srgbClr val="FFFFFF"/>
                    </a:solidFill>
                  </a:tcPr>
                </a:tc>
              </a:tr>
              <a:tr h="548640">
                <a:tc>
                  <a:txBody>
                    <a:bodyPr wrap="square"/>
                    <a:lstStyle/>
                    <a:p>
                      <a:r>
                        <a:rPr sz="1050" b="1">
                          <a:solidFill>
                            <a:srgbClr val="1E2761"/>
                          </a:solidFill>
                          <a:latin typeface="Calibri"/>
                        </a:rPr>
                        <a:t>EHR</a:t>
                      </a:r>
                    </a:p>
                  </a:txBody>
                  <a:tcPr marL="54864" marR="54864" marT="27432" marB="27432">
                    <a:solidFill>
                      <a:srgbClr val="F3F6FC"/>
                    </a:solidFill>
                  </a:tcPr>
                </a:tc>
                <a:tc>
                  <a:txBody>
                    <a:bodyPr wrap="square"/>
                    <a:lstStyle/>
                    <a:p>
                      <a:r>
                        <a:rPr sz="1050" b="0">
                          <a:solidFill>
                            <a:srgbClr val="333333"/>
                          </a:solidFill>
                          <a:latin typeface="Calibri"/>
                        </a:rPr>
                        <a:t>'Research-ready' digital records; good clinical detail</a:t>
                      </a:r>
                    </a:p>
                  </a:txBody>
                  <a:tcPr marL="54864" marR="54864" marT="27432" marB="27432">
                    <a:solidFill>
                      <a:srgbClr val="F3F6FC"/>
                    </a:solidFill>
                  </a:tcPr>
                </a:tc>
                <a:tc>
                  <a:txBody>
                    <a:bodyPr wrap="square"/>
                    <a:lstStyle/>
                    <a:p>
                      <a:r>
                        <a:rPr sz="1050" b="0">
                          <a:solidFill>
                            <a:srgbClr val="333333"/>
                          </a:solidFill>
                          <a:latin typeface="Calibri"/>
                        </a:rPr>
                        <a:t>Medium–High</a:t>
                      </a:r>
                    </a:p>
                  </a:txBody>
                  <a:tcPr marL="54864" marR="54864" marT="27432" marB="27432">
                    <a:solidFill>
                      <a:srgbClr val="F3F6FC"/>
                    </a:solidFill>
                  </a:tcPr>
                </a:tc>
                <a:tc>
                  <a:txBody>
                    <a:bodyPr wrap="square"/>
                    <a:lstStyle/>
                    <a:p>
                      <a:r>
                        <a:rPr sz="1050" b="0">
                          <a:solidFill>
                            <a:srgbClr val="333333"/>
                          </a:solidFill>
                          <a:latin typeface="Calibri"/>
                        </a:rPr>
                        <a:t>Medium–Long</a:t>
                      </a:r>
                    </a:p>
                  </a:txBody>
                  <a:tcPr marL="54864" marR="54864" marT="27432" marB="27432">
                    <a:solidFill>
                      <a:srgbClr val="F3F6FC"/>
                    </a:solidFill>
                  </a:tcPr>
                </a:tc>
                <a:tc>
                  <a:txBody>
                    <a:bodyPr wrap="square"/>
                    <a:lstStyle/>
                    <a:p>
                      <a:r>
                        <a:rPr sz="1050" b="0">
                          <a:solidFill>
                            <a:srgbClr val="333333"/>
                          </a:solidFill>
                          <a:latin typeface="Calibri"/>
                        </a:rPr>
                        <a:t>Medium</a:t>
                      </a:r>
                    </a:p>
                  </a:txBody>
                  <a:tcPr marL="54864" marR="54864" marT="27432" marB="27432">
                    <a:solidFill>
                      <a:srgbClr val="F3F6FC"/>
                    </a:solidFill>
                  </a:tcPr>
                </a:tc>
                <a:tc>
                  <a:txBody>
                    <a:bodyPr wrap="square"/>
                    <a:lstStyle/>
                    <a:p>
                      <a:r>
                        <a:rPr sz="1050" b="0">
                          <a:solidFill>
                            <a:srgbClr val="333333"/>
                          </a:solidFill>
                          <a:latin typeface="Calibri"/>
                        </a:rPr>
                        <a:t>Flatiron-style oncology EHR</a:t>
                      </a:r>
                    </a:p>
                  </a:txBody>
                  <a:tcPr marL="54864" marR="54864" marT="27432" marB="27432">
                    <a:solidFill>
                      <a:srgbClr val="F3F6FC"/>
                    </a:solidFill>
                  </a:tcPr>
                </a:tc>
              </a:tr>
              <a:tr h="548640">
                <a:tc>
                  <a:txBody>
                    <a:bodyPr wrap="square"/>
                    <a:lstStyle/>
                    <a:p>
                      <a:r>
                        <a:rPr sz="1050" b="1">
                          <a:solidFill>
                            <a:srgbClr val="1E2761"/>
                          </a:solidFill>
                          <a:latin typeface="Calibri"/>
                        </a:rPr>
                        <a:t>Chart review</a:t>
                      </a:r>
                    </a:p>
                  </a:txBody>
                  <a:tcPr marL="54864" marR="54864" marT="27432" marB="27432">
                    <a:solidFill>
                      <a:srgbClr val="FFFFFF"/>
                    </a:solidFill>
                  </a:tcPr>
                </a:tc>
                <a:tc>
                  <a:txBody>
                    <a:bodyPr wrap="square"/>
                    <a:lstStyle/>
                    <a:p>
                      <a:r>
                        <a:rPr sz="1050" b="0">
                          <a:solidFill>
                            <a:srgbClr val="333333"/>
                          </a:solidFill>
                          <a:latin typeface="Calibri"/>
                        </a:rPr>
                        <a:t>Gold standard for richness; slow and expensive</a:t>
                      </a:r>
                    </a:p>
                  </a:txBody>
                  <a:tcPr marL="54864" marR="54864" marT="27432" marB="27432">
                    <a:solidFill>
                      <a:srgbClr val="FFFFFF"/>
                    </a:solidFill>
                  </a:tcPr>
                </a:tc>
                <a:tc>
                  <a:txBody>
                    <a:bodyPr wrap="square"/>
                    <a:lstStyle/>
                    <a:p>
                      <a:r>
                        <a:rPr sz="1050" b="0">
                          <a:solidFill>
                            <a:srgbClr val="333333"/>
                          </a:solidFill>
                          <a:latin typeface="Calibri"/>
                        </a:rPr>
                        <a:t>High</a:t>
                      </a:r>
                    </a:p>
                  </a:txBody>
                  <a:tcPr marL="54864" marR="54864" marT="27432" marB="27432">
                    <a:solidFill>
                      <a:srgbClr val="FFFFFF"/>
                    </a:solidFill>
                  </a:tcPr>
                </a:tc>
                <a:tc>
                  <a:txBody>
                    <a:bodyPr wrap="square"/>
                    <a:lstStyle/>
                    <a:p>
                      <a:r>
                        <a:rPr sz="1050" b="0">
                          <a:solidFill>
                            <a:srgbClr val="333333"/>
                          </a:solidFill>
                          <a:latin typeface="Calibri"/>
                        </a:rPr>
                        <a:t>Long</a:t>
                      </a:r>
                    </a:p>
                  </a:txBody>
                  <a:tcPr marL="54864" marR="54864" marT="27432" marB="27432">
                    <a:solidFill>
                      <a:srgbClr val="FFFFFF"/>
                    </a:solidFill>
                  </a:tcPr>
                </a:tc>
                <a:tc>
                  <a:txBody>
                    <a:bodyPr wrap="square"/>
                    <a:lstStyle/>
                    <a:p>
                      <a:r>
                        <a:rPr sz="1050" b="0">
                          <a:solidFill>
                            <a:srgbClr val="333333"/>
                          </a:solidFill>
                          <a:latin typeface="Calibri"/>
                        </a:rPr>
                        <a:t>High</a:t>
                      </a:r>
                    </a:p>
                  </a:txBody>
                  <a:tcPr marL="54864" marR="54864" marT="27432" marB="27432">
                    <a:solidFill>
                      <a:srgbClr val="FFFFFF"/>
                    </a:solidFill>
                  </a:tcPr>
                </a:tc>
                <a:tc>
                  <a:txBody>
                    <a:bodyPr wrap="square"/>
                    <a:lstStyle/>
                    <a:p>
                      <a:r>
                        <a:rPr sz="1050" b="0">
                          <a:solidFill>
                            <a:srgbClr val="333333"/>
                          </a:solidFill>
                          <a:latin typeface="Calibri"/>
                        </a:rPr>
                        <a:t>Manual validation of a claims cohort</a:t>
                      </a:r>
                    </a:p>
                  </a:txBody>
                  <a:tcPr marL="54864" marR="54864" marT="27432" marB="27432">
                    <a:solidFill>
                      <a:srgbClr val="FFFFFF"/>
                    </a:solidFill>
                  </a:tcPr>
                </a:tc>
              </a:tr>
            </a:tbl>
          </a:graphicData>
        </a:graphic>
      </p:graphicFrame>
      <p:sp>
        <p:nvSpPr>
          <p:cNvPr id="9" name="Rectangle 8"/>
          <p:cNvSpPr/>
          <p:nvPr/>
        </p:nvSpPr>
        <p:spPr>
          <a:xfrm>
            <a:off x="548640" y="5486400"/>
            <a:ext cx="11064240" cy="777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698480" cy="731520"/>
          </a:xfrm>
          <a:prstGeom prst="rect">
            <a:avLst/>
          </a:prstGeom>
          <a:noFill/>
        </p:spPr>
        <p:txBody>
          <a:bodyPr wrap="square" lIns="45720" rIns="45720" tIns="27432" bIns="27432" anchor="t">
            <a:spAutoFit/>
          </a:bodyPr>
          <a:lstStyle/>
          <a:p>
            <a:pPr algn="l"/>
            <a:r>
              <a:rPr sz="1100" b="0" i="1">
                <a:solidFill>
                  <a:srgbClr val="333333"/>
                </a:solidFill>
                <a:latin typeface="Calibri"/>
              </a:rPr>
              <a:t>“Fit-for-purpose data first. The comparator cohort is only as strong as the data that defines it. Prioritise sources with clinical depth, longitudinal follow-up, and documented data quality over sources that are merely accessible. Chart review remains the gold standard for data richness; registry data offers scale.” — IQVIA, Bridging the Evidence Gap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DE-IDENTIFICATION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HIPAA de-identification: why your patient is a token, an age band and a ZIP3</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Two legal routes under the HIPAA Privacy Rule (45 CFR §164.514). Vendors use the second.</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39 / 44</a:t>
            </a:r>
          </a:p>
        </p:txBody>
      </p:sp>
      <p:sp>
        <p:nvSpPr>
          <p:cNvPr id="8" name="Rectangle 7"/>
          <p:cNvSpPr/>
          <p:nvPr/>
        </p:nvSpPr>
        <p:spPr>
          <a:xfrm>
            <a:off x="548640" y="2103120"/>
            <a:ext cx="539496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Safe Harbor — remove 18 identifiers</a:t>
            </a:r>
          </a:p>
        </p:txBody>
      </p:sp>
      <p:sp>
        <p:nvSpPr>
          <p:cNvPr id="10" name="TextBox 9"/>
          <p:cNvSpPr txBox="1"/>
          <p:nvPr/>
        </p:nvSpPr>
        <p:spPr>
          <a:xfrm>
            <a:off x="658368" y="2596896"/>
            <a:ext cx="516636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Names · geographic units smaller than a state (ZIP3 allowed if population &gt; 20,000) · all dates except year (and ages ≥ 90 → '90+') · phone, fax, email · SSN · medical record, plan, account numbers · certificate / license numbers · vehicle and device IDs · URLs, IPs · biometrics · full-face photos · any other unique identifier</a:t>
            </a:r>
          </a:p>
          <a:p>
            <a:pPr>
              <a:spcAft>
                <a:spcPts val="500"/>
              </a:spcAft>
            </a:pPr>
            <a:r>
              <a:rPr sz="1150" b="1">
                <a:solidFill>
                  <a:srgbClr val="FF6B6B"/>
                </a:solidFill>
                <a:latin typeface="Calibri"/>
              </a:rPr>
              <a:t>▸ </a:t>
            </a:r>
            <a:r>
              <a:rPr sz="1150">
                <a:solidFill>
                  <a:srgbClr val="333333"/>
                </a:solidFill>
                <a:latin typeface="Calibri"/>
              </a:rPr>
              <a:t>Mechanical and safe — but it destroys dates, and claims analytics runs on dates</a:t>
            </a:r>
          </a:p>
        </p:txBody>
      </p:sp>
      <p:sp>
        <p:nvSpPr>
          <p:cNvPr id="11" name="Rectangle 10"/>
          <p:cNvSpPr/>
          <p:nvPr/>
        </p:nvSpPr>
        <p:spPr>
          <a:xfrm>
            <a:off x="6217920" y="2103120"/>
            <a:ext cx="539496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Expert Determination — a statistician certifies 'very small' risk</a:t>
            </a:r>
          </a:p>
        </p:txBody>
      </p:sp>
      <p:sp>
        <p:nvSpPr>
          <p:cNvPr id="13" name="TextBox 12"/>
          <p:cNvSpPr txBox="1"/>
          <p:nvPr/>
        </p:nvSpPr>
        <p:spPr>
          <a:xfrm>
            <a:off x="6327648" y="2596896"/>
            <a:ext cx="516636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Keeps exact dates, ZIP3, age, prescriber — with controls: tokenized IDs, small-cell suppression, contractual bans on re-identification and linkage</a:t>
            </a:r>
          </a:p>
          <a:p>
            <a:pPr>
              <a:spcAft>
                <a:spcPts val="500"/>
              </a:spcAft>
            </a:pPr>
            <a:r>
              <a:rPr sz="1150" b="1">
                <a:solidFill>
                  <a:srgbClr val="FF6B6B"/>
                </a:solidFill>
                <a:latin typeface="Calibri"/>
              </a:rPr>
              <a:t>▸ </a:t>
            </a:r>
            <a:r>
              <a:rPr sz="1150">
                <a:solidFill>
                  <a:srgbClr val="333333"/>
                </a:solidFill>
                <a:latin typeface="Calibri"/>
              </a:rPr>
              <a:t>This is what commercial claims/LRx datasets are: a certified risk, not zero risk</a:t>
            </a:r>
          </a:p>
          <a:p>
            <a:pPr>
              <a:spcAft>
                <a:spcPts val="500"/>
              </a:spcAft>
            </a:pPr>
            <a:r>
              <a:rPr sz="1150" b="1">
                <a:solidFill>
                  <a:srgbClr val="FF6B6B"/>
                </a:solidFill>
                <a:latin typeface="Calibri"/>
              </a:rPr>
              <a:t>▸ </a:t>
            </a:r>
            <a:r>
              <a:rPr sz="1150">
                <a:solidFill>
                  <a:srgbClr val="333333"/>
                </a:solidFill>
                <a:latin typeface="Calibri"/>
              </a:rPr>
              <a:t>Tokenization: a one-way hash of name + DOB + sex (± other fields) so two vendors' files can be linked on the same patient without either knowing who they are (deterministic vs. probabilistic linkage)</a:t>
            </a:r>
          </a:p>
        </p:txBody>
      </p:sp>
      <p:sp>
        <p:nvSpPr>
          <p:cNvPr id="14" name="TextBox 13"/>
          <p:cNvSpPr txBox="1"/>
          <p:nvPr/>
        </p:nvSpPr>
        <p:spPr>
          <a:xfrm>
            <a:off x="548640" y="5897880"/>
            <a:ext cx="11064240" cy="457200"/>
          </a:xfrm>
          <a:prstGeom prst="rect">
            <a:avLst/>
          </a:prstGeom>
          <a:noFill/>
        </p:spPr>
        <p:txBody>
          <a:bodyPr wrap="square" lIns="45720" rIns="45720" tIns="27432" bIns="27432" anchor="t">
            <a:spAutoFit/>
          </a:bodyPr>
          <a:lstStyle/>
          <a:p>
            <a:pPr algn="l"/>
            <a:r>
              <a:rPr sz="1050" b="0" i="1">
                <a:solidFill>
                  <a:srgbClr val="666666"/>
                </a:solidFill>
                <a:latin typeface="Calibri"/>
              </a:rPr>
              <a:t>“Pseudonymization replaces sensitive identifiers with unique, random pseudonyms that have no intrinsic meaning […] Depending on the design, pseudonymization can support deterministic linkage (the same input always maps to the same output) or probabilistic linkage.” — IQVIA, Trustworthy AI/ML for Patient Analytics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RE-IDENTIFICATION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Re-identification risk: quasi-identifiers, small cells, and what AI adds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Learning objective 3, second half</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40 / 44</a:t>
            </a:r>
          </a:p>
        </p:txBody>
      </p:sp>
      <p:sp>
        <p:nvSpPr>
          <p:cNvPr id="8" name="Rectangle 7"/>
          <p:cNvSpPr/>
          <p:nvPr/>
        </p:nvSpPr>
        <p:spPr>
          <a:xfrm>
            <a:off x="548640" y="2103120"/>
            <a:ext cx="3611880" cy="3749039"/>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0" name="TextBox 9"/>
          <p:cNvSpPr txBox="1"/>
          <p:nvPr/>
        </p:nvSpPr>
        <p:spPr>
          <a:xfrm>
            <a:off x="114300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Quasi-identifiers</a:t>
            </a:r>
          </a:p>
        </p:txBody>
      </p:sp>
      <p:sp>
        <p:nvSpPr>
          <p:cNvPr id="11" name="TextBox 10"/>
          <p:cNvSpPr txBox="1"/>
          <p:nvPr/>
        </p:nvSpPr>
        <p:spPr>
          <a:xfrm>
            <a:off x="658368" y="2724912"/>
            <a:ext cx="3383280" cy="3035807"/>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Individually harmless fields that combine into a fingerprint: ZIP + birth date + sex uniquely identified ~87% of the U.S. population in Sweeney's classic 2000 study</a:t>
            </a:r>
          </a:p>
          <a:p>
            <a:pPr>
              <a:spcAft>
                <a:spcPts val="500"/>
              </a:spcAft>
            </a:pPr>
            <a:r>
              <a:rPr sz="1100" b="1">
                <a:solidFill>
                  <a:srgbClr val="FF6B6B"/>
                </a:solidFill>
                <a:latin typeface="Calibri"/>
              </a:rPr>
              <a:t>▸ </a:t>
            </a:r>
            <a:r>
              <a:rPr sz="1100">
                <a:solidFill>
                  <a:srgbClr val="333333"/>
                </a:solidFill>
                <a:latin typeface="Calibri"/>
              </a:rPr>
              <a:t>In claims: rare diagnosis × ZIP3 × exact dates × prescriber is often unique</a:t>
            </a:r>
          </a:p>
          <a:p>
            <a:pPr>
              <a:spcAft>
                <a:spcPts val="500"/>
              </a:spcAft>
            </a:pPr>
            <a:r>
              <a:rPr sz="1100" b="1">
                <a:solidFill>
                  <a:srgbClr val="FF6B6B"/>
                </a:solidFill>
                <a:latin typeface="Calibri"/>
              </a:rPr>
              <a:t>▸ </a:t>
            </a:r>
            <a:r>
              <a:rPr sz="1100">
                <a:solidFill>
                  <a:srgbClr val="333333"/>
                </a:solidFill>
                <a:latin typeface="Calibri"/>
              </a:rPr>
              <a:t>Tonight's file: one CAR-T patient in one state on one date — that is a small cell</a:t>
            </a:r>
          </a:p>
        </p:txBody>
      </p:sp>
      <p:sp>
        <p:nvSpPr>
          <p:cNvPr id="12" name="Rectangle 11"/>
          <p:cNvSpPr/>
          <p:nvPr/>
        </p:nvSpPr>
        <p:spPr>
          <a:xfrm>
            <a:off x="4297680" y="2103120"/>
            <a:ext cx="3611880" cy="3749039"/>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4" name="TextBox 13"/>
          <p:cNvSpPr txBox="1"/>
          <p:nvPr/>
        </p:nvSpPr>
        <p:spPr>
          <a:xfrm>
            <a:off x="489204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Linkage attacks</a:t>
            </a:r>
          </a:p>
        </p:txBody>
      </p:sp>
      <p:sp>
        <p:nvSpPr>
          <p:cNvPr id="15" name="TextBox 14"/>
          <p:cNvSpPr txBox="1"/>
          <p:nvPr/>
        </p:nvSpPr>
        <p:spPr>
          <a:xfrm>
            <a:off x="4407408" y="2724912"/>
            <a:ext cx="3383280" cy="3035807"/>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Join a de-identified file to a public one (voter rolls, obituaries, social posts, a physician's practice website)</a:t>
            </a:r>
          </a:p>
          <a:p>
            <a:pPr>
              <a:spcAft>
                <a:spcPts val="500"/>
              </a:spcAft>
            </a:pPr>
            <a:r>
              <a:rPr sz="1100" b="1">
                <a:solidFill>
                  <a:srgbClr val="FF6B6B"/>
                </a:solidFill>
                <a:latin typeface="Calibri"/>
              </a:rPr>
              <a:t>▸ </a:t>
            </a:r>
            <a:r>
              <a:rPr sz="1100">
                <a:solidFill>
                  <a:srgbClr val="333333"/>
                </a:solidFill>
                <a:latin typeface="Calibri"/>
              </a:rPr>
              <a:t>The famous cases: Massachusetts governor (1997), Netflix Prize (2007), NYC taxi medallions (2014)</a:t>
            </a:r>
          </a:p>
          <a:p>
            <a:pPr>
              <a:spcAft>
                <a:spcPts val="500"/>
              </a:spcAft>
            </a:pPr>
            <a:r>
              <a:rPr sz="1100" b="1">
                <a:solidFill>
                  <a:srgbClr val="FF6B6B"/>
                </a:solidFill>
                <a:latin typeface="Calibri"/>
              </a:rPr>
              <a:t>▸ </a:t>
            </a:r>
            <a:r>
              <a:rPr sz="1100">
                <a:solidFill>
                  <a:srgbClr val="333333"/>
                </a:solidFill>
                <a:latin typeface="Calibri"/>
              </a:rPr>
              <a:t>Every added dataset lowers k — the number of people who share a record's profile</a:t>
            </a:r>
          </a:p>
        </p:txBody>
      </p:sp>
      <p:sp>
        <p:nvSpPr>
          <p:cNvPr id="16" name="Rectangle 15"/>
          <p:cNvSpPr/>
          <p:nvPr/>
        </p:nvSpPr>
        <p:spPr>
          <a:xfrm>
            <a:off x="8046720" y="2103120"/>
            <a:ext cx="3611880" cy="3749039"/>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18" name="TextBox 17"/>
          <p:cNvSpPr txBox="1"/>
          <p:nvPr/>
        </p:nvSpPr>
        <p:spPr>
          <a:xfrm>
            <a:off x="864108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What AI adds</a:t>
            </a:r>
          </a:p>
        </p:txBody>
      </p:sp>
      <p:sp>
        <p:nvSpPr>
          <p:cNvPr id="19" name="TextBox 18"/>
          <p:cNvSpPr txBox="1"/>
          <p:nvPr/>
        </p:nvSpPr>
        <p:spPr>
          <a:xfrm>
            <a:off x="8156448" y="2724912"/>
            <a:ext cx="3383280" cy="3035807"/>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Models can infer sensitive attributes and reconstruct inputs from outputs; inference and correlation attacks work on 'de-identified' features</a:t>
            </a:r>
          </a:p>
          <a:p>
            <a:pPr>
              <a:spcAft>
                <a:spcPts val="500"/>
              </a:spcAft>
            </a:pPr>
            <a:r>
              <a:rPr sz="1100" b="1">
                <a:solidFill>
                  <a:srgbClr val="FF6B6B"/>
                </a:solidFill>
                <a:latin typeface="Calibri"/>
              </a:rPr>
              <a:t>▸ </a:t>
            </a:r>
            <a:r>
              <a:rPr sz="1100">
                <a:solidFill>
                  <a:srgbClr val="333333"/>
                </a:solidFill>
                <a:latin typeface="Calibri"/>
              </a:rPr>
              <a:t>Defenses: aggregation, dimensionality reduction, noise / differential privacy, federated training, monitoring</a:t>
            </a:r>
          </a:p>
          <a:p>
            <a:pPr>
              <a:spcAft>
                <a:spcPts val="500"/>
              </a:spcAft>
            </a:pPr>
            <a:r>
              <a:rPr sz="1100" b="1">
                <a:solidFill>
                  <a:srgbClr val="FF6B6B"/>
                </a:solidFill>
                <a:latin typeface="Calibri"/>
              </a:rPr>
              <a:t>▸ </a:t>
            </a:r>
            <a:r>
              <a:rPr sz="1100">
                <a:solidFill>
                  <a:srgbClr val="333333"/>
                </a:solidFill>
                <a:latin typeface="Calibri"/>
              </a:rPr>
              <a:t>Emerging standards: ISO/IEC 42001, NIST AI RMF</a:t>
            </a:r>
          </a:p>
        </p:txBody>
      </p:sp>
      <p:sp>
        <p:nvSpPr>
          <p:cNvPr id="20" name="Rectangle 19"/>
          <p:cNvSpPr/>
          <p:nvPr/>
        </p:nvSpPr>
        <p:spPr>
          <a:xfrm>
            <a:off x="548640" y="5943600"/>
            <a:ext cx="11064240" cy="411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961888"/>
            <a:ext cx="10698480" cy="365760"/>
          </a:xfrm>
          <a:prstGeom prst="rect">
            <a:avLst/>
          </a:prstGeom>
          <a:noFill/>
        </p:spPr>
        <p:txBody>
          <a:bodyPr wrap="square" lIns="45720" rIns="45720" tIns="27432" bIns="27432" anchor="t">
            <a:spAutoFit/>
          </a:bodyPr>
          <a:lstStyle/>
          <a:p>
            <a:pPr algn="l"/>
            <a:r>
              <a:rPr sz="1050" b="0" i="1">
                <a:solidFill>
                  <a:srgbClr val="333333"/>
                </a:solidFill>
                <a:latin typeface="Calibri"/>
              </a:rPr>
              <a:t>“Even relatively sparse information can yield sensitive inferences. […] Adversarial actors can exploit poorly abstracted model inputs or outputs through inference, reconstruction, or correlation attacks.” — IQVIA, Trustworthy AI/ML for Patient Analytics and Research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THE RULES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What you may — and may never — do with patient-level data</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These are contract terms in every data license and policy in every company. They will be on the midterm.</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41 / 44</a:t>
            </a:r>
          </a:p>
        </p:txBody>
      </p:sp>
      <p:sp>
        <p:nvSpPr>
          <p:cNvPr id="8" name="Rectangle 7"/>
          <p:cNvSpPr/>
          <p:nvPr/>
        </p:nvSpPr>
        <p:spPr>
          <a:xfrm>
            <a:off x="548640" y="2103120"/>
            <a:ext cx="3611880" cy="365760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3337560" cy="365760"/>
          </a:xfrm>
          <a:prstGeom prst="rect">
            <a:avLst/>
          </a:prstGeom>
          <a:noFill/>
        </p:spPr>
        <p:txBody>
          <a:bodyPr wrap="square" lIns="45720" rIns="45720" tIns="27432" bIns="27432" anchor="t">
            <a:spAutoFit/>
          </a:bodyPr>
          <a:lstStyle/>
          <a:p>
            <a:pPr algn="l"/>
            <a:r>
              <a:rPr sz="1400" b="1" i="0">
                <a:solidFill>
                  <a:srgbClr val="1B6E3A"/>
                </a:solidFill>
                <a:latin typeface="Calibri"/>
              </a:rPr>
              <a:t>Always</a:t>
            </a:r>
          </a:p>
        </p:txBody>
      </p:sp>
      <p:sp>
        <p:nvSpPr>
          <p:cNvPr id="10" name="TextBox 9"/>
          <p:cNvSpPr txBox="1"/>
          <p:nvPr/>
        </p:nvSpPr>
        <p:spPr>
          <a:xfrm>
            <a:off x="658368" y="2596896"/>
            <a:ext cx="338328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Suppress small cells (&lt; 11 patients is the common floor; some contracts use 5 or 20) in anything shared</a:t>
            </a:r>
          </a:p>
          <a:p>
            <a:pPr>
              <a:spcAft>
                <a:spcPts val="500"/>
              </a:spcAft>
            </a:pPr>
            <a:r>
              <a:rPr sz="1150" b="1">
                <a:solidFill>
                  <a:srgbClr val="FF6B6B"/>
                </a:solidFill>
                <a:latin typeface="Calibri"/>
              </a:rPr>
              <a:t>▸ </a:t>
            </a:r>
            <a:r>
              <a:rPr sz="1150">
                <a:solidFill>
                  <a:srgbClr val="333333"/>
                </a:solidFill>
                <a:latin typeface="Calibri"/>
              </a:rPr>
              <a:t>Keep the cleaning log and the cohort definition with the result</a:t>
            </a:r>
          </a:p>
          <a:p>
            <a:pPr>
              <a:spcAft>
                <a:spcPts val="500"/>
              </a:spcAft>
            </a:pPr>
            <a:r>
              <a:rPr sz="1150" b="1">
                <a:solidFill>
                  <a:srgbClr val="FF6B6B"/>
                </a:solidFill>
                <a:latin typeface="Calibri"/>
              </a:rPr>
              <a:t>▸ </a:t>
            </a:r>
            <a:r>
              <a:rPr sz="1150">
                <a:solidFill>
                  <a:srgbClr val="333333"/>
                </a:solidFill>
                <a:latin typeface="Calibri"/>
              </a:rPr>
              <a:t>Report capture / coverage next to every rate</a:t>
            </a:r>
          </a:p>
          <a:p>
            <a:pPr>
              <a:spcAft>
                <a:spcPts val="500"/>
              </a:spcAft>
            </a:pPr>
            <a:r>
              <a:rPr sz="1150" b="1">
                <a:solidFill>
                  <a:srgbClr val="FF6B6B"/>
                </a:solidFill>
                <a:latin typeface="Calibri"/>
              </a:rPr>
              <a:t>▸ </a:t>
            </a:r>
            <a:r>
              <a:rPr sz="1150">
                <a:solidFill>
                  <a:srgbClr val="333333"/>
                </a:solidFill>
                <a:latin typeface="Calibri"/>
              </a:rPr>
              <a:t>Use synthetic data for development and demos (as tonight)</a:t>
            </a:r>
          </a:p>
        </p:txBody>
      </p:sp>
      <p:sp>
        <p:nvSpPr>
          <p:cNvPr id="11" name="Rectangle 10"/>
          <p:cNvSpPr/>
          <p:nvPr/>
        </p:nvSpPr>
        <p:spPr>
          <a:xfrm>
            <a:off x="4297680" y="2103120"/>
            <a:ext cx="3611880" cy="3657600"/>
          </a:xfrm>
          <a:prstGeom prst="rect">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212848"/>
            <a:ext cx="3337560" cy="365760"/>
          </a:xfrm>
          <a:prstGeom prst="rect">
            <a:avLst/>
          </a:prstGeom>
          <a:noFill/>
        </p:spPr>
        <p:txBody>
          <a:bodyPr wrap="square" lIns="45720" rIns="45720" tIns="27432" bIns="27432" anchor="t">
            <a:spAutoFit/>
          </a:bodyPr>
          <a:lstStyle/>
          <a:p>
            <a:pPr algn="l"/>
            <a:r>
              <a:rPr sz="1400" b="1" i="0">
                <a:solidFill>
                  <a:srgbClr val="9A6200"/>
                </a:solidFill>
                <a:latin typeface="Calibri"/>
              </a:rPr>
              <a:t>Only with governance</a:t>
            </a:r>
          </a:p>
        </p:txBody>
      </p:sp>
      <p:sp>
        <p:nvSpPr>
          <p:cNvPr id="13" name="TextBox 12"/>
          <p:cNvSpPr txBox="1"/>
          <p:nvPr/>
        </p:nvSpPr>
        <p:spPr>
          <a:xfrm>
            <a:off x="4407408" y="2596896"/>
            <a:ext cx="338328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Linking two patient-level sources (needs a tokenization vendor and a determination)</a:t>
            </a:r>
          </a:p>
          <a:p>
            <a:pPr>
              <a:spcAft>
                <a:spcPts val="500"/>
              </a:spcAft>
            </a:pPr>
            <a:r>
              <a:rPr sz="1150" b="1">
                <a:solidFill>
                  <a:srgbClr val="FF6B6B"/>
                </a:solidFill>
                <a:latin typeface="Calibri"/>
              </a:rPr>
              <a:t>▸ </a:t>
            </a:r>
            <a:r>
              <a:rPr sz="1150">
                <a:solidFill>
                  <a:srgbClr val="333333"/>
                </a:solidFill>
                <a:latin typeface="Calibri"/>
              </a:rPr>
              <a:t>Prescriber-level reporting (state laws: e.g., Vermont's restrictions; AMA PDRP opt-outs)</a:t>
            </a:r>
          </a:p>
          <a:p>
            <a:pPr>
              <a:spcAft>
                <a:spcPts val="500"/>
              </a:spcAft>
            </a:pPr>
            <a:r>
              <a:rPr sz="1150" b="1">
                <a:solidFill>
                  <a:srgbClr val="FF6B6B"/>
                </a:solidFill>
                <a:latin typeface="Calibri"/>
              </a:rPr>
              <a:t>▸ </a:t>
            </a:r>
            <a:r>
              <a:rPr sz="1150">
                <a:solidFill>
                  <a:srgbClr val="333333"/>
                </a:solidFill>
                <a:latin typeface="Calibri"/>
              </a:rPr>
              <a:t>Training ML models on licensed data (check the license's model-training clause)</a:t>
            </a:r>
          </a:p>
          <a:p>
            <a:pPr>
              <a:spcAft>
                <a:spcPts val="500"/>
              </a:spcAft>
            </a:pPr>
            <a:r>
              <a:rPr sz="1150" b="1">
                <a:solidFill>
                  <a:srgbClr val="FF6B6B"/>
                </a:solidFill>
                <a:latin typeface="Calibri"/>
              </a:rPr>
              <a:t>▸ </a:t>
            </a:r>
            <a:r>
              <a:rPr sz="1150">
                <a:solidFill>
                  <a:srgbClr val="333333"/>
                </a:solidFill>
                <a:latin typeface="Calibri"/>
              </a:rPr>
              <a:t>Sharing extracts with a partner or agency</a:t>
            </a:r>
          </a:p>
        </p:txBody>
      </p:sp>
      <p:sp>
        <p:nvSpPr>
          <p:cNvPr id="14" name="Rectangle 13"/>
          <p:cNvSpPr/>
          <p:nvPr/>
        </p:nvSpPr>
        <p:spPr>
          <a:xfrm>
            <a:off x="8046720" y="2103120"/>
            <a:ext cx="3611880" cy="3657600"/>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2212848"/>
            <a:ext cx="3337560" cy="365760"/>
          </a:xfrm>
          <a:prstGeom prst="rect">
            <a:avLst/>
          </a:prstGeom>
          <a:noFill/>
        </p:spPr>
        <p:txBody>
          <a:bodyPr wrap="square" lIns="45720" rIns="45720" tIns="27432" bIns="27432" anchor="t">
            <a:spAutoFit/>
          </a:bodyPr>
          <a:lstStyle/>
          <a:p>
            <a:pPr algn="l"/>
            <a:r>
              <a:rPr sz="1400" b="1" i="0">
                <a:solidFill>
                  <a:srgbClr val="A11E1E"/>
                </a:solidFill>
                <a:latin typeface="Calibri"/>
              </a:rPr>
              <a:t>Never</a:t>
            </a:r>
          </a:p>
        </p:txBody>
      </p:sp>
      <p:sp>
        <p:nvSpPr>
          <p:cNvPr id="16" name="TextBox 15"/>
          <p:cNvSpPr txBox="1"/>
          <p:nvPr/>
        </p:nvSpPr>
        <p:spPr>
          <a:xfrm>
            <a:off x="8156448" y="2596896"/>
            <a:ext cx="338328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Attempt to re-identify a patient — even 'to check'</a:t>
            </a:r>
          </a:p>
          <a:p>
            <a:pPr>
              <a:spcAft>
                <a:spcPts val="500"/>
              </a:spcAft>
            </a:pPr>
            <a:r>
              <a:rPr sz="1150" b="1">
                <a:solidFill>
                  <a:srgbClr val="FF6B6B"/>
                </a:solidFill>
                <a:latin typeface="Calibri"/>
              </a:rPr>
              <a:t>▸ </a:t>
            </a:r>
            <a:r>
              <a:rPr sz="1150">
                <a:solidFill>
                  <a:srgbClr val="333333"/>
                </a:solidFill>
                <a:latin typeface="Calibri"/>
              </a:rPr>
              <a:t>Paste patient-level rows into an external AI tool (course AI policy, Week 1)</a:t>
            </a:r>
          </a:p>
          <a:p>
            <a:pPr>
              <a:spcAft>
                <a:spcPts val="500"/>
              </a:spcAft>
            </a:pPr>
            <a:r>
              <a:rPr sz="1150" b="1">
                <a:solidFill>
                  <a:srgbClr val="FF6B6B"/>
                </a:solidFill>
                <a:latin typeface="Calibri"/>
              </a:rPr>
              <a:t>▸ </a:t>
            </a:r>
            <a:r>
              <a:rPr sz="1150">
                <a:solidFill>
                  <a:srgbClr val="333333"/>
                </a:solidFill>
                <a:latin typeface="Calibri"/>
              </a:rPr>
              <a:t>Use patient-level data to target a patient directly (marketing to individuals from claims)</a:t>
            </a:r>
          </a:p>
          <a:p>
            <a:pPr>
              <a:spcAft>
                <a:spcPts val="500"/>
              </a:spcAft>
            </a:pPr>
            <a:r>
              <a:rPr sz="1150" b="1">
                <a:solidFill>
                  <a:srgbClr val="FF6B6B"/>
                </a:solidFill>
                <a:latin typeface="Calibri"/>
              </a:rPr>
              <a:t>▸ </a:t>
            </a:r>
            <a:r>
              <a:rPr sz="1150">
                <a:solidFill>
                  <a:srgbClr val="333333"/>
                </a:solidFill>
                <a:latin typeface="Calibri"/>
              </a:rPr>
              <a:t>Contact a prescriber about a specific identified patient</a:t>
            </a:r>
          </a:p>
          <a:p>
            <a:pPr>
              <a:spcAft>
                <a:spcPts val="500"/>
              </a:spcAft>
            </a:pPr>
            <a:r>
              <a:rPr sz="1150" b="1">
                <a:solidFill>
                  <a:srgbClr val="FF6B6B"/>
                </a:solidFill>
                <a:latin typeface="Calibri"/>
              </a:rPr>
              <a:t>▸ </a:t>
            </a:r>
            <a:r>
              <a:rPr sz="1150">
                <a:solidFill>
                  <a:srgbClr val="333333"/>
                </a:solidFill>
                <a:latin typeface="Calibri"/>
              </a:rPr>
              <a:t>Keep a copy after the license ends</a:t>
            </a:r>
          </a:p>
        </p:txBody>
      </p:sp>
      <p:sp>
        <p:nvSpPr>
          <p:cNvPr id="17" name="TextBox 16"/>
          <p:cNvSpPr txBox="1"/>
          <p:nvPr/>
        </p:nvSpPr>
        <p:spPr>
          <a:xfrm>
            <a:off x="548640" y="5943600"/>
            <a:ext cx="11064240" cy="365760"/>
          </a:xfrm>
          <a:prstGeom prst="rect">
            <a:avLst/>
          </a:prstGeom>
          <a:noFill/>
        </p:spPr>
        <p:txBody>
          <a:bodyPr wrap="square" lIns="45720" rIns="45720" tIns="27432" bIns="27432" anchor="t">
            <a:spAutoFit/>
          </a:bodyPr>
          <a:lstStyle/>
          <a:p>
            <a:pPr algn="l"/>
            <a:r>
              <a:rPr sz="1150" b="1" i="0">
                <a:solidFill>
                  <a:srgbClr val="1E2761"/>
                </a:solidFill>
                <a:latin typeface="Calibri"/>
              </a:rPr>
              <a:t>Term projects: use the synthetic course datasets or public data (CMS Part D prescriber files, NPPES, FDA NDC directory, SEER). No licensed or employer data.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IN-CLASS EXERCISE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Exercise: triage, project, cohort (25 min, groups of 3–4)</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Handout: Week_02_InClass_Exercise. One group presents each part in the debrief.</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42 / 44</a:t>
            </a:r>
          </a:p>
        </p:txBody>
      </p:sp>
      <p:sp>
        <p:nvSpPr>
          <p:cNvPr id="8" name="Rectangle 7"/>
          <p:cNvSpPr/>
          <p:nvPr/>
        </p:nvSpPr>
        <p:spPr>
          <a:xfrm>
            <a:off x="548640" y="2057400"/>
            <a:ext cx="3611880" cy="3840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1945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A</a:t>
            </a:r>
          </a:p>
        </p:txBody>
      </p:sp>
      <p:sp>
        <p:nvSpPr>
          <p:cNvPr id="10" name="TextBox 9"/>
          <p:cNvSpPr txBox="1"/>
          <p:nvPr/>
        </p:nvSpPr>
        <p:spPr>
          <a:xfrm>
            <a:off x="1143000" y="218541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Part A · Dataset triage (8 min)</a:t>
            </a:r>
          </a:p>
        </p:txBody>
      </p:sp>
      <p:sp>
        <p:nvSpPr>
          <p:cNvPr id="11" name="TextBox 10"/>
          <p:cNvSpPr txBox="1"/>
          <p:nvPr/>
        </p:nvSpPr>
        <p:spPr>
          <a:xfrm>
            <a:off x="658368" y="2679192"/>
            <a:ext cx="3383280" cy="312724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Six real questions a GLUCOREN brand team asked this year</a:t>
            </a:r>
          </a:p>
          <a:p>
            <a:pPr>
              <a:spcAft>
                <a:spcPts val="500"/>
              </a:spcAft>
            </a:pPr>
            <a:r>
              <a:rPr sz="1150" b="1">
                <a:solidFill>
                  <a:srgbClr val="FF6B6B"/>
                </a:solidFill>
                <a:latin typeface="Calibri"/>
              </a:rPr>
              <a:t>▸ </a:t>
            </a:r>
            <a:r>
              <a:rPr sz="1150">
                <a:solidFill>
                  <a:srgbClr val="333333"/>
                </a:solidFill>
                <a:latin typeface="Calibri"/>
              </a:rPr>
              <a:t>For each: which dataset(s) from the taxonomy, which grain, open or closed, cross-sectional or longitudinal — and the blind spot you'd flag</a:t>
            </a:r>
          </a:p>
        </p:txBody>
      </p:sp>
      <p:sp>
        <p:nvSpPr>
          <p:cNvPr id="12" name="Rectangle 11"/>
          <p:cNvSpPr/>
          <p:nvPr/>
        </p:nvSpPr>
        <p:spPr>
          <a:xfrm>
            <a:off x="4297680" y="2057400"/>
            <a:ext cx="3611880" cy="3840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21945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B</a:t>
            </a:r>
          </a:p>
        </p:txBody>
      </p:sp>
      <p:sp>
        <p:nvSpPr>
          <p:cNvPr id="14" name="TextBox 13"/>
          <p:cNvSpPr txBox="1"/>
          <p:nvPr/>
        </p:nvSpPr>
        <p:spPr>
          <a:xfrm>
            <a:off x="4892040" y="218541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Part B · Projection by hand (8 min)</a:t>
            </a:r>
          </a:p>
        </p:txBody>
      </p:sp>
      <p:sp>
        <p:nvSpPr>
          <p:cNvPr id="15" name="TextBox 14"/>
          <p:cNvSpPr txBox="1"/>
          <p:nvPr/>
        </p:nvSpPr>
        <p:spPr>
          <a:xfrm>
            <a:off x="4407408" y="2679192"/>
            <a:ext cx="3383280" cy="312724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Three strata, panel and universe volumes, panel brand TRx → factors → projected TRx</a:t>
            </a:r>
          </a:p>
          <a:p>
            <a:pPr>
              <a:spcAft>
                <a:spcPts val="500"/>
              </a:spcAft>
            </a:pPr>
            <a:r>
              <a:rPr sz="1150" b="1">
                <a:solidFill>
                  <a:srgbClr val="FF6B6B"/>
                </a:solidFill>
                <a:latin typeface="Calibri"/>
              </a:rPr>
              <a:t>▸ </a:t>
            </a:r>
            <a:r>
              <a:rPr sz="1150">
                <a:solidFill>
                  <a:srgbClr val="333333"/>
                </a:solidFill>
                <a:latin typeface="Calibri"/>
              </a:rPr>
              <a:t>Then: the largest panel chain in one stratum leaves the panel. Recompute. What changed, and what would the brand report say happened?</a:t>
            </a:r>
          </a:p>
        </p:txBody>
      </p:sp>
      <p:sp>
        <p:nvSpPr>
          <p:cNvPr id="16" name="Rectangle 15"/>
          <p:cNvSpPr/>
          <p:nvPr/>
        </p:nvSpPr>
        <p:spPr>
          <a:xfrm>
            <a:off x="8046720" y="2057400"/>
            <a:ext cx="3611880" cy="3840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1945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C</a:t>
            </a:r>
          </a:p>
        </p:txBody>
      </p:sp>
      <p:sp>
        <p:nvSpPr>
          <p:cNvPr id="18" name="TextBox 17"/>
          <p:cNvSpPr txBox="1"/>
          <p:nvPr/>
        </p:nvSpPr>
        <p:spPr>
          <a:xfrm>
            <a:off x="8641080" y="218541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Part C · Cohort by hand (9 min)</a:t>
            </a:r>
          </a:p>
        </p:txBody>
      </p:sp>
      <p:sp>
        <p:nvSpPr>
          <p:cNvPr id="19" name="TextBox 18"/>
          <p:cNvSpPr txBox="1"/>
          <p:nvPr/>
        </p:nvSpPr>
        <p:spPr>
          <a:xfrm>
            <a:off x="8156448" y="2679192"/>
            <a:ext cx="3383280" cy="312724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Ten patients' diagnosis claims and coverage spells on one page</a:t>
            </a:r>
          </a:p>
          <a:p>
            <a:pPr>
              <a:spcAft>
                <a:spcPts val="500"/>
              </a:spcAft>
            </a:pPr>
            <a:r>
              <a:rPr sz="1150" b="1">
                <a:solidFill>
                  <a:srgbClr val="FF6B6B"/>
                </a:solidFill>
                <a:latin typeface="Calibri"/>
              </a:rPr>
              <a:t>▸ </a:t>
            </a:r>
            <a:r>
              <a:rPr sz="1150">
                <a:solidFill>
                  <a:srgbClr val="333333"/>
                </a:solidFill>
                <a:latin typeface="Calibri"/>
              </a:rPr>
              <a:t>Apply tonight's template: who qualifies, index date, who is censored</a:t>
            </a:r>
          </a:p>
          <a:p>
            <a:pPr>
              <a:spcAft>
                <a:spcPts val="500"/>
              </a:spcAft>
            </a:pPr>
            <a:r>
              <a:rPr sz="1150" b="1">
                <a:solidFill>
                  <a:srgbClr val="FF6B6B"/>
                </a:solidFill>
                <a:latin typeface="Calibri"/>
              </a:rPr>
              <a:t>▸ </a:t>
            </a:r>
            <a:r>
              <a:rPr sz="1150">
                <a:solidFill>
                  <a:srgbClr val="333333"/>
                </a:solidFill>
                <a:latin typeface="Calibri"/>
              </a:rPr>
              <a:t>Then: which combination of columns in the de-identified extract would re-identify patient 7?</a:t>
            </a:r>
          </a:p>
        </p:txBody>
      </p:sp>
      <p:sp>
        <p:nvSpPr>
          <p:cNvPr id="20" name="TextBox 19"/>
          <p:cNvSpPr txBox="1"/>
          <p:nvPr/>
        </p:nvSpPr>
        <p:spPr>
          <a:xfrm>
            <a:off x="548640" y="6035040"/>
            <a:ext cx="11064240" cy="365760"/>
          </a:xfrm>
          <a:prstGeom prst="rect">
            <a:avLst/>
          </a:prstGeom>
          <a:noFill/>
        </p:spPr>
        <p:txBody>
          <a:bodyPr wrap="square" lIns="45720" rIns="45720" tIns="27432" bIns="27432" anchor="t">
            <a:spAutoFit/>
          </a:bodyPr>
          <a:lstStyle/>
          <a:p>
            <a:pPr algn="l"/>
            <a:r>
              <a:rPr sz="1100" b="0" i="1">
                <a:solidFill>
                  <a:srgbClr val="666666"/>
                </a:solidFill>
                <a:latin typeface="Calibri"/>
              </a:rPr>
              <a:t>Answer key in the instructor package; students receive the worked solution after the debrief.</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NEXT WEEK</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Before Week 3 (Sep 28): readings, mentor meeting, environment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Week 3: Marketing &amp; Media Mix Modeling and ROI optimization — adstock, saturation, base/incremental. Homework 1 released (due Oct 12).</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2 — Pharma Datasets &amp; Claims Analytics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43 / 44</a:t>
            </a:r>
          </a:p>
        </p:txBody>
      </p:sp>
      <p:sp>
        <p:nvSpPr>
          <p:cNvPr id="8" name="Rectangle 7"/>
          <p:cNvSpPr/>
          <p:nvPr/>
        </p:nvSpPr>
        <p:spPr>
          <a:xfrm>
            <a:off x="548640" y="2194560"/>
            <a:ext cx="539496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0428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Do</a:t>
            </a:r>
          </a:p>
        </p:txBody>
      </p:sp>
      <p:sp>
        <p:nvSpPr>
          <p:cNvPr id="10" name="TextBox 9"/>
          <p:cNvSpPr txBox="1"/>
          <p:nvPr/>
        </p:nvSpPr>
        <p:spPr>
          <a:xfrm>
            <a:off x="658368" y="2688336"/>
            <a:ext cx="516636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Read: </a:t>
            </a:r>
            <a:r>
              <a:rPr sz="1150">
                <a:solidFill>
                  <a:srgbClr val="333333"/>
                </a:solidFill>
                <a:latin typeface="Calibri"/>
              </a:rPr>
              <a:t>FDA, “Framework for FDA's Real-World Evidence Program” — executive summary and §II (fda.gov/media/120060/download).</a:t>
            </a:r>
          </a:p>
          <a:p>
            <a:pPr>
              <a:spcAft>
                <a:spcPts val="500"/>
              </a:spcAft>
            </a:pPr>
            <a:r>
              <a:rPr sz="1150" b="1">
                <a:solidFill>
                  <a:srgbClr val="FF6B6B"/>
                </a:solidFill>
                <a:latin typeface="Calibri"/>
              </a:rPr>
              <a:t>▸ </a:t>
            </a:r>
            <a:r>
              <a:rPr b="1" sz="1150">
                <a:solidFill>
                  <a:srgbClr val="1E2761"/>
                </a:solidFill>
                <a:latin typeface="Calibri"/>
              </a:rPr>
              <a:t>Read: </a:t>
            </a:r>
            <a:r>
              <a:rPr sz="1150">
                <a:solidFill>
                  <a:srgbClr val="333333"/>
                </a:solidFill>
                <a:latin typeface="Calibri"/>
              </a:rPr>
              <a:t>Week 2 reading pack (curated white-paper excerpts, ~35 min) and the Claims Data Field Guide (reference — skim, keep).</a:t>
            </a:r>
          </a:p>
          <a:p>
            <a:pPr>
              <a:spcAft>
                <a:spcPts val="500"/>
              </a:spcAft>
            </a:pPr>
            <a:r>
              <a:rPr sz="1150" b="1">
                <a:solidFill>
                  <a:srgbClr val="FF6B6B"/>
                </a:solidFill>
                <a:latin typeface="Calibri"/>
              </a:rPr>
              <a:t>▸ </a:t>
            </a:r>
            <a:r>
              <a:rPr b="1" sz="1150">
                <a:solidFill>
                  <a:srgbClr val="1E2761"/>
                </a:solidFill>
                <a:latin typeface="Calibri"/>
              </a:rPr>
              <a:t>Watch (optional, PMSA): </a:t>
            </a:r>
            <a:r>
              <a:rPr sz="1150">
                <a:solidFill>
                  <a:srgbClr val="333333"/>
                </a:solidFill>
                <a:latin typeface="Calibri"/>
              </a:rPr>
              <a:t>“Improving Completeness and Accuracy of Real World Data”; “Combine Advanced Analytics and RWD to Identify Treatment Drivers.”</a:t>
            </a:r>
          </a:p>
          <a:p>
            <a:pPr>
              <a:spcAft>
                <a:spcPts val="500"/>
              </a:spcAft>
            </a:pPr>
            <a:r>
              <a:rPr sz="1150" b="1">
                <a:solidFill>
                  <a:srgbClr val="FF6B6B"/>
                </a:solidFill>
                <a:latin typeface="Calibri"/>
              </a:rPr>
              <a:t>▸ </a:t>
            </a:r>
            <a:r>
              <a:rPr b="1" sz="1150">
                <a:solidFill>
                  <a:srgbClr val="1E2761"/>
                </a:solidFill>
                <a:latin typeface="Calibri"/>
              </a:rPr>
              <a:t>Meet your mentor </a:t>
            </a:r>
            <a:r>
              <a:rPr sz="1150">
                <a:solidFill>
                  <a:srgbClr val="333333"/>
                </a:solidFill>
                <a:latin typeface="Calibri"/>
              </a:rPr>
              <a:t>by Sep 28; send the 5-line recap. Problem statement + data plan due Oct 5.</a:t>
            </a:r>
          </a:p>
          <a:p>
            <a:pPr>
              <a:spcAft>
                <a:spcPts val="500"/>
              </a:spcAft>
            </a:pPr>
            <a:r>
              <a:rPr sz="1150" b="1">
                <a:solidFill>
                  <a:srgbClr val="FF6B6B"/>
                </a:solidFill>
                <a:latin typeface="Calibri"/>
              </a:rPr>
              <a:t>▸ </a:t>
            </a:r>
            <a:r>
              <a:rPr b="1" sz="1150">
                <a:solidFill>
                  <a:srgbClr val="1E2761"/>
                </a:solidFill>
                <a:latin typeface="Calibri"/>
              </a:rPr>
              <a:t>Run both notebooks </a:t>
            </a:r>
            <a:r>
              <a:rPr sz="1150">
                <a:solidFill>
                  <a:srgbClr val="333333"/>
                </a:solidFill>
                <a:latin typeface="Calibri"/>
              </a:rPr>
              <a:t>on your own machine; try the two 'not graded' variations at the end of each.</a:t>
            </a:r>
          </a:p>
        </p:txBody>
      </p:sp>
      <p:sp>
        <p:nvSpPr>
          <p:cNvPr id="11" name="Rectangle 10"/>
          <p:cNvSpPr/>
          <p:nvPr/>
        </p:nvSpPr>
        <p:spPr>
          <a:xfrm>
            <a:off x="6217920" y="2194560"/>
            <a:ext cx="539496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30428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Bring</a:t>
            </a:r>
          </a:p>
        </p:txBody>
      </p:sp>
      <p:sp>
        <p:nvSpPr>
          <p:cNvPr id="13" name="TextBox 12"/>
          <p:cNvSpPr txBox="1"/>
          <p:nvPr/>
        </p:nvSpPr>
        <p:spPr>
          <a:xfrm>
            <a:off x="6327648" y="2688336"/>
            <a:ext cx="516636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Your cohort definition </a:t>
            </a:r>
            <a:r>
              <a:rPr sz="1150">
                <a:solidFill>
                  <a:srgbClr val="333333"/>
                </a:solidFill>
                <a:latin typeface="Calibri"/>
              </a:rPr>
              <a:t>for the term project, in the slide-27 template — even if the disease/HCP universe is a guess.</a:t>
            </a:r>
          </a:p>
          <a:p>
            <a:pPr>
              <a:spcAft>
                <a:spcPts val="500"/>
              </a:spcAft>
            </a:pPr>
            <a:r>
              <a:rPr sz="1150" b="1">
                <a:solidFill>
                  <a:srgbClr val="FF6B6B"/>
                </a:solidFill>
                <a:latin typeface="Calibri"/>
              </a:rPr>
              <a:t>▸ </a:t>
            </a:r>
            <a:r>
              <a:rPr b="1" sz="1150">
                <a:solidFill>
                  <a:srgbClr val="1E2761"/>
                </a:solidFill>
                <a:latin typeface="Calibri"/>
              </a:rPr>
              <a:t>One number </a:t>
            </a:r>
            <a:r>
              <a:rPr sz="1150">
                <a:solidFill>
                  <a:srgbClr val="333333"/>
                </a:solidFill>
                <a:latin typeface="Calibri"/>
              </a:rPr>
              <a:t>from a syndicated-style report you have seen (news, an earnings call, a vendor site) and the question you would ask about how it was projected.</a:t>
            </a:r>
          </a:p>
          <a:p>
            <a:pPr>
              <a:spcAft>
                <a:spcPts val="500"/>
              </a:spcAft>
            </a:pPr>
            <a:r>
              <a:rPr sz="1150" b="1">
                <a:solidFill>
                  <a:srgbClr val="FF6B6B"/>
                </a:solidFill>
                <a:latin typeface="Calibri"/>
              </a:rPr>
              <a:t>▸ </a:t>
            </a:r>
            <a:r>
              <a:rPr b="1" sz="1150">
                <a:solidFill>
                  <a:srgbClr val="1E2761"/>
                </a:solidFill>
                <a:latin typeface="Calibri"/>
              </a:rPr>
              <a:t>For Week 3: </a:t>
            </a:r>
            <a:r>
              <a:rPr sz="1150">
                <a:solidFill>
                  <a:srgbClr val="333333"/>
                </a:solidFill>
                <a:latin typeface="Calibri"/>
              </a:rPr>
              <a:t>install PyMC or statsmodels; Homework 1 uses a synthetic MMM dataset with bursty conference spend.</a:t>
            </a:r>
          </a:p>
        </p:txBody>
      </p:sp>
      <p:sp>
        <p:nvSpPr>
          <p:cNvPr id="14" name="TextBox 13"/>
          <p:cNvSpPr txBox="1"/>
          <p:nvPr/>
        </p:nvSpPr>
        <p:spPr>
          <a:xfrm>
            <a:off x="548640" y="5989320"/>
            <a:ext cx="11064240" cy="365760"/>
          </a:xfrm>
          <a:prstGeom prst="rect">
            <a:avLst/>
          </a:prstGeom>
          <a:noFill/>
        </p:spPr>
        <p:txBody>
          <a:bodyPr wrap="square" lIns="45720" rIns="45720" tIns="27432" bIns="27432" anchor="t">
            <a:spAutoFit/>
          </a:bodyPr>
          <a:lstStyle/>
          <a:p>
            <a:pPr algn="l"/>
            <a:r>
              <a:rPr sz="1150" b="1" i="0">
                <a:solidFill>
                  <a:srgbClr val="1E2761"/>
                </a:solidFill>
                <a:latin typeface="Calibri"/>
              </a:rPr>
              <a:t>Office hours Mondays 5:00–6:45 PM · ac5562@columbia.edu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411480" cy="237744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194560"/>
            <a:ext cx="10515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Questions?</a:t>
            </a:r>
          </a:p>
        </p:txBody>
      </p:sp>
      <p:sp>
        <p:nvSpPr>
          <p:cNvPr id="5" name="TextBox 4"/>
          <p:cNvSpPr txBox="1"/>
          <p:nvPr/>
        </p:nvSpPr>
        <p:spPr>
          <a:xfrm>
            <a:off x="868680" y="3383280"/>
            <a:ext cx="10515600" cy="1463040"/>
          </a:xfrm>
          <a:prstGeom prst="rect">
            <a:avLst/>
          </a:prstGeom>
          <a:noFill/>
        </p:spPr>
        <p:txBody>
          <a:bodyPr wrap="square" lIns="45720" rIns="45720" tIns="27432" bIns="27432" anchor="t">
            <a:spAutoFit/>
          </a:bodyPr>
          <a:lstStyle/>
          <a:p>
            <a:pPr algn="l"/>
            <a:r>
              <a:rPr sz="1400" b="0" i="0">
                <a:solidFill>
                  <a:srgbClr val="CADCFC"/>
                </a:solidFill>
                <a:latin typeface="Calibri"/>
              </a:rPr>
              <a:t>Five things to leave with:</a:t>
            </a:r>
          </a:p>
          <a:p>
            <a:pPr algn="l"/>
            <a:r>
              <a:rPr sz="1400" b="0" i="0">
                <a:solidFill>
                  <a:srgbClr val="CADCFC"/>
                </a:solidFill>
                <a:latin typeface="Calibri"/>
              </a:rPr>
              <a:t>1 · Pick the dataset on purpose (decision · population · grain · time · rights).   2 · Oncology drugs live in medical claims — stack J-codes and NDCs.</a:t>
            </a:r>
          </a:p>
          <a:p>
            <a:pPr algn="l"/>
            <a:r>
              <a:rPr sz="1400" b="0" i="0">
                <a:solidFill>
                  <a:srgbClr val="CADCFC"/>
                </a:solidFill>
                <a:latin typeface="Calibri"/>
              </a:rPr>
              <a:t>3 · A cohort is a rule; publish the attrition table.   4 · LOT parameters go on the slide.   5 · Censoring is not death; a token is not anonymity.</a:t>
            </a:r>
          </a:p>
        </p:txBody>
      </p:sp>
      <p:sp>
        <p:nvSpPr>
          <p:cNvPr id="6" name="TextBox 5"/>
          <p:cNvSpPr txBox="1"/>
          <p:nvPr/>
        </p:nvSpPr>
        <p:spPr>
          <a:xfrm>
            <a:off x="868680" y="5943600"/>
            <a:ext cx="10972800" cy="365760"/>
          </a:xfrm>
          <a:prstGeom prst="rect">
            <a:avLst/>
          </a:prstGeom>
          <a:noFill/>
        </p:spPr>
        <p:txBody>
          <a:bodyPr wrap="square" lIns="45720" rIns="45720" tIns="27432" bIns="27432" anchor="t">
            <a:spAutoFit/>
          </a:bodyPr>
          <a:lstStyle/>
          <a:p>
            <a:pPr algn="l"/>
            <a:r>
              <a:rPr sz="1200" b="0" i="0">
                <a:solidFill>
                  <a:srgbClr val="CADCFC"/>
                </a:solidFill>
                <a:latin typeface="Calibri"/>
              </a:rPr>
              <a:t>Next week — Marketing Mix Modeling · Homework 1 released</a:t>
            </a:r>
          </a:p>
        </p:txBody>
      </p:sp>
      <p:sp>
        <p:nvSpPr>
          <p:cNvPr id="7" name="TextBox 6"/>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2 — Pharma Datasets &amp; Claims Analytics  ·  Pharma DS&amp;AI · Fall 2026</a:t>
            </a:r>
          </a:p>
        </p:txBody>
      </p:sp>
      <p:sp>
        <p:nvSpPr>
          <p:cNvPr id="8" name="TextBox 7"/>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44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